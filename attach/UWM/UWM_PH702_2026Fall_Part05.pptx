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2"/>
  </p:notesMasterIdLst>
  <p:handoutMasterIdLst>
    <p:handoutMasterId r:id="rId33"/>
  </p:handoutMasterIdLst>
  <p:sldIdLst>
    <p:sldId id="256" r:id="rId2"/>
    <p:sldId id="314" r:id="rId3"/>
    <p:sldId id="341" r:id="rId4"/>
    <p:sldId id="342" r:id="rId5"/>
    <p:sldId id="361" r:id="rId6"/>
    <p:sldId id="354" r:id="rId7"/>
    <p:sldId id="355" r:id="rId8"/>
    <p:sldId id="345" r:id="rId9"/>
    <p:sldId id="346" r:id="rId10"/>
    <p:sldId id="347" r:id="rId11"/>
    <p:sldId id="348" r:id="rId12"/>
    <p:sldId id="258" r:id="rId13"/>
    <p:sldId id="326" r:id="rId14"/>
    <p:sldId id="349" r:id="rId15"/>
    <p:sldId id="356" r:id="rId16"/>
    <p:sldId id="323" r:id="rId17"/>
    <p:sldId id="325" r:id="rId18"/>
    <p:sldId id="327" r:id="rId19"/>
    <p:sldId id="328" r:id="rId20"/>
    <p:sldId id="329" r:id="rId21"/>
    <p:sldId id="330" r:id="rId22"/>
    <p:sldId id="352" r:id="rId23"/>
    <p:sldId id="334" r:id="rId24"/>
    <p:sldId id="335" r:id="rId25"/>
    <p:sldId id="336" r:id="rId26"/>
    <p:sldId id="358" r:id="rId27"/>
    <p:sldId id="359" r:id="rId28"/>
    <p:sldId id="351" r:id="rId29"/>
    <p:sldId id="350" r:id="rId30"/>
    <p:sldId id="316" r:id="rId31"/>
  </p:sldIdLst>
  <p:sldSz cx="9144000" cy="6858000" type="screen4x3"/>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1pPr>
    <a:lvl2pPr marL="4572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2pPr>
    <a:lvl3pPr marL="9144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3pPr>
    <a:lvl4pPr marL="13716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4pPr>
    <a:lvl5pPr marL="18288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5pPr>
    <a:lvl6pPr marL="2286000" algn="l" defTabSz="914400" rtl="0" eaLnBrk="1" latinLnBrk="0" hangingPunct="1">
      <a:defRPr kern="1200">
        <a:solidFill>
          <a:schemeClr val="tx1"/>
        </a:solidFill>
        <a:latin typeface="Arial" pitchFamily="34" charset="0"/>
        <a:ea typeface="ＭＳ Ｐゴシック" pitchFamily="34" charset="-128"/>
        <a:cs typeface="+mn-cs"/>
      </a:defRPr>
    </a:lvl6pPr>
    <a:lvl7pPr marL="2743200" algn="l" defTabSz="914400" rtl="0" eaLnBrk="1" latinLnBrk="0" hangingPunct="1">
      <a:defRPr kern="1200">
        <a:solidFill>
          <a:schemeClr val="tx1"/>
        </a:solidFill>
        <a:latin typeface="Arial" pitchFamily="34" charset="0"/>
        <a:ea typeface="ＭＳ Ｐゴシック" pitchFamily="34" charset="-128"/>
        <a:cs typeface="+mn-cs"/>
      </a:defRPr>
    </a:lvl7pPr>
    <a:lvl8pPr marL="3200400" algn="l" defTabSz="914400" rtl="0" eaLnBrk="1" latinLnBrk="0" hangingPunct="1">
      <a:defRPr kern="1200">
        <a:solidFill>
          <a:schemeClr val="tx1"/>
        </a:solidFill>
        <a:latin typeface="Arial" pitchFamily="34" charset="0"/>
        <a:ea typeface="ＭＳ Ｐゴシック" pitchFamily="34" charset="-128"/>
        <a:cs typeface="+mn-cs"/>
      </a:defRPr>
    </a:lvl8pPr>
    <a:lvl9pPr marL="3657600" algn="l" defTabSz="914400" rtl="0" eaLnBrk="1" latinLnBrk="0" hangingPunct="1">
      <a:defRPr kern="1200">
        <a:solidFill>
          <a:schemeClr val="tx1"/>
        </a:solidFill>
        <a:latin typeface="Arial" pitchFamily="34"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D" initials="JD" lastIdx="2" clrIdx="0"/>
  <p:cmAuthor id="1" name="Chiang-Ching Huang" initials="CH" lastIdx="1" clrIdx="1">
    <p:extLst>
      <p:ext uri="{19B8F6BF-5375-455C-9EA6-DF929625EA0E}">
        <p15:presenceInfo xmlns:p15="http://schemas.microsoft.com/office/powerpoint/2012/main" userId="S-1-5-21-1229272821-630328440-682003330-50356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0B1"/>
    <a:srgbClr val="FFD780"/>
    <a:srgbClr val="EEEFD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A54B28-0879-43FF-ABE2-91983A7A4D4D}" v="139" dt="2026-10-16T02:35:09.906"/>
  </p1510:revLst>
</p1510:revInfo>
</file>

<file path=ppt/tableStyles.xml><?xml version="1.0" encoding="utf-8"?>
<a:tblStyleLst xmlns:a="http://schemas.openxmlformats.org/drawingml/2006/main" def="{5C22544A-7EE6-4342-B048-85BDC9FD1C3A}">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91"/>
    <p:restoredTop sz="94629" autoAdjust="0"/>
  </p:normalViewPr>
  <p:slideViewPr>
    <p:cSldViewPr snapToGrid="0" snapToObjects="1">
      <p:cViewPr varScale="1">
        <p:scale>
          <a:sx n="106" d="100"/>
          <a:sy n="106" d="100"/>
        </p:scale>
        <p:origin x="177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690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iyang Zhou" userId="715b216a-9552-4d73-a9aa-1ef002111b6f" providerId="ADAL" clId="{2B661EA1-28DD-4C7A-9BAA-1E2E41397E83}"/>
    <pc:docChg chg="undo custSel addSld delSld modSld sldOrd">
      <pc:chgData name="Zhiyang Zhou" userId="715b216a-9552-4d73-a9aa-1ef002111b6f" providerId="ADAL" clId="{2B661EA1-28DD-4C7A-9BAA-1E2E41397E83}" dt="2026-10-16T02:35:09.905" v="5354" actId="1076"/>
      <pc:docMkLst>
        <pc:docMk/>
      </pc:docMkLst>
      <pc:sldChg chg="modSp mod">
        <pc:chgData name="Zhiyang Zhou" userId="715b216a-9552-4d73-a9aa-1ef002111b6f" providerId="ADAL" clId="{2B661EA1-28DD-4C7A-9BAA-1E2E41397E83}" dt="2026-10-16T02:14:27.605" v="5167" actId="20577"/>
        <pc:sldMkLst>
          <pc:docMk/>
          <pc:sldMk cId="0" sldId="258"/>
        </pc:sldMkLst>
        <pc:spChg chg="mod">
          <ac:chgData name="Zhiyang Zhou" userId="715b216a-9552-4d73-a9aa-1ef002111b6f" providerId="ADAL" clId="{2B661EA1-28DD-4C7A-9BAA-1E2E41397E83}" dt="2026-10-16T02:14:27.605" v="5167" actId="20577"/>
          <ac:spMkLst>
            <pc:docMk/>
            <pc:sldMk cId="0" sldId="258"/>
            <ac:spMk id="36867" creationId="{00000000-0000-0000-0000-000000000000}"/>
          </ac:spMkLst>
        </pc:spChg>
      </pc:sldChg>
      <pc:sldChg chg="ord">
        <pc:chgData name="Zhiyang Zhou" userId="715b216a-9552-4d73-a9aa-1ef002111b6f" providerId="ADAL" clId="{2B661EA1-28DD-4C7A-9BAA-1E2E41397E83}" dt="2026-10-07T23:49:40.402" v="3"/>
        <pc:sldMkLst>
          <pc:docMk/>
          <pc:sldMk cId="0" sldId="314"/>
        </pc:sldMkLst>
      </pc:sldChg>
      <pc:sldChg chg="addSp delSp modSp mod modAnim">
        <pc:chgData name="Zhiyang Zhou" userId="715b216a-9552-4d73-a9aa-1ef002111b6f" providerId="ADAL" clId="{2B661EA1-28DD-4C7A-9BAA-1E2E41397E83}" dt="2026-10-16T02:35:09.905" v="5354" actId="1076"/>
        <pc:sldMkLst>
          <pc:docMk/>
          <pc:sldMk cId="0" sldId="323"/>
        </pc:sldMkLst>
        <pc:spChg chg="add del mod topLvl">
          <ac:chgData name="Zhiyang Zhou" userId="715b216a-9552-4d73-a9aa-1ef002111b6f" providerId="ADAL" clId="{2B661EA1-28DD-4C7A-9BAA-1E2E41397E83}" dt="2026-10-16T02:29:36.474" v="5231" actId="1036"/>
          <ac:spMkLst>
            <pc:docMk/>
            <pc:sldMk cId="0" sldId="323"/>
            <ac:spMk id="9" creationId="{00000000-0000-0000-0000-000000000000}"/>
          </ac:spMkLst>
        </pc:spChg>
        <pc:spChg chg="mod">
          <ac:chgData name="Zhiyang Zhou" userId="715b216a-9552-4d73-a9aa-1ef002111b6f" providerId="ADAL" clId="{2B661EA1-28DD-4C7A-9BAA-1E2E41397E83}" dt="2026-10-16T02:35:09.905" v="5354" actId="1076"/>
          <ac:spMkLst>
            <pc:docMk/>
            <pc:sldMk cId="0" sldId="323"/>
            <ac:spMk id="27651" creationId="{00000000-0000-0000-0000-000000000000}"/>
          </ac:spMkLst>
        </pc:spChg>
        <pc:spChg chg="mod">
          <ac:chgData name="Zhiyang Zhou" userId="715b216a-9552-4d73-a9aa-1ef002111b6f" providerId="ADAL" clId="{2B661EA1-28DD-4C7A-9BAA-1E2E41397E83}" dt="2026-10-16T02:32:32.362" v="5241" actId="20577"/>
          <ac:spMkLst>
            <pc:docMk/>
            <pc:sldMk cId="0" sldId="323"/>
            <ac:spMk id="43011" creationId="{00000000-0000-0000-0000-000000000000}"/>
          </ac:spMkLst>
        </pc:spChg>
        <pc:graphicFrameChg chg="add del mod topLvl">
          <ac:chgData name="Zhiyang Zhou" userId="715b216a-9552-4d73-a9aa-1ef002111b6f" providerId="ADAL" clId="{2B661EA1-28DD-4C7A-9BAA-1E2E41397E83}" dt="2026-10-16T02:29:36.474" v="5231" actId="1036"/>
          <ac:graphicFrameMkLst>
            <pc:docMk/>
            <pc:sldMk cId="0" sldId="323"/>
            <ac:graphicFrameMk id="43015" creationId="{00000000-0000-0000-0000-000000000000}"/>
          </ac:graphicFrameMkLst>
        </pc:graphicFrameChg>
      </pc:sldChg>
      <pc:sldChg chg="modSp mod">
        <pc:chgData name="Zhiyang Zhou" userId="715b216a-9552-4d73-a9aa-1ef002111b6f" providerId="ADAL" clId="{2B661EA1-28DD-4C7A-9BAA-1E2E41397E83}" dt="2026-10-08T02:17:56.877" v="1357" actId="20577"/>
        <pc:sldMkLst>
          <pc:docMk/>
          <pc:sldMk cId="0" sldId="325"/>
        </pc:sldMkLst>
        <pc:spChg chg="mod">
          <ac:chgData name="Zhiyang Zhou" userId="715b216a-9552-4d73-a9aa-1ef002111b6f" providerId="ADAL" clId="{2B661EA1-28DD-4C7A-9BAA-1E2E41397E83}" dt="2026-10-08T02:17:56.877" v="1357" actId="20577"/>
          <ac:spMkLst>
            <pc:docMk/>
            <pc:sldMk cId="0" sldId="325"/>
            <ac:spMk id="26" creationId="{00000000-0000-0000-0000-000000000000}"/>
          </ac:spMkLst>
        </pc:spChg>
        <pc:spChg chg="mod">
          <ac:chgData name="Zhiyang Zhou" userId="715b216a-9552-4d73-a9aa-1ef002111b6f" providerId="ADAL" clId="{2B661EA1-28DD-4C7A-9BAA-1E2E41397E83}" dt="2026-10-08T02:16:36.595" v="1351" actId="20577"/>
          <ac:spMkLst>
            <pc:docMk/>
            <pc:sldMk cId="0" sldId="325"/>
            <ac:spMk id="44035" creationId="{00000000-0000-0000-0000-000000000000}"/>
          </ac:spMkLst>
        </pc:spChg>
      </pc:sldChg>
      <pc:sldChg chg="delSp modSp mod modAnim">
        <pc:chgData name="Zhiyang Zhou" userId="715b216a-9552-4d73-a9aa-1ef002111b6f" providerId="ADAL" clId="{2B661EA1-28DD-4C7A-9BAA-1E2E41397E83}" dt="2026-10-16T02:14:58.655" v="5188" actId="20577"/>
        <pc:sldMkLst>
          <pc:docMk/>
          <pc:sldMk cId="0" sldId="326"/>
        </pc:sldMkLst>
        <pc:spChg chg="mod">
          <ac:chgData name="Zhiyang Zhou" userId="715b216a-9552-4d73-a9aa-1ef002111b6f" providerId="ADAL" clId="{2B661EA1-28DD-4C7A-9BAA-1E2E41397E83}" dt="2026-10-16T02:13:54.288" v="5149" actId="20577"/>
          <ac:spMkLst>
            <pc:docMk/>
            <pc:sldMk cId="0" sldId="326"/>
            <ac:spMk id="2" creationId="{00000000-0000-0000-0000-000000000000}"/>
          </ac:spMkLst>
        </pc:spChg>
        <pc:spChg chg="mod">
          <ac:chgData name="Zhiyang Zhou" userId="715b216a-9552-4d73-a9aa-1ef002111b6f" providerId="ADAL" clId="{2B661EA1-28DD-4C7A-9BAA-1E2E41397E83}" dt="2026-10-16T02:14:58.655" v="5188" actId="20577"/>
          <ac:spMkLst>
            <pc:docMk/>
            <pc:sldMk cId="0" sldId="326"/>
            <ac:spMk id="6" creationId="{00000000-0000-0000-0000-000000000000}"/>
          </ac:spMkLst>
        </pc:spChg>
      </pc:sldChg>
      <pc:sldChg chg="modSp mod">
        <pc:chgData name="Zhiyang Zhou" userId="715b216a-9552-4d73-a9aa-1ef002111b6f" providerId="ADAL" clId="{2B661EA1-28DD-4C7A-9BAA-1E2E41397E83}" dt="2026-10-14T01:45:47.543" v="5072" actId="20577"/>
        <pc:sldMkLst>
          <pc:docMk/>
          <pc:sldMk cId="0" sldId="327"/>
        </pc:sldMkLst>
        <pc:spChg chg="mod">
          <ac:chgData name="Zhiyang Zhou" userId="715b216a-9552-4d73-a9aa-1ef002111b6f" providerId="ADAL" clId="{2B661EA1-28DD-4C7A-9BAA-1E2E41397E83}" dt="2026-10-14T01:45:47.543" v="5072" actId="20577"/>
          <ac:spMkLst>
            <pc:docMk/>
            <pc:sldMk cId="0" sldId="327"/>
            <ac:spMk id="45058" creationId="{00000000-0000-0000-0000-000000000000}"/>
          </ac:spMkLst>
        </pc:spChg>
      </pc:sldChg>
      <pc:sldChg chg="delSp modSp mod modNotesTx">
        <pc:chgData name="Zhiyang Zhou" userId="715b216a-9552-4d73-a9aa-1ef002111b6f" providerId="ADAL" clId="{2B661EA1-28DD-4C7A-9BAA-1E2E41397E83}" dt="2026-10-10T03:29:53.436" v="4262" actId="1035"/>
        <pc:sldMkLst>
          <pc:docMk/>
          <pc:sldMk cId="0" sldId="329"/>
        </pc:sldMkLst>
        <pc:spChg chg="mod">
          <ac:chgData name="Zhiyang Zhou" userId="715b216a-9552-4d73-a9aa-1ef002111b6f" providerId="ADAL" clId="{2B661EA1-28DD-4C7A-9BAA-1E2E41397E83}" dt="2026-10-10T01:06:47.639" v="2702" actId="1036"/>
          <ac:spMkLst>
            <pc:docMk/>
            <pc:sldMk cId="0" sldId="329"/>
            <ac:spMk id="5" creationId="{00000000-0000-0000-0000-000000000000}"/>
          </ac:spMkLst>
        </pc:spChg>
        <pc:spChg chg="mod">
          <ac:chgData name="Zhiyang Zhou" userId="715b216a-9552-4d73-a9aa-1ef002111b6f" providerId="ADAL" clId="{2B661EA1-28DD-4C7A-9BAA-1E2E41397E83}" dt="2026-10-10T01:07:00.129" v="2731" actId="20577"/>
          <ac:spMkLst>
            <pc:docMk/>
            <pc:sldMk cId="0" sldId="329"/>
            <ac:spMk id="6" creationId="{00000000-0000-0000-0000-000000000000}"/>
          </ac:spMkLst>
        </pc:spChg>
        <pc:spChg chg="mod">
          <ac:chgData name="Zhiyang Zhou" userId="715b216a-9552-4d73-a9aa-1ef002111b6f" providerId="ADAL" clId="{2B661EA1-28DD-4C7A-9BAA-1E2E41397E83}" dt="2026-10-10T00:53:06.492" v="2616" actId="1035"/>
          <ac:spMkLst>
            <pc:docMk/>
            <pc:sldMk cId="0" sldId="329"/>
            <ac:spMk id="8" creationId="{00000000-0000-0000-0000-000000000000}"/>
          </ac:spMkLst>
        </pc:spChg>
        <pc:spChg chg="mod">
          <ac:chgData name="Zhiyang Zhou" userId="715b216a-9552-4d73-a9aa-1ef002111b6f" providerId="ADAL" clId="{2B661EA1-28DD-4C7A-9BAA-1E2E41397E83}" dt="2026-10-10T03:29:47.025" v="4237" actId="20577"/>
          <ac:spMkLst>
            <pc:docMk/>
            <pc:sldMk cId="0" sldId="329"/>
            <ac:spMk id="9" creationId="{00000000-0000-0000-0000-000000000000}"/>
          </ac:spMkLst>
        </pc:spChg>
        <pc:spChg chg="mod">
          <ac:chgData name="Zhiyang Zhou" userId="715b216a-9552-4d73-a9aa-1ef002111b6f" providerId="ADAL" clId="{2B661EA1-28DD-4C7A-9BAA-1E2E41397E83}" dt="2026-10-10T03:29:53.436" v="4262" actId="1035"/>
          <ac:spMkLst>
            <pc:docMk/>
            <pc:sldMk cId="0" sldId="329"/>
            <ac:spMk id="10" creationId="{00000000-0000-0000-0000-000000000000}"/>
          </ac:spMkLst>
        </pc:spChg>
        <pc:spChg chg="mod">
          <ac:chgData name="Zhiyang Zhou" userId="715b216a-9552-4d73-a9aa-1ef002111b6f" providerId="ADAL" clId="{2B661EA1-28DD-4C7A-9BAA-1E2E41397E83}" dt="2026-10-10T01:05:34.577" v="2675" actId="20577"/>
          <ac:spMkLst>
            <pc:docMk/>
            <pc:sldMk cId="0" sldId="329"/>
            <ac:spMk id="48132" creationId="{00000000-0000-0000-0000-000000000000}"/>
          </ac:spMkLst>
        </pc:spChg>
      </pc:sldChg>
      <pc:sldChg chg="modSp mod">
        <pc:chgData name="Zhiyang Zhou" userId="715b216a-9552-4d73-a9aa-1ef002111b6f" providerId="ADAL" clId="{2B661EA1-28DD-4C7A-9BAA-1E2E41397E83}" dt="2026-10-10T02:10:17.851" v="3406" actId="1035"/>
        <pc:sldMkLst>
          <pc:docMk/>
          <pc:sldMk cId="0" sldId="330"/>
        </pc:sldMkLst>
        <pc:spChg chg="mod">
          <ac:chgData name="Zhiyang Zhou" userId="715b216a-9552-4d73-a9aa-1ef002111b6f" providerId="ADAL" clId="{2B661EA1-28DD-4C7A-9BAA-1E2E41397E83}" dt="2026-10-10T02:10:17.851" v="3406" actId="1035"/>
          <ac:spMkLst>
            <pc:docMk/>
            <pc:sldMk cId="0" sldId="330"/>
            <ac:spMk id="11" creationId="{00000000-0000-0000-0000-000000000000}"/>
          </ac:spMkLst>
        </pc:spChg>
        <pc:spChg chg="mod">
          <ac:chgData name="Zhiyang Zhou" userId="715b216a-9552-4d73-a9aa-1ef002111b6f" providerId="ADAL" clId="{2B661EA1-28DD-4C7A-9BAA-1E2E41397E83}" dt="2026-10-10T01:12:43.742" v="2883" actId="20577"/>
          <ac:spMkLst>
            <pc:docMk/>
            <pc:sldMk cId="0" sldId="330"/>
            <ac:spMk id="12" creationId="{00000000-0000-0000-0000-000000000000}"/>
          </ac:spMkLst>
        </pc:spChg>
        <pc:spChg chg="mod">
          <ac:chgData name="Zhiyang Zhou" userId="715b216a-9552-4d73-a9aa-1ef002111b6f" providerId="ADAL" clId="{2B661EA1-28DD-4C7A-9BAA-1E2E41397E83}" dt="2026-10-10T02:10:12.444" v="3391" actId="14100"/>
          <ac:spMkLst>
            <pc:docMk/>
            <pc:sldMk cId="0" sldId="330"/>
            <ac:spMk id="49156" creationId="{00000000-0000-0000-0000-000000000000}"/>
          </ac:spMkLst>
        </pc:spChg>
      </pc:sldChg>
      <pc:sldChg chg="addSp delSp modSp mod delAnim modAnim">
        <pc:chgData name="Zhiyang Zhou" userId="715b216a-9552-4d73-a9aa-1ef002111b6f" providerId="ADAL" clId="{2B661EA1-28DD-4C7A-9BAA-1E2E41397E83}" dt="2026-10-10T02:28:37.767" v="3978" actId="20577"/>
        <pc:sldMkLst>
          <pc:docMk/>
          <pc:sldMk cId="0" sldId="334"/>
        </pc:sldMkLst>
        <pc:spChg chg="add mod">
          <ac:chgData name="Zhiyang Zhou" userId="715b216a-9552-4d73-a9aa-1ef002111b6f" providerId="ADAL" clId="{2B661EA1-28DD-4C7A-9BAA-1E2E41397E83}" dt="2026-10-10T02:27:49.324" v="3969" actId="1035"/>
          <ac:spMkLst>
            <pc:docMk/>
            <pc:sldMk cId="0" sldId="334"/>
            <ac:spMk id="2" creationId="{36606FB9-B6C6-5356-520C-D764B32E26E3}"/>
          </ac:spMkLst>
        </pc:spChg>
        <pc:spChg chg="mod">
          <ac:chgData name="Zhiyang Zhou" userId="715b216a-9552-4d73-a9aa-1ef002111b6f" providerId="ADAL" clId="{2B661EA1-28DD-4C7A-9BAA-1E2E41397E83}" dt="2026-10-10T02:27:52.452" v="3972" actId="1035"/>
          <ac:spMkLst>
            <pc:docMk/>
            <pc:sldMk cId="0" sldId="334"/>
            <ac:spMk id="10" creationId="{00000000-0000-0000-0000-000000000000}"/>
          </ac:spMkLst>
        </pc:spChg>
        <pc:spChg chg="mod">
          <ac:chgData name="Zhiyang Zhou" userId="715b216a-9552-4d73-a9aa-1ef002111b6f" providerId="ADAL" clId="{2B661EA1-28DD-4C7A-9BAA-1E2E41397E83}" dt="2026-10-08T02:22:38.218" v="1431" actId="20577"/>
          <ac:spMkLst>
            <pc:docMk/>
            <pc:sldMk cId="0" sldId="334"/>
            <ac:spMk id="48133" creationId="{00000000-0000-0000-0000-000000000000}"/>
          </ac:spMkLst>
        </pc:spChg>
        <pc:spChg chg="mod">
          <ac:chgData name="Zhiyang Zhou" userId="715b216a-9552-4d73-a9aa-1ef002111b6f" providerId="ADAL" clId="{2B661EA1-28DD-4C7A-9BAA-1E2E41397E83}" dt="2026-10-10T02:28:37.767" v="3978" actId="20577"/>
          <ac:spMkLst>
            <pc:docMk/>
            <pc:sldMk cId="0" sldId="334"/>
            <ac:spMk id="61443" creationId="{00000000-0000-0000-0000-000000000000}"/>
          </ac:spMkLst>
        </pc:spChg>
        <pc:spChg chg="mod">
          <ac:chgData name="Zhiyang Zhou" userId="715b216a-9552-4d73-a9aa-1ef002111b6f" providerId="ADAL" clId="{2B661EA1-28DD-4C7A-9BAA-1E2E41397E83}" dt="2026-10-10T02:27:33.982" v="3907" actId="20577"/>
          <ac:spMkLst>
            <pc:docMk/>
            <pc:sldMk cId="0" sldId="334"/>
            <ac:spMk id="61448" creationId="{00000000-0000-0000-0000-000000000000}"/>
          </ac:spMkLst>
        </pc:spChg>
      </pc:sldChg>
      <pc:sldChg chg="addSp delSp modSp mod modAnim">
        <pc:chgData name="Zhiyang Zhou" userId="715b216a-9552-4d73-a9aa-1ef002111b6f" providerId="ADAL" clId="{2B661EA1-28DD-4C7A-9BAA-1E2E41397E83}" dt="2026-10-10T02:22:35.606" v="3807" actId="20577"/>
        <pc:sldMkLst>
          <pc:docMk/>
          <pc:sldMk cId="0" sldId="335"/>
        </pc:sldMkLst>
        <pc:spChg chg="mod topLvl">
          <ac:chgData name="Zhiyang Zhou" userId="715b216a-9552-4d73-a9aa-1ef002111b6f" providerId="ADAL" clId="{2B661EA1-28DD-4C7A-9BAA-1E2E41397E83}" dt="2026-10-10T02:22:13.023" v="3797" actId="20577"/>
          <ac:spMkLst>
            <pc:docMk/>
            <pc:sldMk cId="0" sldId="335"/>
            <ac:spMk id="9" creationId="{00000000-0000-0000-0000-000000000000}"/>
          </ac:spMkLst>
        </pc:spChg>
        <pc:spChg chg="mod topLvl">
          <ac:chgData name="Zhiyang Zhou" userId="715b216a-9552-4d73-a9aa-1ef002111b6f" providerId="ADAL" clId="{2B661EA1-28DD-4C7A-9BAA-1E2E41397E83}" dt="2026-10-10T02:19:12.433" v="3730" actId="165"/>
          <ac:spMkLst>
            <pc:docMk/>
            <pc:sldMk cId="0" sldId="335"/>
            <ac:spMk id="10" creationId="{00000000-0000-0000-0000-000000000000}"/>
          </ac:spMkLst>
        </pc:spChg>
        <pc:spChg chg="mod">
          <ac:chgData name="Zhiyang Zhou" userId="715b216a-9552-4d73-a9aa-1ef002111b6f" providerId="ADAL" clId="{2B661EA1-28DD-4C7A-9BAA-1E2E41397E83}" dt="2026-10-10T02:22:35.606" v="3807" actId="20577"/>
          <ac:spMkLst>
            <pc:docMk/>
            <pc:sldMk cId="0" sldId="335"/>
            <ac:spMk id="12" creationId="{00000000-0000-0000-0000-000000000000}"/>
          </ac:spMkLst>
        </pc:spChg>
        <pc:spChg chg="mod">
          <ac:chgData name="Zhiyang Zhou" userId="715b216a-9552-4d73-a9aa-1ef002111b6f" providerId="ADAL" clId="{2B661EA1-28DD-4C7A-9BAA-1E2E41397E83}" dt="2026-10-10T02:13:41.098" v="3552" actId="21"/>
          <ac:spMkLst>
            <pc:docMk/>
            <pc:sldMk cId="0" sldId="335"/>
            <ac:spMk id="54275" creationId="{00000000-0000-0000-0000-000000000000}"/>
          </ac:spMkLst>
        </pc:spChg>
        <pc:spChg chg="mod">
          <ac:chgData name="Zhiyang Zhou" userId="715b216a-9552-4d73-a9aa-1ef002111b6f" providerId="ADAL" clId="{2B661EA1-28DD-4C7A-9BAA-1E2E41397E83}" dt="2026-10-10T02:20:51.743" v="3774" actId="20577"/>
          <ac:spMkLst>
            <pc:docMk/>
            <pc:sldMk cId="0" sldId="335"/>
            <ac:spMk id="54276" creationId="{00000000-0000-0000-0000-000000000000}"/>
          </ac:spMkLst>
        </pc:spChg>
      </pc:sldChg>
      <pc:sldChg chg="modSp mod">
        <pc:chgData name="Zhiyang Zhou" userId="715b216a-9552-4d73-a9aa-1ef002111b6f" providerId="ADAL" clId="{2B661EA1-28DD-4C7A-9BAA-1E2E41397E83}" dt="2026-10-10T03:19:48.240" v="4039" actId="20577"/>
        <pc:sldMkLst>
          <pc:docMk/>
          <pc:sldMk cId="0" sldId="336"/>
        </pc:sldMkLst>
        <pc:spChg chg="mod">
          <ac:chgData name="Zhiyang Zhou" userId="715b216a-9552-4d73-a9aa-1ef002111b6f" providerId="ADAL" clId="{2B661EA1-28DD-4C7A-9BAA-1E2E41397E83}" dt="2026-10-10T03:19:48.240" v="4039" actId="20577"/>
          <ac:spMkLst>
            <pc:docMk/>
            <pc:sldMk cId="0" sldId="336"/>
            <ac:spMk id="16" creationId="{00000000-0000-0000-0000-000000000000}"/>
          </ac:spMkLst>
        </pc:spChg>
      </pc:sldChg>
      <pc:sldChg chg="ord">
        <pc:chgData name="Zhiyang Zhou" userId="715b216a-9552-4d73-a9aa-1ef002111b6f" providerId="ADAL" clId="{2B661EA1-28DD-4C7A-9BAA-1E2E41397E83}" dt="2026-10-07T23:49:38.174" v="1"/>
        <pc:sldMkLst>
          <pc:docMk/>
          <pc:sldMk cId="0" sldId="341"/>
        </pc:sldMkLst>
      </pc:sldChg>
      <pc:sldChg chg="delSp modSp mod modAnim">
        <pc:chgData name="Zhiyang Zhou" userId="715b216a-9552-4d73-a9aa-1ef002111b6f" providerId="ADAL" clId="{2B661EA1-28DD-4C7A-9BAA-1E2E41397E83}" dt="2026-10-08T17:04:02.689" v="2279" actId="20577"/>
        <pc:sldMkLst>
          <pc:docMk/>
          <pc:sldMk cId="0" sldId="342"/>
        </pc:sldMkLst>
        <pc:spChg chg="mod">
          <ac:chgData name="Zhiyang Zhou" userId="715b216a-9552-4d73-a9aa-1ef002111b6f" providerId="ADAL" clId="{2B661EA1-28DD-4C7A-9BAA-1E2E41397E83}" dt="2026-10-08T17:04:02.689" v="2279" actId="20577"/>
          <ac:spMkLst>
            <pc:docMk/>
            <pc:sldMk cId="0" sldId="342"/>
            <ac:spMk id="6" creationId="{00000000-0000-0000-0000-000000000000}"/>
          </ac:spMkLst>
        </pc:spChg>
        <pc:spChg chg="mod">
          <ac:chgData name="Zhiyang Zhou" userId="715b216a-9552-4d73-a9aa-1ef002111b6f" providerId="ADAL" clId="{2B661EA1-28DD-4C7A-9BAA-1E2E41397E83}" dt="2026-10-08T01:19:03.450" v="326" actId="1076"/>
          <ac:spMkLst>
            <pc:docMk/>
            <pc:sldMk cId="0" sldId="342"/>
            <ac:spMk id="9" creationId="{00000000-0000-0000-0000-000000000000}"/>
          </ac:spMkLst>
        </pc:spChg>
        <pc:spChg chg="mod">
          <ac:chgData name="Zhiyang Zhou" userId="715b216a-9552-4d73-a9aa-1ef002111b6f" providerId="ADAL" clId="{2B661EA1-28DD-4C7A-9BAA-1E2E41397E83}" dt="2026-10-08T16:32:54.581" v="1669" actId="20577"/>
          <ac:spMkLst>
            <pc:docMk/>
            <pc:sldMk cId="0" sldId="342"/>
            <ac:spMk id="29700" creationId="{00000000-0000-0000-0000-000000000000}"/>
          </ac:spMkLst>
        </pc:spChg>
        <pc:spChg chg="mod">
          <ac:chgData name="Zhiyang Zhou" userId="715b216a-9552-4d73-a9aa-1ef002111b6f" providerId="ADAL" clId="{2B661EA1-28DD-4C7A-9BAA-1E2E41397E83}" dt="2026-10-08T01:19:06.748" v="327" actId="1076"/>
          <ac:spMkLst>
            <pc:docMk/>
            <pc:sldMk cId="0" sldId="342"/>
            <ac:spMk id="29704" creationId="{00000000-0000-0000-0000-000000000000}"/>
          </ac:spMkLst>
        </pc:spChg>
      </pc:sldChg>
      <pc:sldChg chg="delSp modSp mod">
        <pc:chgData name="Zhiyang Zhou" userId="715b216a-9552-4d73-a9aa-1ef002111b6f" providerId="ADAL" clId="{2B661EA1-28DD-4C7A-9BAA-1E2E41397E83}" dt="2026-10-08T01:40:40.483" v="668" actId="20577"/>
        <pc:sldMkLst>
          <pc:docMk/>
          <pc:sldMk cId="0" sldId="345"/>
        </pc:sldMkLst>
        <pc:spChg chg="mod">
          <ac:chgData name="Zhiyang Zhou" userId="715b216a-9552-4d73-a9aa-1ef002111b6f" providerId="ADAL" clId="{2B661EA1-28DD-4C7A-9BAA-1E2E41397E83}" dt="2026-10-08T01:35:55.630" v="602" actId="1035"/>
          <ac:spMkLst>
            <pc:docMk/>
            <pc:sldMk cId="0" sldId="345"/>
            <ac:spMk id="6" creationId="{00000000-0000-0000-0000-000000000000}"/>
          </ac:spMkLst>
        </pc:spChg>
        <pc:spChg chg="mod">
          <ac:chgData name="Zhiyang Zhou" userId="715b216a-9552-4d73-a9aa-1ef002111b6f" providerId="ADAL" clId="{2B661EA1-28DD-4C7A-9BAA-1E2E41397E83}" dt="2026-10-08T01:40:40.483" v="668" actId="20577"/>
          <ac:spMkLst>
            <pc:docMk/>
            <pc:sldMk cId="0" sldId="345"/>
            <ac:spMk id="32774" creationId="{00000000-0000-0000-0000-000000000000}"/>
          </ac:spMkLst>
        </pc:spChg>
      </pc:sldChg>
      <pc:sldChg chg="modSp">
        <pc:chgData name="Zhiyang Zhou" userId="715b216a-9552-4d73-a9aa-1ef002111b6f" providerId="ADAL" clId="{2B661EA1-28DD-4C7A-9BAA-1E2E41397E83}" dt="2026-10-08T01:30:43.916" v="460" actId="20577"/>
        <pc:sldMkLst>
          <pc:docMk/>
          <pc:sldMk cId="0" sldId="346"/>
        </pc:sldMkLst>
        <pc:spChg chg="mod">
          <ac:chgData name="Zhiyang Zhou" userId="715b216a-9552-4d73-a9aa-1ef002111b6f" providerId="ADAL" clId="{2B661EA1-28DD-4C7A-9BAA-1E2E41397E83}" dt="2026-10-08T01:30:43.916" v="460" actId="20577"/>
          <ac:spMkLst>
            <pc:docMk/>
            <pc:sldMk cId="0" sldId="346"/>
            <ac:spMk id="19" creationId="{00000000-0000-0000-0000-000000000000}"/>
          </ac:spMkLst>
        </pc:spChg>
      </pc:sldChg>
      <pc:sldChg chg="modSp mod modNotesTx">
        <pc:chgData name="Zhiyang Zhou" userId="715b216a-9552-4d73-a9aa-1ef002111b6f" providerId="ADAL" clId="{2B661EA1-28DD-4C7A-9BAA-1E2E41397E83}" dt="2026-10-08T02:45:49.115" v="1601" actId="20577"/>
        <pc:sldMkLst>
          <pc:docMk/>
          <pc:sldMk cId="0" sldId="347"/>
        </pc:sldMkLst>
        <pc:spChg chg="mod">
          <ac:chgData name="Zhiyang Zhou" userId="715b216a-9552-4d73-a9aa-1ef002111b6f" providerId="ADAL" clId="{2B661EA1-28DD-4C7A-9BAA-1E2E41397E83}" dt="2026-10-08T01:46:50.270" v="877" actId="20577"/>
          <ac:spMkLst>
            <pc:docMk/>
            <pc:sldMk cId="0" sldId="347"/>
            <ac:spMk id="9" creationId="{00000000-0000-0000-0000-000000000000}"/>
          </ac:spMkLst>
        </pc:spChg>
        <pc:spChg chg="mod">
          <ac:chgData name="Zhiyang Zhou" userId="715b216a-9552-4d73-a9aa-1ef002111b6f" providerId="ADAL" clId="{2B661EA1-28DD-4C7A-9BAA-1E2E41397E83}" dt="2026-10-08T01:47:09.844" v="879" actId="20577"/>
          <ac:spMkLst>
            <pc:docMk/>
            <pc:sldMk cId="0" sldId="347"/>
            <ac:spMk id="19" creationId="{00000000-0000-0000-0000-000000000000}"/>
          </ac:spMkLst>
        </pc:spChg>
      </pc:sldChg>
      <pc:sldChg chg="modSp mod modAnim modNotesTx">
        <pc:chgData name="Zhiyang Zhou" userId="715b216a-9552-4d73-a9aa-1ef002111b6f" providerId="ADAL" clId="{2B661EA1-28DD-4C7A-9BAA-1E2E41397E83}" dt="2026-10-08T01:55:29.461" v="991" actId="20577"/>
        <pc:sldMkLst>
          <pc:docMk/>
          <pc:sldMk cId="0" sldId="348"/>
        </pc:sldMkLst>
        <pc:spChg chg="mod">
          <ac:chgData name="Zhiyang Zhou" userId="715b216a-9552-4d73-a9aa-1ef002111b6f" providerId="ADAL" clId="{2B661EA1-28DD-4C7A-9BAA-1E2E41397E83}" dt="2026-10-08T01:55:29.461" v="991" actId="20577"/>
          <ac:spMkLst>
            <pc:docMk/>
            <pc:sldMk cId="0" sldId="348"/>
            <ac:spMk id="18" creationId="{00000000-0000-0000-0000-000000000000}"/>
          </ac:spMkLst>
        </pc:spChg>
        <pc:spChg chg="mod">
          <ac:chgData name="Zhiyang Zhou" userId="715b216a-9552-4d73-a9aa-1ef002111b6f" providerId="ADAL" clId="{2B661EA1-28DD-4C7A-9BAA-1E2E41397E83}" dt="2026-10-08T01:50:17.562" v="948" actId="20577"/>
          <ac:spMkLst>
            <pc:docMk/>
            <pc:sldMk cId="0" sldId="348"/>
            <ac:spMk id="35843" creationId="{00000000-0000-0000-0000-000000000000}"/>
          </ac:spMkLst>
        </pc:spChg>
        <pc:spChg chg="mod">
          <ac:chgData name="Zhiyang Zhou" userId="715b216a-9552-4d73-a9aa-1ef002111b6f" providerId="ADAL" clId="{2B661EA1-28DD-4C7A-9BAA-1E2E41397E83}" dt="2026-10-08T01:54:38.961" v="966" actId="1076"/>
          <ac:spMkLst>
            <pc:docMk/>
            <pc:sldMk cId="0" sldId="348"/>
            <ac:spMk id="35844" creationId="{00000000-0000-0000-0000-000000000000}"/>
          </ac:spMkLst>
        </pc:spChg>
      </pc:sldChg>
      <pc:sldChg chg="modSp mod modAnim">
        <pc:chgData name="Zhiyang Zhou" userId="715b216a-9552-4d73-a9aa-1ef002111b6f" providerId="ADAL" clId="{2B661EA1-28DD-4C7A-9BAA-1E2E41397E83}" dt="2026-10-08T02:11:39.048" v="1272" actId="20577"/>
        <pc:sldMkLst>
          <pc:docMk/>
          <pc:sldMk cId="0" sldId="349"/>
        </pc:sldMkLst>
        <pc:spChg chg="mod">
          <ac:chgData name="Zhiyang Zhou" userId="715b216a-9552-4d73-a9aa-1ef002111b6f" providerId="ADAL" clId="{2B661EA1-28DD-4C7A-9BAA-1E2E41397E83}" dt="2026-10-08T02:07:13.419" v="1165" actId="20577"/>
          <ac:spMkLst>
            <pc:docMk/>
            <pc:sldMk cId="0" sldId="349"/>
            <ac:spMk id="2" creationId="{00000000-0000-0000-0000-000000000000}"/>
          </ac:spMkLst>
        </pc:spChg>
        <pc:spChg chg="mod">
          <ac:chgData name="Zhiyang Zhou" userId="715b216a-9552-4d73-a9aa-1ef002111b6f" providerId="ADAL" clId="{2B661EA1-28DD-4C7A-9BAA-1E2E41397E83}" dt="2026-10-08T02:11:39.048" v="1272" actId="20577"/>
          <ac:spMkLst>
            <pc:docMk/>
            <pc:sldMk cId="0" sldId="349"/>
            <ac:spMk id="1276930" creationId="{00000000-0000-0000-0000-000000000000}"/>
          </ac:spMkLst>
        </pc:spChg>
      </pc:sldChg>
      <pc:sldChg chg="addSp delSp modSp mod addAnim delAnim modAnim">
        <pc:chgData name="Zhiyang Zhou" userId="715b216a-9552-4d73-a9aa-1ef002111b6f" providerId="ADAL" clId="{2B661EA1-28DD-4C7A-9BAA-1E2E41397E83}" dt="2026-10-10T04:09:26.931" v="5067"/>
        <pc:sldMkLst>
          <pc:docMk/>
          <pc:sldMk cId="0" sldId="350"/>
        </pc:sldMkLst>
        <pc:spChg chg="add mod">
          <ac:chgData name="Zhiyang Zhou" userId="715b216a-9552-4d73-a9aa-1ef002111b6f" providerId="ADAL" clId="{2B661EA1-28DD-4C7A-9BAA-1E2E41397E83}" dt="2026-10-10T04:09:26.931" v="5067"/>
          <ac:spMkLst>
            <pc:docMk/>
            <pc:sldMk cId="0" sldId="350"/>
            <ac:spMk id="2" creationId="{EC3166E0-B834-F5B2-4F4F-316B7F58D60D}"/>
          </ac:spMkLst>
        </pc:spChg>
        <pc:spChg chg="mod">
          <ac:chgData name="Zhiyang Zhou" userId="715b216a-9552-4d73-a9aa-1ef002111b6f" providerId="ADAL" clId="{2B661EA1-28DD-4C7A-9BAA-1E2E41397E83}" dt="2026-10-10T04:08:43.842" v="5011" actId="1035"/>
          <ac:spMkLst>
            <pc:docMk/>
            <pc:sldMk cId="0" sldId="350"/>
            <ac:spMk id="3" creationId="{00000000-0000-0000-0000-000000000000}"/>
          </ac:spMkLst>
        </pc:spChg>
        <pc:spChg chg="mod">
          <ac:chgData name="Zhiyang Zhou" userId="715b216a-9552-4d73-a9aa-1ef002111b6f" providerId="ADAL" clId="{2B661EA1-28DD-4C7A-9BAA-1E2E41397E83}" dt="2026-10-10T04:08:48.483" v="5034" actId="1036"/>
          <ac:spMkLst>
            <pc:docMk/>
            <pc:sldMk cId="0" sldId="350"/>
            <ac:spMk id="10" creationId="{00000000-0000-0000-0000-000000000000}"/>
          </ac:spMkLst>
        </pc:spChg>
        <pc:spChg chg="add del mod">
          <ac:chgData name="Zhiyang Zhou" userId="715b216a-9552-4d73-a9aa-1ef002111b6f" providerId="ADAL" clId="{2B661EA1-28DD-4C7A-9BAA-1E2E41397E83}" dt="2026-10-10T04:08:59.709" v="5066" actId="1035"/>
          <ac:spMkLst>
            <pc:docMk/>
            <pc:sldMk cId="0" sldId="350"/>
            <ac:spMk id="14" creationId="{00000000-0000-0000-0000-000000000000}"/>
          </ac:spMkLst>
        </pc:spChg>
        <pc:spChg chg="mod">
          <ac:chgData name="Zhiyang Zhou" userId="715b216a-9552-4d73-a9aa-1ef002111b6f" providerId="ADAL" clId="{2B661EA1-28DD-4C7A-9BAA-1E2E41397E83}" dt="2026-10-10T04:08:35.712" v="4989" actId="20577"/>
          <ac:spMkLst>
            <pc:docMk/>
            <pc:sldMk cId="0" sldId="350"/>
            <ac:spMk id="25" creationId="{00000000-0000-0000-0000-000000000000}"/>
          </ac:spMkLst>
        </pc:spChg>
      </pc:sldChg>
      <pc:sldChg chg="modSp mod">
        <pc:chgData name="Zhiyang Zhou" userId="715b216a-9552-4d73-a9aa-1ef002111b6f" providerId="ADAL" clId="{2B661EA1-28DD-4C7A-9BAA-1E2E41397E83}" dt="2026-10-10T03:58:43.857" v="4608" actId="20577"/>
        <pc:sldMkLst>
          <pc:docMk/>
          <pc:sldMk cId="0" sldId="351"/>
        </pc:sldMkLst>
        <pc:spChg chg="mod">
          <ac:chgData name="Zhiyang Zhou" userId="715b216a-9552-4d73-a9aa-1ef002111b6f" providerId="ADAL" clId="{2B661EA1-28DD-4C7A-9BAA-1E2E41397E83}" dt="2026-10-10T03:58:43.857" v="4608" actId="20577"/>
          <ac:spMkLst>
            <pc:docMk/>
            <pc:sldMk cId="0" sldId="351"/>
            <ac:spMk id="2" creationId="{00000000-0000-0000-0000-000000000000}"/>
          </ac:spMkLst>
        </pc:spChg>
        <pc:spChg chg="mod">
          <ac:chgData name="Zhiyang Zhou" userId="715b216a-9552-4d73-a9aa-1ef002111b6f" providerId="ADAL" clId="{2B661EA1-28DD-4C7A-9BAA-1E2E41397E83}" dt="2026-10-10T03:54:43.449" v="4592" actId="20577"/>
          <ac:spMkLst>
            <pc:docMk/>
            <pc:sldMk cId="0" sldId="351"/>
            <ac:spMk id="13" creationId="{00000000-0000-0000-0000-000000000000}"/>
          </ac:spMkLst>
        </pc:spChg>
        <pc:spChg chg="mod">
          <ac:chgData name="Zhiyang Zhou" userId="715b216a-9552-4d73-a9aa-1ef002111b6f" providerId="ADAL" clId="{2B661EA1-28DD-4C7A-9BAA-1E2E41397E83}" dt="2026-10-10T03:47:32.706" v="4573" actId="20577"/>
          <ac:spMkLst>
            <pc:docMk/>
            <pc:sldMk cId="0" sldId="351"/>
            <ac:spMk id="62469" creationId="{00000000-0000-0000-0000-000000000000}"/>
          </ac:spMkLst>
        </pc:spChg>
      </pc:sldChg>
      <pc:sldChg chg="addSp delSp modSp mod modAnim">
        <pc:chgData name="Zhiyang Zhou" userId="715b216a-9552-4d73-a9aa-1ef002111b6f" providerId="ADAL" clId="{2B661EA1-28DD-4C7A-9BAA-1E2E41397E83}" dt="2026-10-10T03:55:33.272" v="4600"/>
        <pc:sldMkLst>
          <pc:docMk/>
          <pc:sldMk cId="3939205418" sldId="352"/>
        </pc:sldMkLst>
        <pc:spChg chg="mod">
          <ac:chgData name="Zhiyang Zhou" userId="715b216a-9552-4d73-a9aa-1ef002111b6f" providerId="ADAL" clId="{2B661EA1-28DD-4C7A-9BAA-1E2E41397E83}" dt="2026-10-10T03:55:33.272" v="4600"/>
          <ac:spMkLst>
            <pc:docMk/>
            <pc:sldMk cId="3939205418" sldId="352"/>
            <ac:spMk id="2" creationId="{00000000-0000-0000-0000-000000000000}"/>
          </ac:spMkLst>
        </pc:spChg>
        <pc:spChg chg="mod">
          <ac:chgData name="Zhiyang Zhou" userId="715b216a-9552-4d73-a9aa-1ef002111b6f" providerId="ADAL" clId="{2B661EA1-28DD-4C7A-9BAA-1E2E41397E83}" dt="2026-10-10T01:52:49.065" v="3321" actId="20577"/>
          <ac:spMkLst>
            <pc:docMk/>
            <pc:sldMk cId="3939205418" sldId="352"/>
            <ac:spMk id="3" creationId="{00000000-0000-0000-0000-000000000000}"/>
          </ac:spMkLst>
        </pc:spChg>
        <pc:spChg chg="add mod">
          <ac:chgData name="Zhiyang Zhou" userId="715b216a-9552-4d73-a9aa-1ef002111b6f" providerId="ADAL" clId="{2B661EA1-28DD-4C7A-9BAA-1E2E41397E83}" dt="2026-10-10T01:53:01.235" v="3323" actId="1076"/>
          <ac:spMkLst>
            <pc:docMk/>
            <pc:sldMk cId="3939205418" sldId="352"/>
            <ac:spMk id="6" creationId="{4CF6A44D-A4E0-7EBD-C5C7-FBFB98C06D39}"/>
          </ac:spMkLst>
        </pc:spChg>
      </pc:sldChg>
      <pc:sldChg chg="modSp mod">
        <pc:chgData name="Zhiyang Zhou" userId="715b216a-9552-4d73-a9aa-1ef002111b6f" providerId="ADAL" clId="{2B661EA1-28DD-4C7A-9BAA-1E2E41397E83}" dt="2026-10-08T01:28:45.631" v="454" actId="20577"/>
        <pc:sldMkLst>
          <pc:docMk/>
          <pc:sldMk cId="4174126140" sldId="354"/>
        </pc:sldMkLst>
        <pc:spChg chg="mod">
          <ac:chgData name="Zhiyang Zhou" userId="715b216a-9552-4d73-a9aa-1ef002111b6f" providerId="ADAL" clId="{2B661EA1-28DD-4C7A-9BAA-1E2E41397E83}" dt="2026-10-08T01:28:45.631" v="454" actId="20577"/>
          <ac:spMkLst>
            <pc:docMk/>
            <pc:sldMk cId="4174126140" sldId="354"/>
            <ac:spMk id="30723" creationId="{00000000-0000-0000-0000-000000000000}"/>
          </ac:spMkLst>
        </pc:spChg>
        <pc:spChg chg="mod">
          <ac:chgData name="Zhiyang Zhou" userId="715b216a-9552-4d73-a9aa-1ef002111b6f" providerId="ADAL" clId="{2B661EA1-28DD-4C7A-9BAA-1E2E41397E83}" dt="2026-10-08T01:26:48.907" v="415" actId="14100"/>
          <ac:spMkLst>
            <pc:docMk/>
            <pc:sldMk cId="4174126140" sldId="354"/>
            <ac:spMk id="30724" creationId="{00000000-0000-0000-0000-000000000000}"/>
          </ac:spMkLst>
        </pc:spChg>
      </pc:sldChg>
      <pc:sldChg chg="addSp modSp mod">
        <pc:chgData name="Zhiyang Zhou" userId="715b216a-9552-4d73-a9aa-1ef002111b6f" providerId="ADAL" clId="{2B661EA1-28DD-4C7A-9BAA-1E2E41397E83}" dt="2026-10-08T01:35:40.122" v="548" actId="14100"/>
        <pc:sldMkLst>
          <pc:docMk/>
          <pc:sldMk cId="2037828571" sldId="355"/>
        </pc:sldMkLst>
        <pc:spChg chg="add mod">
          <ac:chgData name="Zhiyang Zhou" userId="715b216a-9552-4d73-a9aa-1ef002111b6f" providerId="ADAL" clId="{2B661EA1-28DD-4C7A-9BAA-1E2E41397E83}" dt="2026-10-08T01:35:40.122" v="548" actId="14100"/>
          <ac:spMkLst>
            <pc:docMk/>
            <pc:sldMk cId="2037828571" sldId="355"/>
            <ac:spMk id="6" creationId="{FF1070D4-9AAB-22DC-D727-BD80596D09FB}"/>
          </ac:spMkLst>
        </pc:spChg>
        <pc:spChg chg="mod">
          <ac:chgData name="Zhiyang Zhou" userId="715b216a-9552-4d73-a9aa-1ef002111b6f" providerId="ADAL" clId="{2B661EA1-28DD-4C7A-9BAA-1E2E41397E83}" dt="2026-10-08T01:35:23.007" v="534" actId="20577"/>
          <ac:spMkLst>
            <pc:docMk/>
            <pc:sldMk cId="2037828571" sldId="355"/>
            <ac:spMk id="31748" creationId="{00000000-0000-0000-0000-000000000000}"/>
          </ac:spMkLst>
        </pc:spChg>
        <pc:grpChg chg="mod">
          <ac:chgData name="Zhiyang Zhou" userId="715b216a-9552-4d73-a9aa-1ef002111b6f" providerId="ADAL" clId="{2B661EA1-28DD-4C7A-9BAA-1E2E41397E83}" dt="2026-10-08T01:35:09.150" v="505" actId="1035"/>
          <ac:grpSpMkLst>
            <pc:docMk/>
            <pc:sldMk cId="2037828571" sldId="355"/>
            <ac:grpSpMk id="2" creationId="{00000000-0000-0000-0000-000000000000}"/>
          </ac:grpSpMkLst>
        </pc:grpChg>
      </pc:sldChg>
      <pc:sldChg chg="modSp mod">
        <pc:chgData name="Zhiyang Zhou" userId="715b216a-9552-4d73-a9aa-1ef002111b6f" providerId="ADAL" clId="{2B661EA1-28DD-4C7A-9BAA-1E2E41397E83}" dt="2026-10-16T02:11:52.429" v="5100" actId="20577"/>
        <pc:sldMkLst>
          <pc:docMk/>
          <pc:sldMk cId="1712410489" sldId="356"/>
        </pc:sldMkLst>
        <pc:spChg chg="mod">
          <ac:chgData name="Zhiyang Zhou" userId="715b216a-9552-4d73-a9aa-1ef002111b6f" providerId="ADAL" clId="{2B661EA1-28DD-4C7A-9BAA-1E2E41397E83}" dt="2026-10-16T02:11:52.429" v="5100" actId="20577"/>
          <ac:spMkLst>
            <pc:docMk/>
            <pc:sldMk cId="1712410489" sldId="356"/>
            <ac:spMk id="41986" creationId="{00000000-0000-0000-0000-000000000000}"/>
          </ac:spMkLst>
        </pc:spChg>
        <pc:spChg chg="mod">
          <ac:chgData name="Zhiyang Zhou" userId="715b216a-9552-4d73-a9aa-1ef002111b6f" providerId="ADAL" clId="{2B661EA1-28DD-4C7A-9BAA-1E2E41397E83}" dt="2026-10-16T02:11:38.615" v="5099"/>
          <ac:spMkLst>
            <pc:docMk/>
            <pc:sldMk cId="1712410489" sldId="356"/>
            <ac:spMk id="41987" creationId="{00000000-0000-0000-0000-000000000000}"/>
          </ac:spMkLst>
        </pc:spChg>
      </pc:sldChg>
      <pc:sldChg chg="addSp delSp modSp mod delAnim modAnim">
        <pc:chgData name="Zhiyang Zhou" userId="715b216a-9552-4d73-a9aa-1ef002111b6f" providerId="ADAL" clId="{2B661EA1-28DD-4C7A-9BAA-1E2E41397E83}" dt="2026-10-10T03:41:27.862" v="4360" actId="1076"/>
        <pc:sldMkLst>
          <pc:docMk/>
          <pc:sldMk cId="2761395656" sldId="358"/>
        </pc:sldMkLst>
        <pc:spChg chg="add mod">
          <ac:chgData name="Zhiyang Zhou" userId="715b216a-9552-4d73-a9aa-1ef002111b6f" providerId="ADAL" clId="{2B661EA1-28DD-4C7A-9BAA-1E2E41397E83}" dt="2026-10-10T03:41:19.274" v="4358" actId="14100"/>
          <ac:spMkLst>
            <pc:docMk/>
            <pc:sldMk cId="2761395656" sldId="358"/>
            <ac:spMk id="4" creationId="{7589CAA4-328E-2C8A-4B6E-07D36DEF4E01}"/>
          </ac:spMkLst>
        </pc:spChg>
        <pc:spChg chg="add mod">
          <ac:chgData name="Zhiyang Zhou" userId="715b216a-9552-4d73-a9aa-1ef002111b6f" providerId="ADAL" clId="{2B661EA1-28DD-4C7A-9BAA-1E2E41397E83}" dt="2026-10-10T03:41:27.862" v="4360" actId="1076"/>
          <ac:spMkLst>
            <pc:docMk/>
            <pc:sldMk cId="2761395656" sldId="358"/>
            <ac:spMk id="7" creationId="{470D0B91-89EC-7F8F-B35B-A46F30A193F9}"/>
          </ac:spMkLst>
        </pc:spChg>
        <pc:spChg chg="mod">
          <ac:chgData name="Zhiyang Zhou" userId="715b216a-9552-4d73-a9aa-1ef002111b6f" providerId="ADAL" clId="{2B661EA1-28DD-4C7A-9BAA-1E2E41397E83}" dt="2026-10-10T03:24:12.061" v="4230" actId="20577"/>
          <ac:spMkLst>
            <pc:docMk/>
            <pc:sldMk cId="2761395656" sldId="358"/>
            <ac:spMk id="24" creationId="{00000000-0000-0000-0000-000000000000}"/>
          </ac:spMkLst>
        </pc:spChg>
        <pc:spChg chg="mod">
          <ac:chgData name="Zhiyang Zhou" userId="715b216a-9552-4d73-a9aa-1ef002111b6f" providerId="ADAL" clId="{2B661EA1-28DD-4C7A-9BAA-1E2E41397E83}" dt="2026-10-10T03:30:22.844" v="4294" actId="20577"/>
          <ac:spMkLst>
            <pc:docMk/>
            <pc:sldMk cId="2761395656" sldId="358"/>
            <ac:spMk id="25" creationId="{00000000-0000-0000-0000-000000000000}"/>
          </ac:spMkLst>
        </pc:spChg>
        <pc:spChg chg="mod">
          <ac:chgData name="Zhiyang Zhou" userId="715b216a-9552-4d73-a9aa-1ef002111b6f" providerId="ADAL" clId="{2B661EA1-28DD-4C7A-9BAA-1E2E41397E83}" dt="2026-10-10T03:19:10.308" v="4017" actId="20577"/>
          <ac:spMkLst>
            <pc:docMk/>
            <pc:sldMk cId="2761395656" sldId="358"/>
            <ac:spMk id="26" creationId="{00000000-0000-0000-0000-000000000000}"/>
          </ac:spMkLst>
        </pc:spChg>
        <pc:spChg chg="mod">
          <ac:chgData name="Zhiyang Zhou" userId="715b216a-9552-4d73-a9aa-1ef002111b6f" providerId="ADAL" clId="{2B661EA1-28DD-4C7A-9BAA-1E2E41397E83}" dt="2026-10-10T03:31:33.734" v="4317" actId="20577"/>
          <ac:spMkLst>
            <pc:docMk/>
            <pc:sldMk cId="2761395656" sldId="358"/>
            <ac:spMk id="27" creationId="{00000000-0000-0000-0000-000000000000}"/>
          </ac:spMkLst>
        </pc:spChg>
        <pc:spChg chg="mod">
          <ac:chgData name="Zhiyang Zhou" userId="715b216a-9552-4d73-a9aa-1ef002111b6f" providerId="ADAL" clId="{2B661EA1-28DD-4C7A-9BAA-1E2E41397E83}" dt="2026-10-10T03:23:40.008" v="4219" actId="14100"/>
          <ac:spMkLst>
            <pc:docMk/>
            <pc:sldMk cId="2761395656" sldId="358"/>
            <ac:spMk id="56323" creationId="{00000000-0000-0000-0000-000000000000}"/>
          </ac:spMkLst>
        </pc:spChg>
        <pc:spChg chg="mod">
          <ac:chgData name="Zhiyang Zhou" userId="715b216a-9552-4d73-a9aa-1ef002111b6f" providerId="ADAL" clId="{2B661EA1-28DD-4C7A-9BAA-1E2E41397E83}" dt="2026-10-10T03:22:16.870" v="4110" actId="20577"/>
          <ac:spMkLst>
            <pc:docMk/>
            <pc:sldMk cId="2761395656" sldId="358"/>
            <ac:spMk id="56324" creationId="{00000000-0000-0000-0000-000000000000}"/>
          </ac:spMkLst>
        </pc:spChg>
        <pc:spChg chg="mod">
          <ac:chgData name="Zhiyang Zhou" userId="715b216a-9552-4d73-a9aa-1ef002111b6f" providerId="ADAL" clId="{2B661EA1-28DD-4C7A-9BAA-1E2E41397E83}" dt="2026-10-10T03:23:58.029" v="4225" actId="1036"/>
          <ac:spMkLst>
            <pc:docMk/>
            <pc:sldMk cId="2761395656" sldId="358"/>
            <ac:spMk id="56325" creationId="{00000000-0000-0000-0000-000000000000}"/>
          </ac:spMkLst>
        </pc:spChg>
      </pc:sldChg>
      <pc:sldChg chg="modSp mod">
        <pc:chgData name="Zhiyang Zhou" userId="715b216a-9552-4d73-a9aa-1ef002111b6f" providerId="ADAL" clId="{2B661EA1-28DD-4C7A-9BAA-1E2E41397E83}" dt="2026-10-10T03:46:42.757" v="4560" actId="20577"/>
        <pc:sldMkLst>
          <pc:docMk/>
          <pc:sldMk cId="3756842837" sldId="359"/>
        </pc:sldMkLst>
        <pc:spChg chg="mod">
          <ac:chgData name="Zhiyang Zhou" userId="715b216a-9552-4d73-a9aa-1ef002111b6f" providerId="ADAL" clId="{2B661EA1-28DD-4C7A-9BAA-1E2E41397E83}" dt="2026-10-10T03:46:18.082" v="4536" actId="20577"/>
          <ac:spMkLst>
            <pc:docMk/>
            <pc:sldMk cId="3756842837" sldId="359"/>
            <ac:spMk id="4" creationId="{00000000-0000-0000-0000-000000000000}"/>
          </ac:spMkLst>
        </pc:spChg>
        <pc:spChg chg="mod">
          <ac:chgData name="Zhiyang Zhou" userId="715b216a-9552-4d73-a9aa-1ef002111b6f" providerId="ADAL" clId="{2B661EA1-28DD-4C7A-9BAA-1E2E41397E83}" dt="2026-10-10T03:46:42.757" v="4560" actId="20577"/>
          <ac:spMkLst>
            <pc:docMk/>
            <pc:sldMk cId="3756842837" sldId="359"/>
            <ac:spMk id="57347" creationId="{00000000-0000-0000-0000-000000000000}"/>
          </ac:spMkLst>
        </pc:spChg>
      </pc:sldChg>
      <pc:sldChg chg="delSp modSp add mod delAnim modAnim">
        <pc:chgData name="Zhiyang Zhou" userId="715b216a-9552-4d73-a9aa-1ef002111b6f" providerId="ADAL" clId="{2B661EA1-28DD-4C7A-9BAA-1E2E41397E83}" dt="2026-10-08T17:10:07.167" v="2555" actId="20577"/>
        <pc:sldMkLst>
          <pc:docMk/>
          <pc:sldMk cId="2880279074" sldId="361"/>
        </pc:sldMkLst>
        <pc:spChg chg="mod">
          <ac:chgData name="Zhiyang Zhou" userId="715b216a-9552-4d73-a9aa-1ef002111b6f" providerId="ADAL" clId="{2B661EA1-28DD-4C7A-9BAA-1E2E41397E83}" dt="2026-10-08T17:02:31.748" v="2245" actId="1076"/>
          <ac:spMkLst>
            <pc:docMk/>
            <pc:sldMk cId="2880279074" sldId="361"/>
            <ac:spMk id="6" creationId="{C5954174-6235-0F00-7E4A-92C53D440F63}"/>
          </ac:spMkLst>
        </pc:spChg>
        <pc:spChg chg="mod">
          <ac:chgData name="Zhiyang Zhou" userId="715b216a-9552-4d73-a9aa-1ef002111b6f" providerId="ADAL" clId="{2B661EA1-28DD-4C7A-9BAA-1E2E41397E83}" dt="2026-10-08T16:33:04.681" v="1680" actId="20577"/>
          <ac:spMkLst>
            <pc:docMk/>
            <pc:sldMk cId="2880279074" sldId="361"/>
            <ac:spMk id="29700" creationId="{2500225E-956F-A8DF-CC81-C04ABBC98546}"/>
          </ac:spMkLst>
        </pc:spChg>
        <pc:spChg chg="mod">
          <ac:chgData name="Zhiyang Zhou" userId="715b216a-9552-4d73-a9aa-1ef002111b6f" providerId="ADAL" clId="{2B661EA1-28DD-4C7A-9BAA-1E2E41397E83}" dt="2026-10-08T17:10:07.167" v="2555" actId="20577"/>
          <ac:spMkLst>
            <pc:docMk/>
            <pc:sldMk cId="2880279074" sldId="361"/>
            <ac:spMk id="29704" creationId="{242B9D64-0385-9338-6B3C-6AF214E2746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46E0F4E5-4978-479E-84D1-ECCA9DDDC613}" type="datetime1">
              <a:rPr lang="en-US" altLang="en-US"/>
              <a:pPr>
                <a:defRPr/>
              </a:pPr>
              <a:t>10/19/2026</a:t>
            </a:fld>
            <a:endParaRPr lang="en-US" alt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itchFamily="34" charset="0"/>
              </a:defRPr>
            </a:lvl1pPr>
          </a:lstStyle>
          <a:p>
            <a:fld id="{E9A0D05A-5D59-425F-8D40-D3AA8F5E0A82}" type="slidenum">
              <a:rPr lang="en-US" altLang="en-US"/>
              <a:pPr/>
              <a:t>‹#›</a:t>
            </a:fld>
            <a:endParaRPr lang="en-US" altLang="en-US"/>
          </a:p>
        </p:txBody>
      </p:sp>
    </p:spTree>
    <p:extLst>
      <p:ext uri="{BB962C8B-B14F-4D97-AF65-F5344CB8AC3E}">
        <p14:creationId xmlns:p14="http://schemas.microsoft.com/office/powerpoint/2010/main" val="423774362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FC10D092-A99F-4781-A72F-5B8991639290}" type="datetime1">
              <a:rPr lang="en-US" altLang="en-US"/>
              <a:pPr>
                <a:defRPr/>
              </a:pPr>
              <a:t>10/19/2026</a:t>
            </a:fld>
            <a:endParaRPr lang="en-US" alt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itchFamily="34" charset="0"/>
              </a:defRPr>
            </a:lvl1pPr>
          </a:lstStyle>
          <a:p>
            <a:fld id="{EF47AEF1-8253-4223-8ECC-BACABB55BFEE}" type="slidenum">
              <a:rPr lang="en-US" altLang="en-US"/>
              <a:pPr/>
              <a:t>‹#›</a:t>
            </a:fld>
            <a:endParaRPr lang="en-US" altLang="en-US"/>
          </a:p>
        </p:txBody>
      </p:sp>
    </p:spTree>
    <p:extLst>
      <p:ext uri="{BB962C8B-B14F-4D97-AF65-F5344CB8AC3E}">
        <p14:creationId xmlns:p14="http://schemas.microsoft.com/office/powerpoint/2010/main" val="2873935315"/>
      </p:ext>
    </p:extLst>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ＭＳ Ｐゴシック" pitchFamily="-1" charset="-128"/>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a:t>
            </a:r>
            <a:r>
              <a:rPr lang="en-US" baseline="0" dirty="0"/>
              <a:t> a statistic is a summary of a data (from a sample), it is not individual data (point).  Take sample mean as an example</a:t>
            </a:r>
            <a:endParaRPr lang="en-US" dirty="0"/>
          </a:p>
        </p:txBody>
      </p:sp>
      <p:sp>
        <p:nvSpPr>
          <p:cNvPr id="4" name="Slide Number Placeholder 3"/>
          <p:cNvSpPr>
            <a:spLocks noGrp="1"/>
          </p:cNvSpPr>
          <p:nvPr>
            <p:ph type="sldNum" sz="quarter" idx="10"/>
          </p:nvPr>
        </p:nvSpPr>
        <p:spPr/>
        <p:txBody>
          <a:bodyPr/>
          <a:lstStyle/>
          <a:p>
            <a:fld id="{EF47AEF1-8253-4223-8ECC-BACABB55BFEE}" type="slidenum">
              <a:rPr lang="en-US" altLang="en-US" smtClean="0"/>
              <a:pPr/>
              <a:t>6</a:t>
            </a:fld>
            <a:endParaRPr lang="en-US" altLang="en-US"/>
          </a:p>
        </p:txBody>
      </p:sp>
    </p:spTree>
    <p:extLst>
      <p:ext uri="{BB962C8B-B14F-4D97-AF65-F5344CB8AC3E}">
        <p14:creationId xmlns:p14="http://schemas.microsoft.com/office/powerpoint/2010/main" val="3849754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a:t>
            </a:r>
            <a:r>
              <a:rPr lang="en-US" baseline="0" dirty="0"/>
              <a:t> would be more accurate for an estimate (</a:t>
            </a:r>
            <a:r>
              <a:rPr lang="en-US" baseline="0" dirty="0" err="1"/>
              <a:t>i.e</a:t>
            </a:r>
            <a:r>
              <a:rPr lang="en-US" baseline="0" dirty="0"/>
              <a:t> mean) from a larger sample size– measure average height in a class.</a:t>
            </a:r>
            <a:endParaRPr lang="en-US" dirty="0"/>
          </a:p>
        </p:txBody>
      </p:sp>
      <p:sp>
        <p:nvSpPr>
          <p:cNvPr id="4" name="Slide Number Placeholder 3"/>
          <p:cNvSpPr>
            <a:spLocks noGrp="1"/>
          </p:cNvSpPr>
          <p:nvPr>
            <p:ph type="sldNum" sz="quarter" idx="10"/>
          </p:nvPr>
        </p:nvSpPr>
        <p:spPr/>
        <p:txBody>
          <a:bodyPr/>
          <a:lstStyle/>
          <a:p>
            <a:fld id="{EF47AEF1-8253-4223-8ECC-BACABB55BFEE}" type="slidenum">
              <a:rPr lang="en-US" altLang="en-US" smtClean="0"/>
              <a:pPr/>
              <a:t>8</a:t>
            </a:fld>
            <a:endParaRPr lang="en-US" altLang="en-US"/>
          </a:p>
        </p:txBody>
      </p:sp>
    </p:spTree>
    <p:extLst>
      <p:ext uri="{BB962C8B-B14F-4D97-AF65-F5344CB8AC3E}">
        <p14:creationId xmlns:p14="http://schemas.microsoft.com/office/powerpoint/2010/main" val="31973234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Very important !!  Sampling design – average height</a:t>
            </a:r>
            <a:r>
              <a:rPr lang="en-US" baseline="0" dirty="0"/>
              <a:t> – sampling individuals from the same ethnic population vs different ethnic groups – homogeneous population,  adult vs children</a:t>
            </a:r>
            <a:endParaRPr lang="en-US" dirty="0"/>
          </a:p>
        </p:txBody>
      </p:sp>
      <p:sp>
        <p:nvSpPr>
          <p:cNvPr id="4" name="Slide Number Placeholder 3"/>
          <p:cNvSpPr>
            <a:spLocks noGrp="1"/>
          </p:cNvSpPr>
          <p:nvPr>
            <p:ph type="sldNum" sz="quarter" idx="10"/>
          </p:nvPr>
        </p:nvSpPr>
        <p:spPr/>
        <p:txBody>
          <a:bodyPr/>
          <a:lstStyle/>
          <a:p>
            <a:fld id="{EF47AEF1-8253-4223-8ECC-BACABB55BFEE}" type="slidenum">
              <a:rPr lang="en-US" altLang="en-US" smtClean="0"/>
              <a:pPr/>
              <a:t>9</a:t>
            </a:fld>
            <a:endParaRPr lang="en-US" altLang="en-US"/>
          </a:p>
        </p:txBody>
      </p:sp>
    </p:spTree>
    <p:extLst>
      <p:ext uri="{BB962C8B-B14F-4D97-AF65-F5344CB8AC3E}">
        <p14:creationId xmlns:p14="http://schemas.microsoft.com/office/powerpoint/2010/main" val="10395375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F47AEF1-8253-4223-8ECC-BACABB55BFEE}" type="slidenum">
              <a:rPr lang="en-US" altLang="en-US" smtClean="0"/>
              <a:pPr/>
              <a:t>10</a:t>
            </a:fld>
            <a:endParaRPr lang="en-US" altLang="en-US"/>
          </a:p>
        </p:txBody>
      </p:sp>
    </p:spTree>
    <p:extLst>
      <p:ext uri="{BB962C8B-B14F-4D97-AF65-F5344CB8AC3E}">
        <p14:creationId xmlns:p14="http://schemas.microsoft.com/office/powerpoint/2010/main" val="27441999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F47AEF1-8253-4223-8ECC-BACABB55BFEE}" type="slidenum">
              <a:rPr lang="en-US" altLang="en-US" smtClean="0"/>
              <a:pPr/>
              <a:t>11</a:t>
            </a:fld>
            <a:endParaRPr lang="en-US" altLang="en-US"/>
          </a:p>
        </p:txBody>
      </p:sp>
    </p:spTree>
    <p:extLst>
      <p:ext uri="{BB962C8B-B14F-4D97-AF65-F5344CB8AC3E}">
        <p14:creationId xmlns:p14="http://schemas.microsoft.com/office/powerpoint/2010/main" val="39849015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itchFamily="34" charset="0"/>
              <a:ea typeface="ＭＳ Ｐゴシック" pitchFamily="34" charset="-128"/>
            </a:endParaRPr>
          </a:p>
        </p:txBody>
      </p:sp>
    </p:spTree>
    <p:extLst>
      <p:ext uri="{BB962C8B-B14F-4D97-AF65-F5344CB8AC3E}">
        <p14:creationId xmlns:p14="http://schemas.microsoft.com/office/powerpoint/2010/main" val="11188207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itchFamily="34" charset="0"/>
              <a:ea typeface="ＭＳ Ｐゴシック" pitchFamily="34" charset="-128"/>
            </a:endParaRPr>
          </a:p>
        </p:txBody>
      </p:sp>
    </p:spTree>
    <p:extLst>
      <p:ext uri="{BB962C8B-B14F-4D97-AF65-F5344CB8AC3E}">
        <p14:creationId xmlns:p14="http://schemas.microsoft.com/office/powerpoint/2010/main" val="38515372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latin typeface="Arial" pitchFamily="34" charset="0"/>
                <a:ea typeface="ＭＳ Ｐゴシック" pitchFamily="34" charset="-128"/>
              </a:rPr>
              <a:t>The</a:t>
            </a:r>
            <a:r>
              <a:rPr lang="en-US" altLang="en-US" baseline="0" dirty="0">
                <a:latin typeface="Arial" pitchFamily="34" charset="0"/>
                <a:ea typeface="ＭＳ Ｐゴシック" pitchFamily="34" charset="-128"/>
              </a:rPr>
              <a:t> first two points are less relevant.</a:t>
            </a:r>
            <a:endParaRPr lang="en-US" altLang="en-US" dirty="0">
              <a:latin typeface="Arial" pitchFamily="34" charset="0"/>
              <a:ea typeface="ＭＳ Ｐゴシック" pitchFamily="34" charset="-128"/>
            </a:endParaRPr>
          </a:p>
        </p:txBody>
      </p:sp>
    </p:spTree>
    <p:extLst>
      <p:ext uri="{BB962C8B-B14F-4D97-AF65-F5344CB8AC3E}">
        <p14:creationId xmlns:p14="http://schemas.microsoft.com/office/powerpoint/2010/main" val="1006509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Clinical trial for treatment efficacy (yes, no);</a:t>
            </a:r>
            <a:r>
              <a:rPr lang="en-US" baseline="0" dirty="0"/>
              <a:t> cancer patient survival</a:t>
            </a:r>
            <a:endParaRPr lang="en-US" dirty="0"/>
          </a:p>
        </p:txBody>
      </p:sp>
      <p:sp>
        <p:nvSpPr>
          <p:cNvPr id="4" name="Slide Number Placeholder 3"/>
          <p:cNvSpPr>
            <a:spLocks noGrp="1"/>
          </p:cNvSpPr>
          <p:nvPr>
            <p:ph type="sldNum" sz="quarter" idx="10"/>
          </p:nvPr>
        </p:nvSpPr>
        <p:spPr/>
        <p:txBody>
          <a:bodyPr/>
          <a:lstStyle/>
          <a:p>
            <a:fld id="{EF47AEF1-8253-4223-8ECC-BACABB55BFEE}" type="slidenum">
              <a:rPr lang="en-US" altLang="en-US" smtClean="0"/>
              <a:pPr/>
              <a:t>20</a:t>
            </a:fld>
            <a:endParaRPr lang="en-US" altLang="en-US"/>
          </a:p>
        </p:txBody>
      </p:sp>
    </p:spTree>
    <p:extLst>
      <p:ext uri="{BB962C8B-B14F-4D97-AF65-F5344CB8AC3E}">
        <p14:creationId xmlns:p14="http://schemas.microsoft.com/office/powerpoint/2010/main" val="42755991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Tamaxifen</a:t>
            </a:r>
            <a:r>
              <a:rPr lang="en-US" dirty="0"/>
              <a:t> vs </a:t>
            </a:r>
            <a:r>
              <a:rPr lang="en-US" dirty="0" err="1"/>
              <a:t>Aramatase</a:t>
            </a:r>
            <a:r>
              <a:rPr lang="en-US" dirty="0"/>
              <a:t> for breast cancer</a:t>
            </a:r>
          </a:p>
        </p:txBody>
      </p:sp>
      <p:sp>
        <p:nvSpPr>
          <p:cNvPr id="4" name="Slide Number Placeholder 3"/>
          <p:cNvSpPr>
            <a:spLocks noGrp="1"/>
          </p:cNvSpPr>
          <p:nvPr>
            <p:ph type="sldNum" sz="quarter" idx="10"/>
          </p:nvPr>
        </p:nvSpPr>
        <p:spPr/>
        <p:txBody>
          <a:bodyPr/>
          <a:lstStyle/>
          <a:p>
            <a:fld id="{EF47AEF1-8253-4223-8ECC-BACABB55BFEE}" type="slidenum">
              <a:rPr lang="en-US" altLang="en-US" smtClean="0"/>
              <a:pPr/>
              <a:t>21</a:t>
            </a:fld>
            <a:endParaRPr lang="en-US" altLang="en-US"/>
          </a:p>
        </p:txBody>
      </p:sp>
    </p:spTree>
    <p:extLst>
      <p:ext uri="{BB962C8B-B14F-4D97-AF65-F5344CB8AC3E}">
        <p14:creationId xmlns:p14="http://schemas.microsoft.com/office/powerpoint/2010/main" val="22948194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ea typeface="ＭＳ Ｐゴシック" pitchFamily="34" charset="-128"/>
              </a:rPr>
              <a:t>Steph Curry</a:t>
            </a:r>
            <a:r>
              <a:rPr lang="en-US" altLang="en-US" baseline="0" dirty="0">
                <a:ea typeface="ＭＳ Ｐゴシック" pitchFamily="34" charset="-128"/>
              </a:rPr>
              <a:t> – free throw 90% (make or miss) – make three two free throws; or 3 free throws</a:t>
            </a:r>
            <a:endParaRPr lang="en-US" altLang="en-US" dirty="0">
              <a:ea typeface="ＭＳ Ｐゴシック" pitchFamily="34" charset="-128"/>
            </a:endParaRPr>
          </a:p>
        </p:txBody>
      </p:sp>
      <p:sp>
        <p:nvSpPr>
          <p:cNvPr id="512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itchFamily="34" charset="0"/>
                <a:ea typeface="ＭＳ Ｐゴシック" pitchFamily="34" charset="-128"/>
              </a:defRPr>
            </a:lvl1pPr>
            <a:lvl2pPr marL="742950" indent="-285750">
              <a:defRPr sz="1200">
                <a:solidFill>
                  <a:schemeClr val="tx1"/>
                </a:solidFill>
                <a:latin typeface="Calibri" pitchFamily="34" charset="0"/>
                <a:ea typeface="ＭＳ Ｐゴシック" pitchFamily="34" charset="-128"/>
              </a:defRPr>
            </a:lvl2pPr>
            <a:lvl3pPr marL="1143000" indent="-228600">
              <a:defRPr sz="1200">
                <a:solidFill>
                  <a:schemeClr val="tx1"/>
                </a:solidFill>
                <a:latin typeface="Calibri" pitchFamily="34" charset="0"/>
                <a:ea typeface="ＭＳ Ｐゴシック" pitchFamily="34" charset="-128"/>
              </a:defRPr>
            </a:lvl3pPr>
            <a:lvl4pPr marL="1600200" indent="-228600">
              <a:defRPr sz="1200">
                <a:solidFill>
                  <a:schemeClr val="tx1"/>
                </a:solidFill>
                <a:latin typeface="Calibri" pitchFamily="34" charset="0"/>
                <a:ea typeface="ＭＳ Ｐゴシック" pitchFamily="34" charset="-128"/>
              </a:defRPr>
            </a:lvl4pPr>
            <a:lvl5pPr marL="2057400" indent="-228600">
              <a:defRPr sz="1200">
                <a:solidFill>
                  <a:schemeClr val="tx1"/>
                </a:solidFill>
                <a:latin typeface="Calibri" pitchFamily="34" charset="0"/>
                <a:ea typeface="ＭＳ Ｐゴシック" pitchFamily="34" charset="-128"/>
              </a:defRPr>
            </a:lvl5pPr>
            <a:lvl6pPr marL="25146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6pPr>
            <a:lvl7pPr marL="29718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7pPr>
            <a:lvl8pPr marL="34290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8pPr>
            <a:lvl9pPr marL="38862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9pPr>
          </a:lstStyle>
          <a:p>
            <a:fld id="{CD68FA47-82AE-4B9A-930A-A852F53126AE}" type="slidenum">
              <a:rPr lang="en-US" altLang="en-US"/>
              <a:pPr/>
              <a:t>22</a:t>
            </a:fld>
            <a:endParaRPr lang="en-US" altLang="en-US"/>
          </a:p>
        </p:txBody>
      </p:sp>
    </p:spTree>
    <p:extLst>
      <p:ext uri="{BB962C8B-B14F-4D97-AF65-F5344CB8AC3E}">
        <p14:creationId xmlns:p14="http://schemas.microsoft.com/office/powerpoint/2010/main" val="4931805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t>
            </a:r>
            <a:r>
              <a:rPr lang="en-US" baseline="0" dirty="0"/>
              <a:t> + OO – 3 kids – O/O, B/O, B/O</a:t>
            </a:r>
            <a:endParaRPr lang="en-US" dirty="0"/>
          </a:p>
        </p:txBody>
      </p:sp>
      <p:sp>
        <p:nvSpPr>
          <p:cNvPr id="4" name="Slide Number Placeholder 3"/>
          <p:cNvSpPr>
            <a:spLocks noGrp="1"/>
          </p:cNvSpPr>
          <p:nvPr>
            <p:ph type="sldNum" sz="quarter" idx="10"/>
          </p:nvPr>
        </p:nvSpPr>
        <p:spPr/>
        <p:txBody>
          <a:bodyPr/>
          <a:lstStyle/>
          <a:p>
            <a:fld id="{EF47AEF1-8253-4223-8ECC-BACABB55BFEE}" type="slidenum">
              <a:rPr lang="en-US" altLang="en-US" smtClean="0"/>
              <a:pPr/>
              <a:t>23</a:t>
            </a:fld>
            <a:endParaRPr lang="en-US" altLang="en-US"/>
          </a:p>
        </p:txBody>
      </p:sp>
    </p:spTree>
    <p:extLst>
      <p:ext uri="{BB962C8B-B14F-4D97-AF65-F5344CB8AC3E}">
        <p14:creationId xmlns:p14="http://schemas.microsoft.com/office/powerpoint/2010/main" val="1978154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4114800"/>
            <a:ext cx="6508750" cy="1143000"/>
          </a:xfrm>
          <a:noFill/>
        </p:spPr>
        <p:txBody>
          <a:bodyPr/>
          <a:lstStyle/>
          <a:p>
            <a:r>
              <a:rPr lang="en-US"/>
              <a:t>Click to edit Master title style</a:t>
            </a:r>
          </a:p>
        </p:txBody>
      </p:sp>
    </p:spTree>
    <p:extLst>
      <p:ext uri="{BB962C8B-B14F-4D97-AF65-F5344CB8AC3E}">
        <p14:creationId xmlns:p14="http://schemas.microsoft.com/office/powerpoint/2010/main" val="6803537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Slide Number Placeholder 5"/>
          <p:cNvSpPr>
            <a:spLocks noGrp="1"/>
          </p:cNvSpPr>
          <p:nvPr>
            <p:ph type="sldNum" sz="quarter" idx="10"/>
          </p:nvPr>
        </p:nvSpPr>
        <p:spPr>
          <a:xfrm>
            <a:off x="8509000" y="6356350"/>
            <a:ext cx="508000" cy="365125"/>
          </a:xfrm>
        </p:spPr>
        <p:txBody>
          <a:bodyPr/>
          <a:lstStyle>
            <a:lvl1pPr>
              <a:defRPr sz="1400">
                <a:solidFill>
                  <a:schemeClr val="accent1"/>
                </a:solidFill>
              </a:defRPr>
            </a:lvl1pPr>
          </a:lstStyle>
          <a:p>
            <a:fld id="{3E80EEF4-02DE-49A0-8B3A-2534C08D3F7C}" type="slidenum">
              <a:rPr lang="en-US" altLang="en-US"/>
              <a:pPr/>
              <a:t>‹#›</a:t>
            </a:fld>
            <a:endParaRPr lang="en-US" altLang="en-US"/>
          </a:p>
        </p:txBody>
      </p:sp>
    </p:spTree>
    <p:extLst>
      <p:ext uri="{BB962C8B-B14F-4D97-AF65-F5344CB8AC3E}">
        <p14:creationId xmlns:p14="http://schemas.microsoft.com/office/powerpoint/2010/main" val="856318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with Picture">
    <p:spTree>
      <p:nvGrpSpPr>
        <p:cNvPr id="1" name=""/>
        <p:cNvGrpSpPr/>
        <p:nvPr/>
      </p:nvGrpSpPr>
      <p:grpSpPr>
        <a:xfrm>
          <a:off x="0" y="0"/>
          <a:ext cx="0" cy="0"/>
          <a:chOff x="0" y="0"/>
          <a:chExt cx="0" cy="0"/>
        </a:xfrm>
      </p:grpSpPr>
      <p:sp>
        <p:nvSpPr>
          <p:cNvPr id="4" name="Slide Number Placeholder 5"/>
          <p:cNvSpPr>
            <a:spLocks noGrp="1"/>
          </p:cNvSpPr>
          <p:nvPr>
            <p:ph type="sldNum" sz="quarter" idx="10"/>
          </p:nvPr>
        </p:nvSpPr>
        <p:spPr>
          <a:xfrm>
            <a:off x="8509000" y="6356350"/>
            <a:ext cx="508000" cy="365125"/>
          </a:xfrm>
        </p:spPr>
        <p:txBody>
          <a:bodyPr/>
          <a:lstStyle>
            <a:lvl1pPr>
              <a:defRPr sz="1400">
                <a:solidFill>
                  <a:schemeClr val="accent1"/>
                </a:solidFill>
              </a:defRPr>
            </a:lvl1pPr>
          </a:lstStyle>
          <a:p>
            <a:fld id="{1125948F-E023-489E-BCA9-75B1BD55CF40}" type="slidenum">
              <a:rPr lang="en-US" altLang="en-US"/>
              <a:pPr/>
              <a:t>‹#›</a:t>
            </a:fld>
            <a:endParaRPr lang="en-US" altLang="en-US"/>
          </a:p>
        </p:txBody>
      </p:sp>
    </p:spTree>
    <p:extLst>
      <p:ext uri="{BB962C8B-B14F-4D97-AF65-F5344CB8AC3E}">
        <p14:creationId xmlns:p14="http://schemas.microsoft.com/office/powerpoint/2010/main" val="41161812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Content, and Picture">
    <p:spTree>
      <p:nvGrpSpPr>
        <p:cNvPr id="1" name=""/>
        <p:cNvGrpSpPr/>
        <p:nvPr/>
      </p:nvGrpSpPr>
      <p:grpSpPr>
        <a:xfrm>
          <a:off x="0" y="0"/>
          <a:ext cx="0" cy="0"/>
          <a:chOff x="0" y="0"/>
          <a:chExt cx="0" cy="0"/>
        </a:xfrm>
      </p:grpSpPr>
      <p:sp>
        <p:nvSpPr>
          <p:cNvPr id="2" name="Title 1"/>
          <p:cNvSpPr>
            <a:spLocks noGrp="1"/>
          </p:cNvSpPr>
          <p:nvPr>
            <p:ph type="title"/>
          </p:nvPr>
        </p:nvSpPr>
        <p:spPr>
          <a:xfrm>
            <a:off x="2178423" y="914400"/>
            <a:ext cx="6508377" cy="1143000"/>
          </a:xfrm>
        </p:spPr>
        <p:txBody>
          <a:bodyPr/>
          <a:lstStyle/>
          <a:p>
            <a:r>
              <a:rPr lang="en-US"/>
              <a:t>Click to edit Master title style</a:t>
            </a:r>
            <a:endParaRPr/>
          </a:p>
        </p:txBody>
      </p:sp>
      <p:sp>
        <p:nvSpPr>
          <p:cNvPr id="3" name="Content Placeholder 2"/>
          <p:cNvSpPr>
            <a:spLocks noGrp="1"/>
          </p:cNvSpPr>
          <p:nvPr>
            <p:ph idx="1"/>
          </p:nvPr>
        </p:nvSpPr>
        <p:spPr>
          <a:xfrm>
            <a:off x="2178423" y="2209800"/>
            <a:ext cx="6508377" cy="3916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Picture Placeholder 8"/>
          <p:cNvSpPr>
            <a:spLocks noGrp="1"/>
          </p:cNvSpPr>
          <p:nvPr>
            <p:ph type="pic" sz="quarter" idx="13"/>
          </p:nvPr>
        </p:nvSpPr>
        <p:spPr>
          <a:xfrm>
            <a:off x="269875" y="1976718"/>
            <a:ext cx="1645920" cy="4625788"/>
          </a:xfrm>
        </p:spPr>
        <p:txBody>
          <a:bodyPr rtlCol="0">
            <a:normAutofit/>
          </a:bodyPr>
          <a:lstStyle>
            <a:lvl1pPr>
              <a:buNone/>
              <a:defRPr/>
            </a:lvl1pPr>
          </a:lstStyle>
          <a:p>
            <a:pPr lvl="0"/>
            <a:r>
              <a:rPr lang="en-US" noProof="0"/>
              <a:t>Click icon to add picture</a:t>
            </a:r>
            <a:endParaRPr noProof="0"/>
          </a:p>
        </p:txBody>
      </p:sp>
      <p:sp>
        <p:nvSpPr>
          <p:cNvPr id="7" name="Slide Number Placeholder 5"/>
          <p:cNvSpPr>
            <a:spLocks noGrp="1"/>
          </p:cNvSpPr>
          <p:nvPr>
            <p:ph type="sldNum" sz="quarter" idx="14"/>
          </p:nvPr>
        </p:nvSpPr>
        <p:spPr>
          <a:xfrm>
            <a:off x="8509000" y="6356350"/>
            <a:ext cx="508000" cy="365125"/>
          </a:xfrm>
        </p:spPr>
        <p:txBody>
          <a:bodyPr/>
          <a:lstStyle>
            <a:lvl1pPr>
              <a:defRPr sz="1400">
                <a:solidFill>
                  <a:schemeClr val="accent1"/>
                </a:solidFill>
              </a:defRPr>
            </a:lvl1pPr>
          </a:lstStyle>
          <a:p>
            <a:fld id="{EC840DFC-1DDA-42E1-8630-AE6ED712E09E}" type="slidenum">
              <a:rPr lang="en-US" altLang="en-US"/>
              <a:pPr/>
              <a:t>‹#›</a:t>
            </a:fld>
            <a:endParaRPr lang="en-US" altLang="en-US"/>
          </a:p>
        </p:txBody>
      </p:sp>
    </p:spTree>
    <p:extLst>
      <p:ext uri="{BB962C8B-B14F-4D97-AF65-F5344CB8AC3E}">
        <p14:creationId xmlns:p14="http://schemas.microsoft.com/office/powerpoint/2010/main" val="13790414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09801" y="3429000"/>
            <a:ext cx="4966446" cy="1398494"/>
          </a:xfrm>
        </p:spPr>
        <p:txBody>
          <a:bodyPr/>
          <a:lstStyle>
            <a:lvl1pPr algn="r">
              <a:defRPr sz="4600" b="0" cap="none" baseline="0"/>
            </a:lvl1pPr>
          </a:lstStyle>
          <a:p>
            <a:r>
              <a:rPr lang="en-US"/>
              <a:t>Click to edit Master title style</a:t>
            </a:r>
            <a:endParaRPr/>
          </a:p>
        </p:txBody>
      </p:sp>
      <p:sp>
        <p:nvSpPr>
          <p:cNvPr id="3" name="Text Placeholder 2"/>
          <p:cNvSpPr>
            <a:spLocks noGrp="1"/>
          </p:cNvSpPr>
          <p:nvPr>
            <p:ph type="body" idx="1"/>
          </p:nvPr>
        </p:nvSpPr>
        <p:spPr>
          <a:xfrm>
            <a:off x="2209801" y="4824414"/>
            <a:ext cx="4966446" cy="1320800"/>
          </a:xfrm>
        </p:spPr>
        <p:txBody>
          <a:bodyPr>
            <a:normAutofit/>
          </a:bodyPr>
          <a:lstStyle>
            <a:lvl1pPr marL="0" indent="0" algn="r">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0"/>
          </p:nvPr>
        </p:nvSpPr>
        <p:spPr/>
        <p:txBody>
          <a:bodyPr/>
          <a:lstStyle>
            <a:lvl1pPr>
              <a:defRPr sz="1400"/>
            </a:lvl1pPr>
          </a:lstStyle>
          <a:p>
            <a:fld id="{1A4AA850-2F1B-464F-B31B-1D4098E20E25}" type="slidenum">
              <a:rPr lang="en-US" altLang="en-US"/>
              <a:pPr/>
              <a:t>‹#›</a:t>
            </a:fld>
            <a:endParaRPr lang="en-US" altLang="en-US"/>
          </a:p>
        </p:txBody>
      </p:sp>
    </p:spTree>
    <p:extLst>
      <p:ext uri="{BB962C8B-B14F-4D97-AF65-F5344CB8AC3E}">
        <p14:creationId xmlns:p14="http://schemas.microsoft.com/office/powerpoint/2010/main" val="16291640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2" name="Title 1"/>
          <p:cNvSpPr>
            <a:spLocks noGrp="1"/>
          </p:cNvSpPr>
          <p:nvPr>
            <p:ph type="title"/>
          </p:nvPr>
        </p:nvSpPr>
        <p:spPr>
          <a:xfrm>
            <a:off x="3720354" y="3429001"/>
            <a:ext cx="4966446" cy="1398494"/>
          </a:xfrm>
        </p:spPr>
        <p:txBody>
          <a:bodyPr/>
          <a:lstStyle>
            <a:lvl1pPr algn="r">
              <a:defRPr sz="4600" b="0" cap="none" baseline="0"/>
            </a:lvl1pPr>
          </a:lstStyle>
          <a:p>
            <a:r>
              <a:rPr lang="en-US"/>
              <a:t>Click to edit Master title style</a:t>
            </a:r>
            <a:endParaRPr/>
          </a:p>
        </p:txBody>
      </p:sp>
      <p:sp>
        <p:nvSpPr>
          <p:cNvPr id="3" name="Text Placeholder 2"/>
          <p:cNvSpPr>
            <a:spLocks noGrp="1"/>
          </p:cNvSpPr>
          <p:nvPr>
            <p:ph type="body" idx="1"/>
          </p:nvPr>
        </p:nvSpPr>
        <p:spPr>
          <a:xfrm>
            <a:off x="3720354" y="4824414"/>
            <a:ext cx="4966446" cy="1320800"/>
          </a:xfrm>
        </p:spPr>
        <p:txBody>
          <a:bodyPr>
            <a:normAutofit/>
          </a:bodyPr>
          <a:lstStyle>
            <a:lvl1pPr marL="0" indent="0" algn="r">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Picture Placeholder 8"/>
          <p:cNvSpPr>
            <a:spLocks noGrp="1"/>
          </p:cNvSpPr>
          <p:nvPr>
            <p:ph type="pic" sz="quarter" idx="13"/>
          </p:nvPr>
        </p:nvSpPr>
        <p:spPr>
          <a:xfrm>
            <a:off x="269874" y="268288"/>
            <a:ext cx="2971800" cy="4438650"/>
          </a:xfrm>
        </p:spPr>
        <p:txBody>
          <a:bodyPr rtlCol="0">
            <a:normAutofit/>
          </a:bodyPr>
          <a:lstStyle>
            <a:lvl1pPr>
              <a:buNone/>
              <a:defRPr/>
            </a:lvl1pPr>
          </a:lstStyle>
          <a:p>
            <a:pPr lvl="0"/>
            <a:r>
              <a:rPr lang="en-US" noProof="0"/>
              <a:t>Click icon to add picture</a:t>
            </a:r>
            <a:endParaRPr noProof="0"/>
          </a:p>
        </p:txBody>
      </p:sp>
      <p:sp>
        <p:nvSpPr>
          <p:cNvPr id="6" name="Slide Number Placeholder 5"/>
          <p:cNvSpPr>
            <a:spLocks noGrp="1"/>
          </p:cNvSpPr>
          <p:nvPr>
            <p:ph type="sldNum" sz="quarter" idx="14"/>
          </p:nvPr>
        </p:nvSpPr>
        <p:spPr>
          <a:xfrm>
            <a:off x="350838" y="6105525"/>
            <a:ext cx="506412" cy="365125"/>
          </a:xfrm>
        </p:spPr>
        <p:txBody>
          <a:bodyPr/>
          <a:lstStyle>
            <a:lvl1pPr>
              <a:defRPr/>
            </a:lvl1pPr>
          </a:lstStyle>
          <a:p>
            <a:fld id="{D0D49BFA-5636-4FEC-A2EA-7C6C9063CDD0}" type="slidenum">
              <a:rPr lang="en-US" altLang="en-US"/>
              <a:pPr/>
              <a:t>‹#›</a:t>
            </a:fld>
            <a:endParaRPr lang="en-US" altLang="en-US"/>
          </a:p>
        </p:txBody>
      </p:sp>
    </p:spTree>
    <p:extLst>
      <p:ext uri="{BB962C8B-B14F-4D97-AF65-F5344CB8AC3E}">
        <p14:creationId xmlns:p14="http://schemas.microsoft.com/office/powerpoint/2010/main" val="2960589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5720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28244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Date Placeholder 4"/>
          <p:cNvSpPr>
            <a:spLocks noGrp="1"/>
          </p:cNvSpPr>
          <p:nvPr>
            <p:ph type="dt" sz="half" idx="10"/>
          </p:nvPr>
        </p:nvSpPr>
        <p:spPr/>
        <p:txBody>
          <a:bodyPr/>
          <a:lstStyle>
            <a:lvl1pPr>
              <a:defRPr/>
            </a:lvl1pPr>
          </a:lstStyle>
          <a:p>
            <a:pPr>
              <a:defRPr/>
            </a:pPr>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fld id="{7A59AE87-D550-42E6-A03B-5F0721CF3CCB}" type="slidenum">
              <a:rPr lang="en-US" altLang="en-US"/>
              <a:pPr/>
              <a:t>‹#›</a:t>
            </a:fld>
            <a:endParaRPr lang="en-US" altLang="en-US"/>
          </a:p>
        </p:txBody>
      </p:sp>
    </p:spTree>
    <p:extLst>
      <p:ext uri="{BB962C8B-B14F-4D97-AF65-F5344CB8AC3E}">
        <p14:creationId xmlns:p14="http://schemas.microsoft.com/office/powerpoint/2010/main" val="1869711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88352" cy="1143000"/>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457200" y="2054132"/>
            <a:ext cx="356616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689411"/>
            <a:ext cx="356616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279391" y="2054132"/>
            <a:ext cx="356616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79391" y="2689411"/>
            <a:ext cx="356616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Date Placeholder 6"/>
          <p:cNvSpPr>
            <a:spLocks noGrp="1"/>
          </p:cNvSpPr>
          <p:nvPr>
            <p:ph type="dt" sz="half" idx="10"/>
          </p:nvPr>
        </p:nvSpPr>
        <p:spPr/>
        <p:txBody>
          <a:bodyPr/>
          <a:lstStyle>
            <a:lvl1pPr>
              <a:defRPr/>
            </a:lvl1pPr>
          </a:lstStyle>
          <a:p>
            <a:pPr>
              <a:defRPr/>
            </a:pPr>
            <a:endParaRPr lang="en-US"/>
          </a:p>
        </p:txBody>
      </p:sp>
      <p:sp>
        <p:nvSpPr>
          <p:cNvPr id="9" name="Footer Placeholder 7"/>
          <p:cNvSpPr>
            <a:spLocks noGrp="1"/>
          </p:cNvSpPr>
          <p:nvPr>
            <p:ph type="ftr" sz="quarter" idx="11"/>
          </p:nvPr>
        </p:nvSpPr>
        <p:spPr/>
        <p:txBody>
          <a:bodyPr/>
          <a:lstStyle>
            <a:lvl1pPr>
              <a:defRPr/>
            </a:lvl1pPr>
          </a:lstStyle>
          <a:p>
            <a:pPr>
              <a:defRPr/>
            </a:pPr>
            <a:endParaRPr lang="en-US"/>
          </a:p>
        </p:txBody>
      </p:sp>
      <p:sp>
        <p:nvSpPr>
          <p:cNvPr id="10" name="Slide Number Placeholder 8"/>
          <p:cNvSpPr>
            <a:spLocks noGrp="1"/>
          </p:cNvSpPr>
          <p:nvPr>
            <p:ph type="sldNum" sz="quarter" idx="12"/>
          </p:nvPr>
        </p:nvSpPr>
        <p:spPr/>
        <p:txBody>
          <a:bodyPr/>
          <a:lstStyle>
            <a:lvl1pPr>
              <a:defRPr/>
            </a:lvl1pPr>
          </a:lstStyle>
          <a:p>
            <a:fld id="{5C9C5D6B-99A9-47D7-9FF6-6E61F460A20E}" type="slidenum">
              <a:rPr lang="en-US" altLang="en-US"/>
              <a:pPr/>
              <a:t>‹#›</a:t>
            </a:fld>
            <a:endParaRPr lang="en-US" altLang="en-US"/>
          </a:p>
        </p:txBody>
      </p:sp>
    </p:spTree>
    <p:extLst>
      <p:ext uri="{BB962C8B-B14F-4D97-AF65-F5344CB8AC3E}">
        <p14:creationId xmlns:p14="http://schemas.microsoft.com/office/powerpoint/2010/main" val="2827076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57199" y="2214562"/>
            <a:ext cx="7396163"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Content Placeholder 2"/>
          <p:cNvSpPr>
            <a:spLocks noGrp="1"/>
          </p:cNvSpPr>
          <p:nvPr>
            <p:ph sz="half" idx="13"/>
          </p:nvPr>
        </p:nvSpPr>
        <p:spPr>
          <a:xfrm>
            <a:off x="457199" y="4224973"/>
            <a:ext cx="7396163"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Date Placeholder 4"/>
          <p:cNvSpPr>
            <a:spLocks noGrp="1"/>
          </p:cNvSpPr>
          <p:nvPr>
            <p:ph type="dt" sz="half" idx="14"/>
          </p:nvPr>
        </p:nvSpPr>
        <p:spPr/>
        <p:txBody>
          <a:bodyPr/>
          <a:lstStyle>
            <a:lvl1pPr>
              <a:defRPr/>
            </a:lvl1pPr>
          </a:lstStyle>
          <a:p>
            <a:pPr>
              <a:defRPr/>
            </a:pPr>
            <a:endParaRPr lang="en-US"/>
          </a:p>
        </p:txBody>
      </p:sp>
      <p:sp>
        <p:nvSpPr>
          <p:cNvPr id="7" name="Footer Placeholder 5"/>
          <p:cNvSpPr>
            <a:spLocks noGrp="1"/>
          </p:cNvSpPr>
          <p:nvPr>
            <p:ph type="ftr" sz="quarter" idx="15"/>
          </p:nvPr>
        </p:nvSpPr>
        <p:spPr/>
        <p:txBody>
          <a:bodyPr/>
          <a:lstStyle>
            <a:lvl1pPr>
              <a:defRPr/>
            </a:lvl1pPr>
          </a:lstStyle>
          <a:p>
            <a:pPr>
              <a:defRPr/>
            </a:pPr>
            <a:endParaRPr lang="en-US"/>
          </a:p>
        </p:txBody>
      </p:sp>
      <p:sp>
        <p:nvSpPr>
          <p:cNvPr id="8" name="Slide Number Placeholder 6"/>
          <p:cNvSpPr>
            <a:spLocks noGrp="1"/>
          </p:cNvSpPr>
          <p:nvPr>
            <p:ph type="sldNum" sz="quarter" idx="16"/>
          </p:nvPr>
        </p:nvSpPr>
        <p:spPr/>
        <p:txBody>
          <a:bodyPr/>
          <a:lstStyle>
            <a:lvl1pPr>
              <a:defRPr/>
            </a:lvl1pPr>
          </a:lstStyle>
          <a:p>
            <a:fld id="{80704157-BAF9-45C8-B081-268553E084F9}" type="slidenum">
              <a:rPr lang="en-US" altLang="en-US"/>
              <a:pPr/>
              <a:t>‹#›</a:t>
            </a:fld>
            <a:endParaRPr lang="en-US" altLang="en-US"/>
          </a:p>
        </p:txBody>
      </p:sp>
    </p:spTree>
    <p:extLst>
      <p:ext uri="{BB962C8B-B14F-4D97-AF65-F5344CB8AC3E}">
        <p14:creationId xmlns:p14="http://schemas.microsoft.com/office/powerpoint/2010/main" val="1799564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28244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Content Placeholder 2"/>
          <p:cNvSpPr>
            <a:spLocks noGrp="1"/>
          </p:cNvSpPr>
          <p:nvPr>
            <p:ph sz="half" idx="13"/>
          </p:nvPr>
        </p:nvSpPr>
        <p:spPr>
          <a:xfrm>
            <a:off x="428244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45720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4"/>
          <p:cNvSpPr>
            <a:spLocks noGrp="1"/>
          </p:cNvSpPr>
          <p:nvPr>
            <p:ph type="dt" sz="half" idx="15"/>
          </p:nvPr>
        </p:nvSpPr>
        <p:spPr/>
        <p:txBody>
          <a:bodyPr/>
          <a:lstStyle>
            <a:lvl1pPr>
              <a:defRPr/>
            </a:lvl1pPr>
          </a:lstStyle>
          <a:p>
            <a:pPr>
              <a:defRPr/>
            </a:pPr>
            <a:endParaRPr lang="en-US"/>
          </a:p>
        </p:txBody>
      </p:sp>
      <p:sp>
        <p:nvSpPr>
          <p:cNvPr id="8" name="Footer Placeholder 5"/>
          <p:cNvSpPr>
            <a:spLocks noGrp="1"/>
          </p:cNvSpPr>
          <p:nvPr>
            <p:ph type="ftr" sz="quarter" idx="16"/>
          </p:nvPr>
        </p:nvSpPr>
        <p:spPr/>
        <p:txBody>
          <a:bodyPr/>
          <a:lstStyle>
            <a:lvl1pPr>
              <a:defRPr/>
            </a:lvl1pPr>
          </a:lstStyle>
          <a:p>
            <a:pPr>
              <a:defRPr/>
            </a:pPr>
            <a:endParaRPr lang="en-US"/>
          </a:p>
        </p:txBody>
      </p:sp>
      <p:sp>
        <p:nvSpPr>
          <p:cNvPr id="11" name="Slide Number Placeholder 6"/>
          <p:cNvSpPr>
            <a:spLocks noGrp="1"/>
          </p:cNvSpPr>
          <p:nvPr>
            <p:ph type="sldNum" sz="quarter" idx="17"/>
          </p:nvPr>
        </p:nvSpPr>
        <p:spPr/>
        <p:txBody>
          <a:bodyPr/>
          <a:lstStyle>
            <a:lvl1pPr>
              <a:defRPr/>
            </a:lvl1pPr>
          </a:lstStyle>
          <a:p>
            <a:fld id="{80A70EC3-505F-46BB-9362-10AF36A97582}" type="slidenum">
              <a:rPr lang="en-US" altLang="en-US"/>
              <a:pPr/>
              <a:t>‹#›</a:t>
            </a:fld>
            <a:endParaRPr lang="en-US" altLang="en-US"/>
          </a:p>
        </p:txBody>
      </p:sp>
    </p:spTree>
    <p:extLst>
      <p:ext uri="{BB962C8B-B14F-4D97-AF65-F5344CB8AC3E}">
        <p14:creationId xmlns:p14="http://schemas.microsoft.com/office/powerpoint/2010/main" val="13795046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28244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Content Placeholder 2"/>
          <p:cNvSpPr>
            <a:spLocks noGrp="1"/>
          </p:cNvSpPr>
          <p:nvPr>
            <p:ph sz="half" idx="13"/>
          </p:nvPr>
        </p:nvSpPr>
        <p:spPr>
          <a:xfrm>
            <a:off x="428244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4"/>
          </p:nvPr>
        </p:nvSpPr>
        <p:spPr>
          <a:xfrm>
            <a:off x="45720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2" name="Content Placeholder 2"/>
          <p:cNvSpPr>
            <a:spLocks noGrp="1"/>
          </p:cNvSpPr>
          <p:nvPr>
            <p:ph sz="half" idx="15"/>
          </p:nvPr>
        </p:nvSpPr>
        <p:spPr>
          <a:xfrm>
            <a:off x="45720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Date Placeholder 4"/>
          <p:cNvSpPr>
            <a:spLocks noGrp="1"/>
          </p:cNvSpPr>
          <p:nvPr>
            <p:ph type="dt" sz="half" idx="16"/>
          </p:nvPr>
        </p:nvSpPr>
        <p:spPr/>
        <p:txBody>
          <a:bodyPr/>
          <a:lstStyle>
            <a:lvl1pPr>
              <a:defRPr/>
            </a:lvl1pPr>
          </a:lstStyle>
          <a:p>
            <a:pPr>
              <a:defRPr/>
            </a:pPr>
            <a:endParaRPr lang="en-US"/>
          </a:p>
        </p:txBody>
      </p:sp>
      <p:sp>
        <p:nvSpPr>
          <p:cNvPr id="10" name="Footer Placeholder 5"/>
          <p:cNvSpPr>
            <a:spLocks noGrp="1"/>
          </p:cNvSpPr>
          <p:nvPr>
            <p:ph type="ftr" sz="quarter" idx="17"/>
          </p:nvPr>
        </p:nvSpPr>
        <p:spPr/>
        <p:txBody>
          <a:bodyPr/>
          <a:lstStyle>
            <a:lvl1pPr>
              <a:defRPr/>
            </a:lvl1pPr>
          </a:lstStyle>
          <a:p>
            <a:pPr>
              <a:defRPr/>
            </a:pPr>
            <a:endParaRPr lang="en-US"/>
          </a:p>
        </p:txBody>
      </p:sp>
      <p:sp>
        <p:nvSpPr>
          <p:cNvPr id="13" name="Slide Number Placeholder 6"/>
          <p:cNvSpPr>
            <a:spLocks noGrp="1"/>
          </p:cNvSpPr>
          <p:nvPr>
            <p:ph type="sldNum" sz="quarter" idx="18"/>
          </p:nvPr>
        </p:nvSpPr>
        <p:spPr/>
        <p:txBody>
          <a:bodyPr/>
          <a:lstStyle>
            <a:lvl1pPr>
              <a:defRPr/>
            </a:lvl1pPr>
          </a:lstStyle>
          <a:p>
            <a:fld id="{D56D1663-28DB-4319-AE79-69E37C27E76D}" type="slidenum">
              <a:rPr lang="en-US" altLang="en-US"/>
              <a:pPr/>
              <a:t>‹#›</a:t>
            </a:fld>
            <a:endParaRPr lang="en-US" altLang="en-US"/>
          </a:p>
        </p:txBody>
      </p:sp>
    </p:spTree>
    <p:extLst>
      <p:ext uri="{BB962C8B-B14F-4D97-AF65-F5344CB8AC3E}">
        <p14:creationId xmlns:p14="http://schemas.microsoft.com/office/powerpoint/2010/main" val="11402798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74625" y="153988"/>
            <a:ext cx="7772400" cy="777240"/>
          </a:xfrm>
        </p:spPr>
        <p:txBody>
          <a:bodyPr/>
          <a:lstStyle/>
          <a:p>
            <a:r>
              <a:rPr lang="en-US"/>
              <a:t>Click to edit Master title style</a:t>
            </a:r>
            <a:endParaRPr/>
          </a:p>
        </p:txBody>
      </p:sp>
      <p:sp>
        <p:nvSpPr>
          <p:cNvPr id="6" name="Slide Number Placeholder 4"/>
          <p:cNvSpPr>
            <a:spLocks noGrp="1"/>
          </p:cNvSpPr>
          <p:nvPr>
            <p:ph type="sldNum" sz="quarter" idx="12"/>
          </p:nvPr>
        </p:nvSpPr>
        <p:spPr/>
        <p:txBody>
          <a:bodyPr/>
          <a:lstStyle>
            <a:lvl1pPr>
              <a:defRPr sz="1400">
                <a:solidFill>
                  <a:schemeClr val="accent1"/>
                </a:solidFill>
              </a:defRPr>
            </a:lvl1pPr>
          </a:lstStyle>
          <a:p>
            <a:fld id="{D63CA138-C73F-47C6-9043-098459993F01}" type="slidenum">
              <a:rPr lang="en-US" altLang="en-US" smtClean="0"/>
              <a:pPr/>
              <a:t>‹#›</a:t>
            </a:fld>
            <a:endParaRPr lang="en-US" altLang="en-US" dirty="0"/>
          </a:p>
        </p:txBody>
      </p:sp>
    </p:spTree>
    <p:extLst>
      <p:ext uri="{BB962C8B-B14F-4D97-AF65-F5344CB8AC3E}">
        <p14:creationId xmlns:p14="http://schemas.microsoft.com/office/powerpoint/2010/main" val="18856182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Slide Number Placeholder 5"/>
          <p:cNvSpPr>
            <a:spLocks noGrp="1"/>
          </p:cNvSpPr>
          <p:nvPr>
            <p:ph type="sldNum" sz="quarter" idx="10"/>
          </p:nvPr>
        </p:nvSpPr>
        <p:spPr>
          <a:xfrm>
            <a:off x="8509000" y="6356350"/>
            <a:ext cx="508000" cy="365125"/>
          </a:xfrm>
        </p:spPr>
        <p:txBody>
          <a:bodyPr/>
          <a:lstStyle>
            <a:lvl1pPr>
              <a:defRPr sz="1400">
                <a:solidFill>
                  <a:schemeClr val="accent1"/>
                </a:solidFill>
              </a:defRPr>
            </a:lvl1pPr>
          </a:lstStyle>
          <a:p>
            <a:fld id="{99EAA0CA-7877-472C-ACAD-A6AFDFC17269}" type="slidenum">
              <a:rPr lang="en-US" altLang="en-US"/>
              <a:pPr/>
              <a:t>‹#›</a:t>
            </a:fld>
            <a:endParaRPr lang="en-US" altLang="en-US"/>
          </a:p>
        </p:txBody>
      </p:sp>
    </p:spTree>
    <p:extLst>
      <p:ext uri="{BB962C8B-B14F-4D97-AF65-F5344CB8AC3E}">
        <p14:creationId xmlns:p14="http://schemas.microsoft.com/office/powerpoint/2010/main" val="8551802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199" y="995082"/>
            <a:ext cx="3566160" cy="1035424"/>
          </a:xfrm>
        </p:spPr>
        <p:txBody>
          <a:bodyPr/>
          <a:lstStyle>
            <a:lvl1pPr algn="l">
              <a:defRPr sz="2800" b="0"/>
            </a:lvl1pPr>
          </a:lstStyle>
          <a:p>
            <a:r>
              <a:rPr lang="en-US"/>
              <a:t>Click to edit Master title style</a:t>
            </a:r>
            <a:endParaRPr/>
          </a:p>
        </p:txBody>
      </p:sp>
      <p:sp>
        <p:nvSpPr>
          <p:cNvPr id="3" name="Content Placeholder 2"/>
          <p:cNvSpPr>
            <a:spLocks noGrp="1"/>
          </p:cNvSpPr>
          <p:nvPr>
            <p:ph idx="1"/>
          </p:nvPr>
        </p:nvSpPr>
        <p:spPr>
          <a:xfrm>
            <a:off x="4762052" y="990600"/>
            <a:ext cx="3566160" cy="513556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457199" y="2057400"/>
            <a:ext cx="3566160" cy="365760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p:cNvSpPr>
            <a:spLocks noGrp="1"/>
          </p:cNvSpPr>
          <p:nvPr>
            <p:ph type="dt" sz="half" idx="10"/>
          </p:nvPr>
        </p:nvSpPr>
        <p:spPr/>
        <p:txBody>
          <a:bodyPr/>
          <a:lstStyle>
            <a:lvl1pPr>
              <a:defRPr/>
            </a:lvl1pPr>
          </a:lstStyle>
          <a:p>
            <a:pPr>
              <a:defRPr/>
            </a:pPr>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fld id="{41052F15-C297-4DEA-8E4E-2A60E7E12B68}" type="slidenum">
              <a:rPr lang="en-US" altLang="en-US"/>
              <a:pPr/>
              <a:t>‹#›</a:t>
            </a:fld>
            <a:endParaRPr lang="en-US" altLang="en-US"/>
          </a:p>
        </p:txBody>
      </p:sp>
    </p:spTree>
    <p:extLst>
      <p:ext uri="{BB962C8B-B14F-4D97-AF65-F5344CB8AC3E}">
        <p14:creationId xmlns:p14="http://schemas.microsoft.com/office/powerpoint/2010/main" val="15455327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199" y="995082"/>
            <a:ext cx="3566160" cy="1035424"/>
          </a:xfrm>
        </p:spPr>
        <p:txBody>
          <a:bodyPr/>
          <a:lstStyle>
            <a:lvl1pPr algn="l">
              <a:defRPr sz="2800" b="0"/>
            </a:lvl1pPr>
          </a:lstStyle>
          <a:p>
            <a:r>
              <a:rPr lang="en-US"/>
              <a:t>Click to edit Master title style</a:t>
            </a:r>
            <a:endParaRPr/>
          </a:p>
        </p:txBody>
      </p:sp>
      <p:sp>
        <p:nvSpPr>
          <p:cNvPr id="4" name="Text Placeholder 3"/>
          <p:cNvSpPr>
            <a:spLocks noGrp="1"/>
          </p:cNvSpPr>
          <p:nvPr>
            <p:ph type="body" sz="half" idx="2"/>
          </p:nvPr>
        </p:nvSpPr>
        <p:spPr>
          <a:xfrm>
            <a:off x="457199" y="2057400"/>
            <a:ext cx="3566160" cy="365760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Picture Placeholder 9"/>
          <p:cNvSpPr>
            <a:spLocks noGrp="1"/>
          </p:cNvSpPr>
          <p:nvPr>
            <p:ph type="pic" sz="quarter" idx="13"/>
          </p:nvPr>
        </p:nvSpPr>
        <p:spPr>
          <a:xfrm>
            <a:off x="4760258" y="990600"/>
            <a:ext cx="4096512" cy="5611813"/>
          </a:xfrm>
        </p:spPr>
        <p:txBody>
          <a:bodyPr rtlCol="0">
            <a:normAutofit/>
          </a:bodyPr>
          <a:lstStyle>
            <a:lvl1pPr>
              <a:buNone/>
              <a:defRPr/>
            </a:lvl1pPr>
          </a:lstStyle>
          <a:p>
            <a:pPr lvl="0"/>
            <a:r>
              <a:rPr lang="en-US" noProof="0"/>
              <a:t>Click icon to add picture</a:t>
            </a:r>
            <a:endParaRPr noProof="0"/>
          </a:p>
        </p:txBody>
      </p:sp>
      <p:sp>
        <p:nvSpPr>
          <p:cNvPr id="6" name="Date Placeholder 4"/>
          <p:cNvSpPr>
            <a:spLocks noGrp="1"/>
          </p:cNvSpPr>
          <p:nvPr>
            <p:ph type="dt" sz="half" idx="14"/>
          </p:nvPr>
        </p:nvSpPr>
        <p:spPr>
          <a:xfrm>
            <a:off x="161925" y="6124575"/>
            <a:ext cx="1752600" cy="365125"/>
          </a:xfrm>
        </p:spPr>
        <p:txBody>
          <a:bodyPr/>
          <a:lstStyle>
            <a:lvl1pPr algn="l">
              <a:defRPr/>
            </a:lvl1pPr>
          </a:lstStyle>
          <a:p>
            <a:pPr>
              <a:defRPr/>
            </a:pPr>
            <a:endParaRPr lang="en-US"/>
          </a:p>
        </p:txBody>
      </p:sp>
      <p:sp>
        <p:nvSpPr>
          <p:cNvPr id="7" name="Footer Placeholder 5"/>
          <p:cNvSpPr>
            <a:spLocks noGrp="1"/>
          </p:cNvSpPr>
          <p:nvPr>
            <p:ph type="ftr" sz="quarter" idx="15"/>
          </p:nvPr>
        </p:nvSpPr>
        <p:spPr>
          <a:xfrm>
            <a:off x="174625" y="6356350"/>
            <a:ext cx="3863975" cy="365125"/>
          </a:xfrm>
        </p:spPr>
        <p:txBody>
          <a:bodyPr/>
          <a:lstStyle>
            <a:lvl1pPr>
              <a:defRPr/>
            </a:lvl1pPr>
          </a:lstStyle>
          <a:p>
            <a:pPr>
              <a:defRPr/>
            </a:pPr>
            <a:endParaRPr lang="en-US"/>
          </a:p>
        </p:txBody>
      </p:sp>
      <p:sp>
        <p:nvSpPr>
          <p:cNvPr id="8" name="Slide Number Placeholder 6"/>
          <p:cNvSpPr>
            <a:spLocks noGrp="1"/>
          </p:cNvSpPr>
          <p:nvPr>
            <p:ph type="sldNum" sz="quarter" idx="16"/>
          </p:nvPr>
        </p:nvSpPr>
        <p:spPr/>
        <p:txBody>
          <a:bodyPr/>
          <a:lstStyle>
            <a:lvl1pPr>
              <a:defRPr/>
            </a:lvl1pPr>
          </a:lstStyle>
          <a:p>
            <a:fld id="{812DA118-F48A-4A0B-92A2-024CCAD39B53}" type="slidenum">
              <a:rPr lang="en-US" altLang="en-US"/>
              <a:pPr/>
              <a:t>‹#›</a:t>
            </a:fld>
            <a:endParaRPr lang="en-US" altLang="en-US"/>
          </a:p>
        </p:txBody>
      </p:sp>
    </p:spTree>
    <p:extLst>
      <p:ext uri="{BB962C8B-B14F-4D97-AF65-F5344CB8AC3E}">
        <p14:creationId xmlns:p14="http://schemas.microsoft.com/office/powerpoint/2010/main" val="1540896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458788" y="4267200"/>
            <a:ext cx="6477000" cy="566738"/>
          </a:xfrm>
        </p:spPr>
        <p:txBody>
          <a:bodyPr/>
          <a:lstStyle>
            <a:lvl1pPr algn="l">
              <a:defRPr sz="2800" b="0"/>
            </a:lvl1pPr>
          </a:lstStyle>
          <a:p>
            <a:r>
              <a:rPr lang="en-US"/>
              <a:t>Click to edit Master title style</a:t>
            </a:r>
            <a:endParaRPr/>
          </a:p>
        </p:txBody>
      </p:sp>
      <p:sp>
        <p:nvSpPr>
          <p:cNvPr id="3" name="Picture Placeholder 2"/>
          <p:cNvSpPr>
            <a:spLocks noGrp="1"/>
          </p:cNvSpPr>
          <p:nvPr>
            <p:ph type="pic" idx="1"/>
          </p:nvPr>
        </p:nvSpPr>
        <p:spPr>
          <a:xfrm>
            <a:off x="269874" y="268288"/>
            <a:ext cx="6858000" cy="363931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a:p>
        </p:txBody>
      </p:sp>
      <p:sp>
        <p:nvSpPr>
          <p:cNvPr id="4" name="Text Placeholder 3"/>
          <p:cNvSpPr>
            <a:spLocks noGrp="1"/>
          </p:cNvSpPr>
          <p:nvPr>
            <p:ph type="body" sz="half" idx="2"/>
          </p:nvPr>
        </p:nvSpPr>
        <p:spPr>
          <a:xfrm>
            <a:off x="458788" y="4840941"/>
            <a:ext cx="6475412" cy="130427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p:cNvSpPr>
            <a:spLocks noGrp="1"/>
          </p:cNvSpPr>
          <p:nvPr>
            <p:ph type="dt" sz="half" idx="10"/>
          </p:nvPr>
        </p:nvSpPr>
        <p:spPr/>
        <p:txBody>
          <a:bodyPr/>
          <a:lstStyle>
            <a:lvl1pPr>
              <a:defRPr/>
            </a:lvl1pPr>
          </a:lstStyle>
          <a:p>
            <a:pPr>
              <a:defRPr/>
            </a:pPr>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fld id="{AE187E30-5C4D-49E9-BA39-7CC58CC307E7}" type="slidenum">
              <a:rPr lang="en-US" altLang="en-US"/>
              <a:pPr/>
              <a:t>‹#›</a:t>
            </a:fld>
            <a:endParaRPr lang="en-US" altLang="en-US"/>
          </a:p>
        </p:txBody>
      </p:sp>
    </p:spTree>
    <p:extLst>
      <p:ext uri="{BB962C8B-B14F-4D97-AF65-F5344CB8AC3E}">
        <p14:creationId xmlns:p14="http://schemas.microsoft.com/office/powerpoint/2010/main" val="26996667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4 Pictures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8788" y="4267200"/>
            <a:ext cx="6477000" cy="566738"/>
          </a:xfrm>
        </p:spPr>
        <p:txBody>
          <a:bodyPr/>
          <a:lstStyle>
            <a:lvl1pPr algn="l">
              <a:defRPr sz="2800" b="0"/>
            </a:lvl1pPr>
          </a:lstStyle>
          <a:p>
            <a:r>
              <a:rPr lang="en-US"/>
              <a:t>Click to edit Master title style</a:t>
            </a:r>
            <a:endParaRPr/>
          </a:p>
        </p:txBody>
      </p:sp>
      <p:sp>
        <p:nvSpPr>
          <p:cNvPr id="3" name="Picture Placeholder 2"/>
          <p:cNvSpPr>
            <a:spLocks noGrp="1"/>
          </p:cNvSpPr>
          <p:nvPr>
            <p:ph type="pic" idx="1"/>
          </p:nvPr>
        </p:nvSpPr>
        <p:spPr>
          <a:xfrm>
            <a:off x="269874" y="268288"/>
            <a:ext cx="3006726" cy="363931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a:p>
        </p:txBody>
      </p:sp>
      <p:sp>
        <p:nvSpPr>
          <p:cNvPr id="4" name="Text Placeholder 3"/>
          <p:cNvSpPr>
            <a:spLocks noGrp="1"/>
          </p:cNvSpPr>
          <p:nvPr>
            <p:ph type="body" sz="half" idx="2"/>
          </p:nvPr>
        </p:nvSpPr>
        <p:spPr>
          <a:xfrm>
            <a:off x="458788" y="4840941"/>
            <a:ext cx="6475412" cy="130427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Picture Placeholder 2"/>
          <p:cNvSpPr>
            <a:spLocks noGrp="1"/>
          </p:cNvSpPr>
          <p:nvPr>
            <p:ph type="pic" idx="13"/>
          </p:nvPr>
        </p:nvSpPr>
        <p:spPr>
          <a:xfrm>
            <a:off x="3352800" y="268288"/>
            <a:ext cx="4701988"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a:p>
        </p:txBody>
      </p:sp>
      <p:sp>
        <p:nvSpPr>
          <p:cNvPr id="11" name="Picture Placeholder 2"/>
          <p:cNvSpPr>
            <a:spLocks noGrp="1"/>
          </p:cNvSpPr>
          <p:nvPr>
            <p:ph type="pic" idx="14"/>
          </p:nvPr>
        </p:nvSpPr>
        <p:spPr>
          <a:xfrm>
            <a:off x="3352800" y="2131935"/>
            <a:ext cx="2304288"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a:p>
        </p:txBody>
      </p:sp>
      <p:sp>
        <p:nvSpPr>
          <p:cNvPr id="12" name="Picture Placeholder 2"/>
          <p:cNvSpPr>
            <a:spLocks noGrp="1"/>
          </p:cNvSpPr>
          <p:nvPr>
            <p:ph type="pic" idx="15"/>
          </p:nvPr>
        </p:nvSpPr>
        <p:spPr>
          <a:xfrm>
            <a:off x="5750500" y="2131935"/>
            <a:ext cx="2304288"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a:p>
        </p:txBody>
      </p:sp>
      <p:sp>
        <p:nvSpPr>
          <p:cNvPr id="9" name="Date Placeholder 4"/>
          <p:cNvSpPr>
            <a:spLocks noGrp="1"/>
          </p:cNvSpPr>
          <p:nvPr>
            <p:ph type="dt" sz="half" idx="16"/>
          </p:nvPr>
        </p:nvSpPr>
        <p:spPr/>
        <p:txBody>
          <a:bodyPr/>
          <a:lstStyle>
            <a:lvl1pPr>
              <a:defRPr/>
            </a:lvl1pPr>
          </a:lstStyle>
          <a:p>
            <a:pPr>
              <a:defRPr/>
            </a:pPr>
            <a:endParaRPr lang="en-US"/>
          </a:p>
        </p:txBody>
      </p:sp>
      <p:sp>
        <p:nvSpPr>
          <p:cNvPr id="13" name="Footer Placeholder 5"/>
          <p:cNvSpPr>
            <a:spLocks noGrp="1"/>
          </p:cNvSpPr>
          <p:nvPr>
            <p:ph type="ftr" sz="quarter" idx="17"/>
          </p:nvPr>
        </p:nvSpPr>
        <p:spPr/>
        <p:txBody>
          <a:bodyPr/>
          <a:lstStyle>
            <a:lvl1pPr>
              <a:defRPr/>
            </a:lvl1pPr>
          </a:lstStyle>
          <a:p>
            <a:pPr>
              <a:defRPr/>
            </a:pPr>
            <a:endParaRPr lang="en-US"/>
          </a:p>
        </p:txBody>
      </p:sp>
      <p:sp>
        <p:nvSpPr>
          <p:cNvPr id="14" name="Slide Number Placeholder 6"/>
          <p:cNvSpPr>
            <a:spLocks noGrp="1"/>
          </p:cNvSpPr>
          <p:nvPr>
            <p:ph type="sldNum" sz="quarter" idx="18"/>
          </p:nvPr>
        </p:nvSpPr>
        <p:spPr/>
        <p:txBody>
          <a:bodyPr/>
          <a:lstStyle>
            <a:lvl1pPr>
              <a:defRPr/>
            </a:lvl1pPr>
          </a:lstStyle>
          <a:p>
            <a:fld id="{EAF9ACBE-43B0-44C2-9D48-E42E569DFB3C}" type="slidenum">
              <a:rPr lang="en-US" altLang="en-US"/>
              <a:pPr/>
              <a:t>‹#›</a:t>
            </a:fld>
            <a:endParaRPr lang="en-US" altLang="en-US"/>
          </a:p>
        </p:txBody>
      </p:sp>
    </p:spTree>
    <p:extLst>
      <p:ext uri="{BB962C8B-B14F-4D97-AF65-F5344CB8AC3E}">
        <p14:creationId xmlns:p14="http://schemas.microsoft.com/office/powerpoint/2010/main" val="31081692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3D64E102-F11D-4043-A58A-4E507DF71023}" type="slidenum">
              <a:rPr lang="en-US" altLang="en-US"/>
              <a:pPr/>
              <a:t>‹#›</a:t>
            </a:fld>
            <a:endParaRPr lang="en-US" altLang="en-US"/>
          </a:p>
        </p:txBody>
      </p:sp>
    </p:spTree>
    <p:extLst>
      <p:ext uri="{BB962C8B-B14F-4D97-AF65-F5344CB8AC3E}">
        <p14:creationId xmlns:p14="http://schemas.microsoft.com/office/powerpoint/2010/main" val="909474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543799" y="1035424"/>
            <a:ext cx="1322295" cy="5090739"/>
          </a:xfrm>
        </p:spPr>
        <p:txBody>
          <a:bodyPr vert="eaVert" anchor="t"/>
          <a:lstStyle/>
          <a:p>
            <a:r>
              <a:rPr lang="en-US"/>
              <a:t>Click to edit Master title style</a:t>
            </a:r>
            <a:endParaRPr/>
          </a:p>
        </p:txBody>
      </p:sp>
      <p:sp>
        <p:nvSpPr>
          <p:cNvPr id="3" name="Vertical Text Placeholder 2"/>
          <p:cNvSpPr>
            <a:spLocks noGrp="1"/>
          </p:cNvSpPr>
          <p:nvPr>
            <p:ph type="body" orient="vert" idx="1"/>
          </p:nvPr>
        </p:nvSpPr>
        <p:spPr>
          <a:xfrm>
            <a:off x="457200" y="1035424"/>
            <a:ext cx="6019800" cy="51097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4C2B3035-EC4B-4EB1-9F05-ACBC9A3AE3C7}" type="slidenum">
              <a:rPr lang="en-US" altLang="en-US"/>
              <a:pPr/>
              <a:t>‹#›</a:t>
            </a:fld>
            <a:endParaRPr lang="en-US" altLang="en-US"/>
          </a:p>
        </p:txBody>
      </p:sp>
    </p:spTree>
    <p:extLst>
      <p:ext uri="{BB962C8B-B14F-4D97-AF65-F5344CB8AC3E}">
        <p14:creationId xmlns:p14="http://schemas.microsoft.com/office/powerpoint/2010/main" val="25630101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Text Placeholder 2"/>
          <p:cNvSpPr>
            <a:spLocks noGrp="1"/>
          </p:cNvSpPr>
          <p:nvPr>
            <p:ph type="body" sz="half" idx="1"/>
          </p:nvPr>
        </p:nvSpPr>
        <p:spPr>
          <a:xfrm>
            <a:off x="685800" y="1714500"/>
            <a:ext cx="3810000" cy="4152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714500"/>
            <a:ext cx="3810000" cy="2000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867150"/>
            <a:ext cx="3810000" cy="2000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685800" y="6248400"/>
            <a:ext cx="1905000" cy="457200"/>
          </a:xfrm>
        </p:spPr>
        <p:txBody>
          <a:bodyPr/>
          <a:lstStyle>
            <a:lvl1pPr fontAlgn="auto">
              <a:spcBef>
                <a:spcPts val="0"/>
              </a:spcBef>
              <a:spcAft>
                <a:spcPts val="0"/>
              </a:spcAft>
              <a:defRPr>
                <a:latin typeface="+mn-lt"/>
                <a:ea typeface="+mn-ea"/>
                <a:cs typeface="+mn-cs"/>
              </a:defRPr>
            </a:lvl1pPr>
          </a:lstStyle>
          <a:p>
            <a:pPr>
              <a:defRPr/>
            </a:pPr>
            <a:r>
              <a:rPr lang="en-US"/>
              <a:t>BPS - 5th Ed.</a:t>
            </a:r>
          </a:p>
        </p:txBody>
      </p:sp>
      <p:sp>
        <p:nvSpPr>
          <p:cNvPr id="7" name="Footer Placeholder 6"/>
          <p:cNvSpPr>
            <a:spLocks noGrp="1"/>
          </p:cNvSpPr>
          <p:nvPr>
            <p:ph type="ftr" sz="quarter" idx="11"/>
          </p:nvPr>
        </p:nvSpPr>
        <p:spPr>
          <a:xfrm>
            <a:off x="3124200" y="6248400"/>
            <a:ext cx="2895600" cy="457200"/>
          </a:xfrm>
        </p:spPr>
        <p:txBody>
          <a:bodyPr/>
          <a:lstStyle>
            <a:lvl1pPr>
              <a:defRPr/>
            </a:lvl1pPr>
          </a:lstStyle>
          <a:p>
            <a:pPr>
              <a:defRPr/>
            </a:pPr>
            <a:r>
              <a:rPr lang="en-US"/>
              <a:t>Chapter 5</a:t>
            </a:r>
          </a:p>
        </p:txBody>
      </p:sp>
      <p:sp>
        <p:nvSpPr>
          <p:cNvPr id="8" name="Slide Number Placeholder 7"/>
          <p:cNvSpPr>
            <a:spLocks noGrp="1"/>
          </p:cNvSpPr>
          <p:nvPr>
            <p:ph type="sldNum" sz="quarter" idx="12"/>
          </p:nvPr>
        </p:nvSpPr>
        <p:spPr>
          <a:xfrm>
            <a:off x="6553200" y="6248400"/>
            <a:ext cx="1905000" cy="457200"/>
          </a:xfrm>
        </p:spPr>
        <p:txBody>
          <a:bodyPr/>
          <a:lstStyle>
            <a:lvl1pPr>
              <a:defRPr/>
            </a:lvl1pPr>
          </a:lstStyle>
          <a:p>
            <a:fld id="{A1263731-7B5D-440C-8CEF-0E34896D549C}" type="slidenum">
              <a:rPr lang="en-US" altLang="en-US"/>
              <a:pPr/>
              <a:t>‹#›</a:t>
            </a:fld>
            <a:endParaRPr lang="en-US" altLang="en-US"/>
          </a:p>
        </p:txBody>
      </p:sp>
    </p:spTree>
    <p:extLst>
      <p:ext uri="{BB962C8B-B14F-4D97-AF65-F5344CB8AC3E}">
        <p14:creationId xmlns:p14="http://schemas.microsoft.com/office/powerpoint/2010/main" val="16210010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Text Placeholder 2"/>
          <p:cNvSpPr>
            <a:spLocks noGrp="1"/>
          </p:cNvSpPr>
          <p:nvPr>
            <p:ph type="body" sz="half" idx="1"/>
          </p:nvPr>
        </p:nvSpPr>
        <p:spPr>
          <a:xfrm>
            <a:off x="685800" y="1714500"/>
            <a:ext cx="3810000" cy="4152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4500"/>
            <a:ext cx="3810000" cy="4152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85800" y="6248400"/>
            <a:ext cx="1905000" cy="457200"/>
          </a:xfrm>
        </p:spPr>
        <p:txBody>
          <a:bodyPr/>
          <a:lstStyle>
            <a:lvl1pPr fontAlgn="auto">
              <a:spcBef>
                <a:spcPts val="0"/>
              </a:spcBef>
              <a:spcAft>
                <a:spcPts val="0"/>
              </a:spcAft>
              <a:defRPr>
                <a:latin typeface="+mn-lt"/>
                <a:ea typeface="+mn-ea"/>
                <a:cs typeface="+mn-cs"/>
              </a:defRPr>
            </a:lvl1pPr>
          </a:lstStyle>
          <a:p>
            <a:pPr>
              <a:defRPr/>
            </a:pPr>
            <a:r>
              <a:rPr lang="en-US"/>
              <a:t>BPS - 5th Ed.</a:t>
            </a:r>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pPr>
              <a:defRPr/>
            </a:pPr>
            <a:r>
              <a:rPr lang="en-US"/>
              <a:t>Chapter 5</a:t>
            </a:r>
          </a:p>
        </p:txBody>
      </p:sp>
      <p:sp>
        <p:nvSpPr>
          <p:cNvPr id="7" name="Slide Number Placeholder 6"/>
          <p:cNvSpPr>
            <a:spLocks noGrp="1"/>
          </p:cNvSpPr>
          <p:nvPr>
            <p:ph type="sldNum" sz="quarter" idx="12"/>
          </p:nvPr>
        </p:nvSpPr>
        <p:spPr>
          <a:xfrm>
            <a:off x="6553200" y="6248400"/>
            <a:ext cx="1905000" cy="457200"/>
          </a:xfrm>
        </p:spPr>
        <p:txBody>
          <a:bodyPr/>
          <a:lstStyle>
            <a:lvl1pPr>
              <a:defRPr/>
            </a:lvl1pPr>
          </a:lstStyle>
          <a:p>
            <a:fld id="{B5D523D0-3B97-4F72-AF7F-29FC80EDAB1F}" type="slidenum">
              <a:rPr lang="en-US" altLang="en-US"/>
              <a:pPr/>
              <a:t>‹#›</a:t>
            </a:fld>
            <a:endParaRPr lang="en-US" altLang="en-US"/>
          </a:p>
        </p:txBody>
      </p:sp>
    </p:spTree>
    <p:extLst>
      <p:ext uri="{BB962C8B-B14F-4D97-AF65-F5344CB8AC3E}">
        <p14:creationId xmlns:p14="http://schemas.microsoft.com/office/powerpoint/2010/main" val="751055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lstStyle/>
          <a:p>
            <a:r>
              <a:rPr lang="en-US"/>
              <a:t>Click to edit Master title style</a:t>
            </a:r>
          </a:p>
        </p:txBody>
      </p:sp>
      <p:sp>
        <p:nvSpPr>
          <p:cNvPr id="3" name="Content Placeholder 2"/>
          <p:cNvSpPr>
            <a:spLocks noGrp="1"/>
          </p:cNvSpPr>
          <p:nvPr>
            <p:ph sz="half" idx="1"/>
          </p:nvPr>
        </p:nvSpPr>
        <p:spPr>
          <a:xfrm>
            <a:off x="457200" y="1143000"/>
            <a:ext cx="403860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143000"/>
            <a:ext cx="403860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62400"/>
            <a:ext cx="403860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76704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914400"/>
            <a:ext cx="6508750" cy="1143000"/>
          </a:xfrm>
          <a:prstGeom prst="rect">
            <a:avLst/>
          </a:prstGeom>
          <a:solidFill>
            <a:schemeClr val="accent2"/>
          </a:solidFill>
          <a:ln>
            <a:noFill/>
          </a:ln>
        </p:spPr>
        <p:txBody>
          <a:bodyPr vert="horz" wrap="square" lIns="91440" tIns="45720" rIns="91440" bIns="45720" numCol="1" anchor="b" anchorCtr="0" compatLnSpc="1">
            <a:prstTxWarp prst="textNoShape">
              <a:avLst/>
            </a:prstTxWarp>
          </a:bodyPr>
          <a:lstStyle/>
          <a:p>
            <a:pPr lvl="0"/>
            <a:r>
              <a:rPr lang="en-US" altLang="en-US" dirty="0"/>
              <a:t>Click to edit Master title style</a:t>
            </a:r>
          </a:p>
        </p:txBody>
      </p:sp>
      <p:sp>
        <p:nvSpPr>
          <p:cNvPr id="1027" name="Text Placeholder 2"/>
          <p:cNvSpPr>
            <a:spLocks noGrp="1"/>
          </p:cNvSpPr>
          <p:nvPr>
            <p:ph type="body" idx="1"/>
          </p:nvPr>
        </p:nvSpPr>
        <p:spPr bwMode="auto">
          <a:xfrm>
            <a:off x="457200" y="2209800"/>
            <a:ext cx="6508750" cy="391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7199313" y="6356350"/>
            <a:ext cx="1752600" cy="365125"/>
          </a:xfrm>
          <a:prstGeom prst="rect">
            <a:avLst/>
          </a:prstGeom>
        </p:spPr>
        <p:txBody>
          <a:bodyPr vert="horz" lIns="91440" tIns="45720" rIns="91440" bIns="45720" rtlCol="0" anchor="ctr"/>
          <a:lstStyle>
            <a:lvl1pPr algn="r" eaLnBrk="1" fontAlgn="auto" hangingPunct="1">
              <a:spcBef>
                <a:spcPts val="0"/>
              </a:spcBef>
              <a:spcAft>
                <a:spcPts val="0"/>
              </a:spcAft>
              <a:defRPr sz="1100" b="1">
                <a:solidFill>
                  <a:schemeClr val="tx2">
                    <a:lumMod val="60000"/>
                    <a:lumOff val="40000"/>
                  </a:schemeClr>
                </a:solidFill>
                <a:latin typeface="+mn-lt"/>
                <a:ea typeface="+mn-ea"/>
                <a:cs typeface="+mn-cs"/>
              </a:defRPr>
            </a:lvl1pPr>
          </a:lstStyle>
          <a:p>
            <a:pPr>
              <a:defRPr/>
            </a:pPr>
            <a:endParaRPr lang="en-US"/>
          </a:p>
        </p:txBody>
      </p:sp>
      <p:sp>
        <p:nvSpPr>
          <p:cNvPr id="5" name="Footer Placeholder 4"/>
          <p:cNvSpPr>
            <a:spLocks noGrp="1"/>
          </p:cNvSpPr>
          <p:nvPr>
            <p:ph type="ftr" sz="quarter" idx="3"/>
          </p:nvPr>
        </p:nvSpPr>
        <p:spPr>
          <a:xfrm>
            <a:off x="174625" y="6356350"/>
            <a:ext cx="6007100" cy="365125"/>
          </a:xfrm>
          <a:prstGeom prst="rect">
            <a:avLst/>
          </a:prstGeom>
        </p:spPr>
        <p:txBody>
          <a:bodyPr vert="horz" lIns="91440" tIns="45720" rIns="91440" bIns="45720" rtlCol="0" anchor="ctr"/>
          <a:lstStyle>
            <a:lvl1pPr algn="l" eaLnBrk="1" fontAlgn="auto" hangingPunct="1">
              <a:spcBef>
                <a:spcPts val="0"/>
              </a:spcBef>
              <a:spcAft>
                <a:spcPts val="0"/>
              </a:spcAft>
              <a:defRPr sz="1100" b="1">
                <a:solidFill>
                  <a:schemeClr val="tx2">
                    <a:lumMod val="60000"/>
                    <a:lumOff val="40000"/>
                  </a:schemeClr>
                </a:solidFill>
                <a:latin typeface="+mn-lt"/>
                <a:ea typeface="+mn-ea"/>
                <a:cs typeface="+mn-cs"/>
              </a:defRPr>
            </a:lvl1pPr>
          </a:lstStyle>
          <a:p>
            <a:pPr>
              <a:defRPr/>
            </a:pPr>
            <a:endParaRPr lang="en-US"/>
          </a:p>
        </p:txBody>
      </p:sp>
      <p:sp>
        <p:nvSpPr>
          <p:cNvPr id="6" name="Slide Number Placeholder 5"/>
          <p:cNvSpPr>
            <a:spLocks noGrp="1"/>
          </p:cNvSpPr>
          <p:nvPr>
            <p:ph type="sldNum" sz="quarter" idx="4"/>
          </p:nvPr>
        </p:nvSpPr>
        <p:spPr>
          <a:xfrm>
            <a:off x="8256588" y="360363"/>
            <a:ext cx="506412"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2200" b="1">
                <a:solidFill>
                  <a:schemeClr val="bg1"/>
                </a:solidFill>
              </a:defRPr>
            </a:lvl1pPr>
          </a:lstStyle>
          <a:p>
            <a:fld id="{62E17A0A-C982-4C62-A1E3-6AA8641CF0A1}"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5005" r:id="rId1"/>
    <p:sldLayoutId id="2147485006" r:id="rId2"/>
    <p:sldLayoutId id="2147485007" r:id="rId3"/>
    <p:sldLayoutId id="2147485008" r:id="rId4"/>
    <p:sldLayoutId id="2147485009" r:id="rId5"/>
    <p:sldLayoutId id="2147485010" r:id="rId6"/>
    <p:sldLayoutId id="2147485011" r:id="rId7"/>
    <p:sldLayoutId id="2147485012" r:id="rId8"/>
    <p:sldLayoutId id="2147485013" r:id="rId9"/>
    <p:sldLayoutId id="2147485014" r:id="rId10"/>
    <p:sldLayoutId id="2147485015" r:id="rId11"/>
    <p:sldLayoutId id="2147485016" r:id="rId12"/>
    <p:sldLayoutId id="2147485017" r:id="rId13"/>
    <p:sldLayoutId id="2147485018" r:id="rId14"/>
    <p:sldLayoutId id="2147485019" r:id="rId15"/>
    <p:sldLayoutId id="2147485020" r:id="rId16"/>
    <p:sldLayoutId id="2147485021" r:id="rId17"/>
    <p:sldLayoutId id="2147485022" r:id="rId18"/>
    <p:sldLayoutId id="2147485023" r:id="rId19"/>
    <p:sldLayoutId id="2147485024" r:id="rId20"/>
    <p:sldLayoutId id="2147485025" r:id="rId21"/>
    <p:sldLayoutId id="2147485026" r:id="rId22"/>
  </p:sldLayoutIdLst>
  <p:hf hdr="0" ftr="0" dt="0"/>
  <p:txStyles>
    <p:titleStyle>
      <a:lvl1pPr algn="l" rtl="0" eaLnBrk="0" fontAlgn="base" hangingPunct="0">
        <a:spcBef>
          <a:spcPct val="0"/>
        </a:spcBef>
        <a:spcAft>
          <a:spcPct val="0"/>
        </a:spcAft>
        <a:defRPr sz="3600" kern="1200">
          <a:solidFill>
            <a:schemeClr val="accent1"/>
          </a:solidFill>
          <a:latin typeface="+mj-lt"/>
          <a:ea typeface="ＭＳ Ｐゴシック" pitchFamily="-1" charset="-128"/>
          <a:cs typeface="ＭＳ Ｐゴシック" pitchFamily="-1" charset="-128"/>
        </a:defRPr>
      </a:lvl1pPr>
      <a:lvl2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2pPr>
      <a:lvl3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3pPr>
      <a:lvl4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4pPr>
      <a:lvl5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5pPr>
      <a:lvl6pPr marL="4572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6pPr>
      <a:lvl7pPr marL="9144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7pPr>
      <a:lvl8pPr marL="13716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8pPr>
      <a:lvl9pPr marL="18288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9pPr>
    </p:titleStyle>
    <p:bodyStyle>
      <a:lvl1pPr marL="228600" indent="-228600" algn="l" rtl="0" eaLnBrk="0" fontAlgn="base" hangingPunct="0">
        <a:spcBef>
          <a:spcPts val="1800"/>
        </a:spcBef>
        <a:spcAft>
          <a:spcPct val="0"/>
        </a:spcAft>
        <a:buClr>
          <a:schemeClr val="accent1"/>
        </a:buClr>
        <a:buSzPct val="100000"/>
        <a:buFont typeface="Wingdings 2" pitchFamily="18" charset="2"/>
        <a:buChar char="¡"/>
        <a:defRPr sz="2000" kern="1200">
          <a:solidFill>
            <a:schemeClr val="tx2"/>
          </a:solidFill>
          <a:latin typeface="+mn-lt"/>
          <a:ea typeface="ＭＳ Ｐゴシック" pitchFamily="-1" charset="-128"/>
          <a:cs typeface="ＭＳ Ｐゴシック" pitchFamily="-1" charset="-128"/>
        </a:defRPr>
      </a:lvl1pPr>
      <a:lvl2pPr marL="457200" indent="-228600" algn="l" rtl="0" eaLnBrk="0" fontAlgn="base" hangingPunct="0">
        <a:spcBef>
          <a:spcPts val="600"/>
        </a:spcBef>
        <a:spcAft>
          <a:spcPct val="0"/>
        </a:spcAft>
        <a:buClr>
          <a:srgbClr val="031B3C"/>
        </a:buClr>
        <a:buSzPct val="100000"/>
        <a:buFont typeface="Wingdings 2" pitchFamily="18" charset="2"/>
        <a:buChar char="¡"/>
        <a:defRPr kern="1200">
          <a:solidFill>
            <a:schemeClr val="tx2"/>
          </a:solidFill>
          <a:latin typeface="+mn-lt"/>
          <a:ea typeface="ＭＳ Ｐゴシック" pitchFamily="-1" charset="-128"/>
          <a:cs typeface="+mn-cs"/>
        </a:defRPr>
      </a:lvl2pPr>
      <a:lvl3pPr marL="685800" indent="-228600" algn="l" rtl="0" eaLnBrk="0" fontAlgn="base" hangingPunct="0">
        <a:spcBef>
          <a:spcPts val="600"/>
        </a:spcBef>
        <a:spcAft>
          <a:spcPct val="0"/>
        </a:spcAft>
        <a:buClr>
          <a:schemeClr val="accent1"/>
        </a:buClr>
        <a:buSzPct val="100000"/>
        <a:buFont typeface="Wingdings 2" pitchFamily="18" charset="2"/>
        <a:buChar char="¡"/>
        <a:defRPr kern="1200">
          <a:solidFill>
            <a:schemeClr val="tx2"/>
          </a:solidFill>
          <a:latin typeface="+mn-lt"/>
          <a:ea typeface="ＭＳ Ｐゴシック" pitchFamily="-1" charset="-128"/>
          <a:cs typeface="+mn-cs"/>
        </a:defRPr>
      </a:lvl3pPr>
      <a:lvl4pPr marL="914400" indent="-228600" algn="l" rtl="0" eaLnBrk="0" fontAlgn="base" hangingPunct="0">
        <a:spcBef>
          <a:spcPts val="600"/>
        </a:spcBef>
        <a:spcAft>
          <a:spcPct val="0"/>
        </a:spcAft>
        <a:buClr>
          <a:srgbClr val="031B3C"/>
        </a:buClr>
        <a:buSzPct val="100000"/>
        <a:buFont typeface="Wingdings 2" pitchFamily="18" charset="2"/>
        <a:buChar char="¡"/>
        <a:defRPr kern="1200">
          <a:solidFill>
            <a:schemeClr val="tx2"/>
          </a:solidFill>
          <a:latin typeface="+mn-lt"/>
          <a:ea typeface="ＭＳ Ｐゴシック" pitchFamily="-1" charset="-128"/>
          <a:cs typeface="+mn-cs"/>
        </a:defRPr>
      </a:lvl4pPr>
      <a:lvl5pPr marL="1143000" indent="-228600" algn="l" rtl="0" eaLnBrk="0" fontAlgn="base" hangingPunct="0">
        <a:spcBef>
          <a:spcPts val="600"/>
        </a:spcBef>
        <a:spcAft>
          <a:spcPct val="0"/>
        </a:spcAft>
        <a:buClr>
          <a:schemeClr val="accent1"/>
        </a:buClr>
        <a:buSzPct val="100000"/>
        <a:buFont typeface="Wingdings 2" pitchFamily="18" charset="2"/>
        <a:buChar char="¡"/>
        <a:defRPr kern="1200">
          <a:solidFill>
            <a:schemeClr val="tx2"/>
          </a:solidFill>
          <a:latin typeface="+mn-lt"/>
          <a:ea typeface="ＭＳ Ｐゴシック" pitchFamily="-1"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12.xml"/><Relationship Id="rId5" Type="http://schemas.openxmlformats.org/officeDocument/2006/relationships/image" Target="../media/image7.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1.bin"/><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oleObject" Target="../embeddings/oleObject2.bin"/><Relationship Id="rId7"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Layout" Target="../slideLayouts/slideLayout12.xml"/><Relationship Id="rId6" Type="http://schemas.openxmlformats.org/officeDocument/2006/relationships/image" Target="../media/image11.emf"/><Relationship Id="rId11" Type="http://schemas.openxmlformats.org/officeDocument/2006/relationships/image" Target="../media/image14.emf"/><Relationship Id="rId5" Type="http://schemas.openxmlformats.org/officeDocument/2006/relationships/oleObject" Target="../embeddings/oleObject3.bin"/><Relationship Id="rId10" Type="http://schemas.openxmlformats.org/officeDocument/2006/relationships/oleObject" Target="../embeddings/oleObject5.bin"/><Relationship Id="rId4" Type="http://schemas.openxmlformats.org/officeDocument/2006/relationships/image" Target="../media/image10.wmf"/><Relationship Id="rId9" Type="http://schemas.openxmlformats.org/officeDocument/2006/relationships/image" Target="../media/image13.emf"/></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12.xml"/><Relationship Id="rId5" Type="http://schemas.openxmlformats.org/officeDocument/2006/relationships/image" Target="../media/image24.png"/><Relationship Id="rId4" Type="http://schemas.openxmlformats.org/officeDocument/2006/relationships/image" Target="../media/image19.jpeg"/></Relationships>
</file>

<file path=ppt/slides/_rels/slide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JPG"/><Relationship Id="rId1" Type="http://schemas.openxmlformats.org/officeDocument/2006/relationships/slideLayout" Target="../slideLayouts/slideLayout12.xml"/><Relationship Id="rId5" Type="http://schemas.openxmlformats.org/officeDocument/2006/relationships/image" Target="../media/image21.png"/><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solidFill>
                  <a:schemeClr val="accent1">
                    <a:lumMod val="75000"/>
                  </a:schemeClr>
                </a:solidFill>
                <a:effectLst>
                  <a:outerShdw blurRad="38100" dist="38100" dir="2700000" algn="tl">
                    <a:srgbClr val="000000">
                      <a:alpha val="43137"/>
                    </a:srgbClr>
                  </a:outerShdw>
                </a:effectLst>
                <a:ea typeface="ＭＳ Ｐゴシック" pitchFamily="34" charset="-128"/>
              </a:rPr>
              <a:t>Chapter 5:</a:t>
            </a:r>
            <a:br>
              <a:rPr lang="en-US" dirty="0">
                <a:solidFill>
                  <a:schemeClr val="accent1">
                    <a:lumMod val="75000"/>
                  </a:schemeClr>
                </a:solidFill>
                <a:ea typeface="ＭＳ Ｐゴシック" pitchFamily="34" charset="-128"/>
              </a:rPr>
            </a:br>
            <a:r>
              <a:rPr lang="en-US" dirty="0">
                <a:solidFill>
                  <a:schemeClr val="accent1">
                    <a:lumMod val="75000"/>
                  </a:schemeClr>
                </a:solidFill>
                <a:ea typeface="ＭＳ Ｐゴシック" pitchFamily="34" charset="-128"/>
              </a:rPr>
              <a:t>Sampling Distributions</a:t>
            </a:r>
            <a:endParaRPr lang="en-US" dirty="0"/>
          </a:p>
        </p:txBody>
      </p:sp>
      <p:pic>
        <p:nvPicPr>
          <p:cNvPr id="2" name="Picture 1" descr="Introduction to the Practice of Statistics, Ninth Edition&#10;Moore/McCabe/Craig"/>
          <p:cNvPicPr>
            <a:picLocks noChangeArrowheads="1"/>
          </p:cNvPicPr>
          <p:nvPr/>
        </p:nvPicPr>
        <p:blipFill rotWithShape="1">
          <a:blip r:embed="rId2">
            <a:extLst>
              <a:ext uri="{28A0092B-C50C-407E-A947-70E740481C1C}">
                <a14:useLocalDpi xmlns:a14="http://schemas.microsoft.com/office/drawing/2010/main" val="0"/>
              </a:ext>
            </a:extLst>
          </a:blip>
          <a:srcRect l="1175" t="28909" b="32979"/>
          <a:stretch/>
        </p:blipFill>
        <p:spPr bwMode="auto">
          <a:xfrm>
            <a:off x="0" y="0"/>
            <a:ext cx="9144000" cy="3521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ubtitle 4"/>
          <p:cNvSpPr txBox="1">
            <a:spLocks/>
          </p:cNvSpPr>
          <p:nvPr/>
        </p:nvSpPr>
        <p:spPr bwMode="auto">
          <a:xfrm>
            <a:off x="3474720" y="6035040"/>
            <a:ext cx="5457825"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1pPr>
            <a:lvl2pPr marL="4572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2pPr>
            <a:lvl3pPr marL="9144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3pPr>
            <a:lvl4pPr marL="13716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4pPr>
            <a:lvl5pPr marL="18288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5pPr>
            <a:lvl6pPr marL="2286000" algn="l" defTabSz="914400" rtl="0" eaLnBrk="1" latinLnBrk="0" hangingPunct="1">
              <a:defRPr kern="1200">
                <a:solidFill>
                  <a:schemeClr val="tx1"/>
                </a:solidFill>
                <a:latin typeface="Arial" pitchFamily="34" charset="0"/>
                <a:ea typeface="ＭＳ Ｐゴシック" pitchFamily="34" charset="-128"/>
                <a:cs typeface="+mn-cs"/>
              </a:defRPr>
            </a:lvl6pPr>
            <a:lvl7pPr marL="2743200" algn="l" defTabSz="914400" rtl="0" eaLnBrk="1" latinLnBrk="0" hangingPunct="1">
              <a:defRPr kern="1200">
                <a:solidFill>
                  <a:schemeClr val="tx1"/>
                </a:solidFill>
                <a:latin typeface="Arial" pitchFamily="34" charset="0"/>
                <a:ea typeface="ＭＳ Ｐゴシック" pitchFamily="34" charset="-128"/>
                <a:cs typeface="+mn-cs"/>
              </a:defRPr>
            </a:lvl7pPr>
            <a:lvl8pPr marL="3200400" algn="l" defTabSz="914400" rtl="0" eaLnBrk="1" latinLnBrk="0" hangingPunct="1">
              <a:defRPr kern="1200">
                <a:solidFill>
                  <a:schemeClr val="tx1"/>
                </a:solidFill>
                <a:latin typeface="Arial" pitchFamily="34" charset="0"/>
                <a:ea typeface="ＭＳ Ｐゴシック" pitchFamily="34" charset="-128"/>
                <a:cs typeface="+mn-cs"/>
              </a:defRPr>
            </a:lvl8pPr>
            <a:lvl9pPr marL="3657600" algn="l" defTabSz="914400" rtl="0" eaLnBrk="1" latinLnBrk="0" hangingPunct="1">
              <a:defRPr kern="1200">
                <a:solidFill>
                  <a:schemeClr val="tx1"/>
                </a:solidFill>
                <a:latin typeface="Arial" pitchFamily="34" charset="0"/>
                <a:ea typeface="ＭＳ Ｐゴシック" pitchFamily="34" charset="-128"/>
                <a:cs typeface="+mn-cs"/>
              </a:defRPr>
            </a:lvl9pPr>
          </a:lstStyle>
          <a:p>
            <a:pPr algn="r" defTabSz="914400" eaLnBrk="1" hangingPunct="1">
              <a:buClr>
                <a:schemeClr val="accent1"/>
              </a:buClr>
              <a:buSzPct val="100000"/>
              <a:buFont typeface="Wingdings 2" pitchFamily="-65" charset="2"/>
              <a:buNone/>
              <a:defRPr/>
            </a:pPr>
            <a:r>
              <a:rPr lang="en-US" altLang="en-US" b="1" dirty="0">
                <a:solidFill>
                  <a:srgbClr val="073779"/>
                </a:solidFill>
              </a:rPr>
              <a:t>Lecture Presentation Slides</a:t>
            </a:r>
          </a:p>
          <a:p>
            <a:pPr algn="r" defTabSz="914400" eaLnBrk="1" hangingPunct="1">
              <a:buClr>
                <a:schemeClr val="accent1"/>
              </a:buClr>
              <a:buSzPct val="100000"/>
              <a:buFont typeface="Wingdings 2" pitchFamily="-65" charset="2"/>
              <a:buNone/>
              <a:defRPr/>
            </a:pPr>
            <a:r>
              <a:rPr lang="en-US" sz="1100" b="1" kern="1200" dirty="0">
                <a:solidFill>
                  <a:schemeClr val="accent1"/>
                </a:solidFill>
                <a:effectLst/>
                <a:latin typeface="Arial" charset="0"/>
                <a:ea typeface="ＭＳ Ｐゴシック" pitchFamily="-65" charset="-128"/>
                <a:cs typeface="+mn-cs"/>
              </a:rPr>
              <a:t>Macmillan Learning ©</a:t>
            </a:r>
            <a:r>
              <a:rPr lang="en-US" altLang="en-US" sz="1100" b="1" baseline="0" dirty="0">
                <a:solidFill>
                  <a:schemeClr val="accent1"/>
                </a:solidFill>
              </a:rPr>
              <a:t> 2017</a:t>
            </a:r>
            <a:endParaRPr lang="en-US" altLang="en-US" sz="1100" b="1" dirty="0">
              <a:solidFill>
                <a:schemeClr val="accen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t>Chapter 5</a:t>
            </a:r>
            <a:br>
              <a:rPr lang="en-US" altLang="en-US" b="1" dirty="0"/>
            </a:br>
            <a:r>
              <a:rPr lang="en-US" altLang="en-US" b="1" dirty="0"/>
              <a:t>Sampling Distributions</a:t>
            </a:r>
            <a:endParaRPr lang="en-US" b="1" dirty="0"/>
          </a:p>
        </p:txBody>
      </p:sp>
      <p:sp>
        <p:nvSpPr>
          <p:cNvPr id="3" name="Content Placeholder 2"/>
          <p:cNvSpPr>
            <a:spLocks noGrp="1"/>
          </p:cNvSpPr>
          <p:nvPr>
            <p:ph idx="1"/>
          </p:nvPr>
        </p:nvSpPr>
        <p:spPr/>
        <p:txBody>
          <a:bodyPr/>
          <a:lstStyle/>
          <a:p>
            <a:pPr marL="0" lvl="0" indent="0" eaLnBrk="1" hangingPunct="1">
              <a:spcBef>
                <a:spcPct val="0"/>
              </a:spcBef>
              <a:spcAft>
                <a:spcPts val="1800"/>
              </a:spcAft>
              <a:buClrTx/>
              <a:buSzTx/>
              <a:buNone/>
            </a:pPr>
            <a:r>
              <a:rPr lang="en-US" altLang="en-US" sz="2800" b="1" dirty="0">
                <a:solidFill>
                  <a:srgbClr val="073779"/>
                </a:solidFill>
                <a:latin typeface="Arial" pitchFamily="34" charset="0"/>
                <a:ea typeface="ＭＳ Ｐゴシック" pitchFamily="34" charset="-128"/>
                <a:cs typeface="+mn-cs"/>
              </a:rPr>
              <a:t>5.1 Toward Statistical Inference</a:t>
            </a:r>
          </a:p>
          <a:p>
            <a:pPr marL="0" lvl="0" indent="0" eaLnBrk="1" hangingPunct="1">
              <a:spcBef>
                <a:spcPct val="0"/>
              </a:spcBef>
              <a:spcAft>
                <a:spcPts val="1800"/>
              </a:spcAft>
              <a:buClrTx/>
              <a:buSzTx/>
              <a:buNone/>
            </a:pPr>
            <a:r>
              <a:rPr lang="en-US" altLang="en-US" sz="2800" b="1" dirty="0">
                <a:solidFill>
                  <a:srgbClr val="073779"/>
                </a:solidFill>
                <a:latin typeface="Arial" pitchFamily="34" charset="0"/>
                <a:ea typeface="ＭＳ Ｐゴシック" pitchFamily="34" charset="-128"/>
                <a:cs typeface="+mn-cs"/>
              </a:rPr>
              <a:t>5.2 The Sampling Distribution of a Sample Mean</a:t>
            </a:r>
          </a:p>
          <a:p>
            <a:pPr marL="0" lvl="0" indent="0" eaLnBrk="1" hangingPunct="1">
              <a:spcBef>
                <a:spcPct val="0"/>
              </a:spcBef>
              <a:spcAft>
                <a:spcPts val="1800"/>
              </a:spcAft>
              <a:buClrTx/>
              <a:buSzTx/>
              <a:buNone/>
            </a:pPr>
            <a:r>
              <a:rPr lang="en-US" altLang="en-US" sz="2800" b="1" dirty="0">
                <a:solidFill>
                  <a:srgbClr val="073779"/>
                </a:solidFill>
                <a:latin typeface="Arial" pitchFamily="34" charset="0"/>
                <a:ea typeface="ＭＳ Ｐゴシック" pitchFamily="34" charset="-128"/>
                <a:cs typeface="+mn-cs"/>
              </a:rPr>
              <a:t>5.3 Sampling Distributions for Counts and Proportions</a:t>
            </a:r>
          </a:p>
        </p:txBody>
      </p:sp>
      <p:sp>
        <p:nvSpPr>
          <p:cNvPr id="27650"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9533D1FF-FB35-48DD-AF85-DBBDBD587DCC}" type="slidenum">
              <a:rPr lang="en-US" altLang="en-US" sz="1400">
                <a:solidFill>
                  <a:schemeClr val="accent1"/>
                </a:solidFill>
              </a:rPr>
              <a:pPr/>
              <a:t>2</a:t>
            </a:fld>
            <a:endParaRPr lang="en-US" altLang="en-US" sz="1400">
              <a:solidFill>
                <a:schemeClr val="accen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2"/>
          <p:cNvSpPr>
            <a:spLocks noGrp="1"/>
          </p:cNvSpPr>
          <p:nvPr>
            <p:ph type="title"/>
          </p:nvPr>
        </p:nvSpPr>
        <p:spPr/>
        <p:txBody>
          <a:bodyPr anchor="t"/>
          <a:lstStyle/>
          <a:p>
            <a:pPr eaLnBrk="1" hangingPunct="1"/>
            <a:r>
              <a:rPr lang="en-US" altLang="en-US" b="1" dirty="0">
                <a:ea typeface="ＭＳ Ｐゴシック" pitchFamily="34" charset="-128"/>
              </a:rPr>
              <a:t>5.1 Toward Statistical Inference</a:t>
            </a:r>
          </a:p>
        </p:txBody>
      </p:sp>
      <p:sp>
        <p:nvSpPr>
          <p:cNvPr id="28675" name="Text Placeholder 3"/>
          <p:cNvSpPr>
            <a:spLocks noGrp="1"/>
          </p:cNvSpPr>
          <p:nvPr>
            <p:ph idx="1"/>
          </p:nvPr>
        </p:nvSpPr>
        <p:spPr/>
        <p:txBody>
          <a:bodyPr/>
          <a:lstStyle/>
          <a:p>
            <a:pPr eaLnBrk="1" hangingPunct="1"/>
            <a:r>
              <a:rPr lang="en-US" altLang="en-US" sz="2400">
                <a:solidFill>
                  <a:srgbClr val="073779"/>
                </a:solidFill>
                <a:ea typeface="ＭＳ Ｐゴシック" pitchFamily="34" charset="-128"/>
              </a:rPr>
              <a:t>Parameters and statistics</a:t>
            </a:r>
          </a:p>
          <a:p>
            <a:pPr eaLnBrk="1" hangingPunct="1"/>
            <a:r>
              <a:rPr lang="en-US" altLang="en-US" sz="2400">
                <a:solidFill>
                  <a:srgbClr val="073779"/>
                </a:solidFill>
                <a:ea typeface="ＭＳ Ｐゴシック" pitchFamily="34" charset="-128"/>
              </a:rPr>
              <a:t>Sampling variability</a:t>
            </a:r>
          </a:p>
          <a:p>
            <a:pPr eaLnBrk="1" hangingPunct="1"/>
            <a:r>
              <a:rPr lang="en-US" altLang="en-US" sz="2400">
                <a:solidFill>
                  <a:srgbClr val="073779"/>
                </a:solidFill>
                <a:ea typeface="ＭＳ Ｐゴシック" pitchFamily="34" charset="-128"/>
              </a:rPr>
              <a:t>Sampling distributions</a:t>
            </a:r>
          </a:p>
          <a:p>
            <a:pPr eaLnBrk="1" hangingPunct="1"/>
            <a:r>
              <a:rPr lang="en-US" altLang="en-US" sz="2400">
                <a:solidFill>
                  <a:srgbClr val="073779"/>
                </a:solidFill>
                <a:ea typeface="ＭＳ Ｐゴシック" pitchFamily="34" charset="-128"/>
              </a:rPr>
              <a:t>Bias and variability</a:t>
            </a:r>
          </a:p>
          <a:p>
            <a:pPr eaLnBrk="1" hangingPunct="1"/>
            <a:r>
              <a:rPr lang="en-US" altLang="en-US" sz="2400">
                <a:solidFill>
                  <a:srgbClr val="073779"/>
                </a:solidFill>
                <a:ea typeface="ＭＳ Ｐゴシック" pitchFamily="34" charset="-128"/>
              </a:rPr>
              <a:t>Sampling from large populations</a:t>
            </a:r>
          </a:p>
        </p:txBody>
      </p:sp>
      <p:sp>
        <p:nvSpPr>
          <p:cNvPr id="28676" name="Slide Number Placeholder 8"/>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EFCA77BE-67AC-40CB-8A10-31C06408FF4A}" type="slidenum">
              <a:rPr lang="en-US" altLang="en-US" sz="1400">
                <a:solidFill>
                  <a:schemeClr val="accent1"/>
                </a:solidFill>
              </a:rPr>
              <a:pPr/>
              <a:t>3</a:t>
            </a:fld>
            <a:endParaRPr lang="en-US" altLang="en-US" sz="1400">
              <a:solidFill>
                <a:schemeClr val="accen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700" name="Rectangle 2"/>
          <p:cNvSpPr>
            <a:spLocks noGrp="1" noChangeArrowheads="1"/>
          </p:cNvSpPr>
          <p:nvPr>
            <p:ph type="title"/>
          </p:nvPr>
        </p:nvSpPr>
        <p:spPr/>
        <p:txBody>
          <a:bodyPr/>
          <a:lstStyle/>
          <a:p>
            <a:pPr eaLnBrk="1" hangingPunct="1"/>
            <a:r>
              <a:rPr lang="en-US" altLang="en-US" dirty="0">
                <a:ea typeface="ＭＳ Ｐゴシック" pitchFamily="34" charset="-128"/>
              </a:rPr>
              <a:t>Parameters and Statistics</a:t>
            </a:r>
          </a:p>
        </p:txBody>
      </p:sp>
      <p:sp>
        <p:nvSpPr>
          <p:cNvPr id="2969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053910EC-68B8-4E03-B854-5B214D252B05}" type="slidenum">
              <a:rPr lang="en-US" altLang="en-US" sz="1200">
                <a:solidFill>
                  <a:schemeClr val="accent1"/>
                </a:solidFill>
              </a:rPr>
              <a:pPr>
                <a:lnSpc>
                  <a:spcPct val="80000"/>
                </a:lnSpc>
              </a:pPr>
              <a:t>4</a:t>
            </a:fld>
            <a:endParaRPr lang="en-US" altLang="en-US" sz="1200">
              <a:solidFill>
                <a:schemeClr val="accent1"/>
              </a:solidFill>
            </a:endParaRPr>
          </a:p>
        </p:txBody>
      </p:sp>
      <p:sp>
        <p:nvSpPr>
          <p:cNvPr id="6" name="TextBox 5"/>
          <p:cNvSpPr txBox="1">
            <a:spLocks noChangeArrowheads="1"/>
          </p:cNvSpPr>
          <p:nvPr/>
        </p:nvSpPr>
        <p:spPr bwMode="auto">
          <a:xfrm>
            <a:off x="503237" y="1790614"/>
            <a:ext cx="8159750" cy="1631216"/>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37931725" indent="-3747452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6858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9144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1600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0574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defRPr/>
            </a:pPr>
            <a:r>
              <a:rPr lang="en-US" altLang="en-US" dirty="0">
                <a:solidFill>
                  <a:srgbClr val="000000"/>
                </a:solidFill>
              </a:rPr>
              <a:t>A </a:t>
            </a:r>
            <a:r>
              <a:rPr lang="en-US" altLang="en-US" b="1" dirty="0">
                <a:solidFill>
                  <a:srgbClr val="800000"/>
                </a:solidFill>
              </a:rPr>
              <a:t>parameter</a:t>
            </a:r>
            <a:r>
              <a:rPr lang="en-US" altLang="en-US" b="1" dirty="0">
                <a:solidFill>
                  <a:srgbClr val="000000"/>
                </a:solidFill>
              </a:rPr>
              <a:t> </a:t>
            </a:r>
            <a:r>
              <a:rPr lang="en-US" altLang="en-US" dirty="0">
                <a:solidFill>
                  <a:srgbClr val="000000"/>
                </a:solidFill>
              </a:rPr>
              <a:t>is a number that describes a particular characteristic of a </a:t>
            </a:r>
            <a:r>
              <a:rPr lang="en-US" altLang="en-US" dirty="0">
                <a:solidFill>
                  <a:srgbClr val="FF0000"/>
                </a:solidFill>
              </a:rPr>
              <a:t>population</a:t>
            </a:r>
            <a:r>
              <a:rPr lang="en-US" altLang="en-US" dirty="0">
                <a:solidFill>
                  <a:srgbClr val="000000"/>
                </a:solidFill>
              </a:rPr>
              <a:t>. In frequentist statistics, a parameter is </a:t>
            </a:r>
            <a:r>
              <a:rPr lang="en-US" altLang="en-US" dirty="0">
                <a:solidFill>
                  <a:srgbClr val="FF0000"/>
                </a:solidFill>
              </a:rPr>
              <a:t>fixed</a:t>
            </a:r>
            <a:r>
              <a:rPr lang="en-US" altLang="en-US" dirty="0">
                <a:solidFill>
                  <a:srgbClr val="000000"/>
                </a:solidFill>
              </a:rPr>
              <a:t> but </a:t>
            </a:r>
            <a:r>
              <a:rPr lang="en-US" altLang="en-US" dirty="0">
                <a:solidFill>
                  <a:srgbClr val="FF0000"/>
                </a:solidFill>
              </a:rPr>
              <a:t>unknown</a:t>
            </a:r>
            <a:r>
              <a:rPr lang="en-US" altLang="en-US" dirty="0">
                <a:solidFill>
                  <a:srgbClr val="000000"/>
                </a:solidFill>
              </a:rPr>
              <a:t>.</a:t>
            </a:r>
          </a:p>
          <a:p>
            <a:pPr>
              <a:spcBef>
                <a:spcPct val="0"/>
              </a:spcBef>
              <a:buClrTx/>
              <a:buSzTx/>
              <a:buFontTx/>
              <a:buNone/>
              <a:defRPr/>
            </a:pPr>
            <a:endParaRPr lang="en-US" altLang="en-US" dirty="0">
              <a:solidFill>
                <a:srgbClr val="000000"/>
              </a:solidFill>
            </a:endParaRPr>
          </a:p>
          <a:p>
            <a:pPr>
              <a:spcBef>
                <a:spcPct val="0"/>
              </a:spcBef>
              <a:buClrTx/>
              <a:buSzTx/>
              <a:buFontTx/>
              <a:buNone/>
              <a:defRPr/>
            </a:pPr>
            <a:r>
              <a:rPr lang="en-US" altLang="en-US" dirty="0">
                <a:solidFill>
                  <a:srgbClr val="000000"/>
                </a:solidFill>
              </a:rPr>
              <a:t>A </a:t>
            </a:r>
            <a:r>
              <a:rPr lang="en-US" altLang="en-US" b="1" dirty="0">
                <a:solidFill>
                  <a:srgbClr val="800000"/>
                </a:solidFill>
              </a:rPr>
              <a:t>statistic</a:t>
            </a:r>
            <a:r>
              <a:rPr lang="en-US" altLang="en-US" dirty="0">
                <a:solidFill>
                  <a:srgbClr val="000000"/>
                </a:solidFill>
              </a:rPr>
              <a:t> is a function of a sample. So, the value of a statistic may </a:t>
            </a:r>
            <a:r>
              <a:rPr lang="en-US" altLang="en-US" dirty="0">
                <a:solidFill>
                  <a:srgbClr val="FF0000"/>
                </a:solidFill>
              </a:rPr>
              <a:t>change from sample to sample</a:t>
            </a:r>
            <a:r>
              <a:rPr lang="en-US" altLang="en-US" dirty="0">
                <a:solidFill>
                  <a:srgbClr val="000000"/>
                </a:solidFill>
              </a:rPr>
              <a:t>.</a:t>
            </a:r>
            <a:endParaRPr lang="en-US" altLang="en-US" dirty="0">
              <a:solidFill>
                <a:srgbClr val="FF0000"/>
              </a:solidFill>
            </a:endParaRPr>
          </a:p>
        </p:txBody>
      </p:sp>
      <p:sp>
        <p:nvSpPr>
          <p:cNvPr id="9" name="TextBox 8"/>
          <p:cNvSpPr txBox="1">
            <a:spLocks noChangeArrowheads="1"/>
          </p:cNvSpPr>
          <p:nvPr/>
        </p:nvSpPr>
        <p:spPr bwMode="auto">
          <a:xfrm>
            <a:off x="1382712" y="4058928"/>
            <a:ext cx="6378575" cy="708025"/>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defRPr/>
            </a:pPr>
            <a:r>
              <a:rPr lang="en-US" sz="2000" dirty="0"/>
              <a:t>Remember </a:t>
            </a:r>
            <a:r>
              <a:rPr lang="en-US" sz="2000" b="1" dirty="0">
                <a:solidFill>
                  <a:schemeClr val="tx2">
                    <a:lumMod val="75000"/>
                  </a:schemeClr>
                </a:solidFill>
              </a:rPr>
              <a:t>s</a:t>
            </a:r>
            <a:r>
              <a:rPr lang="en-US" sz="2000" dirty="0">
                <a:solidFill>
                  <a:schemeClr val="tx2"/>
                </a:solidFill>
              </a:rPr>
              <a:t> </a:t>
            </a:r>
            <a:r>
              <a:rPr lang="en-US" sz="2000" dirty="0"/>
              <a:t>and </a:t>
            </a:r>
            <a:r>
              <a:rPr lang="en-US" sz="2000" b="1" dirty="0">
                <a:solidFill>
                  <a:schemeClr val="tx2">
                    <a:lumMod val="75000"/>
                  </a:schemeClr>
                </a:solidFill>
              </a:rPr>
              <a:t>p</a:t>
            </a:r>
            <a:r>
              <a:rPr lang="en-US" sz="2000" b="1" dirty="0"/>
              <a:t>:</a:t>
            </a:r>
            <a:r>
              <a:rPr lang="en-US" sz="2000" dirty="0"/>
              <a:t> </a:t>
            </a:r>
            <a:r>
              <a:rPr lang="en-US" sz="2000" b="1" dirty="0">
                <a:solidFill>
                  <a:schemeClr val="tx2">
                    <a:lumMod val="75000"/>
                  </a:schemeClr>
                </a:solidFill>
              </a:rPr>
              <a:t>s</a:t>
            </a:r>
            <a:r>
              <a:rPr lang="en-US" sz="2000" dirty="0"/>
              <a:t>tatistics come from </a:t>
            </a:r>
            <a:r>
              <a:rPr lang="en-US" sz="2000" b="1" dirty="0">
                <a:solidFill>
                  <a:schemeClr val="tx2">
                    <a:lumMod val="75000"/>
                  </a:schemeClr>
                </a:solidFill>
              </a:rPr>
              <a:t>s</a:t>
            </a:r>
            <a:r>
              <a:rPr lang="en-US" sz="2000" dirty="0"/>
              <a:t>amples and</a:t>
            </a:r>
          </a:p>
          <a:p>
            <a:pPr algn="ctr" eaLnBrk="1" hangingPunct="1">
              <a:defRPr/>
            </a:pPr>
            <a:r>
              <a:rPr lang="en-US" sz="2000" b="1" dirty="0">
                <a:solidFill>
                  <a:schemeClr val="tx2">
                    <a:lumMod val="75000"/>
                  </a:schemeClr>
                </a:solidFill>
              </a:rPr>
              <a:t>p</a:t>
            </a:r>
            <a:r>
              <a:rPr lang="en-US" sz="2000" dirty="0"/>
              <a:t>arameters come from </a:t>
            </a:r>
            <a:r>
              <a:rPr lang="en-US" sz="2000" b="1" dirty="0">
                <a:solidFill>
                  <a:schemeClr val="tx2">
                    <a:lumMod val="75000"/>
                  </a:schemeClr>
                </a:solidFill>
              </a:rPr>
              <a:t>p</a:t>
            </a:r>
            <a:r>
              <a:rPr lang="en-US" sz="2000" dirty="0"/>
              <a:t>opulations.</a:t>
            </a:r>
          </a:p>
        </p:txBody>
      </p:sp>
      <mc:AlternateContent xmlns:mc="http://schemas.openxmlformats.org/markup-compatibility/2006" xmlns:a14="http://schemas.microsoft.com/office/drawing/2010/main">
        <mc:Choice Requires="a14">
          <p:sp>
            <p:nvSpPr>
              <p:cNvPr id="29704" name="TextBox 7" descr="We write mew (the Greek letter mew) for the population mean and lower-case sigma for the population standard deviation. We write x-bar for the sample mean and s for the sample standard deviation."/>
              <p:cNvSpPr txBox="1">
                <a:spLocks noChangeArrowheads="1"/>
              </p:cNvSpPr>
              <p:nvPr/>
            </p:nvSpPr>
            <p:spPr bwMode="auto">
              <a:xfrm>
                <a:off x="547687" y="5259196"/>
                <a:ext cx="8070850" cy="104291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dirty="0">
                    <a:solidFill>
                      <a:srgbClr val="FF0000"/>
                    </a:solidFill>
                  </a:rPr>
                  <a:t>We write </a:t>
                </a:r>
                <a:r>
                  <a:rPr lang="en-US" altLang="en-US" i="1" dirty="0">
                    <a:solidFill>
                      <a:srgbClr val="FF0000"/>
                    </a:solidFill>
                  </a:rPr>
                  <a:t>µ</a:t>
                </a:r>
                <a:r>
                  <a:rPr lang="en-US" altLang="en-US" dirty="0">
                    <a:solidFill>
                      <a:srgbClr val="FF0000"/>
                    </a:solidFill>
                  </a:rPr>
                  <a:t> (the Greek letter mu) for the population mean and </a:t>
                </a:r>
                <a:r>
                  <a:rPr lang="en-US" altLang="en-US" i="1" dirty="0">
                    <a:solidFill>
                      <a:srgbClr val="FF0000"/>
                    </a:solidFill>
                  </a:rPr>
                  <a:t>σ</a:t>
                </a:r>
                <a:r>
                  <a:rPr lang="en-US" altLang="en-US" dirty="0">
                    <a:solidFill>
                      <a:srgbClr val="FF0000"/>
                    </a:solidFill>
                  </a:rPr>
                  <a:t> for the population standard deviation. We write </a:t>
                </a:r>
                <a14:m>
                  <m:oMath xmlns:m="http://schemas.openxmlformats.org/officeDocument/2006/math">
                    <m:acc>
                      <m:accPr>
                        <m:chr m:val="̅"/>
                        <m:ctrlPr>
                          <a:rPr lang="en-US" altLang="en-US" b="0" i="1" smtClean="0">
                            <a:solidFill>
                              <a:srgbClr val="FF0000"/>
                            </a:solidFill>
                            <a:latin typeface="Cambria Math" panose="02040503050406030204" pitchFamily="18" charset="0"/>
                          </a:rPr>
                        </m:ctrlPr>
                      </m:accPr>
                      <m:e>
                        <m:r>
                          <a:rPr lang="en-US" altLang="en-US" b="0" i="1" smtClean="0">
                            <a:solidFill>
                              <a:srgbClr val="FF0000"/>
                            </a:solidFill>
                            <a:latin typeface="Cambria Math" panose="02040503050406030204" pitchFamily="18" charset="0"/>
                          </a:rPr>
                          <m:t>𝑥</m:t>
                        </m:r>
                      </m:e>
                    </m:acc>
                  </m:oMath>
                </a14:m>
                <a:r>
                  <a:rPr lang="en-US" altLang="en-US" dirty="0">
                    <a:solidFill>
                      <a:srgbClr val="FF0000"/>
                    </a:solidFill>
                  </a:rPr>
                  <a:t> (x-bar) for the sample mean and </a:t>
                </a:r>
                <a:r>
                  <a:rPr lang="en-US" altLang="en-US" i="1" dirty="0">
                    <a:solidFill>
                      <a:srgbClr val="FF0000"/>
                    </a:solidFill>
                  </a:rPr>
                  <a:t>s</a:t>
                </a:r>
                <a:r>
                  <a:rPr lang="en-US" altLang="en-US" dirty="0">
                    <a:solidFill>
                      <a:srgbClr val="FF0000"/>
                    </a:solidFill>
                  </a:rPr>
                  <a:t> for the sample standard deviation.</a:t>
                </a:r>
              </a:p>
            </p:txBody>
          </p:sp>
        </mc:Choice>
        <mc:Fallback xmlns="">
          <p:sp>
            <p:nvSpPr>
              <p:cNvPr id="29704" name="TextBox 7" descr="We write mew (the Greek letter mew) for the population mean and lower-case sigma for the population standard deviation. We write x-bar for the sample mean and s for the sample standard deviation."/>
              <p:cNvSpPr txBox="1">
                <a:spLocks noRot="1" noChangeAspect="1" noMove="1" noResize="1" noEditPoints="1" noAdjustHandles="1" noChangeArrowheads="1" noChangeShapeType="1" noTextEdit="1"/>
              </p:cNvSpPr>
              <p:nvPr/>
            </p:nvSpPr>
            <p:spPr bwMode="auto">
              <a:xfrm>
                <a:off x="547687" y="5259196"/>
                <a:ext cx="8070850" cy="1042914"/>
              </a:xfrm>
              <a:prstGeom prst="rect">
                <a:avLst/>
              </a:prstGeom>
              <a:blipFill>
                <a:blip r:embed="rId2"/>
                <a:stretch>
                  <a:fillRect l="-831" t="-2924" r="-1133" b="-760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grpId="0" nodeType="clickEffect">
                                  <p:stCondLst>
                                    <p:cond delay="0"/>
                                  </p:stCondLst>
                                  <p:childTnLst>
                                    <p:set>
                                      <p:cBhvr>
                                        <p:cTn id="17" dur="1" fill="hold">
                                          <p:stCondLst>
                                            <p:cond delay="0"/>
                                          </p:stCondLst>
                                        </p:cTn>
                                        <p:tgtEl>
                                          <p:spTgt spid="29704"/>
                                        </p:tgtEl>
                                        <p:attrNameLst>
                                          <p:attrName>style.visibility</p:attrName>
                                        </p:attrNameLst>
                                      </p:cBhvr>
                                      <p:to>
                                        <p:strVal val="visible"/>
                                      </p:to>
                                    </p:set>
                                    <p:anim calcmode="lin" valueType="num">
                                      <p:cBhvr>
                                        <p:cTn id="18" dur="1000" fill="hold"/>
                                        <p:tgtEl>
                                          <p:spTgt spid="29704"/>
                                        </p:tgtEl>
                                        <p:attrNameLst>
                                          <p:attrName>ppt_w</p:attrName>
                                        </p:attrNameLst>
                                      </p:cBhvr>
                                      <p:tavLst>
                                        <p:tav tm="0">
                                          <p:val>
                                            <p:strVal val="#ppt_w*0.70"/>
                                          </p:val>
                                        </p:tav>
                                        <p:tav tm="100000">
                                          <p:val>
                                            <p:strVal val="#ppt_w"/>
                                          </p:val>
                                        </p:tav>
                                      </p:tavLst>
                                    </p:anim>
                                    <p:anim calcmode="lin" valueType="num">
                                      <p:cBhvr>
                                        <p:cTn id="19" dur="1000" fill="hold"/>
                                        <p:tgtEl>
                                          <p:spTgt spid="29704"/>
                                        </p:tgtEl>
                                        <p:attrNameLst>
                                          <p:attrName>ppt_h</p:attrName>
                                        </p:attrNameLst>
                                      </p:cBhvr>
                                      <p:tavLst>
                                        <p:tav tm="0">
                                          <p:val>
                                            <p:strVal val="#ppt_h"/>
                                          </p:val>
                                        </p:tav>
                                        <p:tav tm="100000">
                                          <p:val>
                                            <p:strVal val="#ppt_h"/>
                                          </p:val>
                                        </p:tav>
                                      </p:tavLst>
                                    </p:anim>
                                    <p:animEffect transition="in" filter="fade">
                                      <p:cBhvr>
                                        <p:cTn id="20" dur="1000"/>
                                        <p:tgtEl>
                                          <p:spTgt spid="297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29704" grpId="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3B586661-4F27-F1B9-AF0C-716A61753A70}"/>
            </a:ext>
          </a:extLst>
        </p:cNvPr>
        <p:cNvGrpSpPr/>
        <p:nvPr/>
      </p:nvGrpSpPr>
      <p:grpSpPr>
        <a:xfrm>
          <a:off x="0" y="0"/>
          <a:ext cx="0" cy="0"/>
          <a:chOff x="0" y="0"/>
          <a:chExt cx="0" cy="0"/>
        </a:xfrm>
      </p:grpSpPr>
      <p:sp>
        <p:nvSpPr>
          <p:cNvPr id="29700" name="Rectangle 2">
            <a:extLst>
              <a:ext uri="{FF2B5EF4-FFF2-40B4-BE49-F238E27FC236}">
                <a16:creationId xmlns:a16="http://schemas.microsoft.com/office/drawing/2014/main" id="{2500225E-956F-A8DF-CC81-C04ABBC98546}"/>
              </a:ext>
            </a:extLst>
          </p:cNvPr>
          <p:cNvSpPr>
            <a:spLocks noGrp="1" noChangeArrowheads="1"/>
          </p:cNvSpPr>
          <p:nvPr>
            <p:ph type="title"/>
          </p:nvPr>
        </p:nvSpPr>
        <p:spPr/>
        <p:txBody>
          <a:bodyPr/>
          <a:lstStyle/>
          <a:p>
            <a:pPr eaLnBrk="1" hangingPunct="1"/>
            <a:r>
              <a:rPr lang="en-US" altLang="en-US" dirty="0">
                <a:ea typeface="ＭＳ Ｐゴシック" pitchFamily="34" charset="-128"/>
              </a:rPr>
              <a:t>Estimation</a:t>
            </a:r>
          </a:p>
        </p:txBody>
      </p:sp>
      <p:sp>
        <p:nvSpPr>
          <p:cNvPr id="29699" name="Slide Number Placeholder 5">
            <a:extLst>
              <a:ext uri="{FF2B5EF4-FFF2-40B4-BE49-F238E27FC236}">
                <a16:creationId xmlns:a16="http://schemas.microsoft.com/office/drawing/2014/main" id="{BA58C01A-58CC-A5B6-FA39-5B53BB3B1EE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053910EC-68B8-4E03-B854-5B214D252B05}" type="slidenum">
              <a:rPr lang="en-US" altLang="en-US" sz="1200">
                <a:solidFill>
                  <a:schemeClr val="accent1"/>
                </a:solidFill>
              </a:rPr>
              <a:pPr>
                <a:lnSpc>
                  <a:spcPct val="80000"/>
                </a:lnSpc>
              </a:pPr>
              <a:t>5</a:t>
            </a:fld>
            <a:endParaRPr lang="en-US" altLang="en-US" sz="1200">
              <a:solidFill>
                <a:schemeClr val="accent1"/>
              </a:solidFill>
            </a:endParaRPr>
          </a:p>
        </p:txBody>
      </p:sp>
      <p:sp>
        <p:nvSpPr>
          <p:cNvPr id="6" name="TextBox 5">
            <a:extLst>
              <a:ext uri="{FF2B5EF4-FFF2-40B4-BE49-F238E27FC236}">
                <a16:creationId xmlns:a16="http://schemas.microsoft.com/office/drawing/2014/main" id="{C5954174-6235-0F00-7E4A-92C53D440F63}"/>
              </a:ext>
            </a:extLst>
          </p:cNvPr>
          <p:cNvSpPr txBox="1">
            <a:spLocks noChangeArrowheads="1"/>
          </p:cNvSpPr>
          <p:nvPr/>
        </p:nvSpPr>
        <p:spPr bwMode="auto">
          <a:xfrm>
            <a:off x="350044" y="1570816"/>
            <a:ext cx="8159750" cy="2246769"/>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37931725" indent="-3747452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6858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9144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1600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0574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defRPr/>
            </a:pPr>
            <a:r>
              <a:rPr lang="en-US" altLang="en-US" b="1" dirty="0">
                <a:solidFill>
                  <a:srgbClr val="800000"/>
                </a:solidFill>
              </a:rPr>
              <a:t>Estimation </a:t>
            </a:r>
            <a:r>
              <a:rPr lang="en-US" altLang="en-US" dirty="0">
                <a:solidFill>
                  <a:srgbClr val="000000"/>
                </a:solidFill>
              </a:rPr>
              <a:t>is the process of using sample data to estimate the (unknown) parameters. In plain language, estimation means making a “guess” about values of parameters. This guess is typically data-driven rather than arbitrary judgment.</a:t>
            </a:r>
          </a:p>
          <a:p>
            <a:pPr>
              <a:spcBef>
                <a:spcPct val="0"/>
              </a:spcBef>
              <a:buClrTx/>
              <a:buSzTx/>
              <a:buFontTx/>
              <a:buNone/>
              <a:defRPr/>
            </a:pPr>
            <a:endParaRPr lang="en-US" altLang="en-US" dirty="0">
              <a:solidFill>
                <a:srgbClr val="000000"/>
              </a:solidFill>
            </a:endParaRPr>
          </a:p>
          <a:p>
            <a:pPr>
              <a:spcBef>
                <a:spcPct val="0"/>
              </a:spcBef>
              <a:buClrTx/>
              <a:buSzTx/>
              <a:buFontTx/>
              <a:buNone/>
              <a:defRPr/>
            </a:pPr>
            <a:r>
              <a:rPr lang="en-US" altLang="en-US" dirty="0">
                <a:solidFill>
                  <a:srgbClr val="000000"/>
                </a:solidFill>
              </a:rPr>
              <a:t>An </a:t>
            </a:r>
            <a:r>
              <a:rPr lang="en-US" altLang="en-US" b="1" dirty="0">
                <a:solidFill>
                  <a:srgbClr val="800000"/>
                </a:solidFill>
              </a:rPr>
              <a:t>estimator</a:t>
            </a:r>
            <a:r>
              <a:rPr lang="en-US" altLang="en-US" dirty="0">
                <a:solidFill>
                  <a:srgbClr val="000000"/>
                </a:solidFill>
              </a:rPr>
              <a:t> is a statistic used to estimate (unknown) parameters. In plain language, an estimator is an “guess” for values of parameters.</a:t>
            </a:r>
            <a:endParaRPr lang="en-US" altLang="en-US" dirty="0">
              <a:solidFill>
                <a:srgbClr val="FF0000"/>
              </a:solidFill>
            </a:endParaRPr>
          </a:p>
        </p:txBody>
      </p:sp>
      <p:sp>
        <p:nvSpPr>
          <p:cNvPr id="29704" name="TextBox 7" descr="We write mew (the Greek letter mew) for the population mean and lower-case sigma for the population standard deviation. We write x-bar for the sample mean and s for the sample standard deviation.">
            <a:extLst>
              <a:ext uri="{FF2B5EF4-FFF2-40B4-BE49-F238E27FC236}">
                <a16:creationId xmlns:a16="http://schemas.microsoft.com/office/drawing/2014/main" id="{242B9D64-0385-9338-6B3C-6AF214E27468}"/>
              </a:ext>
            </a:extLst>
          </p:cNvPr>
          <p:cNvSpPr txBox="1">
            <a:spLocks noChangeArrowheads="1"/>
          </p:cNvSpPr>
          <p:nvPr/>
        </p:nvSpPr>
        <p:spPr bwMode="auto">
          <a:xfrm>
            <a:off x="547687" y="4589240"/>
            <a:ext cx="807085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dirty="0"/>
              <a:t>Estimation is an important part of statistical inference, but statistical inference encompasses more than estimation. Statistical inference also includes hypothesis testing (to be covered in the </a:t>
            </a:r>
            <a:r>
              <a:rPr lang="en-US"/>
              <a:t>remaining chapters).</a:t>
            </a:r>
            <a:endParaRPr lang="en-US" altLang="en-US" dirty="0">
              <a:solidFill>
                <a:srgbClr val="FF0000"/>
              </a:solidFill>
            </a:endParaRPr>
          </a:p>
        </p:txBody>
      </p:sp>
    </p:spTree>
    <p:extLst>
      <p:ext uri="{BB962C8B-B14F-4D97-AF65-F5344CB8AC3E}">
        <p14:creationId xmlns:p14="http://schemas.microsoft.com/office/powerpoint/2010/main" val="288027907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grpId="0" nodeType="clickEffect">
                                  <p:stCondLst>
                                    <p:cond delay="0"/>
                                  </p:stCondLst>
                                  <p:childTnLst>
                                    <p:set>
                                      <p:cBhvr>
                                        <p:cTn id="11" dur="1" fill="hold">
                                          <p:stCondLst>
                                            <p:cond delay="0"/>
                                          </p:stCondLst>
                                        </p:cTn>
                                        <p:tgtEl>
                                          <p:spTgt spid="29704"/>
                                        </p:tgtEl>
                                        <p:attrNameLst>
                                          <p:attrName>style.visibility</p:attrName>
                                        </p:attrNameLst>
                                      </p:cBhvr>
                                      <p:to>
                                        <p:strVal val="visible"/>
                                      </p:to>
                                    </p:set>
                                    <p:anim calcmode="lin" valueType="num">
                                      <p:cBhvr>
                                        <p:cTn id="12" dur="1000" fill="hold"/>
                                        <p:tgtEl>
                                          <p:spTgt spid="29704"/>
                                        </p:tgtEl>
                                        <p:attrNameLst>
                                          <p:attrName>ppt_w</p:attrName>
                                        </p:attrNameLst>
                                      </p:cBhvr>
                                      <p:tavLst>
                                        <p:tav tm="0">
                                          <p:val>
                                            <p:strVal val="#ppt_w*0.70"/>
                                          </p:val>
                                        </p:tav>
                                        <p:tav tm="100000">
                                          <p:val>
                                            <p:strVal val="#ppt_w"/>
                                          </p:val>
                                        </p:tav>
                                      </p:tavLst>
                                    </p:anim>
                                    <p:anim calcmode="lin" valueType="num">
                                      <p:cBhvr>
                                        <p:cTn id="13" dur="1000" fill="hold"/>
                                        <p:tgtEl>
                                          <p:spTgt spid="29704"/>
                                        </p:tgtEl>
                                        <p:attrNameLst>
                                          <p:attrName>ppt_h</p:attrName>
                                        </p:attrNameLst>
                                      </p:cBhvr>
                                      <p:tavLst>
                                        <p:tav tm="0">
                                          <p:val>
                                            <p:strVal val="#ppt_h"/>
                                          </p:val>
                                        </p:tav>
                                        <p:tav tm="100000">
                                          <p:val>
                                            <p:strVal val="#ppt_h"/>
                                          </p:val>
                                        </p:tav>
                                      </p:tavLst>
                                    </p:anim>
                                    <p:animEffect transition="in" filter="fade">
                                      <p:cBhvr>
                                        <p:cTn id="14" dur="1000"/>
                                        <p:tgtEl>
                                          <p:spTgt spid="297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9704" grpId="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p:txBody>
          <a:bodyPr/>
          <a:lstStyle/>
          <a:p>
            <a:pPr eaLnBrk="1" hangingPunct="1"/>
            <a:r>
              <a:rPr lang="en-US" altLang="en-US" dirty="0">
                <a:ea typeface="ＭＳ Ｐゴシック" pitchFamily="34" charset="-128"/>
              </a:rPr>
              <a:t>Statistical Inference </a:t>
            </a:r>
          </a:p>
        </p:txBody>
      </p:sp>
      <p:sp>
        <p:nvSpPr>
          <p:cNvPr id="3072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1AA8FEDF-4A83-457E-B534-E1A10A93B166}" type="slidenum">
              <a:rPr lang="en-US" altLang="en-US" sz="1200">
                <a:solidFill>
                  <a:schemeClr val="accent1"/>
                </a:solidFill>
              </a:rPr>
              <a:pPr>
                <a:lnSpc>
                  <a:spcPct val="80000"/>
                </a:lnSpc>
              </a:pPr>
              <a:t>6</a:t>
            </a:fld>
            <a:endParaRPr lang="en-US" altLang="en-US" sz="1200">
              <a:solidFill>
                <a:schemeClr val="accent1"/>
              </a:solidFill>
            </a:endParaRPr>
          </a:p>
        </p:txBody>
      </p:sp>
      <p:pic>
        <p:nvPicPr>
          <p:cNvPr id="2" name="Picture 1" descr="The animation shows a figure explaining the process of statistical inference. A sample is a part of the population from which the data is collected to make an inference or conclusions about the population. Different random samples yield different statistics." hidden="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15429" y="393700"/>
            <a:ext cx="638175" cy="276225"/>
          </a:xfrm>
          <a:prstGeom prst="rect">
            <a:avLst/>
          </a:prstGeom>
        </p:spPr>
      </p:pic>
      <p:pic>
        <p:nvPicPr>
          <p:cNvPr id="3" name="Picture 2" descr="To skip animation steps, move to the next slide." hidden="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84900" y="419101"/>
            <a:ext cx="638175" cy="276225"/>
          </a:xfrm>
          <a:prstGeom prst="rect">
            <a:avLst/>
          </a:prstGeom>
        </p:spPr>
      </p:pic>
      <p:sp>
        <p:nvSpPr>
          <p:cNvPr id="30724" name="Vertical Text Placeholder 2"/>
          <p:cNvSpPr txBox="1">
            <a:spLocks/>
          </p:cNvSpPr>
          <p:nvPr/>
        </p:nvSpPr>
        <p:spPr bwMode="auto">
          <a:xfrm>
            <a:off x="174625" y="995364"/>
            <a:ext cx="8588375" cy="2751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spcBef>
                <a:spcPts val="700"/>
              </a:spcBef>
              <a:buClr>
                <a:schemeClr val="accent2"/>
              </a:buClr>
              <a:buSzPct val="60000"/>
              <a:buFont typeface="Wingdings" pitchFamily="2" charset="2"/>
              <a:buNone/>
            </a:pPr>
            <a:r>
              <a:rPr lang="en-US" altLang="en-US" dirty="0">
                <a:solidFill>
                  <a:srgbClr val="000000"/>
                </a:solidFill>
              </a:rPr>
              <a:t>The process of </a:t>
            </a:r>
            <a:r>
              <a:rPr lang="en-US" altLang="en-US" b="1" dirty="0">
                <a:solidFill>
                  <a:srgbClr val="800000"/>
                </a:solidFill>
              </a:rPr>
              <a:t>statistical inference </a:t>
            </a:r>
            <a:r>
              <a:rPr lang="en-US" altLang="en-US" dirty="0">
                <a:solidFill>
                  <a:srgbClr val="000000"/>
                </a:solidFill>
              </a:rPr>
              <a:t>involves </a:t>
            </a:r>
            <a:r>
              <a:rPr lang="en-US" altLang="en-US" dirty="0">
                <a:solidFill>
                  <a:srgbClr val="FF0000"/>
                </a:solidFill>
              </a:rPr>
              <a:t>using a sample to draw conclusions about the population</a:t>
            </a:r>
            <a:r>
              <a:rPr lang="en-US" altLang="en-US" dirty="0">
                <a:solidFill>
                  <a:srgbClr val="000000"/>
                </a:solidFill>
              </a:rPr>
              <a:t>.</a:t>
            </a:r>
          </a:p>
          <a:p>
            <a:pPr eaLnBrk="1" hangingPunct="1">
              <a:spcBef>
                <a:spcPts val="700"/>
              </a:spcBef>
              <a:buClr>
                <a:schemeClr val="accent2"/>
              </a:buClr>
              <a:buSzPct val="60000"/>
              <a:buFont typeface="Wingdings" pitchFamily="2" charset="2"/>
              <a:buNone/>
            </a:pPr>
            <a:r>
              <a:rPr lang="en-US" altLang="en-US" i="1" dirty="0">
                <a:solidFill>
                  <a:srgbClr val="000000"/>
                </a:solidFill>
              </a:rPr>
              <a:t>Different random samples yield different values of statistics</a:t>
            </a:r>
            <a:r>
              <a:rPr lang="en-US" altLang="en-US" dirty="0">
                <a:solidFill>
                  <a:srgbClr val="000000"/>
                </a:solidFill>
              </a:rPr>
              <a:t>. We need to be able to describe the </a:t>
            </a:r>
            <a:r>
              <a:rPr lang="en-US" altLang="en-US" b="1" dirty="0">
                <a:solidFill>
                  <a:srgbClr val="800000"/>
                </a:solidFill>
              </a:rPr>
              <a:t>sampling distribution </a:t>
            </a:r>
            <a:r>
              <a:rPr lang="en-US" altLang="en-US" dirty="0">
                <a:solidFill>
                  <a:srgbClr val="000000"/>
                </a:solidFill>
              </a:rPr>
              <a:t>of a statistic in order to perform statistical inference.</a:t>
            </a:r>
          </a:p>
          <a:p>
            <a:pPr eaLnBrk="1" hangingPunct="1">
              <a:spcBef>
                <a:spcPts val="700"/>
              </a:spcBef>
              <a:buClr>
                <a:schemeClr val="accent2"/>
              </a:buClr>
              <a:buSzPct val="60000"/>
              <a:buFont typeface="Wingdings" pitchFamily="2" charset="2"/>
              <a:buNone/>
            </a:pPr>
            <a:r>
              <a:rPr lang="en-US" altLang="en-US" dirty="0">
                <a:solidFill>
                  <a:srgbClr val="FF0000"/>
                </a:solidFill>
              </a:rPr>
              <a:t>The sampling distribution of a statistic (e.g., mean) consists of all possible values of the statistic </a:t>
            </a:r>
            <a:r>
              <a:rPr lang="en-US" altLang="en-US" dirty="0">
                <a:solidFill>
                  <a:srgbClr val="000000"/>
                </a:solidFill>
              </a:rPr>
              <a:t>and the relative frequency with which each value occurs. </a:t>
            </a:r>
          </a:p>
        </p:txBody>
      </p:sp>
      <p:sp>
        <p:nvSpPr>
          <p:cNvPr id="10" name="Rounded Rectangle 9"/>
          <p:cNvSpPr>
            <a:spLocks noChangeArrowheads="1"/>
          </p:cNvSpPr>
          <p:nvPr/>
        </p:nvSpPr>
        <p:spPr bwMode="auto">
          <a:xfrm>
            <a:off x="414338" y="4246563"/>
            <a:ext cx="3154362" cy="1719262"/>
          </a:xfrm>
          <a:prstGeom prst="roundRect">
            <a:avLst>
              <a:gd name="adj" fmla="val 16667"/>
            </a:avLst>
          </a:prstGeom>
          <a:solidFill>
            <a:schemeClr val="accent1"/>
          </a:solidFill>
          <a:ln w="10000">
            <a:solidFill>
              <a:schemeClr val="accent1"/>
            </a:solidFill>
            <a:round/>
            <a:headEnd/>
            <a:tailEnd/>
          </a:ln>
          <a:effectLst>
            <a:outerShdw blurRad="38100" dist="30000" dir="5400000" rotWithShape="0">
              <a:srgbClr val="808080">
                <a:alpha val="45000"/>
              </a:srgbClr>
            </a:outerShdw>
          </a:effectLst>
        </p:spPr>
        <p:txBody>
          <a:bodyPr/>
          <a:lstStyle/>
          <a:p>
            <a:pPr eaLnBrk="1" fontAlgn="auto" hangingPunct="1">
              <a:spcBef>
                <a:spcPts val="0"/>
              </a:spcBef>
              <a:spcAft>
                <a:spcPts val="0"/>
              </a:spcAft>
              <a:defRPr/>
            </a:pPr>
            <a:r>
              <a:rPr lang="en-US" sz="2000" b="1" dirty="0">
                <a:solidFill>
                  <a:schemeClr val="lt1"/>
                </a:solidFill>
                <a:latin typeface="+mn-lt"/>
                <a:ea typeface="+mn-ea"/>
                <a:cs typeface="Arial"/>
              </a:rPr>
              <a:t>Population</a:t>
            </a:r>
          </a:p>
        </p:txBody>
      </p:sp>
      <p:sp>
        <p:nvSpPr>
          <p:cNvPr id="11" name="Oval 10"/>
          <p:cNvSpPr>
            <a:spLocks noChangeArrowheads="1"/>
          </p:cNvSpPr>
          <p:nvPr/>
        </p:nvSpPr>
        <p:spPr bwMode="auto">
          <a:xfrm>
            <a:off x="1460500" y="4686300"/>
            <a:ext cx="2108200" cy="850900"/>
          </a:xfrm>
          <a:prstGeom prst="ellipse">
            <a:avLst/>
          </a:prstGeom>
          <a:solidFill>
            <a:srgbClr val="D2DA7A"/>
          </a:solidFill>
          <a:ln w="10000">
            <a:solidFill>
              <a:srgbClr val="D2DA7A"/>
            </a:solidFill>
            <a:round/>
            <a:headEnd/>
            <a:tailEnd/>
          </a:ln>
          <a:effectLst>
            <a:outerShdw blurRad="38100" dist="30000" dir="5400000" rotWithShape="0">
              <a:srgbClr val="808080">
                <a:alpha val="45000"/>
              </a:srgbClr>
            </a:outerShdw>
          </a:effectLst>
        </p:spPr>
        <p:txBody>
          <a:bodyPr/>
          <a:lstStyle/>
          <a:p>
            <a:pPr algn="ctr" eaLnBrk="1" fontAlgn="auto" hangingPunct="1">
              <a:spcBef>
                <a:spcPts val="0"/>
              </a:spcBef>
              <a:spcAft>
                <a:spcPts val="0"/>
              </a:spcAft>
              <a:defRPr/>
            </a:pPr>
            <a:r>
              <a:rPr lang="en-US" sz="2000" b="1" dirty="0">
                <a:latin typeface="+mn-lt"/>
                <a:ea typeface="+mn-ea"/>
                <a:cs typeface="Arial"/>
              </a:rPr>
              <a:t>Sample</a:t>
            </a:r>
          </a:p>
        </p:txBody>
      </p:sp>
      <p:sp>
        <p:nvSpPr>
          <p:cNvPr id="12" name="Curved Down Arrow 11" descr="already described"/>
          <p:cNvSpPr>
            <a:spLocks noChangeArrowheads="1"/>
          </p:cNvSpPr>
          <p:nvPr/>
        </p:nvSpPr>
        <p:spPr bwMode="auto">
          <a:xfrm rot="-214438">
            <a:off x="3155950" y="4032250"/>
            <a:ext cx="2573338" cy="860425"/>
          </a:xfrm>
          <a:prstGeom prst="curvedDownArrow">
            <a:avLst>
              <a:gd name="adj1" fmla="val 24992"/>
              <a:gd name="adj2" fmla="val 49999"/>
              <a:gd name="adj3" fmla="val 25000"/>
            </a:avLst>
          </a:prstGeom>
          <a:solidFill>
            <a:srgbClr val="FADA7A"/>
          </a:solidFill>
          <a:ln w="10000">
            <a:solidFill>
              <a:srgbClr val="FADA7A"/>
            </a:solidFill>
            <a:miter lim="800000"/>
            <a:headEnd/>
            <a:tailEnd/>
          </a:ln>
          <a:effectLst>
            <a:outerShdw blurRad="38100" dist="30000" dir="5400000" rotWithShape="0">
              <a:srgbClr val="808080">
                <a:alpha val="45000"/>
              </a:srgbClr>
            </a:outerShdw>
          </a:effectLst>
        </p:spPr>
        <p:txBody>
          <a:bodyPr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defRPr/>
            </a:pPr>
            <a:endParaRPr lang="en-US" altLang="en-US">
              <a:cs typeface="Arial" panose="020B0604020202020204" pitchFamily="34" charset="0"/>
            </a:endParaRPr>
          </a:p>
        </p:txBody>
      </p:sp>
      <p:sp>
        <p:nvSpPr>
          <p:cNvPr id="13" name="TextBox 12"/>
          <p:cNvSpPr txBox="1">
            <a:spLocks noChangeArrowheads="1"/>
          </p:cNvSpPr>
          <p:nvPr/>
        </p:nvSpPr>
        <p:spPr bwMode="auto">
          <a:xfrm>
            <a:off x="4641850" y="4794250"/>
            <a:ext cx="30861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b="1">
                <a:solidFill>
                  <a:schemeClr val="tx1"/>
                </a:solidFill>
              </a:rPr>
              <a:t>Collect data </a:t>
            </a:r>
            <a:r>
              <a:rPr lang="en-US" altLang="en-US">
                <a:solidFill>
                  <a:schemeClr val="tx1"/>
                </a:solidFill>
              </a:rPr>
              <a:t>from a representative </a:t>
            </a:r>
            <a:r>
              <a:rPr lang="en-US" altLang="en-US" b="1">
                <a:solidFill>
                  <a:schemeClr val="tx1"/>
                </a:solidFill>
              </a:rPr>
              <a:t>Sample</a:t>
            </a:r>
            <a:r>
              <a:rPr lang="en-US" altLang="en-US">
                <a:solidFill>
                  <a:schemeClr val="tx1"/>
                </a:solidFill>
              </a:rPr>
              <a:t>...</a:t>
            </a:r>
          </a:p>
        </p:txBody>
      </p:sp>
      <p:sp>
        <p:nvSpPr>
          <p:cNvPr id="14" name="TextBox 13"/>
          <p:cNvSpPr txBox="1">
            <a:spLocks noChangeArrowheads="1"/>
          </p:cNvSpPr>
          <p:nvPr/>
        </p:nvSpPr>
        <p:spPr bwMode="auto">
          <a:xfrm>
            <a:off x="4222750" y="5965825"/>
            <a:ext cx="292576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a:solidFill>
                  <a:schemeClr val="tx1"/>
                </a:solidFill>
              </a:rPr>
              <a:t>Make an </a:t>
            </a:r>
            <a:r>
              <a:rPr lang="en-US" altLang="en-US" b="1">
                <a:solidFill>
                  <a:schemeClr val="tx1"/>
                </a:solidFill>
              </a:rPr>
              <a:t>inference </a:t>
            </a:r>
            <a:r>
              <a:rPr lang="en-US" altLang="en-US">
                <a:solidFill>
                  <a:schemeClr val="tx1"/>
                </a:solidFill>
              </a:rPr>
              <a:t>about the </a:t>
            </a:r>
            <a:r>
              <a:rPr lang="en-US" altLang="en-US" b="1">
                <a:solidFill>
                  <a:schemeClr val="tx1"/>
                </a:solidFill>
              </a:rPr>
              <a:t>Population.</a:t>
            </a:r>
          </a:p>
        </p:txBody>
      </p:sp>
      <p:sp>
        <p:nvSpPr>
          <p:cNvPr id="15" name="Curved Down Arrow 14" descr="already described"/>
          <p:cNvSpPr>
            <a:spLocks noChangeArrowheads="1"/>
          </p:cNvSpPr>
          <p:nvPr/>
        </p:nvSpPr>
        <p:spPr bwMode="auto">
          <a:xfrm rot="6610493">
            <a:off x="6850857" y="5476081"/>
            <a:ext cx="1714500" cy="858837"/>
          </a:xfrm>
          <a:prstGeom prst="curvedDownArrow">
            <a:avLst>
              <a:gd name="adj1" fmla="val 24991"/>
              <a:gd name="adj2" fmla="val 50000"/>
              <a:gd name="adj3" fmla="val 25000"/>
            </a:avLst>
          </a:prstGeom>
          <a:solidFill>
            <a:srgbClr val="FADA7A"/>
          </a:solidFill>
          <a:ln w="10000">
            <a:solidFill>
              <a:srgbClr val="FADA7A"/>
            </a:solidFill>
            <a:miter lim="800000"/>
            <a:headEnd/>
            <a:tailEnd/>
          </a:ln>
          <a:effectLst>
            <a:outerShdw blurRad="38100" dist="30000" dir="5400000" rotWithShape="0">
              <a:srgbClr val="808080">
                <a:alpha val="45000"/>
              </a:srgbClr>
            </a:outerShdw>
          </a:effectLst>
        </p:spPr>
        <p:txBody>
          <a:bodyPr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defRPr/>
            </a:pPr>
            <a:endParaRPr lang="en-US" altLang="en-US">
              <a:cs typeface="Arial" panose="020B0604020202020204" pitchFamily="34" charset="0"/>
            </a:endParaRPr>
          </a:p>
        </p:txBody>
      </p:sp>
      <p:sp>
        <p:nvSpPr>
          <p:cNvPr id="16" name="Curved Down Arrow 15" descr="already described"/>
          <p:cNvSpPr>
            <a:spLocks noChangeArrowheads="1"/>
          </p:cNvSpPr>
          <p:nvPr/>
        </p:nvSpPr>
        <p:spPr bwMode="auto">
          <a:xfrm rot="-9338745">
            <a:off x="725488" y="5670550"/>
            <a:ext cx="3365500" cy="690563"/>
          </a:xfrm>
          <a:prstGeom prst="curvedDownArrow">
            <a:avLst>
              <a:gd name="adj1" fmla="val 25000"/>
              <a:gd name="adj2" fmla="val 49999"/>
              <a:gd name="adj3" fmla="val 25000"/>
            </a:avLst>
          </a:prstGeom>
          <a:solidFill>
            <a:srgbClr val="FADA7A"/>
          </a:solidFill>
          <a:ln w="10000">
            <a:solidFill>
              <a:srgbClr val="FADA7A"/>
            </a:solidFill>
            <a:miter lim="800000"/>
            <a:headEnd/>
            <a:tailEnd/>
          </a:ln>
          <a:effectLst>
            <a:outerShdw blurRad="38100" dist="30000" dir="5400000" rotWithShape="0">
              <a:srgbClr val="808080">
                <a:alpha val="45000"/>
              </a:srgbClr>
            </a:outerShdw>
          </a:effectLst>
        </p:spPr>
        <p:txBody>
          <a:bodyPr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defRPr/>
            </a:pPr>
            <a:endParaRPr lang="en-US" altLang="en-US">
              <a:cs typeface="Arial" panose="020B0604020202020204" pitchFamily="34" charset="0"/>
            </a:endParaRPr>
          </a:p>
        </p:txBody>
      </p:sp>
    </p:spTree>
    <p:extLst>
      <p:ext uri="{BB962C8B-B14F-4D97-AF65-F5344CB8AC3E}">
        <p14:creationId xmlns:p14="http://schemas.microsoft.com/office/powerpoint/2010/main" val="417412614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childTnLst>
                                </p:cTn>
                              </p:par>
                            </p:childTnLst>
                          </p:cTn>
                        </p:par>
                        <p:par>
                          <p:cTn id="8" fill="hold" nodeType="afterGroup">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2000"/>
                                        <p:tgtEl>
                                          <p:spTgt spid="13"/>
                                        </p:tgtEl>
                                      </p:cBhvr>
                                    </p:animEffect>
                                  </p:childTnLst>
                                </p:cTn>
                              </p:par>
                              <p:par>
                                <p:cTn id="12" presetID="10" presetClass="entr" presetSubtype="0" fill="hold" nodeType="with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1000"/>
                                        <p:tgtEl>
                                          <p:spTgt spid="12"/>
                                        </p:tgtEl>
                                      </p:cBhvr>
                                    </p:animEffect>
                                  </p:childTnLst>
                                </p:cTn>
                              </p:par>
                            </p:childTnLst>
                          </p:cTn>
                        </p:par>
                        <p:par>
                          <p:cTn id="15" fill="hold" nodeType="afterGroup">
                            <p:stCondLst>
                              <p:cond delay="3000"/>
                            </p:stCondLst>
                            <p:childTnLst>
                              <p:par>
                                <p:cTn id="16" presetID="10" presetClass="entr" presetSubtype="0" fill="hold" nodeType="after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1000"/>
                                        <p:tgtEl>
                                          <p:spTgt spid="15"/>
                                        </p:tgtEl>
                                      </p:cBhvr>
                                    </p:animEffect>
                                  </p:childTnLst>
                                </p:cTn>
                              </p:par>
                            </p:childTnLst>
                          </p:cTn>
                        </p:par>
                        <p:par>
                          <p:cTn id="19" fill="hold" nodeType="afterGroup">
                            <p:stCondLst>
                              <p:cond delay="4000"/>
                            </p:stCondLst>
                            <p:childTnLst>
                              <p:par>
                                <p:cTn id="20" presetID="10" presetClass="entr" presetSubtype="0" fill="hold" nodeType="after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1000"/>
                                        <p:tgtEl>
                                          <p:spTgt spid="1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p:txBody>
          <a:bodyPr/>
          <a:lstStyle/>
          <a:p>
            <a:pPr eaLnBrk="1" hangingPunct="1"/>
            <a:r>
              <a:rPr lang="en-US" altLang="en-US">
                <a:ea typeface="ＭＳ Ｐゴシック" pitchFamily="34" charset="-128"/>
              </a:rPr>
              <a:t>Sampling Variability</a:t>
            </a:r>
          </a:p>
        </p:txBody>
      </p:sp>
      <p:sp>
        <p:nvSpPr>
          <p:cNvPr id="3174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EF2AA87A-BD1D-4F7D-83E1-86E7B00BA3EA}" type="slidenum">
              <a:rPr lang="en-US" altLang="en-US" sz="1200">
                <a:solidFill>
                  <a:schemeClr val="accent1"/>
                </a:solidFill>
              </a:rPr>
              <a:pPr>
                <a:lnSpc>
                  <a:spcPct val="80000"/>
                </a:lnSpc>
              </a:pPr>
              <a:t>7</a:t>
            </a:fld>
            <a:endParaRPr lang="en-US" altLang="en-US" sz="1200">
              <a:solidFill>
                <a:schemeClr val="accent1"/>
              </a:solidFill>
            </a:endParaRPr>
          </a:p>
        </p:txBody>
      </p:sp>
      <p:pic>
        <p:nvPicPr>
          <p:cNvPr id="3" name="Picture 2" descr="The animation in the slide shows the rectangle colored box which depicts the wider population and in it there are many oval shapes which depict sample. The process of estimating mean with different samples is called sampling variability. The value of a statistic varies in repeated random sampling." hidden="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81563" y="334168"/>
            <a:ext cx="638175" cy="276225"/>
          </a:xfrm>
          <a:prstGeom prst="rect">
            <a:avLst/>
          </a:prstGeom>
        </p:spPr>
      </p:pic>
      <p:pic>
        <p:nvPicPr>
          <p:cNvPr id="4" name="Picture 3" descr="To skip animation steps, move to the next slide." hidden="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07893" y="334167"/>
            <a:ext cx="638175" cy="276225"/>
          </a:xfrm>
          <a:prstGeom prst="rect">
            <a:avLst/>
          </a:prstGeom>
        </p:spPr>
      </p:pic>
      <p:sp>
        <p:nvSpPr>
          <p:cNvPr id="31748" name="Vertical Text Placeholder 2"/>
          <p:cNvSpPr txBox="1">
            <a:spLocks/>
          </p:cNvSpPr>
          <p:nvPr/>
        </p:nvSpPr>
        <p:spPr bwMode="auto">
          <a:xfrm>
            <a:off x="174625" y="1208018"/>
            <a:ext cx="8588375"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spcBef>
                <a:spcPts val="700"/>
              </a:spcBef>
              <a:buClr>
                <a:schemeClr val="accent2"/>
              </a:buClr>
              <a:buSzPct val="60000"/>
              <a:buFont typeface="Wingdings" pitchFamily="2" charset="2"/>
              <a:buNone/>
            </a:pPr>
            <a:r>
              <a:rPr lang="en-US" altLang="en-US" b="1" dirty="0">
                <a:solidFill>
                  <a:srgbClr val="800000"/>
                </a:solidFill>
              </a:rPr>
              <a:t>Sampling variability</a:t>
            </a:r>
            <a:r>
              <a:rPr lang="en-US" altLang="en-US" b="1" dirty="0">
                <a:solidFill>
                  <a:srgbClr val="000000"/>
                </a:solidFill>
              </a:rPr>
              <a:t> </a:t>
            </a:r>
            <a:r>
              <a:rPr lang="en-US" altLang="en-US" dirty="0">
                <a:solidFill>
                  <a:srgbClr val="000000"/>
                </a:solidFill>
              </a:rPr>
              <a:t>is a term used for the fact that the value of a statistic varies in </a:t>
            </a:r>
            <a:r>
              <a:rPr lang="en-US" altLang="en-US" dirty="0">
                <a:solidFill>
                  <a:srgbClr val="FF0000"/>
                </a:solidFill>
              </a:rPr>
              <a:t>repeated random </a:t>
            </a:r>
            <a:r>
              <a:rPr lang="en-US" altLang="en-US" dirty="0">
                <a:solidFill>
                  <a:srgbClr val="000000"/>
                </a:solidFill>
              </a:rPr>
              <a:t>sampling.</a:t>
            </a:r>
          </a:p>
          <a:p>
            <a:pPr eaLnBrk="1" hangingPunct="1">
              <a:spcBef>
                <a:spcPts val="700"/>
              </a:spcBef>
              <a:buClr>
                <a:schemeClr val="accent2"/>
              </a:buClr>
              <a:buSzPct val="60000"/>
              <a:buFont typeface="Wingdings" pitchFamily="2" charset="2"/>
              <a:buNone/>
            </a:pPr>
            <a:r>
              <a:rPr lang="en-US" altLang="en-US" dirty="0">
                <a:solidFill>
                  <a:srgbClr val="000000"/>
                </a:solidFill>
              </a:rPr>
              <a:t>To make sense of sampling variability, we ask, </a:t>
            </a:r>
            <a:r>
              <a:rPr lang="ja-JP" altLang="en-US" dirty="0">
                <a:solidFill>
                  <a:srgbClr val="000000"/>
                </a:solidFill>
              </a:rPr>
              <a:t>“</a:t>
            </a:r>
            <a:r>
              <a:rPr lang="en-US" altLang="ja-JP" dirty="0">
                <a:solidFill>
                  <a:srgbClr val="000000"/>
                </a:solidFill>
              </a:rPr>
              <a:t>What would happen if we took many samples?</a:t>
            </a:r>
            <a:r>
              <a:rPr lang="ja-JP" altLang="en-US" dirty="0">
                <a:solidFill>
                  <a:srgbClr val="000000"/>
                </a:solidFill>
              </a:rPr>
              <a:t>”</a:t>
            </a:r>
            <a:endParaRPr lang="en-US" altLang="en-US" dirty="0">
              <a:solidFill>
                <a:srgbClr val="000000"/>
              </a:solidFill>
            </a:endParaRPr>
          </a:p>
        </p:txBody>
      </p:sp>
      <p:grpSp>
        <p:nvGrpSpPr>
          <p:cNvPr id="2" name="Group 1" descr="already described"/>
          <p:cNvGrpSpPr/>
          <p:nvPr/>
        </p:nvGrpSpPr>
        <p:grpSpPr>
          <a:xfrm>
            <a:off x="979826" y="2441375"/>
            <a:ext cx="6981825" cy="3204411"/>
            <a:chOff x="1014413" y="2942669"/>
            <a:chExt cx="6981825" cy="3204411"/>
          </a:xfrm>
        </p:grpSpPr>
        <p:sp>
          <p:nvSpPr>
            <p:cNvPr id="8" name="Rounded Rectangle 7" descr="The image shows a rectangle figure which depicts the population and it has so many oval figures that depict samples. It depicts sampling variability, and discusses what will happen if so many samples are taken from the wider population."/>
            <p:cNvSpPr>
              <a:spLocks noChangeArrowheads="1"/>
            </p:cNvSpPr>
            <p:nvPr/>
          </p:nvSpPr>
          <p:spPr bwMode="auto">
            <a:xfrm>
              <a:off x="1014413" y="3100388"/>
              <a:ext cx="4076700" cy="2687637"/>
            </a:xfrm>
            <a:prstGeom prst="roundRect">
              <a:avLst>
                <a:gd name="adj" fmla="val 16667"/>
              </a:avLst>
            </a:prstGeom>
            <a:solidFill>
              <a:srgbClr val="D2DA7A"/>
            </a:solidFill>
            <a:ln w="47625" cmpd="dbl">
              <a:solidFill>
                <a:schemeClr val="bg1"/>
              </a:solidFill>
              <a:round/>
              <a:headEnd/>
              <a:tailEnd/>
            </a:ln>
            <a:effectLst>
              <a:outerShdw blurRad="38100" dist="30000" dir="5400000" rotWithShape="0">
                <a:srgbClr val="808080">
                  <a:alpha val="45000"/>
                </a:srgbClr>
              </a:outerShdw>
            </a:effectLst>
          </p:spPr>
          <p:txBody>
            <a:bodyPr/>
            <a:lstStyle/>
            <a:p>
              <a:pPr eaLnBrk="1" fontAlgn="auto" hangingPunct="1">
                <a:spcBef>
                  <a:spcPts val="0"/>
                </a:spcBef>
                <a:spcAft>
                  <a:spcPts val="0"/>
                </a:spcAft>
                <a:defRPr/>
              </a:pPr>
              <a:r>
                <a:rPr lang="en-US" sz="2000" b="1" dirty="0">
                  <a:latin typeface="Arial"/>
                  <a:ea typeface="+mn-ea"/>
                  <a:cs typeface="Arial"/>
                </a:rPr>
                <a:t>Population</a:t>
              </a:r>
            </a:p>
          </p:txBody>
        </p:sp>
        <p:sp>
          <p:nvSpPr>
            <p:cNvPr id="9" name="Oval 8"/>
            <p:cNvSpPr>
              <a:spLocks noChangeArrowheads="1"/>
            </p:cNvSpPr>
            <p:nvPr/>
          </p:nvSpPr>
          <p:spPr bwMode="auto">
            <a:xfrm>
              <a:off x="2546350" y="3763963"/>
              <a:ext cx="1455738" cy="576262"/>
            </a:xfrm>
            <a:prstGeom prst="ellipse">
              <a:avLst/>
            </a:prstGeom>
            <a:solidFill>
              <a:schemeClr val="accent5">
                <a:lumMod val="75000"/>
              </a:schemeClr>
            </a:solidFill>
            <a:ln w="10000">
              <a:solidFill>
                <a:schemeClr val="accent5"/>
              </a:solidFill>
              <a:round/>
              <a:headEnd/>
              <a:tailEnd/>
            </a:ln>
            <a:effectLst>
              <a:outerShdw blurRad="38100" dist="30000" dir="5400000" rotWithShape="0">
                <a:srgbClr val="808080">
                  <a:alpha val="45000"/>
                </a:srgbClr>
              </a:outerShdw>
            </a:effec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37931725" indent="-3747452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6858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9144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1600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0574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ctr" eaLnBrk="1" hangingPunct="1">
                <a:spcBef>
                  <a:spcPct val="0"/>
                </a:spcBef>
                <a:buClrTx/>
                <a:buSzTx/>
                <a:buFontTx/>
                <a:buNone/>
                <a:defRPr/>
              </a:pPr>
              <a:r>
                <a:rPr lang="en-US" altLang="en-US" sz="1600" b="1" dirty="0">
                  <a:solidFill>
                    <a:srgbClr val="FFFFFF"/>
                  </a:solidFill>
                  <a:cs typeface="Arial" panose="020B0604020202020204" pitchFamily="34" charset="0"/>
                </a:rPr>
                <a:t>Sample</a:t>
              </a:r>
              <a:endParaRPr lang="en-US" altLang="en-US" b="1" dirty="0">
                <a:solidFill>
                  <a:srgbClr val="FFFFFF"/>
                </a:solidFill>
                <a:cs typeface="Arial" panose="020B0604020202020204" pitchFamily="34" charset="0"/>
              </a:endParaRPr>
            </a:p>
          </p:txBody>
        </p:sp>
        <p:sp>
          <p:nvSpPr>
            <p:cNvPr id="10" name="Oval 9"/>
            <p:cNvSpPr>
              <a:spLocks noChangeArrowheads="1"/>
            </p:cNvSpPr>
            <p:nvPr/>
          </p:nvSpPr>
          <p:spPr bwMode="auto">
            <a:xfrm>
              <a:off x="3514725" y="4052888"/>
              <a:ext cx="1455738" cy="576262"/>
            </a:xfrm>
            <a:prstGeom prst="ellipse">
              <a:avLst/>
            </a:prstGeom>
            <a:solidFill>
              <a:schemeClr val="accent5">
                <a:lumMod val="75000"/>
              </a:schemeClr>
            </a:solidFill>
            <a:ln w="10000">
              <a:solidFill>
                <a:schemeClr val="accent5"/>
              </a:solidFill>
              <a:round/>
              <a:headEnd/>
              <a:tailEnd/>
            </a:ln>
            <a:effectLst>
              <a:outerShdw blurRad="38100" dist="30000" dir="5400000" rotWithShape="0">
                <a:srgbClr val="808080">
                  <a:alpha val="45000"/>
                </a:srgbClr>
              </a:outerShdw>
            </a:effec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37931725" indent="-3747452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6858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9144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1600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0574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ctr" eaLnBrk="1" hangingPunct="1">
                <a:spcBef>
                  <a:spcPct val="0"/>
                </a:spcBef>
                <a:buClrTx/>
                <a:buSzTx/>
                <a:buFontTx/>
                <a:buNone/>
                <a:defRPr/>
              </a:pPr>
              <a:r>
                <a:rPr lang="en-US" altLang="en-US" sz="1600" b="1">
                  <a:solidFill>
                    <a:srgbClr val="FFFFFF"/>
                  </a:solidFill>
                  <a:cs typeface="Arial" panose="020B0604020202020204" pitchFamily="34" charset="0"/>
                </a:rPr>
                <a:t>Sample</a:t>
              </a:r>
              <a:endParaRPr lang="en-US" altLang="en-US" b="1">
                <a:solidFill>
                  <a:srgbClr val="FFFFFF"/>
                </a:solidFill>
                <a:cs typeface="Arial" panose="020B0604020202020204" pitchFamily="34" charset="0"/>
              </a:endParaRPr>
            </a:p>
          </p:txBody>
        </p:sp>
        <p:sp>
          <p:nvSpPr>
            <p:cNvPr id="11" name="Oval 10"/>
            <p:cNvSpPr>
              <a:spLocks noChangeArrowheads="1"/>
            </p:cNvSpPr>
            <p:nvPr/>
          </p:nvSpPr>
          <p:spPr bwMode="auto">
            <a:xfrm>
              <a:off x="3427413" y="5041900"/>
              <a:ext cx="1454150" cy="576263"/>
            </a:xfrm>
            <a:prstGeom prst="ellipse">
              <a:avLst/>
            </a:prstGeom>
            <a:solidFill>
              <a:schemeClr val="accent5">
                <a:lumMod val="75000"/>
              </a:schemeClr>
            </a:solidFill>
            <a:ln w="10000">
              <a:solidFill>
                <a:schemeClr val="accent5"/>
              </a:solidFill>
              <a:round/>
              <a:headEnd/>
              <a:tailEnd/>
            </a:ln>
            <a:effectLst>
              <a:outerShdw blurRad="38100" dist="30000" dir="5400000" rotWithShape="0">
                <a:srgbClr val="808080">
                  <a:alpha val="45000"/>
                </a:srgbClr>
              </a:outerShdw>
            </a:effec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37931725" indent="-3747452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6858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9144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1600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0574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ctr" eaLnBrk="1" hangingPunct="1">
                <a:spcBef>
                  <a:spcPct val="0"/>
                </a:spcBef>
                <a:buClrTx/>
                <a:buSzTx/>
                <a:buFontTx/>
                <a:buNone/>
                <a:defRPr/>
              </a:pPr>
              <a:r>
                <a:rPr lang="en-US" altLang="en-US" sz="1600" b="1" dirty="0">
                  <a:solidFill>
                    <a:srgbClr val="FFFFFF"/>
                  </a:solidFill>
                  <a:cs typeface="Arial" panose="020B0604020202020204" pitchFamily="34" charset="0"/>
                </a:rPr>
                <a:t>Sample</a:t>
              </a:r>
              <a:endParaRPr lang="en-US" altLang="en-US" b="1" dirty="0">
                <a:solidFill>
                  <a:srgbClr val="FFFFFF"/>
                </a:solidFill>
                <a:cs typeface="Arial" panose="020B0604020202020204" pitchFamily="34" charset="0"/>
              </a:endParaRPr>
            </a:p>
          </p:txBody>
        </p:sp>
        <p:sp>
          <p:nvSpPr>
            <p:cNvPr id="12" name="Oval 11"/>
            <p:cNvSpPr>
              <a:spLocks noChangeArrowheads="1"/>
            </p:cNvSpPr>
            <p:nvPr/>
          </p:nvSpPr>
          <p:spPr bwMode="auto">
            <a:xfrm>
              <a:off x="3427413" y="3259138"/>
              <a:ext cx="1454150" cy="577850"/>
            </a:xfrm>
            <a:prstGeom prst="ellipse">
              <a:avLst/>
            </a:prstGeom>
            <a:solidFill>
              <a:schemeClr val="accent5">
                <a:lumMod val="75000"/>
              </a:schemeClr>
            </a:solidFill>
            <a:ln w="10000">
              <a:solidFill>
                <a:schemeClr val="accent5"/>
              </a:solidFill>
              <a:round/>
              <a:headEnd/>
              <a:tailEnd/>
            </a:ln>
            <a:effectLst>
              <a:outerShdw blurRad="38100" dist="30000" dir="5400000" rotWithShape="0">
                <a:srgbClr val="808080">
                  <a:alpha val="45000"/>
                </a:srgbClr>
              </a:outerShdw>
            </a:effec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37931725" indent="-3747452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6858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9144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1600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0574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ctr" eaLnBrk="1" hangingPunct="1">
                <a:spcBef>
                  <a:spcPct val="0"/>
                </a:spcBef>
                <a:buClrTx/>
                <a:buSzTx/>
                <a:buFontTx/>
                <a:buNone/>
                <a:defRPr/>
              </a:pPr>
              <a:r>
                <a:rPr lang="en-US" altLang="en-US" sz="1600" b="1" dirty="0">
                  <a:solidFill>
                    <a:srgbClr val="FFFFFF"/>
                  </a:solidFill>
                  <a:cs typeface="Arial" panose="020B0604020202020204" pitchFamily="34" charset="0"/>
                </a:rPr>
                <a:t>Sample</a:t>
              </a:r>
              <a:endParaRPr lang="en-US" altLang="en-US" b="1" dirty="0">
                <a:solidFill>
                  <a:srgbClr val="FFFFFF"/>
                </a:solidFill>
                <a:cs typeface="Arial" panose="020B0604020202020204" pitchFamily="34" charset="0"/>
              </a:endParaRPr>
            </a:p>
          </p:txBody>
        </p:sp>
        <p:sp>
          <p:nvSpPr>
            <p:cNvPr id="13" name="Oval 12"/>
            <p:cNvSpPr>
              <a:spLocks noChangeArrowheads="1"/>
            </p:cNvSpPr>
            <p:nvPr/>
          </p:nvSpPr>
          <p:spPr bwMode="auto">
            <a:xfrm>
              <a:off x="2744788" y="4537075"/>
              <a:ext cx="1455737" cy="576263"/>
            </a:xfrm>
            <a:prstGeom prst="ellipse">
              <a:avLst/>
            </a:prstGeom>
            <a:solidFill>
              <a:schemeClr val="accent5">
                <a:lumMod val="75000"/>
              </a:schemeClr>
            </a:solidFill>
            <a:ln w="10000">
              <a:solidFill>
                <a:schemeClr val="accent5"/>
              </a:solidFill>
              <a:round/>
              <a:headEnd/>
              <a:tailEnd/>
            </a:ln>
            <a:effectLst>
              <a:outerShdw blurRad="38100" dist="30000" dir="5400000" rotWithShape="0">
                <a:srgbClr val="808080">
                  <a:alpha val="45000"/>
                </a:srgbClr>
              </a:outerShdw>
            </a:effec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37931725" indent="-3747452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6858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9144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1600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0574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ctr" eaLnBrk="1" hangingPunct="1">
                <a:spcBef>
                  <a:spcPct val="0"/>
                </a:spcBef>
                <a:buClrTx/>
                <a:buSzTx/>
                <a:buFontTx/>
                <a:buNone/>
                <a:defRPr/>
              </a:pPr>
              <a:r>
                <a:rPr lang="en-US" altLang="en-US" sz="1600" b="1" dirty="0">
                  <a:solidFill>
                    <a:srgbClr val="FFFFFF"/>
                  </a:solidFill>
                  <a:cs typeface="Arial" panose="020B0604020202020204" pitchFamily="34" charset="0"/>
                </a:rPr>
                <a:t>Sample</a:t>
              </a:r>
              <a:endParaRPr lang="en-US" altLang="en-US" b="1" dirty="0">
                <a:solidFill>
                  <a:srgbClr val="FFFFFF"/>
                </a:solidFill>
                <a:cs typeface="Arial" panose="020B0604020202020204" pitchFamily="34" charset="0"/>
              </a:endParaRPr>
            </a:p>
          </p:txBody>
        </p:sp>
        <p:sp>
          <p:nvSpPr>
            <p:cNvPr id="14" name="Oval 13"/>
            <p:cNvSpPr>
              <a:spLocks noChangeArrowheads="1"/>
            </p:cNvSpPr>
            <p:nvPr/>
          </p:nvSpPr>
          <p:spPr bwMode="auto">
            <a:xfrm>
              <a:off x="1628775" y="4281488"/>
              <a:ext cx="1455738" cy="576262"/>
            </a:xfrm>
            <a:prstGeom prst="ellipse">
              <a:avLst/>
            </a:prstGeom>
            <a:solidFill>
              <a:schemeClr val="accent5">
                <a:lumMod val="75000"/>
              </a:schemeClr>
            </a:solidFill>
            <a:ln w="10000">
              <a:solidFill>
                <a:schemeClr val="accent5"/>
              </a:solidFill>
              <a:round/>
              <a:headEnd/>
              <a:tailEnd/>
            </a:ln>
            <a:effectLst>
              <a:outerShdw blurRad="38100" dist="30000" dir="5400000" rotWithShape="0">
                <a:srgbClr val="808080">
                  <a:alpha val="45000"/>
                </a:srgbClr>
              </a:outerShdw>
            </a:effec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37931725" indent="-3747452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6858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9144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1600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0574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ctr" eaLnBrk="1" hangingPunct="1">
                <a:spcBef>
                  <a:spcPct val="0"/>
                </a:spcBef>
                <a:buClrTx/>
                <a:buSzTx/>
                <a:buFontTx/>
                <a:buNone/>
                <a:defRPr/>
              </a:pPr>
              <a:r>
                <a:rPr lang="en-US" altLang="en-US" sz="1600" b="1" dirty="0">
                  <a:solidFill>
                    <a:srgbClr val="FFFFFF"/>
                  </a:solidFill>
                  <a:cs typeface="Arial" panose="020B0604020202020204" pitchFamily="34" charset="0"/>
                </a:rPr>
                <a:t>Sample</a:t>
              </a:r>
              <a:endParaRPr lang="en-US" altLang="en-US" b="1" dirty="0">
                <a:solidFill>
                  <a:srgbClr val="FFFFFF"/>
                </a:solidFill>
                <a:cs typeface="Arial" panose="020B0604020202020204" pitchFamily="34" charset="0"/>
              </a:endParaRPr>
            </a:p>
          </p:txBody>
        </p:sp>
        <p:sp>
          <p:nvSpPr>
            <p:cNvPr id="15" name="Oval 14"/>
            <p:cNvSpPr>
              <a:spLocks noChangeArrowheads="1"/>
            </p:cNvSpPr>
            <p:nvPr/>
          </p:nvSpPr>
          <p:spPr bwMode="auto">
            <a:xfrm>
              <a:off x="1447800" y="5041900"/>
              <a:ext cx="1455738" cy="576263"/>
            </a:xfrm>
            <a:prstGeom prst="ellipse">
              <a:avLst/>
            </a:prstGeom>
            <a:solidFill>
              <a:schemeClr val="accent5">
                <a:lumMod val="75000"/>
              </a:schemeClr>
            </a:solidFill>
            <a:ln w="10000">
              <a:solidFill>
                <a:schemeClr val="accent5"/>
              </a:solidFill>
              <a:round/>
              <a:headEnd/>
              <a:tailEnd/>
            </a:ln>
            <a:effectLst>
              <a:outerShdw blurRad="38100" dist="30000" dir="5400000" rotWithShape="0">
                <a:srgbClr val="808080">
                  <a:alpha val="45000"/>
                </a:srgbClr>
              </a:outerShdw>
            </a:effec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37931725" indent="-3747452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6858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9144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1600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0574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ctr" eaLnBrk="1" hangingPunct="1">
                <a:spcBef>
                  <a:spcPct val="0"/>
                </a:spcBef>
                <a:buClrTx/>
                <a:buSzTx/>
                <a:buFontTx/>
                <a:buNone/>
                <a:defRPr/>
              </a:pPr>
              <a:r>
                <a:rPr lang="en-US" altLang="en-US" sz="1600" b="1" dirty="0">
                  <a:solidFill>
                    <a:srgbClr val="FFFFFF"/>
                  </a:solidFill>
                  <a:cs typeface="Arial" panose="020B0604020202020204" pitchFamily="34" charset="0"/>
                </a:rPr>
                <a:t>Sample</a:t>
              </a:r>
              <a:endParaRPr lang="en-US" altLang="en-US" b="1" dirty="0">
                <a:solidFill>
                  <a:srgbClr val="FFFFFF"/>
                </a:solidFill>
                <a:cs typeface="Arial" panose="020B0604020202020204" pitchFamily="34" charset="0"/>
              </a:endParaRPr>
            </a:p>
          </p:txBody>
        </p:sp>
        <p:sp>
          <p:nvSpPr>
            <p:cNvPr id="16" name="Oval 15"/>
            <p:cNvSpPr>
              <a:spLocks noChangeArrowheads="1"/>
            </p:cNvSpPr>
            <p:nvPr/>
          </p:nvSpPr>
          <p:spPr bwMode="auto">
            <a:xfrm>
              <a:off x="1290638" y="3763963"/>
              <a:ext cx="1454150" cy="576262"/>
            </a:xfrm>
            <a:prstGeom prst="ellipse">
              <a:avLst/>
            </a:prstGeom>
            <a:solidFill>
              <a:schemeClr val="accent5">
                <a:lumMod val="75000"/>
              </a:schemeClr>
            </a:solidFill>
            <a:ln w="10000">
              <a:solidFill>
                <a:schemeClr val="accent5"/>
              </a:solidFill>
              <a:round/>
              <a:headEnd/>
              <a:tailEnd/>
            </a:ln>
            <a:effectLst>
              <a:outerShdw blurRad="38100" dist="30000" dir="5400000" rotWithShape="0">
                <a:srgbClr val="808080">
                  <a:alpha val="45000"/>
                </a:srgbClr>
              </a:outerShdw>
            </a:effec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37931725" indent="-3747452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6858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9144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1600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0574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ctr" eaLnBrk="1" hangingPunct="1">
                <a:spcBef>
                  <a:spcPct val="0"/>
                </a:spcBef>
                <a:buClrTx/>
                <a:buSzTx/>
                <a:buFontTx/>
                <a:buNone/>
                <a:defRPr/>
              </a:pPr>
              <a:r>
                <a:rPr lang="en-US" altLang="en-US" sz="1600" b="1" dirty="0">
                  <a:solidFill>
                    <a:srgbClr val="FFFFFF"/>
                  </a:solidFill>
                  <a:cs typeface="Arial" panose="020B0604020202020204" pitchFamily="34" charset="0"/>
                </a:rPr>
                <a:t>Sample</a:t>
              </a:r>
              <a:endParaRPr lang="en-US" altLang="en-US" b="1" dirty="0">
                <a:solidFill>
                  <a:srgbClr val="FFFFFF"/>
                </a:solidFill>
                <a:cs typeface="Arial" panose="020B0604020202020204" pitchFamily="34" charset="0"/>
              </a:endParaRPr>
            </a:p>
          </p:txBody>
        </p:sp>
        <p:sp>
          <p:nvSpPr>
            <p:cNvPr id="17" name="Curved Down Arrow 16"/>
            <p:cNvSpPr/>
            <p:nvPr/>
          </p:nvSpPr>
          <p:spPr>
            <a:xfrm rot="367008">
              <a:off x="4542172" y="2942669"/>
              <a:ext cx="2830025" cy="619150"/>
            </a:xfrm>
            <a:prstGeom prst="curvedDownArrow">
              <a:avLst/>
            </a:prstGeom>
          </p:spPr>
          <p:style>
            <a:lnRef idx="0">
              <a:schemeClr val="accent1"/>
            </a:lnRef>
            <a:fillRef idx="3">
              <a:schemeClr val="accent1"/>
            </a:fillRef>
            <a:effectRef idx="3">
              <a:schemeClr val="accent1"/>
            </a:effectRef>
            <a:fontRef idx="minor">
              <a:schemeClr val="lt1"/>
            </a:fontRef>
          </p:style>
          <p:txBody>
            <a:bodyPr anchor="ctr"/>
            <a:lstStyle/>
            <a:p>
              <a:pPr algn="ctr" eaLnBrk="1" fontAlgn="auto" hangingPunct="1">
                <a:spcBef>
                  <a:spcPts val="0"/>
                </a:spcBef>
                <a:spcAft>
                  <a:spcPts val="0"/>
                </a:spcAft>
                <a:defRPr/>
              </a:pPr>
              <a:endParaRPr lang="en-US">
                <a:solidFill>
                  <a:schemeClr val="tx1"/>
                </a:solidFill>
                <a:cs typeface="Arial"/>
              </a:endParaRPr>
            </a:p>
          </p:txBody>
        </p:sp>
        <p:sp>
          <p:nvSpPr>
            <p:cNvPr id="18" name="Curved Down Arrow 17"/>
            <p:cNvSpPr/>
            <p:nvPr/>
          </p:nvSpPr>
          <p:spPr>
            <a:xfrm rot="21385562">
              <a:off x="3687412" y="3468728"/>
              <a:ext cx="3440856" cy="499372"/>
            </a:xfrm>
            <a:prstGeom prst="curvedDownArrow">
              <a:avLst/>
            </a:prstGeom>
          </p:spPr>
          <p:style>
            <a:lnRef idx="0">
              <a:schemeClr val="accent1"/>
            </a:lnRef>
            <a:fillRef idx="3">
              <a:schemeClr val="accent1"/>
            </a:fillRef>
            <a:effectRef idx="3">
              <a:schemeClr val="accent1"/>
            </a:effectRef>
            <a:fontRef idx="minor">
              <a:schemeClr val="lt1"/>
            </a:fontRef>
          </p:style>
          <p:txBody>
            <a:bodyPr anchor="ctr"/>
            <a:lstStyle/>
            <a:p>
              <a:pPr algn="ctr" eaLnBrk="1" fontAlgn="auto" hangingPunct="1">
                <a:spcBef>
                  <a:spcPts val="0"/>
                </a:spcBef>
                <a:spcAft>
                  <a:spcPts val="0"/>
                </a:spcAft>
                <a:defRPr/>
              </a:pPr>
              <a:endParaRPr lang="en-US">
                <a:solidFill>
                  <a:schemeClr val="tx1"/>
                </a:solidFill>
                <a:cs typeface="Arial"/>
              </a:endParaRPr>
            </a:p>
          </p:txBody>
        </p:sp>
        <p:sp>
          <p:nvSpPr>
            <p:cNvPr id="19" name="Curved Down Arrow 18"/>
            <p:cNvSpPr/>
            <p:nvPr/>
          </p:nvSpPr>
          <p:spPr>
            <a:xfrm rot="214438" flipV="1">
              <a:off x="3928369" y="4860596"/>
              <a:ext cx="3217667" cy="517879"/>
            </a:xfrm>
            <a:prstGeom prst="curvedDownArrow">
              <a:avLst/>
            </a:prstGeom>
          </p:spPr>
          <p:style>
            <a:lnRef idx="0">
              <a:schemeClr val="accent1"/>
            </a:lnRef>
            <a:fillRef idx="3">
              <a:schemeClr val="accent1"/>
            </a:fillRef>
            <a:effectRef idx="3">
              <a:schemeClr val="accent1"/>
            </a:effectRef>
            <a:fontRef idx="minor">
              <a:schemeClr val="lt1"/>
            </a:fontRef>
          </p:style>
          <p:txBody>
            <a:bodyPr anchor="ctr"/>
            <a:lstStyle/>
            <a:p>
              <a:pPr algn="ctr" eaLnBrk="1" fontAlgn="auto" hangingPunct="1">
                <a:spcBef>
                  <a:spcPts val="0"/>
                </a:spcBef>
                <a:spcAft>
                  <a:spcPts val="0"/>
                </a:spcAft>
                <a:defRPr/>
              </a:pPr>
              <a:endParaRPr lang="en-US">
                <a:solidFill>
                  <a:schemeClr val="tx1"/>
                </a:solidFill>
                <a:cs typeface="Arial"/>
              </a:endParaRPr>
            </a:p>
          </p:txBody>
        </p:sp>
        <p:sp>
          <p:nvSpPr>
            <p:cNvPr id="20" name="Curved Down Arrow 19"/>
            <p:cNvSpPr/>
            <p:nvPr/>
          </p:nvSpPr>
          <p:spPr>
            <a:xfrm rot="21385562">
              <a:off x="2713971" y="3973659"/>
              <a:ext cx="4430296" cy="619150"/>
            </a:xfrm>
            <a:prstGeom prst="curvedDownArrow">
              <a:avLst/>
            </a:prstGeom>
          </p:spPr>
          <p:style>
            <a:lnRef idx="0">
              <a:schemeClr val="accent1"/>
            </a:lnRef>
            <a:fillRef idx="3">
              <a:schemeClr val="accent1"/>
            </a:fillRef>
            <a:effectRef idx="3">
              <a:schemeClr val="accent1"/>
            </a:effectRef>
            <a:fontRef idx="minor">
              <a:schemeClr val="lt1"/>
            </a:fontRef>
          </p:style>
          <p:txBody>
            <a:bodyPr anchor="ctr"/>
            <a:lstStyle/>
            <a:p>
              <a:pPr algn="ctr" eaLnBrk="1" fontAlgn="auto" hangingPunct="1">
                <a:spcBef>
                  <a:spcPts val="0"/>
                </a:spcBef>
                <a:spcAft>
                  <a:spcPts val="0"/>
                </a:spcAft>
                <a:defRPr/>
              </a:pPr>
              <a:endParaRPr lang="en-US">
                <a:solidFill>
                  <a:schemeClr val="tx1"/>
                </a:solidFill>
                <a:cs typeface="Arial"/>
              </a:endParaRPr>
            </a:p>
          </p:txBody>
        </p:sp>
        <p:sp>
          <p:nvSpPr>
            <p:cNvPr id="21" name="Curved Down Arrow 20"/>
            <p:cNvSpPr/>
            <p:nvPr/>
          </p:nvSpPr>
          <p:spPr>
            <a:xfrm rot="21385562">
              <a:off x="2492614" y="3242814"/>
              <a:ext cx="4587242" cy="768566"/>
            </a:xfrm>
            <a:prstGeom prst="curvedDownArrow">
              <a:avLst/>
            </a:prstGeom>
          </p:spPr>
          <p:style>
            <a:lnRef idx="0">
              <a:schemeClr val="accent1"/>
            </a:lnRef>
            <a:fillRef idx="3">
              <a:schemeClr val="accent1"/>
            </a:fillRef>
            <a:effectRef idx="3">
              <a:schemeClr val="accent1"/>
            </a:effectRef>
            <a:fontRef idx="minor">
              <a:schemeClr val="lt1"/>
            </a:fontRef>
          </p:style>
          <p:txBody>
            <a:bodyPr anchor="ctr"/>
            <a:lstStyle/>
            <a:p>
              <a:pPr algn="ctr" eaLnBrk="1" fontAlgn="auto" hangingPunct="1">
                <a:spcBef>
                  <a:spcPts val="0"/>
                </a:spcBef>
                <a:spcAft>
                  <a:spcPts val="0"/>
                </a:spcAft>
                <a:defRPr/>
              </a:pPr>
              <a:endParaRPr lang="en-US">
                <a:solidFill>
                  <a:schemeClr val="tx1"/>
                </a:solidFill>
                <a:cs typeface="Arial"/>
              </a:endParaRPr>
            </a:p>
          </p:txBody>
        </p:sp>
        <p:sp>
          <p:nvSpPr>
            <p:cNvPr id="22" name="Curved Down Arrow 21"/>
            <p:cNvSpPr/>
            <p:nvPr/>
          </p:nvSpPr>
          <p:spPr>
            <a:xfrm flipV="1">
              <a:off x="2612792" y="5369820"/>
              <a:ext cx="4716314" cy="619150"/>
            </a:xfrm>
            <a:prstGeom prst="curvedDownArrow">
              <a:avLst/>
            </a:prstGeom>
          </p:spPr>
          <p:style>
            <a:lnRef idx="0">
              <a:schemeClr val="accent1"/>
            </a:lnRef>
            <a:fillRef idx="3">
              <a:schemeClr val="accent1"/>
            </a:fillRef>
            <a:effectRef idx="3">
              <a:schemeClr val="accent1"/>
            </a:effectRef>
            <a:fontRef idx="minor">
              <a:schemeClr val="lt1"/>
            </a:fontRef>
          </p:style>
          <p:txBody>
            <a:bodyPr anchor="ctr"/>
            <a:lstStyle/>
            <a:p>
              <a:pPr algn="ctr" eaLnBrk="1" fontAlgn="auto" hangingPunct="1">
                <a:spcBef>
                  <a:spcPts val="0"/>
                </a:spcBef>
                <a:spcAft>
                  <a:spcPts val="0"/>
                </a:spcAft>
                <a:defRPr/>
              </a:pPr>
              <a:endParaRPr lang="en-US">
                <a:solidFill>
                  <a:schemeClr val="tx1"/>
                </a:solidFill>
                <a:cs typeface="Arial"/>
              </a:endParaRPr>
            </a:p>
          </p:txBody>
        </p:sp>
        <p:sp>
          <p:nvSpPr>
            <p:cNvPr id="23" name="Curved Down Arrow 22"/>
            <p:cNvSpPr/>
            <p:nvPr/>
          </p:nvSpPr>
          <p:spPr>
            <a:xfrm rot="21313586" flipV="1">
              <a:off x="4222643" y="5393749"/>
              <a:ext cx="3279600" cy="753331"/>
            </a:xfrm>
            <a:prstGeom prst="curvedDownArrow">
              <a:avLst/>
            </a:prstGeom>
          </p:spPr>
          <p:style>
            <a:lnRef idx="0">
              <a:schemeClr val="accent1"/>
            </a:lnRef>
            <a:fillRef idx="3">
              <a:schemeClr val="accent1"/>
            </a:fillRef>
            <a:effectRef idx="3">
              <a:schemeClr val="accent1"/>
            </a:effectRef>
            <a:fontRef idx="minor">
              <a:schemeClr val="lt1"/>
            </a:fontRef>
          </p:style>
          <p:txBody>
            <a:bodyPr anchor="ctr"/>
            <a:lstStyle/>
            <a:p>
              <a:pPr algn="ctr" eaLnBrk="1" fontAlgn="auto" hangingPunct="1">
                <a:spcBef>
                  <a:spcPts val="0"/>
                </a:spcBef>
                <a:spcAft>
                  <a:spcPts val="0"/>
                </a:spcAft>
                <a:defRPr/>
              </a:pPr>
              <a:endParaRPr lang="en-US">
                <a:solidFill>
                  <a:schemeClr val="tx1"/>
                </a:solidFill>
                <a:cs typeface="Arial"/>
              </a:endParaRPr>
            </a:p>
          </p:txBody>
        </p:sp>
        <p:sp>
          <p:nvSpPr>
            <p:cNvPr id="24" name="Curved Down Arrow 23"/>
            <p:cNvSpPr/>
            <p:nvPr/>
          </p:nvSpPr>
          <p:spPr>
            <a:xfrm rot="21385562">
              <a:off x="4680765" y="3586184"/>
              <a:ext cx="2461046" cy="619150"/>
            </a:xfrm>
            <a:prstGeom prst="curvedDownArrow">
              <a:avLst/>
            </a:prstGeom>
          </p:spPr>
          <p:style>
            <a:lnRef idx="0">
              <a:schemeClr val="accent1"/>
            </a:lnRef>
            <a:fillRef idx="3">
              <a:schemeClr val="accent1"/>
            </a:fillRef>
            <a:effectRef idx="3">
              <a:schemeClr val="accent1"/>
            </a:effectRef>
            <a:fontRef idx="minor">
              <a:schemeClr val="lt1"/>
            </a:fontRef>
          </p:style>
          <p:txBody>
            <a:bodyPr anchor="ctr"/>
            <a:lstStyle/>
            <a:p>
              <a:pPr algn="ctr" eaLnBrk="1" fontAlgn="auto" hangingPunct="1">
                <a:spcBef>
                  <a:spcPts val="0"/>
                </a:spcBef>
                <a:spcAft>
                  <a:spcPts val="0"/>
                </a:spcAft>
                <a:defRPr/>
              </a:pPr>
              <a:endParaRPr lang="en-US">
                <a:solidFill>
                  <a:schemeClr val="tx1"/>
                </a:solidFill>
                <a:cs typeface="Arial"/>
              </a:endParaRPr>
            </a:p>
          </p:txBody>
        </p:sp>
        <p:sp>
          <p:nvSpPr>
            <p:cNvPr id="25" name="TextBox 24"/>
            <p:cNvSpPr txBox="1"/>
            <p:nvPr/>
          </p:nvSpPr>
          <p:spPr>
            <a:xfrm>
              <a:off x="7059563" y="3688934"/>
              <a:ext cx="936675" cy="1569660"/>
            </a:xfrm>
            <a:prstGeom prst="rect">
              <a:avLst/>
            </a:prstGeom>
          </p:spPr>
          <p:style>
            <a:lnRef idx="0">
              <a:schemeClr val="accent2"/>
            </a:lnRef>
            <a:fillRef idx="3">
              <a:schemeClr val="accent2"/>
            </a:fillRef>
            <a:effectRef idx="3">
              <a:schemeClr val="accent2"/>
            </a:effectRef>
            <a:fontRef idx="minor">
              <a:schemeClr val="lt1"/>
            </a:fontRef>
          </p:style>
          <p:txBody>
            <a:bodyPr wrap="none">
              <a:spAutoFit/>
            </a:bodyPr>
            <a:lstStyle/>
            <a:p>
              <a:pPr algn="ctr" eaLnBrk="1" hangingPunct="1">
                <a:defRPr/>
              </a:pPr>
              <a:r>
                <a:rPr lang="en-US" sz="9600" b="1" dirty="0">
                  <a:solidFill>
                    <a:schemeClr val="tx1"/>
                  </a:solidFill>
                  <a:cs typeface="Arial"/>
                </a:rPr>
                <a:t>?</a:t>
              </a:r>
            </a:p>
          </p:txBody>
        </p:sp>
      </p:grpSp>
      <p:sp>
        <p:nvSpPr>
          <p:cNvPr id="6" name="TextBox 1">
            <a:extLst>
              <a:ext uri="{FF2B5EF4-FFF2-40B4-BE49-F238E27FC236}">
                <a16:creationId xmlns:a16="http://schemas.microsoft.com/office/drawing/2014/main" id="{FF1070D4-9AAB-22DC-D727-BD80596D09FB}"/>
              </a:ext>
            </a:extLst>
          </p:cNvPr>
          <p:cNvSpPr txBox="1">
            <a:spLocks noChangeArrowheads="1"/>
          </p:cNvSpPr>
          <p:nvPr/>
        </p:nvSpPr>
        <p:spPr bwMode="auto">
          <a:xfrm>
            <a:off x="342510" y="5745372"/>
            <a:ext cx="828544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dirty="0">
                <a:solidFill>
                  <a:schemeClr val="tx1"/>
                </a:solidFill>
              </a:rPr>
              <a:t>Larger random samples reduce sampling variability, making a statistic more likely to be less variable.</a:t>
            </a:r>
            <a:endParaRPr lang="en-US" altLang="en-US" dirty="0">
              <a:solidFill>
                <a:srgbClr val="000000"/>
              </a:solidFill>
            </a:endParaRPr>
          </a:p>
        </p:txBody>
      </p:sp>
    </p:spTree>
    <p:extLst>
      <p:ext uri="{BB962C8B-B14F-4D97-AF65-F5344CB8AC3E}">
        <p14:creationId xmlns:p14="http://schemas.microsoft.com/office/powerpoint/2010/main" val="2037828571"/>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1" name="Rectangle 19"/>
          <p:cNvSpPr>
            <a:spLocks noGrp="1" noChangeArrowheads="1"/>
          </p:cNvSpPr>
          <p:nvPr>
            <p:ph type="title"/>
          </p:nvPr>
        </p:nvSpPr>
        <p:spPr/>
        <p:txBody>
          <a:bodyPr/>
          <a:lstStyle/>
          <a:p>
            <a:pPr eaLnBrk="1" hangingPunct="1"/>
            <a:r>
              <a:rPr lang="en-US" altLang="en-US">
                <a:ea typeface="ＭＳ Ｐゴシック" pitchFamily="34" charset="-128"/>
              </a:rPr>
              <a:t>Sampling Distributions</a:t>
            </a:r>
          </a:p>
        </p:txBody>
      </p:sp>
      <p:sp>
        <p:nvSpPr>
          <p:cNvPr id="3277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01BBE780-E709-42CE-ACEE-601BFCAF2A1E}" type="slidenum">
              <a:rPr lang="en-US" altLang="en-US" sz="1200">
                <a:solidFill>
                  <a:schemeClr val="accent1"/>
                </a:solidFill>
              </a:rPr>
              <a:pPr>
                <a:lnSpc>
                  <a:spcPct val="80000"/>
                </a:lnSpc>
              </a:pPr>
              <a:t>8</a:t>
            </a:fld>
            <a:endParaRPr lang="en-US" altLang="en-US" sz="1200">
              <a:solidFill>
                <a:schemeClr val="accent1"/>
              </a:solidFill>
            </a:endParaRPr>
          </a:p>
        </p:txBody>
      </p:sp>
      <p:sp>
        <p:nvSpPr>
          <p:cNvPr id="6" name="TextBox 5"/>
          <p:cNvSpPr txBox="1">
            <a:spLocks noChangeArrowheads="1"/>
          </p:cNvSpPr>
          <p:nvPr/>
        </p:nvSpPr>
        <p:spPr bwMode="auto">
          <a:xfrm>
            <a:off x="579437" y="2087729"/>
            <a:ext cx="7515225" cy="1014412"/>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37931725" indent="-3747452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6858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9144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1600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0574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defRPr/>
            </a:pPr>
            <a:r>
              <a:rPr lang="en-US" altLang="en-US" dirty="0">
                <a:solidFill>
                  <a:srgbClr val="000000"/>
                </a:solidFill>
              </a:rPr>
              <a:t>The </a:t>
            </a:r>
            <a:r>
              <a:rPr lang="en-US" altLang="en-US" b="1" dirty="0">
                <a:solidFill>
                  <a:srgbClr val="800000"/>
                </a:solidFill>
              </a:rPr>
              <a:t>sampling distribution </a:t>
            </a:r>
            <a:r>
              <a:rPr lang="en-US" altLang="en-US" dirty="0">
                <a:solidFill>
                  <a:srgbClr val="000000"/>
                </a:solidFill>
              </a:rPr>
              <a:t>of a statistic is the distribution of values taken by the statistic in all possible samples of the </a:t>
            </a:r>
            <a:r>
              <a:rPr lang="en-US" altLang="en-US" dirty="0">
                <a:solidFill>
                  <a:srgbClr val="FF0000"/>
                </a:solidFill>
              </a:rPr>
              <a:t>same size </a:t>
            </a:r>
            <a:r>
              <a:rPr lang="en-US" altLang="en-US" dirty="0">
                <a:solidFill>
                  <a:srgbClr val="000000"/>
                </a:solidFill>
              </a:rPr>
              <a:t>from the same population.</a:t>
            </a:r>
            <a:endParaRPr lang="en-US" altLang="en-US" sz="2400" dirty="0">
              <a:solidFill>
                <a:srgbClr val="000000"/>
              </a:solidFill>
            </a:endParaRPr>
          </a:p>
        </p:txBody>
      </p:sp>
      <p:sp>
        <p:nvSpPr>
          <p:cNvPr id="32774" name="Rectangle 2"/>
          <p:cNvSpPr>
            <a:spLocks noChangeArrowheads="1"/>
          </p:cNvSpPr>
          <p:nvPr/>
        </p:nvSpPr>
        <p:spPr bwMode="auto">
          <a:xfrm>
            <a:off x="487363" y="3927006"/>
            <a:ext cx="7699375"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altLang="en-US" sz="2000" dirty="0"/>
              <a:t>In practice, it</a:t>
            </a:r>
            <a:r>
              <a:rPr lang="en-US" altLang="ja-JP" sz="2000" dirty="0"/>
              <a:t> is difficult to take all possible samples of size </a:t>
            </a:r>
            <a:r>
              <a:rPr lang="en-US" altLang="ja-JP" sz="2000" i="1" dirty="0"/>
              <a:t>n</a:t>
            </a:r>
            <a:r>
              <a:rPr lang="en-US" altLang="ja-JP" sz="2000" dirty="0"/>
              <a:t> to obtain the actual sampling distribution of a statistic. Instead, we can </a:t>
            </a:r>
            <a:r>
              <a:rPr lang="en-US" altLang="ja-JP" sz="2000" b="1" dirty="0">
                <a:solidFill>
                  <a:srgbClr val="800000"/>
                </a:solidFill>
              </a:rPr>
              <a:t>simulate </a:t>
            </a:r>
            <a:r>
              <a:rPr lang="en-US" altLang="ja-JP" sz="2000" dirty="0"/>
              <a:t>the process of sample generation and take many, many samples.</a:t>
            </a:r>
            <a:endParaRPr lang="en-US" alt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Bias and Variability </a:t>
            </a:r>
            <a:endParaRPr lang="en-US" dirty="0">
              <a:solidFill>
                <a:srgbClr val="00B050"/>
              </a:solidFill>
            </a:endParaRPr>
          </a:p>
        </p:txBody>
      </p:sp>
      <p:sp>
        <p:nvSpPr>
          <p:cNvPr id="33798" name="Slide Number Placeholder 8"/>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5A316549-44E0-4832-A91E-875C18876540}" type="slidenum">
              <a:rPr lang="en-US" altLang="en-US" sz="1400">
                <a:solidFill>
                  <a:schemeClr val="accent1"/>
                </a:solidFill>
              </a:rPr>
              <a:pPr/>
              <a:t>9</a:t>
            </a:fld>
            <a:endParaRPr lang="en-US" altLang="en-US" sz="1400">
              <a:solidFill>
                <a:schemeClr val="accent1"/>
              </a:solidFill>
            </a:endParaRPr>
          </a:p>
        </p:txBody>
      </p:sp>
      <p:sp>
        <p:nvSpPr>
          <p:cNvPr id="33794" name="TextBox 12"/>
          <p:cNvSpPr txBox="1">
            <a:spLocks noChangeArrowheads="1"/>
          </p:cNvSpPr>
          <p:nvPr/>
        </p:nvSpPr>
        <p:spPr bwMode="auto">
          <a:xfrm>
            <a:off x="174625" y="1039793"/>
            <a:ext cx="8588376"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sz="1800" dirty="0">
                <a:solidFill>
                  <a:schemeClr val="tx1"/>
                </a:solidFill>
              </a:rPr>
              <a:t>We can think of the true value of the population parameter as the bull’s-eye on a target and of the sample statistic as an arrow fired at the target. Bias and variability describe what happens when we take many shots at the target.</a:t>
            </a:r>
          </a:p>
        </p:txBody>
      </p:sp>
      <p:pic>
        <p:nvPicPr>
          <p:cNvPr id="17" name="Picture 16" descr="The image shows 4 figures of the bull's eye on a target and the arrow fired at the target as the sample statistic. It explains the bias and variability of the statistic, where bias means the difference between expected value and the true value, and variability of statistic is described as the spread of its sampling distribution. The first figure depicts high bias, low variability, second figure depicts low bias, high variability, third figure depicts high bias, high variability and the last figure shows the ideal no bias, low variability."/>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4625" y="2071688"/>
            <a:ext cx="3895725" cy="478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Rectangle 17"/>
          <p:cNvSpPr/>
          <p:nvPr/>
        </p:nvSpPr>
        <p:spPr>
          <a:xfrm>
            <a:off x="4267200" y="2189649"/>
            <a:ext cx="4495800" cy="1938337"/>
          </a:xfrm>
          <a:prstGeom prst="rect">
            <a:avLst/>
          </a:prstGeom>
          <a:solidFill>
            <a:srgbClr val="EEEFD6"/>
          </a:solidFill>
          <a:ln>
            <a:solidFill>
              <a:srgbClr val="EEEFD6"/>
            </a:solidFill>
          </a:ln>
        </p:spPr>
        <p:style>
          <a:lnRef idx="1">
            <a:schemeClr val="accent5"/>
          </a:lnRef>
          <a:fillRef idx="2">
            <a:schemeClr val="accent5"/>
          </a:fillRef>
          <a:effectRef idx="1">
            <a:schemeClr val="accent5"/>
          </a:effectRef>
          <a:fontRef idx="minor">
            <a:schemeClr val="dk1"/>
          </a:fontRef>
        </p:style>
        <p:txBody>
          <a:bodyPr>
            <a:spAutoFit/>
          </a:bodyPr>
          <a:lstStyle/>
          <a:p>
            <a:pPr eaLnBrk="1" hangingPunct="1">
              <a:defRPr/>
            </a:pPr>
            <a:r>
              <a:rPr lang="en-US" sz="2000" b="1" dirty="0">
                <a:solidFill>
                  <a:srgbClr val="800000"/>
                </a:solidFill>
                <a:ea typeface="ＭＳ Ｐゴシック" pitchFamily="-65" charset="-128"/>
              </a:rPr>
              <a:t>Bias </a:t>
            </a:r>
            <a:r>
              <a:rPr lang="en-US" sz="2000" dirty="0">
                <a:solidFill>
                  <a:srgbClr val="000000"/>
                </a:solidFill>
                <a:ea typeface="ＭＳ Ｐゴシック" pitchFamily="-65" charset="-128"/>
              </a:rPr>
              <a:t>concerns the center of the sampling distribution. A statistic used to estimate a parameter is </a:t>
            </a:r>
            <a:r>
              <a:rPr lang="en-US" sz="2000" b="1" dirty="0">
                <a:solidFill>
                  <a:srgbClr val="800000"/>
                </a:solidFill>
                <a:ea typeface="ＭＳ Ｐゴシック" pitchFamily="-65" charset="-128"/>
              </a:rPr>
              <a:t>unbiased</a:t>
            </a:r>
            <a:r>
              <a:rPr lang="en-US" sz="2000" dirty="0">
                <a:solidFill>
                  <a:srgbClr val="800000"/>
                </a:solidFill>
                <a:ea typeface="ＭＳ Ｐゴシック" pitchFamily="-65" charset="-128"/>
              </a:rPr>
              <a:t> </a:t>
            </a:r>
            <a:r>
              <a:rPr lang="en-US" sz="2000" dirty="0">
                <a:solidFill>
                  <a:srgbClr val="000000"/>
                </a:solidFill>
                <a:ea typeface="ＭＳ Ｐゴシック" pitchFamily="-65" charset="-128"/>
              </a:rPr>
              <a:t>if the mean of its sampling distribution is equal to the true value of the parameter being estimated.</a:t>
            </a:r>
          </a:p>
        </p:txBody>
      </p:sp>
      <p:sp>
        <p:nvSpPr>
          <p:cNvPr id="19" name="Rectangle 18"/>
          <p:cNvSpPr/>
          <p:nvPr/>
        </p:nvSpPr>
        <p:spPr>
          <a:xfrm>
            <a:off x="4267200" y="4354513"/>
            <a:ext cx="4495800" cy="2246312"/>
          </a:xfrm>
          <a:prstGeom prst="rect">
            <a:avLst/>
          </a:prstGeom>
          <a:solidFill>
            <a:srgbClr val="EEEFD6"/>
          </a:solidFill>
          <a:ln>
            <a:solidFill>
              <a:srgbClr val="EEEFD6"/>
            </a:solidFill>
          </a:ln>
        </p:spPr>
        <p:style>
          <a:lnRef idx="1">
            <a:schemeClr val="accent5"/>
          </a:lnRef>
          <a:fillRef idx="2">
            <a:schemeClr val="accent5"/>
          </a:fillRef>
          <a:effectRef idx="1">
            <a:schemeClr val="accent5"/>
          </a:effectRef>
          <a:fontRef idx="minor">
            <a:schemeClr val="dk1"/>
          </a:fontRef>
        </p:style>
        <p:txBody>
          <a:bodyPr>
            <a:spAutoFit/>
          </a:bodyPr>
          <a:lstStyle/>
          <a:p>
            <a:pPr eaLnBrk="1" hangingPunct="1">
              <a:defRPr/>
            </a:pPr>
            <a:r>
              <a:rPr lang="en-US" sz="2000" dirty="0">
                <a:solidFill>
                  <a:srgbClr val="000000"/>
                </a:solidFill>
                <a:ea typeface="ＭＳ Ｐゴシック" pitchFamily="-65" charset="-128"/>
              </a:rPr>
              <a:t>The </a:t>
            </a:r>
            <a:r>
              <a:rPr lang="en-US" sz="2000" b="1" dirty="0">
                <a:solidFill>
                  <a:srgbClr val="800000"/>
                </a:solidFill>
                <a:ea typeface="ＭＳ Ｐゴシック" pitchFamily="-65" charset="-128"/>
              </a:rPr>
              <a:t>variability of a statistic</a:t>
            </a:r>
            <a:r>
              <a:rPr lang="en-US" sz="2000" dirty="0">
                <a:solidFill>
                  <a:srgbClr val="800000"/>
                </a:solidFill>
                <a:ea typeface="ＭＳ Ｐゴシック" pitchFamily="-65" charset="-128"/>
              </a:rPr>
              <a:t> </a:t>
            </a:r>
            <a:r>
              <a:rPr lang="en-US" sz="2000" dirty="0">
                <a:solidFill>
                  <a:srgbClr val="000000"/>
                </a:solidFill>
                <a:ea typeface="ＭＳ Ｐゴシック" pitchFamily="-65" charset="-128"/>
              </a:rPr>
              <a:t>is described by the spread of its sampling distribution. This spread is determined by the sampling design and the sample size </a:t>
            </a:r>
            <a:r>
              <a:rPr lang="en-US" sz="2000" i="1" dirty="0">
                <a:solidFill>
                  <a:srgbClr val="000000"/>
                </a:solidFill>
                <a:ea typeface="ＭＳ Ｐゴシック" pitchFamily="-65" charset="-128"/>
              </a:rPr>
              <a:t>n</a:t>
            </a:r>
            <a:r>
              <a:rPr lang="en-US" sz="2000" dirty="0">
                <a:solidFill>
                  <a:srgbClr val="000000"/>
                </a:solidFill>
                <a:ea typeface="ＭＳ Ｐゴシック" pitchFamily="-65" charset="-128"/>
              </a:rPr>
              <a:t>. </a:t>
            </a:r>
            <a:r>
              <a:rPr lang="en-US" sz="2000" dirty="0">
                <a:solidFill>
                  <a:srgbClr val="FF0000"/>
                </a:solidFill>
                <a:ea typeface="ＭＳ Ｐゴシック" pitchFamily="-65" charset="-128"/>
              </a:rPr>
              <a:t>Statistics from larger random samples have smaller spreads.</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1000"/>
                                        <p:tgtEl>
                                          <p:spTgt spid="1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Managing Bias and Variability</a:t>
            </a:r>
            <a:endParaRPr lang="en-US" dirty="0"/>
          </a:p>
        </p:txBody>
      </p:sp>
      <p:sp>
        <p:nvSpPr>
          <p:cNvPr id="34820" name="Slide Number Placeholder 8"/>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EFB79683-40E9-42B8-9B29-778A1E3D05A9}" type="slidenum">
              <a:rPr lang="en-US" altLang="en-US" sz="1400">
                <a:solidFill>
                  <a:schemeClr val="accent1"/>
                </a:solidFill>
              </a:rPr>
              <a:pPr/>
              <a:t>10</a:t>
            </a:fld>
            <a:endParaRPr lang="en-US" altLang="en-US" sz="1400">
              <a:solidFill>
                <a:schemeClr val="accent1"/>
              </a:solidFill>
            </a:endParaRPr>
          </a:p>
        </p:txBody>
      </p:sp>
      <p:sp>
        <p:nvSpPr>
          <p:cNvPr id="34818" name="TextBox 12"/>
          <p:cNvSpPr txBox="1">
            <a:spLocks noChangeArrowheads="1"/>
          </p:cNvSpPr>
          <p:nvPr/>
        </p:nvSpPr>
        <p:spPr bwMode="auto">
          <a:xfrm>
            <a:off x="546100" y="1410970"/>
            <a:ext cx="8067674"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dirty="0">
                <a:solidFill>
                  <a:schemeClr val="tx1"/>
                </a:solidFill>
              </a:rPr>
              <a:t>A good sampling scheme must have both small bias and small variability. </a:t>
            </a:r>
          </a:p>
        </p:txBody>
      </p:sp>
      <p:sp>
        <p:nvSpPr>
          <p:cNvPr id="19" name="Rectangle 18"/>
          <p:cNvSpPr>
            <a:spLocks noChangeArrowheads="1"/>
          </p:cNvSpPr>
          <p:nvPr/>
        </p:nvSpPr>
        <p:spPr bwMode="auto">
          <a:xfrm>
            <a:off x="528638" y="2598738"/>
            <a:ext cx="8067675" cy="1631216"/>
          </a:xfrm>
          <a:prstGeom prst="rect">
            <a:avLst/>
          </a:prstGeom>
          <a:solidFill>
            <a:srgbClr val="EEEFD6"/>
          </a:solidFill>
          <a:ln w="12700">
            <a:solidFill>
              <a:srgbClr val="EEEFD6"/>
            </a:solidFill>
            <a:miter lim="800000"/>
            <a:headEnd/>
            <a:tailEnd/>
          </a:ln>
          <a:effectLst>
            <a:outerShdw blurRad="50800" dist="38100" dir="2700000" rotWithShape="0">
              <a:srgbClr val="808080">
                <a:alpha val="42998"/>
              </a:srgbClr>
            </a:outerShdw>
          </a:effec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defRPr/>
            </a:pPr>
            <a:r>
              <a:rPr lang="en-US" altLang="en-US" sz="2000" b="1" dirty="0">
                <a:solidFill>
                  <a:srgbClr val="800000"/>
                </a:solidFill>
              </a:rPr>
              <a:t>To reduce bias</a:t>
            </a:r>
            <a:r>
              <a:rPr lang="en-US" altLang="en-US" sz="2000" dirty="0">
                <a:solidFill>
                  <a:srgbClr val="000000"/>
                </a:solidFill>
              </a:rPr>
              <a:t>, use random sampling. Random sampling helps control selection bias, but it does not protect against </a:t>
            </a:r>
            <a:r>
              <a:rPr lang="en-US" altLang="en-US" sz="2000" dirty="0" err="1">
                <a:solidFill>
                  <a:srgbClr val="000000"/>
                </a:solidFill>
              </a:rPr>
              <a:t>undercoverage</a:t>
            </a:r>
            <a:r>
              <a:rPr lang="en-US" altLang="en-US" sz="2000" dirty="0">
                <a:solidFill>
                  <a:srgbClr val="000000"/>
                </a:solidFill>
              </a:rPr>
              <a:t>, nonresponse, response bias, or measurement error.</a:t>
            </a:r>
          </a:p>
          <a:p>
            <a:pPr eaLnBrk="1" hangingPunct="1">
              <a:defRPr/>
            </a:pPr>
            <a:endParaRPr lang="en-US" altLang="en-US" sz="2000" dirty="0">
              <a:solidFill>
                <a:srgbClr val="000000"/>
              </a:solidFill>
            </a:endParaRPr>
          </a:p>
          <a:p>
            <a:pPr eaLnBrk="1" hangingPunct="1">
              <a:defRPr/>
            </a:pPr>
            <a:r>
              <a:rPr lang="en-US" altLang="en-US" sz="2000" b="1" dirty="0">
                <a:solidFill>
                  <a:srgbClr val="800000"/>
                </a:solidFill>
              </a:rPr>
              <a:t>To reduce variability </a:t>
            </a:r>
            <a:r>
              <a:rPr lang="en-US" altLang="en-US" sz="2000" dirty="0">
                <a:solidFill>
                  <a:srgbClr val="000000"/>
                </a:solidFill>
              </a:rPr>
              <a:t>of a statistic from an SRS, use a larger sample.</a:t>
            </a:r>
          </a:p>
        </p:txBody>
      </p:sp>
      <p:sp>
        <p:nvSpPr>
          <p:cNvPr id="9" name="Rectangle 8"/>
          <p:cNvSpPr>
            <a:spLocks noChangeArrowheads="1"/>
          </p:cNvSpPr>
          <p:nvPr/>
        </p:nvSpPr>
        <p:spPr bwMode="auto">
          <a:xfrm>
            <a:off x="546100" y="4565256"/>
            <a:ext cx="8067675" cy="1015663"/>
          </a:xfrm>
          <a:prstGeom prst="rect">
            <a:avLst/>
          </a:prstGeom>
          <a:solidFill>
            <a:srgbClr val="EEEFD6"/>
          </a:solidFill>
          <a:ln w="12700">
            <a:solidFill>
              <a:srgbClr val="8590B1"/>
            </a:solidFill>
            <a:miter lim="800000"/>
            <a:headEnd/>
            <a:tailEnd/>
          </a:ln>
          <a:effectLst>
            <a:outerShdw blurRad="50800" dist="38100" dir="2700000" rotWithShape="0">
              <a:srgbClr val="808080">
                <a:alpha val="42998"/>
              </a:srgbClr>
            </a:outerShdw>
          </a:effectLst>
        </p:spPr>
        <p:txBody>
          <a:bodyPr>
            <a:spAutoFit/>
          </a:bodyPr>
          <a:lstStyle/>
          <a:p>
            <a:pPr eaLnBrk="1" hangingPunct="1">
              <a:defRPr/>
            </a:pPr>
            <a:r>
              <a:rPr lang="en-US" sz="2000" dirty="0">
                <a:solidFill>
                  <a:schemeClr val="dk1"/>
                </a:solidFill>
                <a:latin typeface="+mn-lt"/>
                <a:ea typeface="+mn-ea"/>
              </a:rPr>
              <a:t>For an SRS with the population size (</a:t>
            </a:r>
            <a:r>
              <a:rPr lang="en-US" sz="2000" i="1" dirty="0">
                <a:solidFill>
                  <a:schemeClr val="dk1"/>
                </a:solidFill>
                <a:latin typeface="+mn-lt"/>
                <a:ea typeface="+mn-ea"/>
              </a:rPr>
              <a:t>N</a:t>
            </a:r>
            <a:r>
              <a:rPr lang="en-US" sz="2000" dirty="0">
                <a:solidFill>
                  <a:schemeClr val="dk1"/>
                </a:solidFill>
                <a:latin typeface="+mn-lt"/>
                <a:ea typeface="+mn-ea"/>
              </a:rPr>
              <a:t>) is much larger than the sample size (</a:t>
            </a:r>
            <a:r>
              <a:rPr lang="en-US" sz="2000" i="1" dirty="0">
                <a:solidFill>
                  <a:schemeClr val="dk1"/>
                </a:solidFill>
                <a:latin typeface="+mn-lt"/>
                <a:ea typeface="+mn-ea"/>
              </a:rPr>
              <a:t>n</a:t>
            </a:r>
            <a:r>
              <a:rPr lang="en-US" sz="2000" dirty="0">
                <a:solidFill>
                  <a:schemeClr val="dk1"/>
                </a:solidFill>
                <a:latin typeface="+mn-lt"/>
                <a:ea typeface="+mn-ea"/>
              </a:rPr>
              <a:t>), the variability of a statistic is driven mainly by </a:t>
            </a:r>
            <a:r>
              <a:rPr lang="en-US" sz="2000" i="1" dirty="0">
                <a:solidFill>
                  <a:schemeClr val="dk1"/>
                </a:solidFill>
                <a:latin typeface="+mn-lt"/>
                <a:ea typeface="+mn-ea"/>
              </a:rPr>
              <a:t>n</a:t>
            </a:r>
            <a:r>
              <a:rPr lang="en-US" sz="2000" dirty="0">
                <a:solidFill>
                  <a:schemeClr val="dk1"/>
                </a:solidFill>
                <a:latin typeface="+mn-lt"/>
                <a:ea typeface="+mn-ea"/>
              </a:rPr>
              <a:t>, not </a:t>
            </a:r>
            <a:r>
              <a:rPr lang="en-US" sz="2000" i="1" dirty="0">
                <a:solidFill>
                  <a:schemeClr val="dk1"/>
                </a:solidFill>
                <a:latin typeface="+mn-lt"/>
                <a:ea typeface="+mn-ea"/>
              </a:rPr>
              <a:t>N</a:t>
            </a:r>
            <a:r>
              <a:rPr lang="en-US" sz="2000" dirty="0">
                <a:solidFill>
                  <a:schemeClr val="dk1"/>
                </a:solidFill>
                <a:latin typeface="+mn-lt"/>
                <a:ea typeface="+mn-ea"/>
              </a:rPr>
              <a:t>. </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p:txBody>
          <a:bodyPr/>
          <a:lstStyle/>
          <a:p>
            <a:pPr eaLnBrk="1" hangingPunct="1">
              <a:lnSpc>
                <a:spcPct val="90000"/>
              </a:lnSpc>
            </a:pPr>
            <a:r>
              <a:rPr lang="en-US" altLang="en-US" dirty="0">
                <a:ea typeface="ＭＳ Ｐゴシック" pitchFamily="34" charset="-128"/>
              </a:rPr>
              <a:t>Why Random Sampling?</a:t>
            </a:r>
            <a:endParaRPr lang="en-US" altLang="en-US" sz="3200" dirty="0">
              <a:solidFill>
                <a:srgbClr val="33CCFF"/>
              </a:solidFill>
              <a:ea typeface="ＭＳ Ｐゴシック" pitchFamily="34" charset="-128"/>
            </a:endParaRPr>
          </a:p>
        </p:txBody>
      </p:sp>
      <p:sp>
        <p:nvSpPr>
          <p:cNvPr id="35842"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6389C1E6-86D1-46DE-BBFB-ADCA97ED42D5}" type="slidenum">
              <a:rPr lang="en-US" altLang="en-US" sz="1200">
                <a:solidFill>
                  <a:schemeClr val="accent1"/>
                </a:solidFill>
              </a:rPr>
              <a:pPr>
                <a:lnSpc>
                  <a:spcPct val="80000"/>
                </a:lnSpc>
              </a:pPr>
              <a:t>11</a:t>
            </a:fld>
            <a:endParaRPr lang="en-US" altLang="en-US" sz="1200">
              <a:solidFill>
                <a:schemeClr val="accent1"/>
              </a:solidFill>
            </a:endParaRPr>
          </a:p>
        </p:txBody>
      </p:sp>
      <p:sp>
        <p:nvSpPr>
          <p:cNvPr id="35844" name="Rectangle 1"/>
          <p:cNvSpPr>
            <a:spLocks noChangeArrowheads="1"/>
          </p:cNvSpPr>
          <p:nvPr/>
        </p:nvSpPr>
        <p:spPr bwMode="auto">
          <a:xfrm>
            <a:off x="304705" y="1118539"/>
            <a:ext cx="827722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altLang="en-US" sz="2000" dirty="0"/>
              <a:t>The purpose of a sample is to give us information about the population. The process of drawing conclusions about a population on the basis of sample data is called </a:t>
            </a:r>
            <a:r>
              <a:rPr lang="en-US" altLang="en-US" sz="2000" b="1" dirty="0">
                <a:solidFill>
                  <a:srgbClr val="800000"/>
                </a:solidFill>
              </a:rPr>
              <a:t>(statistical) inference</a:t>
            </a:r>
            <a:r>
              <a:rPr lang="en-US" altLang="en-US" sz="2000" dirty="0"/>
              <a:t>.</a:t>
            </a:r>
            <a:endParaRPr lang="en-US" altLang="en-US" sz="2000" b="1" dirty="0">
              <a:solidFill>
                <a:srgbClr val="990000"/>
              </a:solidFill>
            </a:endParaRPr>
          </a:p>
        </p:txBody>
      </p:sp>
      <p:sp>
        <p:nvSpPr>
          <p:cNvPr id="18" name="TextBox 17"/>
          <p:cNvSpPr txBox="1">
            <a:spLocks noChangeArrowheads="1"/>
          </p:cNvSpPr>
          <p:nvPr/>
        </p:nvSpPr>
        <p:spPr bwMode="auto">
          <a:xfrm>
            <a:off x="755554" y="2225863"/>
            <a:ext cx="7375525" cy="4478149"/>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eaLnBrk="0" hangingPunct="0">
              <a:defRPr sz="2400">
                <a:solidFill>
                  <a:schemeClr val="tx1"/>
                </a:solidFill>
                <a:latin typeface="Arial" charset="0"/>
                <a:ea typeface="ＭＳ Ｐゴシック" pitchFamily="-65" charset="-128"/>
              </a:defRPr>
            </a:lvl1pPr>
            <a:lvl2pPr marL="800100" indent="-342900"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eaLnBrk="1" hangingPunct="1">
              <a:spcAft>
                <a:spcPts val="600"/>
              </a:spcAft>
              <a:defRPr/>
            </a:pPr>
            <a:r>
              <a:rPr lang="en-US" altLang="en-US" sz="2000" b="1" u="sng" dirty="0"/>
              <a:t>Why should we rely on random sampling?</a:t>
            </a:r>
          </a:p>
          <a:p>
            <a:pPr marL="346075" indent="-339725" eaLnBrk="1" hangingPunct="1">
              <a:spcAft>
                <a:spcPts val="1200"/>
              </a:spcAft>
              <a:buFont typeface="Tw Cen MT" pitchFamily="-65" charset="0"/>
              <a:buAutoNum type="arabicPeriod"/>
              <a:defRPr/>
            </a:pPr>
            <a:r>
              <a:rPr lang="en-US" altLang="en-US" sz="2000" dirty="0">
                <a:solidFill>
                  <a:srgbClr val="000000"/>
                </a:solidFill>
              </a:rPr>
              <a:t>Reduce selection bias. Random sampling gives individuals a chance of being selected according to a known sampling mechanism and helps prevent systematic selection of particular types of individuals.</a:t>
            </a:r>
          </a:p>
          <a:p>
            <a:pPr marL="346075" indent="-339725" eaLnBrk="1" hangingPunct="1">
              <a:buFont typeface="Tw Cen MT" pitchFamily="-65" charset="0"/>
              <a:buAutoNum type="arabicPeriod"/>
              <a:defRPr/>
            </a:pPr>
            <a:r>
              <a:rPr lang="en-US" altLang="en-US" sz="2000" dirty="0">
                <a:solidFill>
                  <a:srgbClr val="000000"/>
                </a:solidFill>
              </a:rPr>
              <a:t>Quantify sampling variability. Because selection is governed by chance, probability can be used to describe how a statistic would vary across repeated random samples. This allows us to quantify sampling variability.</a:t>
            </a:r>
          </a:p>
          <a:p>
            <a:pPr lvl="1" eaLnBrk="1" hangingPunct="1">
              <a:spcBef>
                <a:spcPts val="600"/>
              </a:spcBef>
              <a:buClr>
                <a:schemeClr val="accent1"/>
              </a:buClr>
              <a:buFont typeface="Wingdings" pitchFamily="-65" charset="2"/>
              <a:buChar char="§"/>
              <a:defRPr/>
            </a:pPr>
            <a:r>
              <a:rPr lang="en-US" altLang="en-US" sz="2000" dirty="0">
                <a:solidFill>
                  <a:srgbClr val="000000"/>
                </a:solidFill>
              </a:rPr>
              <a:t>Results from random samples come with a </a:t>
            </a:r>
            <a:r>
              <a:rPr lang="en-US" altLang="en-US" sz="2000" b="1" dirty="0">
                <a:solidFill>
                  <a:srgbClr val="800000"/>
                </a:solidFill>
              </a:rPr>
              <a:t>margin of error</a:t>
            </a:r>
            <a:r>
              <a:rPr lang="en-US" altLang="en-US" sz="2000" dirty="0">
                <a:solidFill>
                  <a:srgbClr val="000000"/>
                </a:solidFill>
              </a:rPr>
              <a:t> that sets bounds on the size of the likely error.</a:t>
            </a:r>
          </a:p>
          <a:p>
            <a:pPr lvl="1" eaLnBrk="1" hangingPunct="1">
              <a:spcBef>
                <a:spcPts val="600"/>
              </a:spcBef>
              <a:buFont typeface="Wingdings" pitchFamily="-65" charset="2"/>
              <a:buChar char="§"/>
              <a:defRPr/>
            </a:pPr>
            <a:r>
              <a:rPr lang="en-US" altLang="en-US" sz="2000" dirty="0">
                <a:solidFill>
                  <a:srgbClr val="000000"/>
                </a:solidFill>
              </a:rPr>
              <a:t>Larger random samples are likely to give more information about the population than smaller samples.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2"/>
          <p:cNvSpPr>
            <a:spLocks noGrp="1"/>
          </p:cNvSpPr>
          <p:nvPr>
            <p:ph type="title"/>
          </p:nvPr>
        </p:nvSpPr>
        <p:spPr>
          <a:xfrm>
            <a:off x="457200" y="365759"/>
            <a:ext cx="6508750" cy="1691641"/>
          </a:xfrm>
        </p:spPr>
        <p:txBody>
          <a:bodyPr anchor="t"/>
          <a:lstStyle/>
          <a:p>
            <a:pPr eaLnBrk="1" hangingPunct="1"/>
            <a:r>
              <a:rPr lang="en-US" altLang="en-US" b="1" dirty="0">
                <a:ea typeface="ＭＳ Ｐゴシック" pitchFamily="34" charset="-128"/>
              </a:rPr>
              <a:t>5.2 The Sampling Distribution of a Sample Mean</a:t>
            </a:r>
          </a:p>
        </p:txBody>
      </p:sp>
      <p:sp>
        <p:nvSpPr>
          <p:cNvPr id="36867" name="Text Placeholder 3"/>
          <p:cNvSpPr>
            <a:spLocks noGrp="1"/>
          </p:cNvSpPr>
          <p:nvPr>
            <p:ph idx="1"/>
          </p:nvPr>
        </p:nvSpPr>
        <p:spPr/>
        <p:txBody>
          <a:bodyPr/>
          <a:lstStyle/>
          <a:p>
            <a:pPr eaLnBrk="1" hangingPunct="1">
              <a:buSzPct val="110000"/>
              <a:buFont typeface="Wingdings" pitchFamily="2" charset="2"/>
              <a:buChar char="§"/>
            </a:pPr>
            <a:r>
              <a:rPr lang="en-US" altLang="en-US" sz="2400" dirty="0">
                <a:solidFill>
                  <a:schemeClr val="accent1"/>
                </a:solidFill>
                <a:ea typeface="ＭＳ Ｐゴシック" pitchFamily="34" charset="-128"/>
              </a:rPr>
              <a:t>Probability distribution</a:t>
            </a:r>
          </a:p>
          <a:p>
            <a:pPr eaLnBrk="1" hangingPunct="1">
              <a:buSzPct val="110000"/>
              <a:buFont typeface="Wingdings" pitchFamily="2" charset="2"/>
              <a:buChar char="§"/>
            </a:pPr>
            <a:r>
              <a:rPr lang="en-US" altLang="en-US" sz="2400" dirty="0">
                <a:solidFill>
                  <a:schemeClr val="accent1"/>
                </a:solidFill>
                <a:ea typeface="ＭＳ Ｐゴシック" pitchFamily="34" charset="-128"/>
              </a:rPr>
              <a:t>Mean and standard deviation of the sample mean</a:t>
            </a:r>
          </a:p>
          <a:p>
            <a:pPr eaLnBrk="1" hangingPunct="1">
              <a:buSzPct val="110000"/>
              <a:buFont typeface="Wingdings" pitchFamily="2" charset="2"/>
              <a:buChar char="§"/>
            </a:pPr>
            <a:r>
              <a:rPr lang="en-US" altLang="en-US" sz="2400" dirty="0">
                <a:solidFill>
                  <a:schemeClr val="accent1"/>
                </a:solidFill>
                <a:ea typeface="ＭＳ Ｐゴシック" pitchFamily="34" charset="-128"/>
              </a:rPr>
              <a:t>Sampling distribution of the sample mean</a:t>
            </a:r>
          </a:p>
          <a:p>
            <a:pPr eaLnBrk="1" hangingPunct="1">
              <a:buSzPct val="110000"/>
              <a:buFont typeface="Wingdings" pitchFamily="2" charset="2"/>
              <a:buChar char="§"/>
            </a:pPr>
            <a:r>
              <a:rPr lang="en-US" altLang="en-US" sz="2400" dirty="0">
                <a:solidFill>
                  <a:schemeClr val="accent1"/>
                </a:solidFill>
                <a:ea typeface="ＭＳ Ｐゴシック" pitchFamily="34" charset="-128"/>
              </a:rPr>
              <a:t>Central limit theorem</a:t>
            </a:r>
          </a:p>
        </p:txBody>
      </p:sp>
      <p:sp>
        <p:nvSpPr>
          <p:cNvPr id="36868"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4DAFE6A6-7916-49D9-872F-E6D21D317B53}" type="slidenum">
              <a:rPr lang="en-US" altLang="en-US" sz="1400">
                <a:solidFill>
                  <a:schemeClr val="accent1"/>
                </a:solidFill>
              </a:rPr>
              <a:pPr/>
              <a:t>12</a:t>
            </a:fld>
            <a:endParaRPr lang="en-US" altLang="en-US" sz="1400">
              <a:solidFill>
                <a:schemeClr val="accen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Pro</a:t>
            </a:r>
            <a:r>
              <a:rPr lang="en-US" altLang="zh-CN" dirty="0"/>
              <a:t>bability</a:t>
            </a:r>
            <a:r>
              <a:rPr lang="en-US" altLang="en-US" dirty="0"/>
              <a:t> Distribution</a:t>
            </a:r>
            <a:endParaRPr lang="en-US" dirty="0"/>
          </a:p>
        </p:txBody>
      </p:sp>
      <p:sp>
        <p:nvSpPr>
          <p:cNvPr id="37891"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85B15ED2-9B24-4F96-A5A5-32351D942640}" type="slidenum">
              <a:rPr lang="en-US" altLang="en-US" sz="1200">
                <a:solidFill>
                  <a:schemeClr val="accent1"/>
                </a:solidFill>
              </a:rPr>
              <a:pPr>
                <a:lnSpc>
                  <a:spcPct val="80000"/>
                </a:lnSpc>
              </a:pPr>
              <a:t>13</a:t>
            </a:fld>
            <a:endParaRPr lang="en-US" altLang="en-US" sz="1200">
              <a:solidFill>
                <a:schemeClr val="accent1"/>
              </a:solidFill>
            </a:endParaRPr>
          </a:p>
        </p:txBody>
      </p:sp>
      <p:sp>
        <p:nvSpPr>
          <p:cNvPr id="6" name="TextBox 5"/>
          <p:cNvSpPr txBox="1">
            <a:spLocks noChangeArrowheads="1"/>
          </p:cNvSpPr>
          <p:nvPr/>
        </p:nvSpPr>
        <p:spPr bwMode="auto">
          <a:xfrm>
            <a:off x="524669" y="2456205"/>
            <a:ext cx="7985125" cy="1431161"/>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37931725" indent="-3747452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6858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9144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1600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0574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defRPr/>
            </a:pPr>
            <a:endParaRPr lang="en-US" altLang="en-US" sz="700" b="1" u="sng" dirty="0">
              <a:solidFill>
                <a:srgbClr val="E81F30"/>
              </a:solidFill>
            </a:endParaRPr>
          </a:p>
          <a:p>
            <a:pPr eaLnBrk="1" hangingPunct="1">
              <a:spcBef>
                <a:spcPct val="0"/>
              </a:spcBef>
              <a:buClrTx/>
              <a:buSzTx/>
              <a:buFontTx/>
              <a:buNone/>
              <a:defRPr/>
            </a:pPr>
            <a:r>
              <a:rPr lang="en-US" altLang="en-US" dirty="0">
                <a:solidFill>
                  <a:srgbClr val="000000"/>
                </a:solidFill>
              </a:rPr>
              <a:t>The </a:t>
            </a:r>
            <a:r>
              <a:rPr lang="en-US" altLang="en-US" dirty="0">
                <a:solidFill>
                  <a:srgbClr val="FF0000"/>
                </a:solidFill>
              </a:rPr>
              <a:t>(probability) distribution</a:t>
            </a:r>
            <a:r>
              <a:rPr lang="en-US" altLang="en-US" dirty="0">
                <a:solidFill>
                  <a:srgbClr val="000000"/>
                </a:solidFill>
              </a:rPr>
              <a:t> of a variable measured on a randomly selected individual describes the possible values of that variable and how likely each value is to occur. Th</a:t>
            </a:r>
            <a:r>
              <a:rPr lang="en-US" altLang="zh-CN" dirty="0">
                <a:solidFill>
                  <a:srgbClr val="000000"/>
                </a:solidFill>
              </a:rPr>
              <a:t>is distribution</a:t>
            </a:r>
            <a:r>
              <a:rPr lang="en-US" altLang="en-US" dirty="0">
                <a:solidFill>
                  <a:srgbClr val="000000"/>
                </a:solidFill>
              </a:rPr>
              <a:t> depends on how the individual is selected.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625" y="153987"/>
            <a:ext cx="7772400" cy="1756293"/>
          </a:xfrm>
        </p:spPr>
        <p:txBody>
          <a:bodyPr/>
          <a:lstStyle/>
          <a:p>
            <a:r>
              <a:rPr lang="en-US" altLang="en-US" dirty="0"/>
              <a:t>Mean and Standard Deviation of </a:t>
            </a:r>
            <a:br>
              <a:rPr lang="en-US" altLang="en-US" dirty="0"/>
            </a:br>
            <a:r>
              <a:rPr lang="en-US" altLang="en-US" dirty="0"/>
              <a:t>the Sampling Distribution of </a:t>
            </a:r>
            <a:br>
              <a:rPr lang="en-US" altLang="en-US" dirty="0"/>
            </a:br>
            <a:r>
              <a:rPr lang="en-US" altLang="en-US" dirty="0"/>
              <a:t>the Sample Mean</a:t>
            </a:r>
            <a:endParaRPr lang="en-US" dirty="0"/>
          </a:p>
        </p:txBody>
      </p:sp>
      <p:sp>
        <p:nvSpPr>
          <p:cNvPr id="3994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B163C299-B4C6-4E14-8B51-C941077B166E}" type="slidenum">
              <a:rPr lang="en-US" altLang="en-US" sz="1200">
                <a:solidFill>
                  <a:schemeClr val="accent1"/>
                </a:solidFill>
              </a:rPr>
              <a:pPr>
                <a:lnSpc>
                  <a:spcPct val="80000"/>
                </a:lnSpc>
              </a:pPr>
              <a:t>14</a:t>
            </a:fld>
            <a:endParaRPr lang="en-US" altLang="en-US" sz="1200">
              <a:solidFill>
                <a:schemeClr val="accent1"/>
              </a:solidFill>
            </a:endParaRPr>
          </a:p>
        </p:txBody>
      </p:sp>
      <mc:AlternateContent xmlns:mc="http://schemas.openxmlformats.org/markup-compatibility/2006" xmlns:a14="http://schemas.microsoft.com/office/drawing/2010/main">
        <mc:Choice Requires="a14">
          <p:sp>
            <p:nvSpPr>
              <p:cNvPr id="1276930" name="Rectangle 2"/>
              <p:cNvSpPr>
                <a:spLocks noGrp="1" noChangeArrowheads="1"/>
              </p:cNvSpPr>
              <p:nvPr>
                <p:ph type="body" idx="4294967295"/>
              </p:nvPr>
            </p:nvSpPr>
            <p:spPr>
              <a:xfrm>
                <a:off x="245952" y="1976438"/>
                <a:ext cx="8382000" cy="4611687"/>
              </a:xfrm>
            </p:spPr>
            <p:txBody>
              <a:bodyPr/>
              <a:lstStyle/>
              <a:p>
                <a:pPr marL="0" indent="0">
                  <a:spcBef>
                    <a:spcPct val="0"/>
                  </a:spcBef>
                  <a:buClr>
                    <a:srgbClr val="CC0000"/>
                  </a:buClr>
                  <a:buFont typeface="Wingdings 2" pitchFamily="18" charset="2"/>
                  <a:buNone/>
                </a:pPr>
                <a:r>
                  <a:rPr lang="en-US" altLang="en-US" b="1" dirty="0">
                    <a:solidFill>
                      <a:srgbClr val="000000"/>
                    </a:solidFill>
                    <a:ea typeface="ＭＳ Ｐゴシック" pitchFamily="34" charset="-128"/>
                  </a:rPr>
                  <a:t>Mean of the sampling distribution of the sample mean</a:t>
                </a:r>
              </a:p>
              <a:p>
                <a:pPr marL="0" indent="0">
                  <a:spcBef>
                    <a:spcPct val="0"/>
                  </a:spcBef>
                  <a:buNone/>
                </a:pPr>
                <a:r>
                  <a:rPr lang="en-US" altLang="en-US" sz="2000" dirty="0">
                    <a:solidFill>
                      <a:srgbClr val="000000"/>
                    </a:solidFill>
                    <a:ea typeface="ＭＳ Ｐゴシック" pitchFamily="34" charset="-128"/>
                  </a:rPr>
                  <a:t>If we repeatedly take SRSs of size </a:t>
                </a:r>
                <a14:m>
                  <m:oMath xmlns:m="http://schemas.openxmlformats.org/officeDocument/2006/math">
                    <m:r>
                      <a:rPr lang="en-US" altLang="en-US" sz="2000" b="0" i="1" smtClean="0">
                        <a:solidFill>
                          <a:srgbClr val="000000"/>
                        </a:solidFill>
                        <a:latin typeface="Cambria Math" panose="02040503050406030204" pitchFamily="18" charset="0"/>
                        <a:ea typeface="ＭＳ Ｐゴシック" pitchFamily="34" charset="-128"/>
                      </a:rPr>
                      <m:t>𝑛</m:t>
                    </m:r>
                  </m:oMath>
                </a14:m>
                <a:r>
                  <a:rPr lang="en-US" altLang="en-US" sz="2000" dirty="0">
                    <a:solidFill>
                      <a:srgbClr val="000000"/>
                    </a:solidFill>
                    <a:ea typeface="ＭＳ Ｐゴシック" pitchFamily="34" charset="-128"/>
                  </a:rPr>
                  <a:t> from the same population and calculate the sample mean </a:t>
                </a:r>
                <a14:m>
                  <m:oMath xmlns:m="http://schemas.openxmlformats.org/officeDocument/2006/math">
                    <m:acc>
                      <m:accPr>
                        <m:chr m:val="̅"/>
                        <m:ctrlPr>
                          <a:rPr lang="en-US" altLang="en-US" sz="2000" b="1" i="1" dirty="0" smtClean="0">
                            <a:solidFill>
                              <a:srgbClr val="000000"/>
                            </a:solidFill>
                            <a:latin typeface="Cambria Math" panose="02040503050406030204" pitchFamily="18" charset="0"/>
                            <a:ea typeface="ＭＳ Ｐゴシック" pitchFamily="34" charset="-128"/>
                          </a:rPr>
                        </m:ctrlPr>
                      </m:accPr>
                      <m:e>
                        <m:r>
                          <a:rPr lang="en-US" altLang="en-US" sz="2000" b="1" i="1" dirty="0" smtClean="0">
                            <a:solidFill>
                              <a:srgbClr val="000000"/>
                            </a:solidFill>
                            <a:latin typeface="Cambria Math" panose="02040503050406030204" pitchFamily="18" charset="0"/>
                            <a:ea typeface="ＭＳ Ｐゴシック" pitchFamily="34" charset="-128"/>
                          </a:rPr>
                          <m:t>𝒙</m:t>
                        </m:r>
                      </m:e>
                    </m:acc>
                  </m:oMath>
                </a14:m>
                <a:r>
                  <a:rPr lang="en-US" altLang="en-US" sz="2000" dirty="0">
                    <a:solidFill>
                      <a:srgbClr val="000000"/>
                    </a:solidFill>
                    <a:ea typeface="ＭＳ Ｐゴシック" pitchFamily="34" charset="-128"/>
                  </a:rPr>
                  <a:t>, the sampling distribution of </a:t>
                </a:r>
                <a14:m>
                  <m:oMath xmlns:m="http://schemas.openxmlformats.org/officeDocument/2006/math">
                    <m:acc>
                      <m:accPr>
                        <m:chr m:val="̅"/>
                        <m:ctrlPr>
                          <a:rPr lang="en-US" altLang="en-US" b="1" i="1" dirty="0">
                            <a:solidFill>
                              <a:srgbClr val="000000"/>
                            </a:solidFill>
                            <a:latin typeface="Cambria Math" panose="02040503050406030204" pitchFamily="18" charset="0"/>
                            <a:ea typeface="ＭＳ Ｐゴシック" pitchFamily="34" charset="-128"/>
                          </a:rPr>
                        </m:ctrlPr>
                      </m:accPr>
                      <m:e>
                        <m:r>
                          <a:rPr lang="en-US" altLang="en-US" b="1" i="1" dirty="0">
                            <a:solidFill>
                              <a:srgbClr val="000000"/>
                            </a:solidFill>
                            <a:latin typeface="Cambria Math" panose="02040503050406030204" pitchFamily="18" charset="0"/>
                            <a:ea typeface="ＭＳ Ｐゴシック" pitchFamily="34" charset="-128"/>
                          </a:rPr>
                          <m:t>𝒙</m:t>
                        </m:r>
                      </m:e>
                    </m:acc>
                  </m:oMath>
                </a14:m>
                <a:r>
                  <a:rPr lang="en-US" altLang="en-US" sz="2000" dirty="0">
                    <a:solidFill>
                      <a:srgbClr val="000000"/>
                    </a:solidFill>
                    <a:ea typeface="ＭＳ Ｐゴシック" pitchFamily="34" charset="-128"/>
                  </a:rPr>
                  <a:t> is centered at the population mean </a:t>
                </a:r>
                <a14:m>
                  <m:oMath xmlns:m="http://schemas.openxmlformats.org/officeDocument/2006/math">
                    <m:r>
                      <a:rPr lang="en-US" altLang="en-US" sz="2000" b="0" i="1" smtClean="0">
                        <a:solidFill>
                          <a:srgbClr val="000000"/>
                        </a:solidFill>
                        <a:latin typeface="Cambria Math" panose="02040503050406030204" pitchFamily="18" charset="0"/>
                        <a:ea typeface="ＭＳ Ｐゴシック" pitchFamily="34" charset="-128"/>
                      </a:rPr>
                      <m:t>𝜇</m:t>
                    </m:r>
                  </m:oMath>
                </a14:m>
                <a:r>
                  <a:rPr lang="en-US" altLang="en-US" sz="2000" dirty="0">
                    <a:solidFill>
                      <a:srgbClr val="000000"/>
                    </a:solidFill>
                    <a:ea typeface="ＭＳ Ｐゴシック" pitchFamily="34" charset="-128"/>
                  </a:rPr>
                  <a:t>. Thus, </a:t>
                </a:r>
                <a14:m>
                  <m:oMath xmlns:m="http://schemas.openxmlformats.org/officeDocument/2006/math">
                    <m:acc>
                      <m:accPr>
                        <m:chr m:val="̅"/>
                        <m:ctrlPr>
                          <a:rPr lang="en-US" altLang="en-US" b="1" i="1" dirty="0">
                            <a:solidFill>
                              <a:srgbClr val="000000"/>
                            </a:solidFill>
                            <a:latin typeface="Cambria Math" panose="02040503050406030204" pitchFamily="18" charset="0"/>
                            <a:ea typeface="ＭＳ Ｐゴシック" pitchFamily="34" charset="-128"/>
                          </a:rPr>
                        </m:ctrlPr>
                      </m:accPr>
                      <m:e>
                        <m:r>
                          <a:rPr lang="en-US" altLang="en-US" b="1" i="1" dirty="0">
                            <a:solidFill>
                              <a:srgbClr val="000000"/>
                            </a:solidFill>
                            <a:latin typeface="Cambria Math" panose="02040503050406030204" pitchFamily="18" charset="0"/>
                            <a:ea typeface="ＭＳ Ｐゴシック" pitchFamily="34" charset="-128"/>
                          </a:rPr>
                          <m:t>𝒙</m:t>
                        </m:r>
                      </m:e>
                    </m:acc>
                  </m:oMath>
                </a14:m>
                <a:r>
                  <a:rPr lang="en-US" altLang="en-US" sz="2000" dirty="0">
                    <a:solidFill>
                      <a:srgbClr val="000000"/>
                    </a:solidFill>
                    <a:ea typeface="ＭＳ Ｐゴシック" pitchFamily="34" charset="-128"/>
                  </a:rPr>
                  <a:t> is</a:t>
                </a:r>
                <a:r>
                  <a:rPr lang="en-US" altLang="en-US" sz="2000" dirty="0">
                    <a:solidFill>
                      <a:srgbClr val="FF0000"/>
                    </a:solidFill>
                    <a:ea typeface="ＭＳ Ｐゴシック" pitchFamily="34" charset="-128"/>
                  </a:rPr>
                  <a:t> </a:t>
                </a:r>
                <a:r>
                  <a:rPr lang="en-US" altLang="en-US" sz="2000" dirty="0">
                    <a:solidFill>
                      <a:srgbClr val="000000"/>
                    </a:solidFill>
                    <a:ea typeface="ＭＳ Ｐゴシック" pitchFamily="34" charset="-128"/>
                  </a:rPr>
                  <a:t>an </a:t>
                </a:r>
                <a:r>
                  <a:rPr lang="en-US" altLang="en-US" sz="2000" b="1" dirty="0">
                    <a:solidFill>
                      <a:srgbClr val="800000"/>
                    </a:solidFill>
                    <a:ea typeface="ＭＳ Ｐゴシック" pitchFamily="34" charset="-128"/>
                  </a:rPr>
                  <a:t>unbiased</a:t>
                </a:r>
                <a:r>
                  <a:rPr lang="en-US" altLang="en-US" sz="2000" dirty="0">
                    <a:solidFill>
                      <a:srgbClr val="800000"/>
                    </a:solidFill>
                    <a:ea typeface="ＭＳ Ｐゴシック" pitchFamily="34" charset="-128"/>
                  </a:rPr>
                  <a:t> </a:t>
                </a:r>
                <a:r>
                  <a:rPr lang="en-US" altLang="en-US" sz="2000" b="1" dirty="0">
                    <a:solidFill>
                      <a:srgbClr val="800000"/>
                    </a:solidFill>
                    <a:ea typeface="ＭＳ Ｐゴシック" pitchFamily="34" charset="-128"/>
                  </a:rPr>
                  <a:t>estimator </a:t>
                </a:r>
                <a:r>
                  <a:rPr lang="en-US" altLang="en-US" sz="2000" dirty="0">
                    <a:solidFill>
                      <a:srgbClr val="000000"/>
                    </a:solidFill>
                    <a:ea typeface="ＭＳ Ｐゴシック" pitchFamily="34" charset="-128"/>
                  </a:rPr>
                  <a:t>of </a:t>
                </a:r>
                <a14:m>
                  <m:oMath xmlns:m="http://schemas.openxmlformats.org/officeDocument/2006/math">
                    <m:r>
                      <a:rPr lang="en-US" altLang="en-US" i="1">
                        <a:solidFill>
                          <a:srgbClr val="000000"/>
                        </a:solidFill>
                        <a:latin typeface="Cambria Math" panose="02040503050406030204" pitchFamily="18" charset="0"/>
                        <a:ea typeface="ＭＳ Ｐゴシック" pitchFamily="34" charset="-128"/>
                      </a:rPr>
                      <m:t>𝜇</m:t>
                    </m:r>
                  </m:oMath>
                </a14:m>
                <a:r>
                  <a:rPr lang="en-US" altLang="en-US" sz="2000" i="1" dirty="0">
                    <a:solidFill>
                      <a:srgbClr val="000000"/>
                    </a:solidFill>
                    <a:latin typeface="Symbol" pitchFamily="18" charset="2"/>
                    <a:ea typeface="ＭＳ Ｐゴシック" pitchFamily="34" charset="-128"/>
                  </a:rPr>
                  <a:t>.</a:t>
                </a:r>
                <a:endParaRPr lang="en-US" altLang="en-US" sz="2000" dirty="0">
                  <a:solidFill>
                    <a:srgbClr val="000000"/>
                  </a:solidFill>
                  <a:ea typeface="ＭＳ Ｐゴシック" pitchFamily="34" charset="-128"/>
                </a:endParaRPr>
              </a:p>
              <a:p>
                <a:pPr marL="0" lvl="1" indent="0">
                  <a:lnSpc>
                    <a:spcPct val="160000"/>
                  </a:lnSpc>
                  <a:spcBef>
                    <a:spcPct val="0"/>
                  </a:spcBef>
                  <a:buClrTx/>
                  <a:buSzTx/>
                  <a:buFont typeface="Wingdings 2" pitchFamily="18" charset="2"/>
                  <a:buNone/>
                </a:pPr>
                <a:endParaRPr lang="en-US" altLang="en-US" sz="600" dirty="0">
                  <a:solidFill>
                    <a:srgbClr val="000000"/>
                  </a:solidFill>
                  <a:ea typeface="ＭＳ Ｐゴシック" pitchFamily="34" charset="-128"/>
                </a:endParaRPr>
              </a:p>
              <a:p>
                <a:pPr marL="0" indent="0" eaLnBrk="1" hangingPunct="1">
                  <a:buClr>
                    <a:srgbClr val="CC0000"/>
                  </a:buClr>
                  <a:buFont typeface="Wingdings 2" pitchFamily="18" charset="2"/>
                  <a:buNone/>
                </a:pPr>
                <a:r>
                  <a:rPr lang="en-US" altLang="en-US" b="1" dirty="0">
                    <a:solidFill>
                      <a:srgbClr val="000000"/>
                    </a:solidFill>
                    <a:ea typeface="ＭＳ Ｐゴシック" pitchFamily="34" charset="-128"/>
                  </a:rPr>
                  <a:t>Standard deviation of </a:t>
                </a:r>
                <a:r>
                  <a:rPr lang="en-US" altLang="en-US" b="1" dirty="0">
                    <a:solidFill>
                      <a:schemeClr val="tx1"/>
                    </a:solidFill>
                    <a:ea typeface="ＭＳ Ｐゴシック" pitchFamily="34" charset="-128"/>
                  </a:rPr>
                  <a:t>the sampling distribution of the sample mean</a:t>
                </a:r>
                <a:r>
                  <a:rPr lang="en-US" altLang="en-US" b="1" dirty="0">
                    <a:solidFill>
                      <a:srgbClr val="FF0000"/>
                    </a:solidFill>
                    <a:ea typeface="ＭＳ Ｐゴシック" pitchFamily="34" charset="-128"/>
                  </a:rPr>
                  <a:t> </a:t>
                </a:r>
                <a:endParaRPr lang="en-US" altLang="en-US" b="1" i="1" dirty="0">
                  <a:solidFill>
                    <a:srgbClr val="FF0000"/>
                  </a:solidFill>
                  <a:ea typeface="ＭＳ Ｐゴシック" pitchFamily="34" charset="-128"/>
                </a:endParaRPr>
              </a:p>
              <a:p>
                <a:pPr marL="0" indent="0" eaLnBrk="1" hangingPunct="1">
                  <a:spcBef>
                    <a:spcPct val="0"/>
                  </a:spcBef>
                  <a:buNone/>
                </a:pPr>
                <a:r>
                  <a:rPr lang="en-US" altLang="en-US" sz="2000" dirty="0">
                    <a:solidFill>
                      <a:srgbClr val="000000"/>
                    </a:solidFill>
                    <a:ea typeface="ＭＳ Ｐゴシック" pitchFamily="34" charset="-128"/>
                  </a:rPr>
                  <a:t>The standard deviation of the sampling distribution </a:t>
                </a:r>
                <a:r>
                  <a:rPr lang="en-US" altLang="en-US" dirty="0">
                    <a:solidFill>
                      <a:srgbClr val="000000"/>
                    </a:solidFill>
                    <a:ea typeface="ＭＳ Ｐゴシック" pitchFamily="34" charset="-128"/>
                  </a:rPr>
                  <a:t>of </a:t>
                </a:r>
                <a14:m>
                  <m:oMath xmlns:m="http://schemas.openxmlformats.org/officeDocument/2006/math">
                    <m:acc>
                      <m:accPr>
                        <m:chr m:val="̅"/>
                        <m:ctrlPr>
                          <a:rPr lang="en-US" altLang="en-US" b="1" i="1" dirty="0">
                            <a:solidFill>
                              <a:srgbClr val="000000"/>
                            </a:solidFill>
                            <a:latin typeface="Cambria Math" panose="02040503050406030204" pitchFamily="18" charset="0"/>
                            <a:ea typeface="ＭＳ Ｐゴシック" pitchFamily="34" charset="-128"/>
                          </a:rPr>
                        </m:ctrlPr>
                      </m:accPr>
                      <m:e>
                        <m:r>
                          <a:rPr lang="en-US" altLang="en-US" b="1" i="1" dirty="0">
                            <a:solidFill>
                              <a:srgbClr val="000000"/>
                            </a:solidFill>
                            <a:latin typeface="Cambria Math" panose="02040503050406030204" pitchFamily="18" charset="0"/>
                            <a:ea typeface="ＭＳ Ｐゴシック" pitchFamily="34" charset="-128"/>
                          </a:rPr>
                          <m:t>𝒙</m:t>
                        </m:r>
                      </m:e>
                    </m:acc>
                  </m:oMath>
                </a14:m>
                <a:r>
                  <a:rPr lang="en-US" altLang="en-US" sz="2000" dirty="0">
                    <a:solidFill>
                      <a:srgbClr val="000000"/>
                    </a:solidFill>
                    <a:ea typeface="ＭＳ Ｐゴシック" pitchFamily="34" charset="-128"/>
                  </a:rPr>
                  <a:t> measures how much </a:t>
                </a:r>
                <a14:m>
                  <m:oMath xmlns:m="http://schemas.openxmlformats.org/officeDocument/2006/math">
                    <m:acc>
                      <m:accPr>
                        <m:chr m:val="̅"/>
                        <m:ctrlPr>
                          <a:rPr lang="en-US" altLang="en-US" b="1" i="1" dirty="0">
                            <a:solidFill>
                              <a:srgbClr val="000000"/>
                            </a:solidFill>
                            <a:latin typeface="Cambria Math" panose="02040503050406030204" pitchFamily="18" charset="0"/>
                            <a:ea typeface="ＭＳ Ｐゴシック" pitchFamily="34" charset="-128"/>
                          </a:rPr>
                        </m:ctrlPr>
                      </m:accPr>
                      <m:e>
                        <m:r>
                          <a:rPr lang="en-US" altLang="en-US" b="1" i="1" dirty="0">
                            <a:solidFill>
                              <a:srgbClr val="000000"/>
                            </a:solidFill>
                            <a:latin typeface="Cambria Math" panose="02040503050406030204" pitchFamily="18" charset="0"/>
                            <a:ea typeface="ＭＳ Ｐゴシック" pitchFamily="34" charset="-128"/>
                          </a:rPr>
                          <m:t>𝒙</m:t>
                        </m:r>
                      </m:e>
                    </m:acc>
                  </m:oMath>
                </a14:m>
                <a:r>
                  <a:rPr lang="en-US" altLang="en-US" sz="2000" dirty="0">
                    <a:solidFill>
                      <a:srgbClr val="000000"/>
                    </a:solidFill>
                    <a:ea typeface="ＭＳ Ｐゴシック" pitchFamily="34" charset="-128"/>
                  </a:rPr>
                  <a:t> varies from sample to sample. </a:t>
                </a:r>
                <a:r>
                  <a:rPr lang="en-US" altLang="en-US" dirty="0">
                    <a:solidFill>
                      <a:srgbClr val="000000"/>
                    </a:solidFill>
                    <a:ea typeface="ＭＳ Ｐゴシック" pitchFamily="34" charset="-128"/>
                  </a:rPr>
                  <a:t>For an SRS, the standard deviation of the sampling distribution of </a:t>
                </a:r>
                <a14:m>
                  <m:oMath xmlns:m="http://schemas.openxmlformats.org/officeDocument/2006/math">
                    <m:acc>
                      <m:accPr>
                        <m:chr m:val="̅"/>
                        <m:ctrlPr>
                          <a:rPr lang="en-US" altLang="en-US" b="1" i="1" dirty="0">
                            <a:solidFill>
                              <a:srgbClr val="000000"/>
                            </a:solidFill>
                            <a:latin typeface="Cambria Math" panose="02040503050406030204" pitchFamily="18" charset="0"/>
                            <a:ea typeface="ＭＳ Ｐゴシック" pitchFamily="34" charset="-128"/>
                          </a:rPr>
                        </m:ctrlPr>
                      </m:accPr>
                      <m:e>
                        <m:r>
                          <a:rPr lang="en-US" altLang="en-US" b="1" i="1" dirty="0">
                            <a:solidFill>
                              <a:srgbClr val="000000"/>
                            </a:solidFill>
                            <a:latin typeface="Cambria Math" panose="02040503050406030204" pitchFamily="18" charset="0"/>
                            <a:ea typeface="ＭＳ Ｐゴシック" pitchFamily="34" charset="-128"/>
                          </a:rPr>
                          <m:t>𝒙</m:t>
                        </m:r>
                      </m:e>
                    </m:acc>
                  </m:oMath>
                </a14:m>
                <a:r>
                  <a:rPr lang="en-US" altLang="en-US" dirty="0">
                    <a:solidFill>
                      <a:srgbClr val="000000"/>
                    </a:solidFill>
                    <a:ea typeface="ＭＳ Ｐゴシック" pitchFamily="34" charset="-128"/>
                  </a:rPr>
                  <a:t> </a:t>
                </a:r>
                <a:r>
                  <a:rPr lang="en-US" altLang="zh-CN" dirty="0">
                    <a:solidFill>
                      <a:srgbClr val="000000"/>
                    </a:solidFill>
                    <a:ea typeface="ＭＳ Ｐゴシック" pitchFamily="34" charset="-128"/>
                  </a:rPr>
                  <a:t>is </a:t>
                </a:r>
                <a14:m>
                  <m:oMath xmlns:m="http://schemas.openxmlformats.org/officeDocument/2006/math">
                    <m:r>
                      <a:rPr lang="en-US" altLang="zh-CN" i="1" dirty="0">
                        <a:solidFill>
                          <a:srgbClr val="000000"/>
                        </a:solidFill>
                        <a:latin typeface="Cambria Math" panose="02040503050406030204" pitchFamily="18" charset="0"/>
                        <a:ea typeface="ＭＳ Ｐゴシック" pitchFamily="34" charset="-128"/>
                      </a:rPr>
                      <m:t>𝜎</m:t>
                    </m:r>
                    <m:r>
                      <a:rPr lang="en-US" altLang="zh-CN" i="1" dirty="0">
                        <a:solidFill>
                          <a:srgbClr val="000000"/>
                        </a:solidFill>
                        <a:latin typeface="Cambria Math" panose="02040503050406030204" pitchFamily="18" charset="0"/>
                        <a:ea typeface="ＭＳ Ｐゴシック" pitchFamily="34" charset="-128"/>
                      </a:rPr>
                      <m:t>/√</m:t>
                    </m:r>
                    <m:r>
                      <a:rPr lang="en-US" altLang="zh-CN" i="1" dirty="0">
                        <a:solidFill>
                          <a:srgbClr val="000000"/>
                        </a:solidFill>
                        <a:latin typeface="Cambria Math" panose="02040503050406030204" pitchFamily="18" charset="0"/>
                        <a:ea typeface="ＭＳ Ｐゴシック" pitchFamily="34" charset="-128"/>
                      </a:rPr>
                      <m:t>𝑛</m:t>
                    </m:r>
                  </m:oMath>
                </a14:m>
                <a:r>
                  <a:rPr lang="en-US" altLang="zh-CN" dirty="0">
                    <a:solidFill>
                      <a:srgbClr val="000000"/>
                    </a:solidFill>
                    <a:ea typeface="ＭＳ Ｐゴシック" pitchFamily="34" charset="-128"/>
                  </a:rPr>
                  <a:t>. </a:t>
                </a:r>
                <a:r>
                  <a:rPr lang="en-US" altLang="en-US" sz="2000" dirty="0">
                    <a:solidFill>
                      <a:srgbClr val="FF0000"/>
                    </a:solidFill>
                    <a:ea typeface="ＭＳ Ｐゴシック" pitchFamily="34" charset="-128"/>
                  </a:rPr>
                  <a:t>It is smaller than the </a:t>
                </a:r>
                <a:r>
                  <a:rPr lang="en-US" altLang="zh-CN" sz="2000" dirty="0">
                    <a:solidFill>
                      <a:srgbClr val="FF0000"/>
                    </a:solidFill>
                    <a:ea typeface="ＭＳ Ｐゴシック" pitchFamily="34" charset="-128"/>
                  </a:rPr>
                  <a:t>population </a:t>
                </a:r>
                <a:r>
                  <a:rPr lang="en-US" altLang="en-US" sz="2000" dirty="0">
                    <a:solidFill>
                      <a:srgbClr val="FF0000"/>
                    </a:solidFill>
                    <a:ea typeface="ＭＳ Ｐゴシック" pitchFamily="34" charset="-128"/>
                  </a:rPr>
                  <a:t>standard deviation by a factor of √</a:t>
                </a:r>
                <a:r>
                  <a:rPr lang="en-US" altLang="en-US" sz="2000" i="1" dirty="0">
                    <a:solidFill>
                      <a:srgbClr val="FF0000"/>
                    </a:solidFill>
                    <a:ea typeface="ＭＳ Ｐゴシック" pitchFamily="34" charset="-128"/>
                  </a:rPr>
                  <a:t>n</a:t>
                </a:r>
                <a:r>
                  <a:rPr lang="en-US" altLang="en-US" sz="2000" dirty="0">
                    <a:solidFill>
                      <a:srgbClr val="000000"/>
                    </a:solidFill>
                    <a:ea typeface="ＭＳ Ｐゴシック" pitchFamily="34" charset="-128"/>
                  </a:rPr>
                  <a:t>. </a:t>
                </a:r>
              </a:p>
            </p:txBody>
          </p:sp>
        </mc:Choice>
        <mc:Fallback xmlns="">
          <p:sp>
            <p:nvSpPr>
              <p:cNvPr id="1276930" name="Rectangle 2"/>
              <p:cNvSpPr>
                <a:spLocks noGrp="1" noRot="1" noChangeAspect="1" noMove="1" noResize="1" noEditPoints="1" noAdjustHandles="1" noChangeArrowheads="1" noChangeShapeType="1" noTextEdit="1"/>
              </p:cNvSpPr>
              <p:nvPr>
                <p:ph type="body" idx="4294967295"/>
              </p:nvPr>
            </p:nvSpPr>
            <p:spPr>
              <a:xfrm>
                <a:off x="245952" y="1976438"/>
                <a:ext cx="8382000" cy="4611687"/>
              </a:xfrm>
              <a:blipFill>
                <a:blip r:embed="rId3"/>
                <a:stretch>
                  <a:fillRect l="-727" t="-528" r="-73"/>
                </a:stretch>
              </a:blipFill>
            </p:spPr>
            <p:txBody>
              <a:bodyPr/>
              <a:lstStyle/>
              <a:p>
                <a:r>
                  <a:rPr lang="en-US">
                    <a:noFill/>
                  </a:rPr>
                  <a:t> </a:t>
                </a:r>
              </a:p>
            </p:txBody>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174625" y="153988"/>
            <a:ext cx="7772400" cy="1143000"/>
          </a:xfrm>
        </p:spPr>
        <p:txBody>
          <a:bodyPr/>
          <a:lstStyle/>
          <a:p>
            <a:r>
              <a:rPr lang="en-US" altLang="en-US" dirty="0"/>
              <a:t>Sampling Distribution of </a:t>
            </a:r>
            <a:br>
              <a:rPr lang="en-US" altLang="en-US" dirty="0"/>
            </a:br>
            <a:r>
              <a:rPr lang="en-US" altLang="en-US" dirty="0"/>
              <a:t>the Sample Mean </a:t>
            </a:r>
          </a:p>
        </p:txBody>
      </p:sp>
      <p:sp>
        <p:nvSpPr>
          <p:cNvPr id="41993" name="Slide Number Placeholder 5"/>
          <p:cNvSpPr txBox="1">
            <a:spLocks/>
          </p:cNvSpPr>
          <p:nvPr/>
        </p:nvSpPr>
        <p:spPr bwMode="auto">
          <a:xfrm>
            <a:off x="8485981" y="289517"/>
            <a:ext cx="508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r" eaLnBrk="1" hangingPunct="1">
              <a:lnSpc>
                <a:spcPct val="80000"/>
              </a:lnSpc>
            </a:pPr>
            <a:fld id="{800499A7-8798-42D9-8C3D-064839A27F50}" type="slidenum">
              <a:rPr lang="en-US" altLang="en-US" sz="1200" b="1">
                <a:solidFill>
                  <a:schemeClr val="accent1"/>
                </a:solidFill>
              </a:rPr>
              <a:pPr algn="r" eaLnBrk="1" hangingPunct="1">
                <a:lnSpc>
                  <a:spcPct val="80000"/>
                </a:lnSpc>
              </a:pPr>
              <a:t>15</a:t>
            </a:fld>
            <a:endParaRPr lang="en-US" altLang="en-US" sz="1200" b="1" dirty="0">
              <a:solidFill>
                <a:schemeClr val="accent1"/>
              </a:solidFill>
            </a:endParaRPr>
          </a:p>
        </p:txBody>
      </p:sp>
      <p:pic>
        <p:nvPicPr>
          <p:cNvPr id="2" name="Picture 1" descr="The animations show a formula and a graph illustrating the sampling distribution of a sample mean. The expression is given as: The mean of the sampling distribution of x bar is 'mew' subscript 'x bar' equals to 'mew.' The standard deviation of the sampling distribution of x bar is &quot;sigma divide by square root of n.&quot; “x bar” is the mean of an SRS (simple random sample) of size 'n' drawn from a large population with mean 'mew' and standard deviation 'sigma.'&#10;Population mean &quot;mew,&quot; SRS size &quot;n&quot; with mean &quot;x bar&quot; and standard deviation &quot;sigma divided by square root n&quot; are explained through a normal population distribution graph.&#10;" hidden="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04784" y="1105927"/>
            <a:ext cx="934851" cy="267822"/>
          </a:xfrm>
          <a:prstGeom prst="rect">
            <a:avLst/>
          </a:prstGeom>
        </p:spPr>
      </p:pic>
      <p:pic>
        <p:nvPicPr>
          <p:cNvPr id="3" name="Picture 2" descr="To skip animation steps, move to the next slide." hidden="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07779" y="1058976"/>
            <a:ext cx="953621" cy="282759"/>
          </a:xfrm>
          <a:prstGeom prst="rect">
            <a:avLst/>
          </a:prstGeom>
        </p:spPr>
      </p:pic>
      <p:sp>
        <p:nvSpPr>
          <p:cNvPr id="41987" name="TextBox 1"/>
          <p:cNvSpPr txBox="1">
            <a:spLocks noChangeArrowheads="1"/>
          </p:cNvSpPr>
          <p:nvPr/>
        </p:nvSpPr>
        <p:spPr bwMode="auto">
          <a:xfrm>
            <a:off x="350042" y="1618812"/>
            <a:ext cx="847725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buFont typeface="Wingdings" pitchFamily="2" charset="2"/>
              <a:buNone/>
            </a:pPr>
            <a:r>
              <a:rPr lang="en-US" altLang="en-US" dirty="0">
                <a:solidFill>
                  <a:srgbClr val="000000"/>
                </a:solidFill>
              </a:rPr>
              <a:t>When we choose many SRSs from a population, the sampling distribution of the sample mean is centered at the population mean </a:t>
            </a:r>
            <a:r>
              <a:rPr lang="en-US" altLang="en-US" i="1" dirty="0">
                <a:solidFill>
                  <a:srgbClr val="000000"/>
                </a:solidFill>
              </a:rPr>
              <a:t>µ</a:t>
            </a:r>
            <a:r>
              <a:rPr lang="en-US" altLang="en-US" dirty="0">
                <a:solidFill>
                  <a:srgbClr val="000000"/>
                </a:solidFill>
              </a:rPr>
              <a:t> and  has a smaller standard deviation than the probability distribution of individual observations. Here are the facts.</a:t>
            </a:r>
          </a:p>
        </p:txBody>
      </p:sp>
      <p:grpSp>
        <p:nvGrpSpPr>
          <p:cNvPr id="41995" name="Group 18" descr="described separately"/>
          <p:cNvGrpSpPr>
            <a:grpSpLocks/>
          </p:cNvGrpSpPr>
          <p:nvPr/>
        </p:nvGrpSpPr>
        <p:grpSpPr bwMode="auto">
          <a:xfrm>
            <a:off x="611979" y="3209583"/>
            <a:ext cx="7953375" cy="1997320"/>
            <a:chOff x="-242149" y="4854035"/>
            <a:chExt cx="8422734" cy="2000287"/>
          </a:xfrm>
        </p:grpSpPr>
        <p:sp>
          <p:nvSpPr>
            <p:cNvPr id="12" name="TextBox 11"/>
            <p:cNvSpPr txBox="1">
              <a:spLocks noChangeArrowheads="1"/>
            </p:cNvSpPr>
            <p:nvPr/>
          </p:nvSpPr>
          <p:spPr bwMode="auto">
            <a:xfrm>
              <a:off x="-158091" y="4854035"/>
              <a:ext cx="8254616" cy="370436"/>
            </a:xfrm>
            <a:prstGeom prst="rect">
              <a:avLst/>
            </a:prstGeom>
            <a:solidFill>
              <a:srgbClr val="D6DFE8"/>
            </a:solidFill>
            <a:ln w="10000">
              <a:solidFill>
                <a:schemeClr val="accent2"/>
              </a:solidFill>
              <a:miter lim="800000"/>
              <a:headEnd/>
              <a:tailEnd/>
            </a:ln>
            <a:effectLst>
              <a:outerShdw blurRad="38100" dist="30000" dir="5400000" rotWithShape="0">
                <a:srgbClr val="808080">
                  <a:alpha val="45000"/>
                </a:srgbClr>
              </a:outerShdw>
            </a:effec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37931725" indent="-3747452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6858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9144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1600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0574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ctr" eaLnBrk="1" hangingPunct="1">
                <a:spcBef>
                  <a:spcPct val="0"/>
                </a:spcBef>
                <a:buClrTx/>
                <a:buSzTx/>
                <a:buFontTx/>
                <a:buNone/>
                <a:defRPr/>
              </a:pPr>
              <a:r>
                <a:rPr lang="en-US" altLang="en-US" sz="1800" b="1" dirty="0">
                  <a:solidFill>
                    <a:schemeClr val="tx1"/>
                  </a:solidFill>
                </a:rPr>
                <a:t>The Sampling Distribution of Sample Means</a:t>
              </a:r>
              <a:endParaRPr lang="en-US" altLang="en-US" sz="1800" b="1" i="1" dirty="0">
                <a:solidFill>
                  <a:schemeClr val="tx1"/>
                </a:solidFill>
                <a:latin typeface="Palatino" charset="0"/>
              </a:endParaRPr>
            </a:p>
          </p:txBody>
        </p:sp>
        <mc:AlternateContent xmlns:mc="http://schemas.openxmlformats.org/markup-compatibility/2006" xmlns:a14="http://schemas.microsoft.com/office/drawing/2010/main">
          <mc:Choice Requires="a14">
            <p:sp>
              <p:nvSpPr>
                <p:cNvPr id="11" name="TextBox 10"/>
                <p:cNvSpPr txBox="1">
                  <a:spLocks noChangeArrowheads="1"/>
                </p:cNvSpPr>
                <p:nvPr/>
              </p:nvSpPr>
              <p:spPr bwMode="auto">
                <a:xfrm>
                  <a:off x="-242149" y="5224472"/>
                  <a:ext cx="8422734" cy="1629850"/>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marL="342900" indent="-342900">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37931725" indent="-3747452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6858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9144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1600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0574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indent="0" algn="ctr" eaLnBrk="1" hangingPunct="1">
                    <a:spcBef>
                      <a:spcPts val="1200"/>
                    </a:spcBef>
                    <a:spcAft>
                      <a:spcPts val="600"/>
                    </a:spcAft>
                    <a:buClrTx/>
                    <a:buSzTx/>
                    <a:buFontTx/>
                    <a:buNone/>
                    <a:defRPr/>
                  </a:pPr>
                  <a:r>
                    <a:rPr lang="en-US" altLang="en-US" sz="1800" dirty="0">
                      <a:solidFill>
                        <a:srgbClr val="000000"/>
                      </a:solidFill>
                    </a:rPr>
                    <a:t>Suppose that </a:t>
                  </a:r>
                  <a14:m>
                    <m:oMath xmlns:m="http://schemas.openxmlformats.org/officeDocument/2006/math">
                      <m:acc>
                        <m:accPr>
                          <m:chr m:val="̅"/>
                          <m:ctrlPr>
                            <a:rPr lang="en-US" altLang="en-US" sz="1800" b="0" i="1" smtClean="0">
                              <a:solidFill>
                                <a:srgbClr val="000000"/>
                              </a:solidFill>
                              <a:latin typeface="Cambria Math" panose="02040503050406030204" pitchFamily="18" charset="0"/>
                            </a:rPr>
                          </m:ctrlPr>
                        </m:accPr>
                        <m:e>
                          <m:r>
                            <a:rPr lang="en-US" altLang="en-US" sz="1800" b="0" i="1" smtClean="0">
                              <a:solidFill>
                                <a:srgbClr val="000000"/>
                              </a:solidFill>
                              <a:latin typeface="Cambria Math" panose="02040503050406030204" pitchFamily="18" charset="0"/>
                            </a:rPr>
                            <m:t>𝑥</m:t>
                          </m:r>
                        </m:e>
                      </m:acc>
                    </m:oMath>
                  </a14:m>
                  <a:r>
                    <a:rPr lang="en-US" altLang="en-US" sz="1800" dirty="0">
                      <a:solidFill>
                        <a:srgbClr val="000000"/>
                      </a:solidFill>
                    </a:rPr>
                    <a:t> is the mean of an SRS of size </a:t>
                  </a:r>
                  <a:r>
                    <a:rPr lang="en-US" altLang="en-US" sz="1800" i="1" dirty="0">
                      <a:solidFill>
                        <a:srgbClr val="000000"/>
                      </a:solidFill>
                    </a:rPr>
                    <a:t>n</a:t>
                  </a:r>
                  <a:r>
                    <a:rPr lang="en-US" altLang="en-US" sz="1800" dirty="0">
                      <a:solidFill>
                        <a:srgbClr val="000000"/>
                      </a:solidFill>
                    </a:rPr>
                    <a:t> drawn from a large population with mean </a:t>
                  </a:r>
                  <a14:m>
                    <m:oMath xmlns:m="http://schemas.openxmlformats.org/officeDocument/2006/math">
                      <m:r>
                        <a:rPr lang="en-US" altLang="en-US" sz="1800" i="1" smtClean="0">
                          <a:solidFill>
                            <a:srgbClr val="000000"/>
                          </a:solidFill>
                          <a:latin typeface="Cambria Math" panose="02040503050406030204" pitchFamily="18" charset="0"/>
                          <a:ea typeface="Cambria Math" panose="02040503050406030204" pitchFamily="18" charset="0"/>
                        </a:rPr>
                        <m:t>𝜇</m:t>
                      </m:r>
                    </m:oMath>
                  </a14:m>
                  <a:r>
                    <a:rPr lang="en-US" altLang="en-US" sz="1800" dirty="0">
                      <a:solidFill>
                        <a:srgbClr val="000000"/>
                      </a:solidFill>
                    </a:rPr>
                    <a:t> and standard deviation </a:t>
                  </a:r>
                  <a14:m>
                    <m:oMath xmlns:m="http://schemas.openxmlformats.org/officeDocument/2006/math">
                      <m:r>
                        <a:rPr lang="en-US" altLang="en-US" sz="1800" i="1" smtClean="0">
                          <a:solidFill>
                            <a:srgbClr val="000000"/>
                          </a:solidFill>
                          <a:latin typeface="Cambria Math" panose="02040503050406030204" pitchFamily="18" charset="0"/>
                          <a:ea typeface="Cambria Math" panose="02040503050406030204" pitchFamily="18" charset="0"/>
                        </a:rPr>
                        <m:t>𝜎</m:t>
                      </m:r>
                    </m:oMath>
                  </a14:m>
                  <a:r>
                    <a:rPr lang="en-US" altLang="en-US" sz="1800" dirty="0">
                      <a:solidFill>
                        <a:srgbClr val="000000"/>
                      </a:solidFill>
                    </a:rPr>
                    <a:t>. Then:</a:t>
                  </a:r>
                </a:p>
                <a:p>
                  <a:pPr indent="0" algn="ctr" eaLnBrk="1" hangingPunct="1">
                    <a:spcBef>
                      <a:spcPts val="600"/>
                    </a:spcBef>
                    <a:spcAft>
                      <a:spcPts val="600"/>
                    </a:spcAft>
                    <a:buClrTx/>
                    <a:buSzTx/>
                    <a:buFontTx/>
                    <a:buNone/>
                    <a:defRPr/>
                  </a:pPr>
                  <a:r>
                    <a:rPr lang="en-US" altLang="en-US" sz="1800" dirty="0">
                      <a:solidFill>
                        <a:srgbClr val="000000"/>
                      </a:solidFill>
                    </a:rPr>
                    <a:t>The </a:t>
                  </a:r>
                  <a:r>
                    <a:rPr lang="en-US" altLang="en-US" sz="1800" b="1" dirty="0">
                      <a:solidFill>
                        <a:srgbClr val="000000"/>
                      </a:solidFill>
                    </a:rPr>
                    <a:t>mean </a:t>
                  </a:r>
                  <a:r>
                    <a:rPr lang="en-US" altLang="en-US" sz="1800" dirty="0">
                      <a:solidFill>
                        <a:srgbClr val="000000"/>
                      </a:solidFill>
                    </a:rPr>
                    <a:t>of the sampling distribution of </a:t>
                  </a:r>
                  <a14:m>
                    <m:oMath xmlns:m="http://schemas.openxmlformats.org/officeDocument/2006/math">
                      <m:acc>
                        <m:accPr>
                          <m:chr m:val="̅"/>
                          <m:ctrlPr>
                            <a:rPr lang="en-US" altLang="en-US" sz="1800" b="0" i="1" smtClean="0">
                              <a:solidFill>
                                <a:srgbClr val="000000"/>
                              </a:solidFill>
                              <a:latin typeface="Cambria Math" panose="02040503050406030204" pitchFamily="18" charset="0"/>
                            </a:rPr>
                          </m:ctrlPr>
                        </m:accPr>
                        <m:e>
                          <m:r>
                            <a:rPr lang="en-US" altLang="en-US" sz="1800" b="0" i="1" smtClean="0">
                              <a:solidFill>
                                <a:srgbClr val="000000"/>
                              </a:solidFill>
                              <a:latin typeface="Cambria Math" panose="02040503050406030204" pitchFamily="18" charset="0"/>
                            </a:rPr>
                            <m:t>𝑥</m:t>
                          </m:r>
                        </m:e>
                      </m:acc>
                    </m:oMath>
                  </a14:m>
                  <a:r>
                    <a:rPr lang="en-US" altLang="en-US" sz="1800" dirty="0">
                      <a:solidFill>
                        <a:srgbClr val="000000"/>
                      </a:solidFill>
                    </a:rPr>
                    <a:t> is </a:t>
                  </a:r>
                  <a14:m>
                    <m:oMath xmlns:m="http://schemas.openxmlformats.org/officeDocument/2006/math">
                      <m:sSub>
                        <m:sSubPr>
                          <m:ctrlPr>
                            <a:rPr lang="en-US" altLang="en-US" sz="1800" i="1" smtClean="0">
                              <a:solidFill>
                                <a:srgbClr val="000000"/>
                              </a:solidFill>
                              <a:latin typeface="Cambria Math" panose="02040503050406030204" pitchFamily="18" charset="0"/>
                              <a:ea typeface="Cambria Math" panose="02040503050406030204" pitchFamily="18" charset="0"/>
                            </a:rPr>
                          </m:ctrlPr>
                        </m:sSubPr>
                        <m:e>
                          <m:r>
                            <a:rPr lang="en-US" altLang="en-US" sz="1800" i="1" smtClean="0">
                              <a:solidFill>
                                <a:srgbClr val="000000"/>
                              </a:solidFill>
                              <a:latin typeface="Cambria Math" panose="02040503050406030204" pitchFamily="18" charset="0"/>
                              <a:ea typeface="Cambria Math" panose="02040503050406030204" pitchFamily="18" charset="0"/>
                            </a:rPr>
                            <m:t>𝜇</m:t>
                          </m:r>
                        </m:e>
                        <m:sub>
                          <m:r>
                            <a:rPr lang="en-US" altLang="en-US" sz="1800" b="0" i="1" smtClean="0">
                              <a:solidFill>
                                <a:srgbClr val="000000"/>
                              </a:solidFill>
                              <a:latin typeface="Cambria Math" panose="02040503050406030204" pitchFamily="18" charset="0"/>
                            </a:rPr>
                            <m:t>𝑥</m:t>
                          </m:r>
                        </m:sub>
                      </m:sSub>
                      <m:r>
                        <a:rPr lang="en-US" altLang="en-US" sz="1800" b="0" i="1" smtClean="0">
                          <a:solidFill>
                            <a:srgbClr val="000000"/>
                          </a:solidFill>
                          <a:latin typeface="Cambria Math" panose="02040503050406030204" pitchFamily="18" charset="0"/>
                        </a:rPr>
                        <m:t>=</m:t>
                      </m:r>
                      <m:r>
                        <a:rPr lang="en-US" altLang="en-US" sz="1800" b="0" i="1" smtClean="0">
                          <a:solidFill>
                            <a:srgbClr val="000000"/>
                          </a:solidFill>
                          <a:latin typeface="Cambria Math" panose="02040503050406030204" pitchFamily="18" charset="0"/>
                          <a:ea typeface="Cambria Math" panose="02040503050406030204" pitchFamily="18" charset="0"/>
                        </a:rPr>
                        <m:t>𝜇</m:t>
                      </m:r>
                    </m:oMath>
                  </a14:m>
                  <a:endParaRPr lang="en-US" altLang="en-US" sz="1800" dirty="0">
                    <a:solidFill>
                      <a:srgbClr val="000000"/>
                    </a:solidFill>
                  </a:endParaRPr>
                </a:p>
                <a:p>
                  <a:pPr indent="0" algn="ctr" eaLnBrk="1" hangingPunct="1">
                    <a:spcBef>
                      <a:spcPts val="600"/>
                    </a:spcBef>
                    <a:spcAft>
                      <a:spcPts val="600"/>
                    </a:spcAft>
                    <a:buClrTx/>
                    <a:buSzTx/>
                    <a:buFontTx/>
                    <a:buNone/>
                    <a:defRPr/>
                  </a:pPr>
                  <a:r>
                    <a:rPr lang="en-US" altLang="en-US" sz="1800" dirty="0">
                      <a:solidFill>
                        <a:srgbClr val="000000"/>
                      </a:solidFill>
                    </a:rPr>
                    <a:t>The </a:t>
                  </a:r>
                  <a:r>
                    <a:rPr lang="en-US" altLang="en-US" sz="1800" b="1" dirty="0">
                      <a:solidFill>
                        <a:srgbClr val="000000"/>
                      </a:solidFill>
                    </a:rPr>
                    <a:t>standard deviation </a:t>
                  </a:r>
                  <a:r>
                    <a:rPr lang="en-US" altLang="en-US" sz="1800" dirty="0">
                      <a:solidFill>
                        <a:srgbClr val="000000"/>
                      </a:solidFill>
                    </a:rPr>
                    <a:t>of the sampling distribution of </a:t>
                  </a:r>
                  <a14:m>
                    <m:oMath xmlns:m="http://schemas.openxmlformats.org/officeDocument/2006/math">
                      <m:acc>
                        <m:accPr>
                          <m:chr m:val="̅"/>
                          <m:ctrlPr>
                            <a:rPr lang="en-US" altLang="en-US" sz="1800" b="0" i="1" smtClean="0">
                              <a:solidFill>
                                <a:srgbClr val="000000"/>
                              </a:solidFill>
                              <a:latin typeface="Cambria Math" panose="02040503050406030204" pitchFamily="18" charset="0"/>
                            </a:rPr>
                          </m:ctrlPr>
                        </m:accPr>
                        <m:e>
                          <m:r>
                            <a:rPr lang="en-US" altLang="en-US" sz="1800" b="0" i="1" smtClean="0">
                              <a:solidFill>
                                <a:srgbClr val="000000"/>
                              </a:solidFill>
                              <a:latin typeface="Cambria Math" panose="02040503050406030204" pitchFamily="18" charset="0"/>
                            </a:rPr>
                            <m:t>𝑥</m:t>
                          </m:r>
                        </m:e>
                      </m:acc>
                    </m:oMath>
                  </a14:m>
                  <a:r>
                    <a:rPr lang="en-US" altLang="en-US" sz="1800" dirty="0">
                      <a:solidFill>
                        <a:srgbClr val="000000"/>
                      </a:solidFill>
                    </a:rPr>
                    <a:t> is </a:t>
                  </a:r>
                  <a14:m>
                    <m:oMath xmlns:m="http://schemas.openxmlformats.org/officeDocument/2006/math">
                      <m:sSub>
                        <m:sSubPr>
                          <m:ctrlPr>
                            <a:rPr lang="en-US" altLang="en-US" sz="1800" i="1" smtClean="0">
                              <a:solidFill>
                                <a:srgbClr val="000000"/>
                              </a:solidFill>
                              <a:latin typeface="Cambria Math" panose="02040503050406030204" pitchFamily="18" charset="0"/>
                              <a:ea typeface="Cambria Math" panose="02040503050406030204" pitchFamily="18" charset="0"/>
                            </a:rPr>
                          </m:ctrlPr>
                        </m:sSubPr>
                        <m:e>
                          <m:r>
                            <a:rPr lang="en-US" altLang="en-US" sz="1800" i="1" smtClean="0">
                              <a:solidFill>
                                <a:srgbClr val="000000"/>
                              </a:solidFill>
                              <a:latin typeface="Cambria Math" panose="02040503050406030204" pitchFamily="18" charset="0"/>
                              <a:ea typeface="Cambria Math" panose="02040503050406030204" pitchFamily="18" charset="0"/>
                            </a:rPr>
                            <m:t>𝜎</m:t>
                          </m:r>
                        </m:e>
                        <m:sub>
                          <m:r>
                            <a:rPr lang="en-US" altLang="en-US" sz="1800" b="0" i="1" smtClean="0">
                              <a:solidFill>
                                <a:srgbClr val="000000"/>
                              </a:solidFill>
                              <a:latin typeface="Cambria Math" panose="02040503050406030204" pitchFamily="18" charset="0"/>
                            </a:rPr>
                            <m:t>𝑥</m:t>
                          </m:r>
                        </m:sub>
                      </m:sSub>
                      <m:r>
                        <a:rPr lang="en-US" altLang="en-US" sz="1800" b="0" i="1" smtClean="0">
                          <a:solidFill>
                            <a:srgbClr val="000000"/>
                          </a:solidFill>
                          <a:latin typeface="Cambria Math" panose="02040503050406030204" pitchFamily="18" charset="0"/>
                        </a:rPr>
                        <m:t>=</m:t>
                      </m:r>
                      <m:f>
                        <m:fPr>
                          <m:ctrlPr>
                            <a:rPr lang="en-US" altLang="en-US" sz="1800" b="0" i="1" smtClean="0">
                              <a:solidFill>
                                <a:srgbClr val="000000"/>
                              </a:solidFill>
                              <a:latin typeface="Cambria Math" panose="02040503050406030204" pitchFamily="18" charset="0"/>
                              <a:ea typeface="Cambria Math" panose="02040503050406030204" pitchFamily="18" charset="0"/>
                            </a:rPr>
                          </m:ctrlPr>
                        </m:fPr>
                        <m:num>
                          <m:r>
                            <a:rPr lang="en-US" altLang="en-US" sz="1800" b="0" i="1" smtClean="0">
                              <a:solidFill>
                                <a:srgbClr val="000000"/>
                              </a:solidFill>
                              <a:latin typeface="Cambria Math" panose="02040503050406030204" pitchFamily="18" charset="0"/>
                              <a:ea typeface="Cambria Math" panose="02040503050406030204" pitchFamily="18" charset="0"/>
                            </a:rPr>
                            <m:t>𝜎</m:t>
                          </m:r>
                        </m:num>
                        <m:den>
                          <m:rad>
                            <m:radPr>
                              <m:degHide m:val="on"/>
                              <m:ctrlPr>
                                <a:rPr lang="en-US" altLang="en-US" sz="1800" b="0" i="1" smtClean="0">
                                  <a:solidFill>
                                    <a:srgbClr val="000000"/>
                                  </a:solidFill>
                                  <a:latin typeface="Cambria Math" panose="02040503050406030204" pitchFamily="18" charset="0"/>
                                </a:rPr>
                              </m:ctrlPr>
                            </m:radPr>
                            <m:deg/>
                            <m:e>
                              <m:r>
                                <a:rPr lang="en-US" altLang="en-US" sz="1800" b="0" i="1" smtClean="0">
                                  <a:solidFill>
                                    <a:srgbClr val="000000"/>
                                  </a:solidFill>
                                  <a:latin typeface="Cambria Math" panose="02040503050406030204" pitchFamily="18" charset="0"/>
                                </a:rPr>
                                <m:t>𝑛</m:t>
                              </m:r>
                            </m:e>
                          </m:rad>
                        </m:den>
                      </m:f>
                    </m:oMath>
                  </a14:m>
                  <a:endParaRPr lang="en-US" altLang="en-US" sz="1800" dirty="0">
                    <a:solidFill>
                      <a:srgbClr val="000000"/>
                    </a:solidFill>
                  </a:endParaRPr>
                </a:p>
              </p:txBody>
            </p:sp>
          </mc:Choice>
          <mc:Fallback xmlns="">
            <p:sp>
              <p:nvSpPr>
                <p:cNvPr id="11" name="TextBox 10"/>
                <p:cNvSpPr txBox="1">
                  <a:spLocks noRot="1" noChangeAspect="1" noMove="1" noResize="1" noEditPoints="1" noAdjustHandles="1" noChangeArrowheads="1" noChangeShapeType="1" noTextEdit="1"/>
                </p:cNvSpPr>
                <p:nvPr/>
              </p:nvSpPr>
              <p:spPr bwMode="auto">
                <a:xfrm>
                  <a:off x="-242149" y="5224472"/>
                  <a:ext cx="8422734" cy="1629850"/>
                </a:xfrm>
                <a:prstGeom prst="rect">
                  <a:avLst/>
                </a:prstGeom>
                <a:blipFill rotWithShape="0">
                  <a:blip r:embed="rId4"/>
                  <a:stretch>
                    <a:fillRect/>
                  </a:stretch>
                </a:blipFill>
                <a:ln w="10000">
                  <a:solidFill>
                    <a:srgbClr val="D2DA7A"/>
                  </a:solidFill>
                  <a:miter lim="800000"/>
                  <a:headEnd/>
                  <a:tailEnd/>
                </a:ln>
                <a:effectLst>
                  <a:outerShdw blurRad="38100" dist="30000" dir="5400000" rotWithShape="0">
                    <a:srgbClr val="808080">
                      <a:alpha val="45000"/>
                    </a:srgbClr>
                  </a:outerShdw>
                </a:effectLst>
              </p:spPr>
              <p:txBody>
                <a:bodyPr/>
                <a:lstStyle/>
                <a:p>
                  <a:r>
                    <a:rPr lang="en-US">
                      <a:noFill/>
                    </a:rPr>
                    <a:t> </a:t>
                  </a:r>
                </a:p>
              </p:txBody>
            </p:sp>
          </mc:Fallback>
        </mc:AlternateContent>
      </p:grpSp>
      <p:sp>
        <p:nvSpPr>
          <p:cNvPr id="16" name="TextBox 15"/>
          <p:cNvSpPr txBox="1">
            <a:spLocks noChangeArrowheads="1"/>
          </p:cNvSpPr>
          <p:nvPr/>
        </p:nvSpPr>
        <p:spPr bwMode="auto">
          <a:xfrm>
            <a:off x="415925" y="5781675"/>
            <a:ext cx="8345488" cy="646113"/>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defRPr/>
            </a:pPr>
            <a:r>
              <a:rPr lang="en-US" altLang="en-US" sz="1800" dirty="0">
                <a:solidFill>
                  <a:srgbClr val="000000"/>
                </a:solidFill>
              </a:rPr>
              <a:t>If individual observations have the </a:t>
            </a:r>
            <a:r>
              <a:rPr lang="en-US" altLang="en-US" sz="1800" i="1" dirty="0">
                <a:solidFill>
                  <a:srgbClr val="000000"/>
                </a:solidFill>
              </a:rPr>
              <a:t>N</a:t>
            </a:r>
            <a:r>
              <a:rPr lang="en-US" altLang="en-US" sz="1800" dirty="0">
                <a:solidFill>
                  <a:srgbClr val="000000"/>
                </a:solidFill>
              </a:rPr>
              <a:t>(</a:t>
            </a:r>
            <a:r>
              <a:rPr lang="en-US" altLang="en-US" sz="1800" i="1" dirty="0">
                <a:solidFill>
                  <a:srgbClr val="000000"/>
                </a:solidFill>
              </a:rPr>
              <a:t>µ,σ) </a:t>
            </a:r>
            <a:r>
              <a:rPr lang="en-US" altLang="en-US" sz="1800" dirty="0">
                <a:solidFill>
                  <a:srgbClr val="000000"/>
                </a:solidFill>
              </a:rPr>
              <a:t>distribution, then the sample mean of an SRS of size </a:t>
            </a:r>
            <a:r>
              <a:rPr lang="en-US" altLang="en-US" sz="1800" i="1" dirty="0">
                <a:solidFill>
                  <a:srgbClr val="000000"/>
                </a:solidFill>
              </a:rPr>
              <a:t>n</a:t>
            </a:r>
            <a:r>
              <a:rPr lang="en-US" altLang="en-US" sz="1800" dirty="0">
                <a:solidFill>
                  <a:srgbClr val="000000"/>
                </a:solidFill>
              </a:rPr>
              <a:t> has the </a:t>
            </a:r>
            <a:r>
              <a:rPr lang="en-US" altLang="en-US" sz="1800" i="1" dirty="0">
                <a:solidFill>
                  <a:srgbClr val="000000"/>
                </a:solidFill>
              </a:rPr>
              <a:t>N</a:t>
            </a:r>
            <a:r>
              <a:rPr lang="en-US" altLang="en-US" sz="1800" dirty="0">
                <a:solidFill>
                  <a:srgbClr val="000000"/>
                </a:solidFill>
              </a:rPr>
              <a:t>(</a:t>
            </a:r>
            <a:r>
              <a:rPr lang="en-US" altLang="en-US" sz="1800" i="1" dirty="0">
                <a:solidFill>
                  <a:srgbClr val="000000"/>
                </a:solidFill>
              </a:rPr>
              <a:t>µ</a:t>
            </a:r>
            <a:r>
              <a:rPr lang="en-US" altLang="en-US" sz="1800" dirty="0">
                <a:solidFill>
                  <a:srgbClr val="000000"/>
                </a:solidFill>
              </a:rPr>
              <a:t>, σ/√</a:t>
            </a:r>
            <a:r>
              <a:rPr lang="en-US" altLang="en-US" sz="1800" i="1" dirty="0">
                <a:solidFill>
                  <a:srgbClr val="000000"/>
                </a:solidFill>
              </a:rPr>
              <a:t>n</a:t>
            </a:r>
            <a:r>
              <a:rPr lang="en-US" altLang="en-US" sz="1800" dirty="0">
                <a:solidFill>
                  <a:srgbClr val="000000"/>
                </a:solidFill>
              </a:rPr>
              <a:t>) distribution, regardless of the sample size </a:t>
            </a:r>
            <a:r>
              <a:rPr lang="en-US" altLang="en-US" sz="1800" i="1" dirty="0">
                <a:solidFill>
                  <a:srgbClr val="000000"/>
                </a:solidFill>
              </a:rPr>
              <a:t>n</a:t>
            </a:r>
            <a:r>
              <a:rPr lang="en-US" altLang="en-US" sz="1800" dirty="0">
                <a:solidFill>
                  <a:srgbClr val="000000"/>
                </a:solidFill>
              </a:rPr>
              <a:t>.</a:t>
            </a:r>
            <a:endParaRPr lang="en-US" altLang="en-US" i="1" dirty="0">
              <a:solidFill>
                <a:srgbClr val="000000"/>
              </a:solidFill>
            </a:endParaRPr>
          </a:p>
        </p:txBody>
      </p:sp>
      <p:pic>
        <p:nvPicPr>
          <p:cNvPr id="13" name="Picture 12" descr="already described"/>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40802" y="3162554"/>
            <a:ext cx="8617643" cy="3333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1241048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5"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p:cTn id="12" dur="1000" fill="hold"/>
                                        <p:tgtEl>
                                          <p:spTgt spid="13"/>
                                        </p:tgtEl>
                                        <p:attrNameLst>
                                          <p:attrName>ppt_w</p:attrName>
                                        </p:attrNameLst>
                                      </p:cBhvr>
                                      <p:tavLst>
                                        <p:tav tm="0">
                                          <p:val>
                                            <p:fltVal val="0"/>
                                          </p:val>
                                        </p:tav>
                                        <p:tav tm="100000">
                                          <p:val>
                                            <p:strVal val="#ppt_w"/>
                                          </p:val>
                                        </p:tav>
                                      </p:tavLst>
                                    </p:anim>
                                    <p:anim calcmode="lin" valueType="num">
                                      <p:cBhvr>
                                        <p:cTn id="13" dur="1000" fill="hold"/>
                                        <p:tgtEl>
                                          <p:spTgt spid="13"/>
                                        </p:tgtEl>
                                        <p:attrNameLst>
                                          <p:attrName>ppt_h</p:attrName>
                                        </p:attrNameLst>
                                      </p:cBhvr>
                                      <p:tavLst>
                                        <p:tav tm="0">
                                          <p:val>
                                            <p:fltVal val="0"/>
                                          </p:val>
                                        </p:tav>
                                        <p:tav tm="100000">
                                          <p:val>
                                            <p:strVal val="#ppt_h"/>
                                          </p:val>
                                        </p:tav>
                                      </p:tavLst>
                                    </p:anim>
                                    <p:anim calcmode="lin" valueType="num">
                                      <p:cBhvr>
                                        <p:cTn id="14" dur="1000" fill="hold"/>
                                        <p:tgtEl>
                                          <p:spTgt spid="13"/>
                                        </p:tgtEl>
                                        <p:attrNameLst>
                                          <p:attrName>ppt_x</p:attrName>
                                        </p:attrNameLst>
                                      </p:cBhvr>
                                      <p:tavLst>
                                        <p:tav tm="0" fmla="#ppt_x+(cos(-2*pi*(1-$))*-#ppt_x-sin(-2*pi*(1-$))*(1-#ppt_y))*(1-$)">
                                          <p:val>
                                            <p:fltVal val="0"/>
                                          </p:val>
                                        </p:tav>
                                        <p:tav tm="100000">
                                          <p:val>
                                            <p:fltVal val="1"/>
                                          </p:val>
                                        </p:tav>
                                      </p:tavLst>
                                    </p:anim>
                                    <p:anim calcmode="lin" valueType="num">
                                      <p:cBhvr>
                                        <p:cTn id="15" dur="1000" fill="hold"/>
                                        <p:tgtEl>
                                          <p:spTgt spid="13"/>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p:txBody>
          <a:bodyPr/>
          <a:lstStyle/>
          <a:p>
            <a:pPr eaLnBrk="1" hangingPunct="1"/>
            <a:r>
              <a:rPr lang="en-US" altLang="en-US" dirty="0">
                <a:ea typeface="ＭＳ Ｐゴシック" pitchFamily="34" charset="-128"/>
              </a:rPr>
              <a:t>Central Limit Theorem</a:t>
            </a:r>
          </a:p>
        </p:txBody>
      </p:sp>
      <p:sp>
        <p:nvSpPr>
          <p:cNvPr id="4301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CC1CBC0E-C4AC-44BE-8AC2-9C68AF749527}" type="slidenum">
              <a:rPr lang="en-US" altLang="en-US" sz="1200">
                <a:solidFill>
                  <a:schemeClr val="accent1"/>
                </a:solidFill>
              </a:rPr>
              <a:pPr>
                <a:lnSpc>
                  <a:spcPct val="80000"/>
                </a:lnSpc>
              </a:pPr>
              <a:t>16</a:t>
            </a:fld>
            <a:endParaRPr lang="en-US" altLang="en-US" sz="1200">
              <a:solidFill>
                <a:schemeClr val="accent1"/>
              </a:solidFill>
            </a:endParaRPr>
          </a:p>
        </p:txBody>
      </p:sp>
      <p:sp>
        <p:nvSpPr>
          <p:cNvPr id="27651" name="Rectangle 1"/>
          <p:cNvSpPr>
            <a:spLocks noChangeArrowheads="1"/>
          </p:cNvSpPr>
          <p:nvPr/>
        </p:nvSpPr>
        <p:spPr bwMode="auto">
          <a:xfrm>
            <a:off x="431006" y="1035110"/>
            <a:ext cx="8229600"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Font typeface="Wingdings" pitchFamily="2" charset="2"/>
              <a:buNone/>
            </a:pPr>
            <a:r>
              <a:rPr lang="en-US" altLang="en-US" sz="2000" dirty="0">
                <a:solidFill>
                  <a:srgbClr val="000000"/>
                </a:solidFill>
              </a:rPr>
              <a:t>The probability distribution of individual observations is often not normal. What is the shape of the sampling distribution of the sample mean when individual observations do not follow a normal distribution?</a:t>
            </a:r>
          </a:p>
          <a:p>
            <a:pPr eaLnBrk="1" hangingPunct="1">
              <a:spcBef>
                <a:spcPts val="600"/>
              </a:spcBef>
              <a:buFont typeface="Wingdings" pitchFamily="2" charset="2"/>
              <a:buNone/>
            </a:pPr>
            <a:r>
              <a:rPr lang="en-US" altLang="en-US" sz="2000" dirty="0">
                <a:solidFill>
                  <a:srgbClr val="000000"/>
                </a:solidFill>
              </a:rPr>
              <a:t>It is a remarkable fact that, </a:t>
            </a:r>
            <a:r>
              <a:rPr lang="en-US" altLang="en-US" sz="2000" i="1" dirty="0">
                <a:solidFill>
                  <a:srgbClr val="000000"/>
                </a:solidFill>
              </a:rPr>
              <a:t>as the sample size increases, the distribution of a sample mean begins to look more and more like a normal distribution! </a:t>
            </a:r>
            <a:endParaRPr lang="en-US" altLang="en-US" sz="2000" dirty="0">
              <a:solidFill>
                <a:srgbClr val="000000"/>
              </a:solidFill>
            </a:endParaRPr>
          </a:p>
          <a:p>
            <a:pPr eaLnBrk="1" hangingPunct="1">
              <a:spcBef>
                <a:spcPts val="600"/>
              </a:spcBef>
              <a:buFont typeface="Wingdings" pitchFamily="2" charset="2"/>
              <a:buNone/>
            </a:pPr>
            <a:r>
              <a:rPr lang="en-US" altLang="en-US" sz="2000" dirty="0">
                <a:solidFill>
                  <a:srgbClr val="000000"/>
                </a:solidFill>
              </a:rPr>
              <a:t>When the sample size is sufficiently large, the sampling distribution of the sample mean is approximately normal, </a:t>
            </a:r>
            <a:r>
              <a:rPr lang="en-US" altLang="en-US" sz="2000" dirty="0">
                <a:solidFill>
                  <a:srgbClr val="FF0000"/>
                </a:solidFill>
              </a:rPr>
              <a:t>regardless of the distribution of individual observations</a:t>
            </a:r>
            <a:r>
              <a:rPr lang="en-US" altLang="en-US" sz="2000" dirty="0">
                <a:solidFill>
                  <a:srgbClr val="000000"/>
                </a:solidFill>
              </a:rPr>
              <a:t>, provided that the observations form an SRS and the distribution has a finite standard deviation.</a:t>
            </a:r>
          </a:p>
        </p:txBody>
      </p:sp>
      <p:sp>
        <p:nvSpPr>
          <p:cNvPr id="9" name="TextBox 8"/>
          <p:cNvSpPr txBox="1">
            <a:spLocks noChangeArrowheads="1"/>
          </p:cNvSpPr>
          <p:nvPr/>
        </p:nvSpPr>
        <p:spPr bwMode="auto">
          <a:xfrm>
            <a:off x="596900" y="4564837"/>
            <a:ext cx="7981950" cy="2122487"/>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37931725" indent="-3747452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6858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9144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1600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0574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defRPr/>
            </a:pPr>
            <a:endParaRPr lang="en-US" altLang="en-US" sz="600" b="1" u="sng">
              <a:solidFill>
                <a:srgbClr val="E81F30"/>
              </a:solidFill>
            </a:endParaRPr>
          </a:p>
          <a:p>
            <a:pPr eaLnBrk="1" hangingPunct="1">
              <a:spcBef>
                <a:spcPct val="0"/>
              </a:spcBef>
              <a:buClrTx/>
              <a:buSzTx/>
              <a:buFontTx/>
              <a:buNone/>
              <a:defRPr/>
            </a:pPr>
            <a:endParaRPr lang="en-US" altLang="en-US" sz="600" b="1" u="sng">
              <a:solidFill>
                <a:srgbClr val="E81F30"/>
              </a:solidFill>
            </a:endParaRPr>
          </a:p>
          <a:p>
            <a:pPr eaLnBrk="1" hangingPunct="1">
              <a:spcBef>
                <a:spcPct val="0"/>
              </a:spcBef>
              <a:buClrTx/>
              <a:buSzTx/>
              <a:buFontTx/>
              <a:buNone/>
              <a:defRPr/>
            </a:pPr>
            <a:endParaRPr lang="en-US" altLang="en-US" sz="600" b="1" u="sng">
              <a:solidFill>
                <a:srgbClr val="E81F30"/>
              </a:solidFill>
            </a:endParaRPr>
          </a:p>
          <a:p>
            <a:pPr eaLnBrk="1" hangingPunct="1">
              <a:spcBef>
                <a:spcPct val="0"/>
              </a:spcBef>
              <a:buClrTx/>
              <a:buSzTx/>
              <a:buFontTx/>
              <a:buNone/>
              <a:defRPr/>
            </a:pPr>
            <a:endParaRPr lang="en-US" altLang="en-US" sz="600" b="1" u="sng">
              <a:solidFill>
                <a:srgbClr val="E81F30"/>
              </a:solidFill>
            </a:endParaRPr>
          </a:p>
          <a:p>
            <a:pPr eaLnBrk="1" hangingPunct="1">
              <a:spcBef>
                <a:spcPct val="0"/>
              </a:spcBef>
              <a:buClrTx/>
              <a:buSzTx/>
              <a:buFontTx/>
              <a:buNone/>
              <a:defRPr/>
            </a:pPr>
            <a:endParaRPr lang="en-US" altLang="en-US" sz="600" b="1" u="sng">
              <a:solidFill>
                <a:srgbClr val="E81F30"/>
              </a:solidFill>
            </a:endParaRPr>
          </a:p>
          <a:p>
            <a:pPr eaLnBrk="1" hangingPunct="1">
              <a:spcBef>
                <a:spcPct val="0"/>
              </a:spcBef>
              <a:buClrTx/>
              <a:buSzTx/>
              <a:buFontTx/>
              <a:buNone/>
              <a:defRPr/>
            </a:pPr>
            <a:endParaRPr lang="en-US" altLang="en-US" sz="600" b="1" u="sng">
              <a:solidFill>
                <a:srgbClr val="E81F30"/>
              </a:solidFill>
            </a:endParaRPr>
          </a:p>
          <a:p>
            <a:pPr eaLnBrk="1" hangingPunct="1">
              <a:spcBef>
                <a:spcPct val="0"/>
              </a:spcBef>
              <a:buClrTx/>
              <a:buSzTx/>
              <a:buFontTx/>
              <a:buNone/>
              <a:defRPr/>
            </a:pPr>
            <a:endParaRPr lang="en-US" altLang="en-US" sz="600" b="1" u="sng">
              <a:solidFill>
                <a:srgbClr val="E81F30"/>
              </a:solidFill>
            </a:endParaRPr>
          </a:p>
          <a:p>
            <a:pPr eaLnBrk="1" hangingPunct="1">
              <a:spcBef>
                <a:spcPct val="0"/>
              </a:spcBef>
              <a:buClrTx/>
              <a:buSzTx/>
              <a:buFontTx/>
              <a:buNone/>
              <a:defRPr/>
            </a:pPr>
            <a:endParaRPr lang="en-US" altLang="en-US" sz="600" b="1" u="sng">
              <a:solidFill>
                <a:srgbClr val="E81F30"/>
              </a:solidFill>
            </a:endParaRPr>
          </a:p>
          <a:p>
            <a:pPr eaLnBrk="1" hangingPunct="1">
              <a:spcBef>
                <a:spcPct val="0"/>
              </a:spcBef>
              <a:buClrTx/>
              <a:buSzTx/>
              <a:buFontTx/>
              <a:buNone/>
              <a:defRPr/>
            </a:pPr>
            <a:endParaRPr lang="en-US" altLang="en-US" sz="600" b="1" u="sng">
              <a:solidFill>
                <a:srgbClr val="E81F30"/>
              </a:solidFill>
            </a:endParaRPr>
          </a:p>
          <a:p>
            <a:pPr eaLnBrk="1" hangingPunct="1">
              <a:spcBef>
                <a:spcPct val="0"/>
              </a:spcBef>
              <a:buClrTx/>
              <a:buSzTx/>
              <a:buFontTx/>
              <a:buNone/>
              <a:defRPr/>
            </a:pPr>
            <a:endParaRPr lang="en-US" altLang="en-US" sz="600" b="1" u="sng">
              <a:solidFill>
                <a:srgbClr val="E81F30"/>
              </a:solidFill>
            </a:endParaRPr>
          </a:p>
          <a:p>
            <a:pPr eaLnBrk="1" hangingPunct="1">
              <a:spcBef>
                <a:spcPct val="0"/>
              </a:spcBef>
              <a:buClrTx/>
              <a:buSzTx/>
              <a:buFontTx/>
              <a:buNone/>
              <a:defRPr/>
            </a:pPr>
            <a:endParaRPr lang="en-US" altLang="en-US" sz="600" b="1" u="sng">
              <a:solidFill>
                <a:srgbClr val="E81F30"/>
              </a:solidFill>
            </a:endParaRPr>
          </a:p>
          <a:p>
            <a:pPr eaLnBrk="1" hangingPunct="1">
              <a:spcBef>
                <a:spcPct val="0"/>
              </a:spcBef>
              <a:buClrTx/>
              <a:buSzTx/>
              <a:buFontTx/>
              <a:buNone/>
              <a:defRPr/>
            </a:pPr>
            <a:endParaRPr lang="en-US" altLang="en-US" sz="600" b="1" u="sng">
              <a:solidFill>
                <a:srgbClr val="E81F30"/>
              </a:solidFill>
            </a:endParaRPr>
          </a:p>
          <a:p>
            <a:pPr eaLnBrk="1" hangingPunct="1">
              <a:spcBef>
                <a:spcPct val="0"/>
              </a:spcBef>
              <a:buClrTx/>
              <a:buSzTx/>
              <a:buFontTx/>
              <a:buNone/>
              <a:defRPr/>
            </a:pPr>
            <a:endParaRPr lang="en-US" altLang="en-US" sz="600" b="1" u="sng">
              <a:solidFill>
                <a:srgbClr val="E81F30"/>
              </a:solidFill>
            </a:endParaRPr>
          </a:p>
          <a:p>
            <a:pPr eaLnBrk="1" hangingPunct="1">
              <a:spcBef>
                <a:spcPct val="0"/>
              </a:spcBef>
              <a:buClrTx/>
              <a:buSzTx/>
              <a:buFontTx/>
              <a:buNone/>
              <a:defRPr/>
            </a:pPr>
            <a:endParaRPr lang="en-US" altLang="en-US" sz="600" b="1" u="sng">
              <a:solidFill>
                <a:srgbClr val="E81F30"/>
              </a:solidFill>
            </a:endParaRPr>
          </a:p>
          <a:p>
            <a:pPr eaLnBrk="1" hangingPunct="1">
              <a:spcBef>
                <a:spcPct val="0"/>
              </a:spcBef>
              <a:buClrTx/>
              <a:buSzTx/>
              <a:buFontTx/>
              <a:buNone/>
              <a:defRPr/>
            </a:pPr>
            <a:endParaRPr lang="en-US" altLang="en-US" sz="600" b="1" u="sng">
              <a:solidFill>
                <a:srgbClr val="E81F30"/>
              </a:solidFill>
            </a:endParaRPr>
          </a:p>
          <a:p>
            <a:pPr eaLnBrk="1" hangingPunct="1">
              <a:spcBef>
                <a:spcPct val="0"/>
              </a:spcBef>
              <a:buClrTx/>
              <a:buSzTx/>
              <a:buFontTx/>
              <a:buNone/>
              <a:defRPr/>
            </a:pPr>
            <a:endParaRPr lang="en-US" altLang="en-US" sz="600" b="1" u="sng">
              <a:solidFill>
                <a:srgbClr val="E81F30"/>
              </a:solidFill>
            </a:endParaRPr>
          </a:p>
          <a:p>
            <a:pPr eaLnBrk="1" hangingPunct="1">
              <a:spcBef>
                <a:spcPct val="0"/>
              </a:spcBef>
              <a:buClrTx/>
              <a:buSzTx/>
              <a:buFontTx/>
              <a:buNone/>
              <a:defRPr/>
            </a:pPr>
            <a:endParaRPr lang="en-US" altLang="en-US" sz="600" b="1" u="sng">
              <a:solidFill>
                <a:srgbClr val="E81F30"/>
              </a:solidFill>
            </a:endParaRPr>
          </a:p>
          <a:p>
            <a:pPr eaLnBrk="1" hangingPunct="1">
              <a:spcBef>
                <a:spcPct val="0"/>
              </a:spcBef>
              <a:buClrTx/>
              <a:buSzTx/>
              <a:buFontTx/>
              <a:buNone/>
              <a:defRPr/>
            </a:pPr>
            <a:endParaRPr lang="en-US" altLang="en-US" sz="600" b="1" u="sng">
              <a:solidFill>
                <a:srgbClr val="E81F30"/>
              </a:solidFill>
            </a:endParaRPr>
          </a:p>
          <a:p>
            <a:pPr eaLnBrk="1" hangingPunct="1">
              <a:spcBef>
                <a:spcPct val="0"/>
              </a:spcBef>
              <a:buClrTx/>
              <a:buSzTx/>
              <a:buFontTx/>
              <a:buNone/>
              <a:defRPr/>
            </a:pPr>
            <a:endParaRPr lang="en-US" altLang="en-US" sz="600" b="1" u="sng">
              <a:solidFill>
                <a:srgbClr val="E81F30"/>
              </a:solidFill>
            </a:endParaRPr>
          </a:p>
          <a:p>
            <a:pPr eaLnBrk="1" hangingPunct="1">
              <a:spcBef>
                <a:spcPct val="0"/>
              </a:spcBef>
              <a:buClrTx/>
              <a:buSzTx/>
              <a:buFontTx/>
              <a:buNone/>
              <a:defRPr/>
            </a:pPr>
            <a:endParaRPr lang="en-US" altLang="en-US" sz="600" b="1" u="sng">
              <a:solidFill>
                <a:srgbClr val="E81F30"/>
              </a:solidFill>
            </a:endParaRPr>
          </a:p>
          <a:p>
            <a:pPr eaLnBrk="1" hangingPunct="1">
              <a:spcBef>
                <a:spcPct val="0"/>
              </a:spcBef>
              <a:buClrTx/>
              <a:buSzTx/>
              <a:buFontTx/>
              <a:buNone/>
              <a:defRPr/>
            </a:pPr>
            <a:endParaRPr lang="en-US" altLang="en-US" sz="600" b="1" u="sng">
              <a:solidFill>
                <a:srgbClr val="E81F30"/>
              </a:solidFill>
            </a:endParaRPr>
          </a:p>
          <a:p>
            <a:pPr eaLnBrk="1" hangingPunct="1">
              <a:spcBef>
                <a:spcPct val="0"/>
              </a:spcBef>
              <a:buClrTx/>
              <a:buSzTx/>
              <a:buFontTx/>
              <a:buNone/>
              <a:defRPr/>
            </a:pPr>
            <a:endParaRPr lang="en-US" altLang="en-US" sz="600" b="1" u="sng">
              <a:solidFill>
                <a:srgbClr val="E81F30"/>
              </a:solidFill>
            </a:endParaRPr>
          </a:p>
        </p:txBody>
      </p:sp>
      <p:graphicFrame>
        <p:nvGraphicFramePr>
          <p:cNvPr id="43015" name="Object 2"/>
          <p:cNvGraphicFramePr>
            <a:graphicFrameLocks noChangeAspect="1"/>
          </p:cNvGraphicFramePr>
          <p:nvPr>
            <p:extLst>
              <p:ext uri="{D42A27DB-BD31-4B8C-83A1-F6EECF244321}">
                <p14:modId xmlns:p14="http://schemas.microsoft.com/office/powerpoint/2010/main" val="1481987435"/>
              </p:ext>
            </p:extLst>
          </p:nvPr>
        </p:nvGraphicFramePr>
        <p:xfrm>
          <a:off x="941388" y="4619710"/>
          <a:ext cx="7208837" cy="1993900"/>
        </p:xfrm>
        <a:graphic>
          <a:graphicData uri="http://schemas.openxmlformats.org/presentationml/2006/ole">
            <mc:AlternateContent xmlns:mc="http://schemas.openxmlformats.org/markup-compatibility/2006">
              <mc:Choice xmlns:v="urn:schemas-microsoft-com:vml" Requires="v">
                <p:oleObj name="Equation" r:id="rId2" imgW="4622800" imgH="1346200" progId="Equation.DSMT4">
                  <p:embed/>
                </p:oleObj>
              </mc:Choice>
              <mc:Fallback>
                <p:oleObj name="Equation" r:id="rId2" imgW="4622800" imgH="1346200" progId="Equation.DSMT4">
                  <p:embed/>
                  <p:pic>
                    <p:nvPicPr>
                      <p:cNvPr id="43015"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1388" y="4619710"/>
                        <a:ext cx="7208837" cy="1993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Effect transition="in" filter="fade">
                                      <p:cBhvr>
                                        <p:cTn id="7" dur="500"/>
                                        <p:tgtEl>
                                          <p:spTgt spid="276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7651">
                                            <p:txEl>
                                              <p:pRg st="1" end="1"/>
                                            </p:txEl>
                                          </p:spTgt>
                                        </p:tgtEl>
                                        <p:attrNameLst>
                                          <p:attrName>style.visibility</p:attrName>
                                        </p:attrNameLst>
                                      </p:cBhvr>
                                      <p:to>
                                        <p:strVal val="visible"/>
                                      </p:to>
                                    </p:set>
                                    <p:animEffect transition="in" filter="fade">
                                      <p:cBhvr>
                                        <p:cTn id="12" dur="500"/>
                                        <p:tgtEl>
                                          <p:spTgt spid="2765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p:txBody>
          <a:bodyPr/>
          <a:lstStyle/>
          <a:p>
            <a:pPr eaLnBrk="1" hangingPunct="1"/>
            <a:r>
              <a:rPr lang="en-US" altLang="en-US" dirty="0">
                <a:ea typeface="ＭＳ Ｐゴシック" pitchFamily="34" charset="-128"/>
              </a:rPr>
              <a:t>Illustrative Example of CLT</a:t>
            </a:r>
          </a:p>
        </p:txBody>
      </p:sp>
      <p:sp>
        <p:nvSpPr>
          <p:cNvPr id="4403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3B413D14-0D91-45A4-B4AC-DAB1F5C4E4C7}" type="slidenum">
              <a:rPr lang="en-US" altLang="en-US" sz="1200">
                <a:solidFill>
                  <a:schemeClr val="accent1"/>
                </a:solidFill>
              </a:rPr>
              <a:pPr>
                <a:lnSpc>
                  <a:spcPct val="80000"/>
                </a:lnSpc>
              </a:pPr>
              <a:t>17</a:t>
            </a:fld>
            <a:endParaRPr lang="en-US" altLang="en-US" sz="1200">
              <a:solidFill>
                <a:schemeClr val="accent1"/>
              </a:solidFill>
            </a:endParaRPr>
          </a:p>
        </p:txBody>
      </p:sp>
      <p:pic>
        <p:nvPicPr>
          <p:cNvPr id="44042" name="Picture 20" descr="The line graph shows the time required by the technicians to complete the maintenance of the Air conditioners. X-axis ranges from 0 to 1, the graph is right skewed and is close to zero. The mean time is mean (mew) equals to 1 hour and the standard deviation (sigma) equals to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65150" y="1287463"/>
            <a:ext cx="1587500"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6" name="Text Placeholder 3"/>
          <p:cNvSpPr txBox="1">
            <a:spLocks/>
          </p:cNvSpPr>
          <p:nvPr/>
        </p:nvSpPr>
        <p:spPr bwMode="auto">
          <a:xfrm>
            <a:off x="2400300" y="1208088"/>
            <a:ext cx="6318250" cy="129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spcBef>
                <a:spcPts val="700"/>
              </a:spcBef>
              <a:buClr>
                <a:schemeClr val="accent2"/>
              </a:buClr>
              <a:buSzPct val="60000"/>
              <a:buFont typeface="Wingdings" pitchFamily="2" charset="2"/>
              <a:buNone/>
            </a:pPr>
            <a:r>
              <a:rPr lang="en-US" altLang="en-US" sz="1600" dirty="0">
                <a:solidFill>
                  <a:srgbClr val="000000"/>
                </a:solidFill>
              </a:rPr>
              <a:t>Based on service records from the past year, the time (in hours) that a technician requires to complete preventive maintenance on an air conditioner follows a distribution that is strongly right-skewed and whose most likely outcomes are close to 0. The mean time is </a:t>
            </a:r>
            <a:r>
              <a:rPr lang="en-US" altLang="en-US" sz="1600" i="1" dirty="0">
                <a:solidFill>
                  <a:srgbClr val="000000"/>
                </a:solidFill>
              </a:rPr>
              <a:t>µ </a:t>
            </a:r>
            <a:r>
              <a:rPr lang="en-US" altLang="en-US" sz="1600" dirty="0">
                <a:solidFill>
                  <a:srgbClr val="000000"/>
                </a:solidFill>
              </a:rPr>
              <a:t>= 1 hour and the standard deviation is </a:t>
            </a:r>
            <a:r>
              <a:rPr lang="en-US" altLang="en-US" sz="1600" i="1" dirty="0">
                <a:solidFill>
                  <a:srgbClr val="000000"/>
                </a:solidFill>
              </a:rPr>
              <a:t>σ</a:t>
            </a:r>
            <a:r>
              <a:rPr lang="en-US" altLang="en-US" sz="1600" dirty="0">
                <a:solidFill>
                  <a:srgbClr val="000000"/>
                </a:solidFill>
              </a:rPr>
              <a:t> = 1.</a:t>
            </a:r>
          </a:p>
        </p:txBody>
      </p:sp>
      <p:sp>
        <p:nvSpPr>
          <p:cNvPr id="44037" name="TextBox 6"/>
          <p:cNvSpPr txBox="1">
            <a:spLocks noChangeArrowheads="1"/>
          </p:cNvSpPr>
          <p:nvPr/>
        </p:nvSpPr>
        <p:spPr bwMode="auto">
          <a:xfrm>
            <a:off x="373063" y="2663825"/>
            <a:ext cx="86439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sz="1600" b="1">
                <a:solidFill>
                  <a:schemeClr val="tx1"/>
                </a:solidFill>
              </a:rPr>
              <a:t>Your company will service an SRS of 70 air conditioners. You have budgeted 1.1 hours per unit. Will this be enough? </a:t>
            </a:r>
          </a:p>
        </p:txBody>
      </p:sp>
      <p:sp>
        <p:nvSpPr>
          <p:cNvPr id="22" name="TextBox 21"/>
          <p:cNvSpPr txBox="1">
            <a:spLocks noChangeArrowheads="1"/>
          </p:cNvSpPr>
          <p:nvPr/>
        </p:nvSpPr>
        <p:spPr bwMode="auto">
          <a:xfrm>
            <a:off x="409575" y="3248025"/>
            <a:ext cx="83915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sz="1600" dirty="0">
                <a:solidFill>
                  <a:schemeClr val="tx1"/>
                </a:solidFill>
              </a:rPr>
              <a:t>The mean and standard deviation of the sampling distribution of the average time spent working on the 70 units are</a:t>
            </a:r>
          </a:p>
        </p:txBody>
      </p:sp>
      <p:graphicFrame>
        <p:nvGraphicFramePr>
          <p:cNvPr id="21" name="Object 2" descr="The image shows a mathematical expression, which is mentioned as: &quot;mean (mew) subscript x bar equals to mew equals to one.&quot;"/>
          <p:cNvGraphicFramePr>
            <a:graphicFrameLocks noChangeAspect="1"/>
          </p:cNvGraphicFramePr>
          <p:nvPr/>
        </p:nvGraphicFramePr>
        <p:xfrm>
          <a:off x="2532063" y="3878263"/>
          <a:ext cx="854075" cy="290512"/>
        </p:xfrm>
        <a:graphic>
          <a:graphicData uri="http://schemas.openxmlformats.org/presentationml/2006/ole">
            <mc:AlternateContent xmlns:mc="http://schemas.openxmlformats.org/markup-compatibility/2006">
              <mc:Choice xmlns:v="urn:schemas-microsoft-com:vml" Requires="v">
                <p:oleObj name="Equation" r:id="rId3" imgW="672808" imgH="228501" progId="Equation.3">
                  <p:embed/>
                </p:oleObj>
              </mc:Choice>
              <mc:Fallback>
                <p:oleObj name="Equation" r:id="rId3" imgW="672808" imgH="228501" progId="Equation.3">
                  <p:embed/>
                  <p:pic>
                    <p:nvPicPr>
                      <p:cNvPr id="21" name="Object 2" descr="The image shows a mathematical expression, which is mentioned as: &quot;mean (mew) subscript x bar equals to mew equals to one.&quo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32063" y="3878263"/>
                        <a:ext cx="854075" cy="2905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23" name="Object 3" descr="The image shows a mathematical expression, which is mentioned as: &quot;standard deviation (sigma) subscript x bar, equals to sigma divide by square root of n, equals to one divide by square root of 70, equals to 0.12&quot;."/>
          <p:cNvGraphicFramePr>
            <a:graphicFrameLocks noChangeAspect="1"/>
          </p:cNvGraphicFramePr>
          <p:nvPr/>
        </p:nvGraphicFramePr>
        <p:xfrm>
          <a:off x="3662363" y="3802063"/>
          <a:ext cx="1824037" cy="482600"/>
        </p:xfrm>
        <a:graphic>
          <a:graphicData uri="http://schemas.openxmlformats.org/presentationml/2006/ole">
            <mc:AlternateContent xmlns:mc="http://schemas.openxmlformats.org/markup-compatibility/2006">
              <mc:Choice xmlns:v="urn:schemas-microsoft-com:vml" Requires="v">
                <p:oleObj name="Equation" r:id="rId5" imgW="1435100" imgH="381000" progId="Equation.3">
                  <p:embed/>
                </p:oleObj>
              </mc:Choice>
              <mc:Fallback>
                <p:oleObj name="Equation" r:id="rId5" imgW="1435100" imgH="381000" progId="Equation.3">
                  <p:embed/>
                  <p:pic>
                    <p:nvPicPr>
                      <p:cNvPr id="23" name="Object 3" descr="The image shows a mathematical expression, which is mentioned as: &quot;standard deviation (sigma) subscript x bar, equals to sigma divide by square root of n, equals to one divide by square root of 70, equals to 0.12&quot;."/>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62363" y="3802063"/>
                        <a:ext cx="1824037" cy="482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6" name="TextBox 25"/>
          <p:cNvSpPr txBox="1">
            <a:spLocks noChangeArrowheads="1"/>
          </p:cNvSpPr>
          <p:nvPr/>
        </p:nvSpPr>
        <p:spPr bwMode="auto">
          <a:xfrm>
            <a:off x="392113" y="4333875"/>
            <a:ext cx="79025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sz="1600" dirty="0">
                <a:solidFill>
                  <a:schemeClr val="tx1"/>
                </a:solidFill>
              </a:rPr>
              <a:t>CLT says that the sampling distribution of the mean time spent working is approximately </a:t>
            </a:r>
            <a:r>
              <a:rPr lang="en-US" altLang="en-US" sz="1600" i="1" dirty="0">
                <a:solidFill>
                  <a:schemeClr val="tx1"/>
                </a:solidFill>
              </a:rPr>
              <a:t>N</a:t>
            </a:r>
            <a:r>
              <a:rPr lang="en-US" altLang="en-US" sz="1600" dirty="0">
                <a:solidFill>
                  <a:schemeClr val="tx1"/>
                </a:solidFill>
              </a:rPr>
              <a:t>(1, 0.12).</a:t>
            </a:r>
            <a:endParaRPr lang="en-US" altLang="en-US" sz="1600" i="1" dirty="0">
              <a:solidFill>
                <a:schemeClr val="tx1"/>
              </a:solidFill>
            </a:endParaRPr>
          </a:p>
        </p:txBody>
      </p:sp>
      <p:pic>
        <p:nvPicPr>
          <p:cNvPr id="27" name="Picture 26" descr="The image shows a bell shaped curve or a distribution curve, which depicts the number of hours spent by the technicians. X-axis ranges from 0.64 to 1.36 with successive interval of 0.12, with the middle point of the curve or its peak lie at 1 on the x-axis. It has a shaded portion or area ranging from 1.12 to 1.36."/>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519113" y="4967288"/>
            <a:ext cx="3252787" cy="180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8" name="Object 4" descr="The image shows a mathematical calculation, which is mentioned as: &quot;z equals to 1.1 minus 1 divide by 0.12,&quot; equals to &quot;0.83&quot;."/>
          <p:cNvGraphicFramePr>
            <a:graphicFrameLocks noChangeAspect="1"/>
          </p:cNvGraphicFramePr>
          <p:nvPr/>
        </p:nvGraphicFramePr>
        <p:xfrm>
          <a:off x="4200525" y="5146675"/>
          <a:ext cx="1323975" cy="449263"/>
        </p:xfrm>
        <a:graphic>
          <a:graphicData uri="http://schemas.openxmlformats.org/presentationml/2006/ole">
            <mc:AlternateContent xmlns:mc="http://schemas.openxmlformats.org/markup-compatibility/2006">
              <mc:Choice xmlns:v="urn:schemas-microsoft-com:vml" Requires="v">
                <p:oleObj name="Equation" r:id="rId8" imgW="1041400" imgH="355600" progId="Equation.3">
                  <p:embed/>
                </p:oleObj>
              </mc:Choice>
              <mc:Fallback>
                <p:oleObj name="Equation" r:id="rId8" imgW="1041400" imgH="355600" progId="Equation.3">
                  <p:embed/>
                  <p:pic>
                    <p:nvPicPr>
                      <p:cNvPr id="28" name="Object 4" descr="The image shows a mathematical calculation, which is mentioned as: &quot;z equals to 1.1 minus 1 divide by 0.12,&quot; equals to &quot;0.83&quot;."/>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00525" y="5146675"/>
                        <a:ext cx="1323975" cy="4492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29" name="Object 5" descr="The image shows mathematical calculations, which are mentioned as: &quot;P bracket open x bar greater than 1.1 bracket close,&quot; equals to &quot;P bracket open Z greater than 0.83 bracket close,&quot; equals to &quot;1 minus 0.7967,&quot; equals to &quot;0.2033.&quot;"/>
          <p:cNvGraphicFramePr>
            <a:graphicFrameLocks noChangeAspect="1"/>
          </p:cNvGraphicFramePr>
          <p:nvPr/>
        </p:nvGraphicFramePr>
        <p:xfrm>
          <a:off x="5867400" y="5137150"/>
          <a:ext cx="1906588" cy="450850"/>
        </p:xfrm>
        <a:graphic>
          <a:graphicData uri="http://schemas.openxmlformats.org/presentationml/2006/ole">
            <mc:AlternateContent xmlns:mc="http://schemas.openxmlformats.org/markup-compatibility/2006">
              <mc:Choice xmlns:v="urn:schemas-microsoft-com:vml" Requires="v">
                <p:oleObj name="Equation" r:id="rId10" imgW="1498600" imgH="355600" progId="Equation.3">
                  <p:embed/>
                </p:oleObj>
              </mc:Choice>
              <mc:Fallback>
                <p:oleObj name="Equation" r:id="rId10" imgW="1498600" imgH="355600" progId="Equation.3">
                  <p:embed/>
                  <p:pic>
                    <p:nvPicPr>
                      <p:cNvPr id="29" name="Object 5" descr="The image shows mathematical calculations, which are mentioned as: &quot;P bracket open x bar greater than 1.1 bracket close,&quot; equals to &quot;P bracket open Z greater than 0.83 bracket close,&quot; equals to &quot;1 minus 0.7967,&quot; equals to &quot;0.2033.&quot;"/>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67400" y="5137150"/>
                        <a:ext cx="1906588" cy="450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30" name="TextBox 29"/>
          <p:cNvSpPr txBox="1">
            <a:spLocks noChangeArrowheads="1"/>
          </p:cNvSpPr>
          <p:nvPr/>
        </p:nvSpPr>
        <p:spPr bwMode="auto">
          <a:xfrm>
            <a:off x="4014788" y="5846763"/>
            <a:ext cx="4430712"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sz="1600" dirty="0">
                <a:solidFill>
                  <a:schemeClr val="tx1"/>
                </a:solidFill>
              </a:rPr>
              <a:t>If you budget 1.1 hours per unit, there is a 20% chance the technicians will not complete the work within the budgeted time.</a:t>
            </a:r>
            <a:endParaRPr lang="en-US" altLang="en-US" sz="1600" i="1" dirty="0">
              <a:solidFill>
                <a:schemeClr val="tx1"/>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1000"/>
                                        <p:tgtEl>
                                          <p:spTgt spid="21"/>
                                        </p:tgtEl>
                                      </p:cBhvr>
                                    </p:animEffect>
                                  </p:childTnLst>
                                </p:cTn>
                              </p:par>
                            </p:childTnLst>
                          </p:cTn>
                        </p:par>
                        <p:par>
                          <p:cTn id="13" fill="hold" nodeType="afterGroup">
                            <p:stCondLst>
                              <p:cond delay="1000"/>
                            </p:stCondLst>
                            <p:childTnLst>
                              <p:par>
                                <p:cTn id="14" presetID="10" presetClass="entr" presetSubtype="0" fill="hold" nodeType="after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1000"/>
                                        <p:tgtEl>
                                          <p:spTgt spid="2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1000"/>
                                        <p:tgtEl>
                                          <p:spTgt spid="2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5" presetClass="entr" presetSubtype="0" fill="hold" nodeType="clickEffect">
                                  <p:stCondLst>
                                    <p:cond delay="0"/>
                                  </p:stCondLst>
                                  <p:childTnLst>
                                    <p:set>
                                      <p:cBhvr>
                                        <p:cTn id="25" dur="1" fill="hold">
                                          <p:stCondLst>
                                            <p:cond delay="0"/>
                                          </p:stCondLst>
                                        </p:cTn>
                                        <p:tgtEl>
                                          <p:spTgt spid="27"/>
                                        </p:tgtEl>
                                        <p:attrNameLst>
                                          <p:attrName>style.visibility</p:attrName>
                                        </p:attrNameLst>
                                      </p:cBhvr>
                                      <p:to>
                                        <p:strVal val="visible"/>
                                      </p:to>
                                    </p:set>
                                    <p:anim calcmode="lin" valueType="num">
                                      <p:cBhvr>
                                        <p:cTn id="26" dur="1000" fill="hold"/>
                                        <p:tgtEl>
                                          <p:spTgt spid="27"/>
                                        </p:tgtEl>
                                        <p:attrNameLst>
                                          <p:attrName>ppt_w</p:attrName>
                                        </p:attrNameLst>
                                      </p:cBhvr>
                                      <p:tavLst>
                                        <p:tav tm="0">
                                          <p:val>
                                            <p:fltVal val="0"/>
                                          </p:val>
                                        </p:tav>
                                        <p:tav tm="100000">
                                          <p:val>
                                            <p:strVal val="#ppt_w"/>
                                          </p:val>
                                        </p:tav>
                                      </p:tavLst>
                                    </p:anim>
                                    <p:anim calcmode="lin" valueType="num">
                                      <p:cBhvr>
                                        <p:cTn id="27" dur="1000" fill="hold"/>
                                        <p:tgtEl>
                                          <p:spTgt spid="27"/>
                                        </p:tgtEl>
                                        <p:attrNameLst>
                                          <p:attrName>ppt_h</p:attrName>
                                        </p:attrNameLst>
                                      </p:cBhvr>
                                      <p:tavLst>
                                        <p:tav tm="0">
                                          <p:val>
                                            <p:fltVal val="0"/>
                                          </p:val>
                                        </p:tav>
                                        <p:tav tm="100000">
                                          <p:val>
                                            <p:strVal val="#ppt_h"/>
                                          </p:val>
                                        </p:tav>
                                      </p:tavLst>
                                    </p:anim>
                                    <p:anim calcmode="lin" valueType="num">
                                      <p:cBhvr>
                                        <p:cTn id="28" dur="1000" fill="hold"/>
                                        <p:tgtEl>
                                          <p:spTgt spid="27"/>
                                        </p:tgtEl>
                                        <p:attrNameLst>
                                          <p:attrName>ppt_x</p:attrName>
                                        </p:attrNameLst>
                                      </p:cBhvr>
                                      <p:tavLst>
                                        <p:tav tm="0" fmla="#ppt_x+(cos(-2*pi*(1-$))*-#ppt_x-sin(-2*pi*(1-$))*(1-#ppt_y))*(1-$)">
                                          <p:val>
                                            <p:fltVal val="0"/>
                                          </p:val>
                                        </p:tav>
                                        <p:tav tm="100000">
                                          <p:val>
                                            <p:fltVal val="1"/>
                                          </p:val>
                                        </p:tav>
                                      </p:tavLst>
                                    </p:anim>
                                    <p:anim calcmode="lin" valueType="num">
                                      <p:cBhvr>
                                        <p:cTn id="29" dur="1000" fill="hold"/>
                                        <p:tgtEl>
                                          <p:spTgt spid="2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10" presetClass="entr" presetSubtype="0" fill="hold" nodeType="click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1000"/>
                                        <p:tgtEl>
                                          <p:spTgt spid="28"/>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0" presetClass="entr" presetSubtype="0" fill="hold" nodeType="click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fade">
                                      <p:cBhvr>
                                        <p:cTn id="39" dur="1000"/>
                                        <p:tgtEl>
                                          <p:spTgt spid="29"/>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30"/>
                                        </p:tgtEl>
                                        <p:attrNameLst>
                                          <p:attrName>style.visibility</p:attrName>
                                        </p:attrNameLst>
                                      </p:cBhvr>
                                      <p:to>
                                        <p:strVal val="visible"/>
                                      </p:to>
                                    </p:set>
                                    <p:animEffect transition="in" filter="fade">
                                      <p:cBhvr>
                                        <p:cTn id="44" dur="10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6" grpId="0"/>
      <p:bldP spid="3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4"/>
          <p:cNvSpPr>
            <a:spLocks noGrp="1" noChangeArrowheads="1"/>
          </p:cNvSpPr>
          <p:nvPr>
            <p:ph type="title"/>
          </p:nvPr>
        </p:nvSpPr>
        <p:spPr/>
        <p:txBody>
          <a:bodyPr/>
          <a:lstStyle/>
          <a:p>
            <a:pPr eaLnBrk="1" hangingPunct="1">
              <a:lnSpc>
                <a:spcPct val="110000"/>
              </a:lnSpc>
            </a:pPr>
            <a:r>
              <a:rPr lang="en-US" altLang="en-US">
                <a:ea typeface="ＭＳ Ｐゴシック" pitchFamily="34" charset="-128"/>
              </a:rPr>
              <a:t>A Few More Facts</a:t>
            </a:r>
          </a:p>
        </p:txBody>
      </p:sp>
      <p:sp>
        <p:nvSpPr>
          <p:cNvPr id="4506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12A9BFCB-A992-4D6C-B5B5-7CCDFD394D8F}" type="slidenum">
              <a:rPr lang="en-US" altLang="en-US" sz="1200">
                <a:solidFill>
                  <a:schemeClr val="accent1"/>
                </a:solidFill>
              </a:rPr>
              <a:pPr>
                <a:lnSpc>
                  <a:spcPct val="80000"/>
                </a:lnSpc>
              </a:pPr>
              <a:t>18</a:t>
            </a:fld>
            <a:endParaRPr lang="en-US" altLang="en-US" sz="1200">
              <a:solidFill>
                <a:schemeClr val="accent1"/>
              </a:solidFill>
            </a:endParaRPr>
          </a:p>
        </p:txBody>
      </p:sp>
      <p:pic>
        <p:nvPicPr>
          <p:cNvPr id="45062" name="Picture 9" descr="The distribution bar graph shows three clusters on the horizontal axis. It depicts that any linear combination of independent normal random variables is also normally distributed."/>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47660" y="931228"/>
            <a:ext cx="2833778" cy="913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1" name="Picture 4" descr="The image shows a normal distribution graph with y-axis ranges from 0 to 894 in successive intervals of 149, and x-axis ranges from 0 to 32. It depicts distribution of means, N equals to 2. There are five clusters of bars given in this graph. It discusses the central limit theorem which states that the distribution of a sum or average of many small random quantities is close to normal. It also discusses that the theorem also applies to discrete random variables."/>
          <p:cNvPicPr>
            <a:picLocks noChangeAspect="1"/>
          </p:cNvPicPr>
          <p:nvPr/>
        </p:nvPicPr>
        <p:blipFill>
          <a:blip r:embed="rId4">
            <a:extLst>
              <a:ext uri="{28A0092B-C50C-407E-A947-70E740481C1C}">
                <a14:useLocalDpi xmlns:a14="http://schemas.microsoft.com/office/drawing/2010/main" val="0"/>
              </a:ext>
            </a:extLst>
          </a:blip>
          <a:srcRect r="50574" b="48953"/>
          <a:stretch>
            <a:fillRect/>
          </a:stretch>
        </p:blipFill>
        <p:spPr bwMode="auto">
          <a:xfrm>
            <a:off x="430101" y="1830461"/>
            <a:ext cx="2671201" cy="1261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3" name="Picture 6" descr="The image shows a normal distribution graph with y-axis ranges from 0 to 894 in successive intervals of 149, and x-axis ranges from 0 to 32. It depicts distribution of means, N equals to 5. There is one cluster of bars given in this graph depicting a normal distribution. It discusses the central limit theorem which states that the distribution of a sum or average of many small random quantities is close to normal. "/>
          <p:cNvPicPr>
            <a:picLocks noChangeAspect="1"/>
          </p:cNvPicPr>
          <p:nvPr/>
        </p:nvPicPr>
        <p:blipFill>
          <a:blip r:embed="rId4">
            <a:extLst>
              <a:ext uri="{28A0092B-C50C-407E-A947-70E740481C1C}">
                <a14:useLocalDpi xmlns:a14="http://schemas.microsoft.com/office/drawing/2010/main" val="0"/>
              </a:ext>
            </a:extLst>
          </a:blip>
          <a:srcRect l="50034" b="49814"/>
          <a:stretch>
            <a:fillRect/>
          </a:stretch>
        </p:blipFill>
        <p:spPr bwMode="auto">
          <a:xfrm>
            <a:off x="430101" y="3093794"/>
            <a:ext cx="2670048" cy="1225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4" name="Picture 7" descr="The image shows a normal distribution graph with y-axis ranges from 0 to 1560 in successive intervals of 302, and x-axis ranges from 0 to 32. It depicts distribution of means, N equals to 10. There is one cluster of bars given in this graph depicting a normal distribution. It discusses the central limit theorem which states that the distribution of a sum or average of many small random quantities is close to normal."/>
          <p:cNvPicPr>
            <a:picLocks noChangeAspect="1"/>
          </p:cNvPicPr>
          <p:nvPr/>
        </p:nvPicPr>
        <p:blipFill>
          <a:blip r:embed="rId4">
            <a:extLst>
              <a:ext uri="{28A0092B-C50C-407E-A947-70E740481C1C}">
                <a14:useLocalDpi xmlns:a14="http://schemas.microsoft.com/office/drawing/2010/main" val="0"/>
              </a:ext>
            </a:extLst>
          </a:blip>
          <a:srcRect t="50122" r="49834"/>
          <a:stretch>
            <a:fillRect/>
          </a:stretch>
        </p:blipFill>
        <p:spPr bwMode="auto">
          <a:xfrm>
            <a:off x="385576" y="4321926"/>
            <a:ext cx="2670048" cy="1213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5" name="Picture 8" descr="The image shows a normal distribution graph with y-axis ranges from 0 to 1812 in successive intervals of 302, and x-axis ranges from 0 to 32. It depicts distribution of means, N equals to 25. There is one cluster of bars given in this graph depicting a normal distribution. It discusses the central limit theorem which states that the distribution of a sum or average of many small random quantities is close to normal."/>
          <p:cNvPicPr>
            <a:picLocks noChangeAspect="1"/>
          </p:cNvPicPr>
          <p:nvPr/>
        </p:nvPicPr>
        <p:blipFill>
          <a:blip r:embed="rId4">
            <a:extLst>
              <a:ext uri="{28A0092B-C50C-407E-A947-70E740481C1C}">
                <a14:useLocalDpi xmlns:a14="http://schemas.microsoft.com/office/drawing/2010/main" val="0"/>
              </a:ext>
            </a:extLst>
          </a:blip>
          <a:srcRect l="49886" t="51247"/>
          <a:stretch>
            <a:fillRect/>
          </a:stretch>
        </p:blipFill>
        <p:spPr bwMode="auto">
          <a:xfrm>
            <a:off x="385576" y="5535512"/>
            <a:ext cx="2670048" cy="1187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58" name="Rectangle 3"/>
          <p:cNvSpPr>
            <a:spLocks noChangeArrowheads="1"/>
          </p:cNvSpPr>
          <p:nvPr/>
        </p:nvSpPr>
        <p:spPr bwMode="auto">
          <a:xfrm>
            <a:off x="3378201" y="1727675"/>
            <a:ext cx="5384800"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en-US" sz="2000" dirty="0">
                <a:sym typeface="Symbol" pitchFamily="18" charset="2"/>
              </a:rPr>
              <a:t>Any linear combination </a:t>
            </a:r>
            <a:r>
              <a:rPr lang="en-US" altLang="en-US" sz="2000">
                <a:sym typeface="Symbol" pitchFamily="18" charset="2"/>
              </a:rPr>
              <a:t>of normal </a:t>
            </a:r>
            <a:r>
              <a:rPr lang="en-US" altLang="en-US" sz="2000" dirty="0">
                <a:sym typeface="Symbol" pitchFamily="18" charset="2"/>
              </a:rPr>
              <a:t>random variables is also normally distributed. </a:t>
            </a:r>
          </a:p>
          <a:p>
            <a:endParaRPr lang="en-US" altLang="en-US" sz="1200" dirty="0">
              <a:sym typeface="Symbol" pitchFamily="18" charset="2"/>
            </a:endParaRPr>
          </a:p>
          <a:p>
            <a:r>
              <a:rPr lang="en-US" altLang="en-US" sz="2000" dirty="0">
                <a:sym typeface="Symbol" pitchFamily="18" charset="2"/>
              </a:rPr>
              <a:t>More generally, CLT notes that the distribution of a sum or average of many small random quantities is close to Normal. </a:t>
            </a:r>
          </a:p>
          <a:p>
            <a:endParaRPr lang="en-US" altLang="en-US" sz="1200" dirty="0">
              <a:sym typeface="Symbol" pitchFamily="18" charset="2"/>
            </a:endParaRPr>
          </a:p>
          <a:p>
            <a:r>
              <a:rPr lang="en-US" altLang="en-US" sz="2000" dirty="0">
                <a:sym typeface="Symbol" pitchFamily="18" charset="2"/>
              </a:rPr>
              <a:t>Finally, </a:t>
            </a:r>
            <a:r>
              <a:rPr lang="en-US" altLang="en-US" sz="2000" dirty="0">
                <a:solidFill>
                  <a:srgbClr val="FF0000"/>
                </a:solidFill>
                <a:sym typeface="Symbol" pitchFamily="18" charset="2"/>
              </a:rPr>
              <a:t>CLT also applies to discrete random variables. An average of discrete random variables will </a:t>
            </a:r>
            <a:r>
              <a:rPr lang="en-US" altLang="en-US" sz="2000" i="1" dirty="0">
                <a:solidFill>
                  <a:srgbClr val="FF0000"/>
                </a:solidFill>
                <a:sym typeface="Symbol" pitchFamily="18" charset="2"/>
              </a:rPr>
              <a:t>never</a:t>
            </a:r>
            <a:r>
              <a:rPr lang="en-US" altLang="en-US" sz="2000" dirty="0">
                <a:solidFill>
                  <a:srgbClr val="FF0000"/>
                </a:solidFill>
                <a:sym typeface="Symbol" pitchFamily="18" charset="2"/>
              </a:rPr>
              <a:t> result in a continuous sampling distribution, but the normal distribution still serves as an </a:t>
            </a:r>
            <a:r>
              <a:rPr lang="en-US" altLang="en-US" sz="2000" i="1" dirty="0">
                <a:solidFill>
                  <a:srgbClr val="FF0000"/>
                </a:solidFill>
                <a:sym typeface="Symbol" pitchFamily="18" charset="2"/>
              </a:rPr>
              <a:t>approximation</a:t>
            </a:r>
            <a:r>
              <a:rPr lang="en-US" altLang="en-US" sz="2000" dirty="0">
                <a:solidFill>
                  <a:srgbClr val="FF0000"/>
                </a:solidFill>
                <a:sym typeface="Symbol" pitchFamily="18" charset="2"/>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2"/>
          <p:cNvSpPr>
            <a:spLocks noGrp="1"/>
          </p:cNvSpPr>
          <p:nvPr>
            <p:ph type="title"/>
          </p:nvPr>
        </p:nvSpPr>
        <p:spPr/>
        <p:txBody>
          <a:bodyPr anchor="t"/>
          <a:lstStyle/>
          <a:p>
            <a:pPr eaLnBrk="1" hangingPunct="1"/>
            <a:r>
              <a:rPr lang="en-US" altLang="en-US" b="1">
                <a:ea typeface="ＭＳ Ｐゴシック" pitchFamily="34" charset="-128"/>
              </a:rPr>
              <a:t>5.3 Sampling Distributions for Counts and Proportions</a:t>
            </a:r>
          </a:p>
        </p:txBody>
      </p:sp>
      <p:sp>
        <p:nvSpPr>
          <p:cNvPr id="47107" name="Text Placeholder 3"/>
          <p:cNvSpPr>
            <a:spLocks noGrp="1"/>
          </p:cNvSpPr>
          <p:nvPr>
            <p:ph idx="1"/>
          </p:nvPr>
        </p:nvSpPr>
        <p:spPr/>
        <p:txBody>
          <a:bodyPr/>
          <a:lstStyle/>
          <a:p>
            <a:pPr eaLnBrk="1" hangingPunct="1">
              <a:buSzPct val="110000"/>
              <a:buFont typeface="Wingdings" pitchFamily="2" charset="2"/>
              <a:buChar char="§"/>
            </a:pPr>
            <a:r>
              <a:rPr lang="en-US" altLang="en-US" sz="1800" dirty="0">
                <a:solidFill>
                  <a:schemeClr val="accent1"/>
                </a:solidFill>
                <a:ea typeface="ＭＳ Ｐゴシック" pitchFamily="34" charset="-128"/>
              </a:rPr>
              <a:t>Binomial distributions for sample counts</a:t>
            </a:r>
          </a:p>
          <a:p>
            <a:pPr eaLnBrk="1" hangingPunct="1">
              <a:buSzPct val="110000"/>
              <a:buFont typeface="Wingdings" pitchFamily="2" charset="2"/>
              <a:buChar char="§"/>
            </a:pPr>
            <a:r>
              <a:rPr lang="en-US" altLang="en-US" sz="1800" dirty="0">
                <a:solidFill>
                  <a:schemeClr val="accent1"/>
                </a:solidFill>
                <a:ea typeface="ＭＳ Ｐゴシック" pitchFamily="34" charset="-128"/>
              </a:rPr>
              <a:t>Binomial distributions in statistical sampling</a:t>
            </a:r>
          </a:p>
          <a:p>
            <a:pPr eaLnBrk="1" hangingPunct="1">
              <a:buSzPct val="110000"/>
              <a:buFont typeface="Wingdings" pitchFamily="2" charset="2"/>
              <a:buChar char="§"/>
            </a:pPr>
            <a:r>
              <a:rPr lang="en-US" altLang="en-US" sz="1800" dirty="0">
                <a:solidFill>
                  <a:schemeClr val="accent1"/>
                </a:solidFill>
                <a:ea typeface="ＭＳ Ｐゴシック" pitchFamily="34" charset="-128"/>
              </a:rPr>
              <a:t>Finding binomial probabilities</a:t>
            </a:r>
          </a:p>
          <a:p>
            <a:pPr eaLnBrk="1" hangingPunct="1">
              <a:buSzPct val="110000"/>
              <a:buFont typeface="Wingdings" pitchFamily="2" charset="2"/>
              <a:buChar char="§"/>
            </a:pPr>
            <a:r>
              <a:rPr lang="en-US" altLang="en-US" sz="1800" dirty="0">
                <a:solidFill>
                  <a:schemeClr val="accent1"/>
                </a:solidFill>
                <a:ea typeface="ＭＳ Ｐゴシック" pitchFamily="34" charset="-128"/>
              </a:rPr>
              <a:t>Binomial mean and standard deviation</a:t>
            </a:r>
          </a:p>
          <a:p>
            <a:pPr eaLnBrk="1" hangingPunct="1">
              <a:buSzPct val="110000"/>
              <a:buFont typeface="Wingdings" pitchFamily="2" charset="2"/>
              <a:buChar char="§"/>
            </a:pPr>
            <a:r>
              <a:rPr lang="en-US" altLang="en-US" sz="1800" dirty="0">
                <a:solidFill>
                  <a:schemeClr val="accent1"/>
                </a:solidFill>
                <a:ea typeface="ＭＳ Ｐゴシック" pitchFamily="34" charset="-128"/>
              </a:rPr>
              <a:t>Sample proportions</a:t>
            </a:r>
          </a:p>
          <a:p>
            <a:pPr eaLnBrk="1" hangingPunct="1">
              <a:buSzPct val="110000"/>
              <a:buFont typeface="Wingdings" pitchFamily="2" charset="2"/>
              <a:buChar char="§"/>
            </a:pPr>
            <a:r>
              <a:rPr lang="en-US" altLang="en-US" sz="1800" dirty="0">
                <a:solidFill>
                  <a:schemeClr val="accent1"/>
                </a:solidFill>
                <a:ea typeface="ＭＳ Ｐゴシック" pitchFamily="34" charset="-128"/>
              </a:rPr>
              <a:t>Normal approximation for counts and proportions</a:t>
            </a:r>
          </a:p>
          <a:p>
            <a:pPr eaLnBrk="1" hangingPunct="1">
              <a:buSzPct val="110000"/>
              <a:buFont typeface="Wingdings" pitchFamily="2" charset="2"/>
              <a:buChar char="§"/>
            </a:pPr>
            <a:r>
              <a:rPr lang="en-US" altLang="en-US" sz="1800" dirty="0">
                <a:solidFill>
                  <a:schemeClr val="accent1"/>
                </a:solidFill>
                <a:ea typeface="ＭＳ Ｐゴシック" pitchFamily="34" charset="-128"/>
              </a:rPr>
              <a:t>Binomial formula</a:t>
            </a:r>
          </a:p>
          <a:p>
            <a:pPr eaLnBrk="1" hangingPunct="1">
              <a:buSzPct val="110000"/>
              <a:buFont typeface="Wingdings" pitchFamily="2" charset="2"/>
              <a:buChar char="§"/>
            </a:pPr>
            <a:r>
              <a:rPr lang="en-US" altLang="en-US" sz="1800" dirty="0">
                <a:solidFill>
                  <a:schemeClr val="accent1"/>
                </a:solidFill>
                <a:ea typeface="ＭＳ Ｐゴシック" pitchFamily="34" charset="-128"/>
              </a:rPr>
              <a:t>Poisson distributions</a:t>
            </a:r>
          </a:p>
        </p:txBody>
      </p:sp>
      <p:sp>
        <p:nvSpPr>
          <p:cNvPr id="47108"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72654DEB-3E67-46A6-BAB9-F793BA8E4C9D}" type="slidenum">
              <a:rPr lang="en-US" altLang="en-US" sz="1400">
                <a:solidFill>
                  <a:schemeClr val="accent1"/>
                </a:solidFill>
              </a:rPr>
              <a:pPr/>
              <a:t>19</a:t>
            </a:fld>
            <a:endParaRPr lang="en-US" altLang="en-US" sz="1400">
              <a:solidFill>
                <a:schemeClr val="accent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2" name="Rectangle 2"/>
          <p:cNvSpPr>
            <a:spLocks noGrp="1" noChangeArrowheads="1"/>
          </p:cNvSpPr>
          <p:nvPr>
            <p:ph type="title"/>
          </p:nvPr>
        </p:nvSpPr>
        <p:spPr/>
        <p:txBody>
          <a:bodyPr/>
          <a:lstStyle/>
          <a:p>
            <a:pPr eaLnBrk="1" hangingPunct="1"/>
            <a:r>
              <a:rPr lang="en-US" altLang="en-US" dirty="0">
                <a:ea typeface="ＭＳ Ｐゴシック" pitchFamily="34" charset="-128"/>
              </a:rPr>
              <a:t>Binomial Setting</a:t>
            </a:r>
          </a:p>
        </p:txBody>
      </p:sp>
      <p:sp>
        <p:nvSpPr>
          <p:cNvPr id="48131"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B2FA51D0-3FAC-4BA8-BC11-921FF4AE4258}" type="slidenum">
              <a:rPr lang="en-US" altLang="en-US" sz="1200">
                <a:solidFill>
                  <a:schemeClr val="accent1"/>
                </a:solidFill>
              </a:rPr>
              <a:pPr>
                <a:lnSpc>
                  <a:spcPct val="80000"/>
                </a:lnSpc>
              </a:pPr>
              <a:t>20</a:t>
            </a:fld>
            <a:endParaRPr lang="en-US" altLang="en-US" sz="1200">
              <a:solidFill>
                <a:schemeClr val="accent1"/>
              </a:solidFill>
            </a:endParaRPr>
          </a:p>
        </p:txBody>
      </p:sp>
      <p:sp>
        <p:nvSpPr>
          <p:cNvPr id="5" name="TextBox 4"/>
          <p:cNvSpPr txBox="1">
            <a:spLocks noChangeArrowheads="1"/>
          </p:cNvSpPr>
          <p:nvPr/>
        </p:nvSpPr>
        <p:spPr bwMode="auto">
          <a:xfrm>
            <a:off x="355600" y="1918730"/>
            <a:ext cx="8308975" cy="923330"/>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p>
            <a:pPr eaLnBrk="1" hangingPunct="1">
              <a:defRPr/>
            </a:pPr>
            <a:r>
              <a:rPr lang="en-US" dirty="0">
                <a:solidFill>
                  <a:srgbClr val="000000"/>
                </a:solidFill>
                <a:latin typeface="Arial"/>
                <a:ea typeface="ＭＳ Ｐゴシック" charset="-128"/>
                <a:cs typeface="Arial"/>
              </a:rPr>
              <a:t>A </a:t>
            </a:r>
            <a:r>
              <a:rPr lang="en-US" b="1" dirty="0">
                <a:solidFill>
                  <a:srgbClr val="000000"/>
                </a:solidFill>
                <a:latin typeface="Arial"/>
                <a:ea typeface="ＭＳ Ｐゴシック" charset="-128"/>
                <a:cs typeface="Arial"/>
              </a:rPr>
              <a:t>binomial setting </a:t>
            </a:r>
            <a:r>
              <a:rPr lang="en-US" dirty="0">
                <a:solidFill>
                  <a:srgbClr val="000000"/>
                </a:solidFill>
                <a:latin typeface="Arial"/>
                <a:ea typeface="ＭＳ Ｐゴシック" charset="-128"/>
                <a:cs typeface="Arial"/>
              </a:rPr>
              <a:t>arises when we perform several independent Bernoulli trials of the same chance process and record the number of times that a particular outcome occurs. The four conditions (called </a:t>
            </a:r>
            <a:r>
              <a:rPr lang="en-US" b="1" dirty="0">
                <a:solidFill>
                  <a:srgbClr val="000000"/>
                </a:solidFill>
                <a:latin typeface="Arial"/>
                <a:ea typeface="ＭＳ Ｐゴシック" charset="-128"/>
                <a:cs typeface="Arial"/>
              </a:rPr>
              <a:t>BINS</a:t>
            </a:r>
            <a:r>
              <a:rPr lang="en-US" dirty="0">
                <a:solidFill>
                  <a:srgbClr val="000000"/>
                </a:solidFill>
                <a:latin typeface="Arial"/>
                <a:ea typeface="ＭＳ Ｐゴシック" charset="-128"/>
                <a:cs typeface="Arial"/>
              </a:rPr>
              <a:t>) for a binomial setting are</a:t>
            </a:r>
          </a:p>
        </p:txBody>
      </p:sp>
      <p:sp>
        <p:nvSpPr>
          <p:cNvPr id="6" name="TextBox 5"/>
          <p:cNvSpPr txBox="1">
            <a:spLocks noChangeArrowheads="1"/>
          </p:cNvSpPr>
          <p:nvPr/>
        </p:nvSpPr>
        <p:spPr bwMode="auto">
          <a:xfrm>
            <a:off x="355600" y="2964195"/>
            <a:ext cx="8308975" cy="646331"/>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marL="168275" indent="-168275">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defRPr/>
            </a:pPr>
            <a:r>
              <a:rPr lang="en-US" altLang="en-US" sz="1800" b="1" dirty="0">
                <a:solidFill>
                  <a:srgbClr val="000000"/>
                </a:solidFill>
              </a:rPr>
              <a:t>• </a:t>
            </a:r>
            <a:r>
              <a:rPr lang="en-US" altLang="en-US" sz="1800" b="1" dirty="0">
                <a:solidFill>
                  <a:srgbClr val="FF0000"/>
                </a:solidFill>
              </a:rPr>
              <a:t>B</a:t>
            </a:r>
            <a:r>
              <a:rPr lang="en-US" altLang="en-US" sz="1800" dirty="0">
                <a:solidFill>
                  <a:srgbClr val="FF0000"/>
                </a:solidFill>
              </a:rPr>
              <a:t>inary?</a:t>
            </a:r>
            <a:r>
              <a:rPr lang="en-US" altLang="en-US" sz="1800" dirty="0">
                <a:solidFill>
                  <a:srgbClr val="000000"/>
                </a:solidFill>
              </a:rPr>
              <a:t> The possible outcomes of each </a:t>
            </a:r>
            <a:r>
              <a:rPr lang="en-US" sz="1800" dirty="0">
                <a:solidFill>
                  <a:srgbClr val="000000"/>
                </a:solidFill>
                <a:latin typeface="Arial"/>
                <a:ea typeface="ＭＳ Ｐゴシック" charset="-128"/>
                <a:cs typeface="Arial"/>
              </a:rPr>
              <a:t>Bernoulli</a:t>
            </a:r>
            <a:r>
              <a:rPr lang="en-US" altLang="en-US" sz="1800" dirty="0">
                <a:solidFill>
                  <a:srgbClr val="000000"/>
                </a:solidFill>
              </a:rPr>
              <a:t> trial is binary and can be classified as </a:t>
            </a:r>
            <a:r>
              <a:rPr lang="ja-JP" altLang="en-US" sz="1800" dirty="0">
                <a:solidFill>
                  <a:srgbClr val="000000"/>
                </a:solidFill>
              </a:rPr>
              <a:t>“</a:t>
            </a:r>
            <a:r>
              <a:rPr lang="en-US" altLang="ja-JP" sz="1800" dirty="0">
                <a:solidFill>
                  <a:srgbClr val="000000"/>
                </a:solidFill>
              </a:rPr>
              <a:t>success</a:t>
            </a:r>
            <a:r>
              <a:rPr lang="ja-JP" altLang="en-US" sz="1800" dirty="0">
                <a:solidFill>
                  <a:srgbClr val="000000"/>
                </a:solidFill>
              </a:rPr>
              <a:t>”</a:t>
            </a:r>
            <a:r>
              <a:rPr lang="en-US" altLang="ja-JP" sz="1800" dirty="0">
                <a:solidFill>
                  <a:srgbClr val="000000"/>
                </a:solidFill>
              </a:rPr>
              <a:t> or </a:t>
            </a:r>
            <a:r>
              <a:rPr lang="ja-JP" altLang="en-US" sz="1800" dirty="0">
                <a:solidFill>
                  <a:srgbClr val="000000"/>
                </a:solidFill>
              </a:rPr>
              <a:t>“</a:t>
            </a:r>
            <a:r>
              <a:rPr lang="en-US" altLang="ja-JP" sz="1800" dirty="0">
                <a:solidFill>
                  <a:srgbClr val="000000"/>
                </a:solidFill>
              </a:rPr>
              <a:t>failure.</a:t>
            </a:r>
            <a:r>
              <a:rPr lang="ja-JP" altLang="en-US" sz="1800" dirty="0">
                <a:solidFill>
                  <a:srgbClr val="000000"/>
                </a:solidFill>
              </a:rPr>
              <a:t>”</a:t>
            </a:r>
            <a:endParaRPr lang="en-US" altLang="en-US" sz="1800" dirty="0">
              <a:solidFill>
                <a:srgbClr val="000000"/>
              </a:solidFill>
            </a:endParaRPr>
          </a:p>
        </p:txBody>
      </p:sp>
      <p:sp>
        <p:nvSpPr>
          <p:cNvPr id="8" name="TextBox 7"/>
          <p:cNvSpPr txBox="1">
            <a:spLocks noChangeArrowheads="1"/>
          </p:cNvSpPr>
          <p:nvPr/>
        </p:nvSpPr>
        <p:spPr bwMode="auto">
          <a:xfrm>
            <a:off x="355600" y="3697223"/>
            <a:ext cx="8308975" cy="647700"/>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marL="117475" indent="-117475"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r>
              <a:rPr lang="en-US" altLang="en-US" sz="1800" b="1" dirty="0">
                <a:solidFill>
                  <a:srgbClr val="000000"/>
                </a:solidFill>
              </a:rPr>
              <a:t>• </a:t>
            </a:r>
            <a:r>
              <a:rPr lang="en-US" altLang="en-US" sz="1800" b="1" dirty="0">
                <a:solidFill>
                  <a:srgbClr val="FF0000"/>
                </a:solidFill>
              </a:rPr>
              <a:t>I</a:t>
            </a:r>
            <a:r>
              <a:rPr lang="en-US" altLang="en-US" sz="1800" dirty="0">
                <a:solidFill>
                  <a:srgbClr val="FF0000"/>
                </a:solidFill>
              </a:rPr>
              <a:t>ndependent?</a:t>
            </a:r>
            <a:r>
              <a:rPr lang="en-US" altLang="en-US" sz="1800" b="1" dirty="0">
                <a:solidFill>
                  <a:srgbClr val="000000"/>
                </a:solidFill>
              </a:rPr>
              <a:t> </a:t>
            </a:r>
            <a:r>
              <a:rPr lang="en-US" altLang="en-US" sz="1800" dirty="0">
                <a:solidFill>
                  <a:srgbClr val="000000"/>
                </a:solidFill>
              </a:rPr>
              <a:t>Trials must be </a:t>
            </a:r>
            <a:r>
              <a:rPr lang="en-US" altLang="en-US" sz="1800" b="1" dirty="0">
                <a:solidFill>
                  <a:srgbClr val="000000"/>
                </a:solidFill>
              </a:rPr>
              <a:t>independent</a:t>
            </a:r>
            <a:r>
              <a:rPr lang="en-US" altLang="en-US" sz="1800" dirty="0">
                <a:solidFill>
                  <a:srgbClr val="000000"/>
                </a:solidFill>
              </a:rPr>
              <a:t>; that is, knowing the result of one trial must not have any effect on the result of any other trial.</a:t>
            </a:r>
          </a:p>
        </p:txBody>
      </p:sp>
      <p:sp>
        <p:nvSpPr>
          <p:cNvPr id="9" name="TextBox 8"/>
          <p:cNvSpPr txBox="1">
            <a:spLocks noChangeArrowheads="1"/>
          </p:cNvSpPr>
          <p:nvPr/>
        </p:nvSpPr>
        <p:spPr bwMode="auto">
          <a:xfrm>
            <a:off x="355600" y="4431839"/>
            <a:ext cx="8308975" cy="369332"/>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marL="168275" indent="-168275"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r>
              <a:rPr lang="en-US" altLang="en-US" sz="1800" b="1" dirty="0">
                <a:solidFill>
                  <a:srgbClr val="000000"/>
                </a:solidFill>
              </a:rPr>
              <a:t>• </a:t>
            </a:r>
            <a:r>
              <a:rPr lang="en-US" altLang="en-US" sz="1800" b="1" dirty="0">
                <a:solidFill>
                  <a:srgbClr val="FF0000"/>
                </a:solidFill>
              </a:rPr>
              <a:t>N</a:t>
            </a:r>
            <a:r>
              <a:rPr lang="en-US" altLang="en-US" sz="1800" dirty="0">
                <a:solidFill>
                  <a:srgbClr val="FF0000"/>
                </a:solidFill>
              </a:rPr>
              <a:t>umber?</a:t>
            </a:r>
            <a:r>
              <a:rPr lang="en-US" altLang="en-US" sz="1800" b="1" dirty="0">
                <a:solidFill>
                  <a:srgbClr val="FF0000"/>
                </a:solidFill>
              </a:rPr>
              <a:t> </a:t>
            </a:r>
            <a:r>
              <a:rPr lang="en-US" altLang="en-US" sz="1800" dirty="0">
                <a:solidFill>
                  <a:srgbClr val="000000"/>
                </a:solidFill>
              </a:rPr>
              <a:t>The number of trials </a:t>
            </a:r>
            <a:r>
              <a:rPr lang="en-US" altLang="en-US" sz="1800" i="1" dirty="0">
                <a:solidFill>
                  <a:srgbClr val="000000"/>
                </a:solidFill>
              </a:rPr>
              <a:t>n </a:t>
            </a:r>
            <a:r>
              <a:rPr lang="en-US" altLang="en-US" sz="1800" dirty="0">
                <a:solidFill>
                  <a:srgbClr val="000000"/>
                </a:solidFill>
              </a:rPr>
              <a:t>of must be fixed in advance.</a:t>
            </a:r>
          </a:p>
        </p:txBody>
      </p:sp>
      <p:sp>
        <p:nvSpPr>
          <p:cNvPr id="10" name="TextBox 9"/>
          <p:cNvSpPr txBox="1">
            <a:spLocks noChangeArrowheads="1"/>
          </p:cNvSpPr>
          <p:nvPr/>
        </p:nvSpPr>
        <p:spPr bwMode="auto">
          <a:xfrm>
            <a:off x="355600" y="4911380"/>
            <a:ext cx="8312571" cy="646331"/>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defRPr/>
            </a:pPr>
            <a:r>
              <a:rPr lang="en-US" altLang="en-US" sz="1800" b="1" dirty="0">
                <a:solidFill>
                  <a:srgbClr val="000000"/>
                </a:solidFill>
              </a:rPr>
              <a:t>• </a:t>
            </a:r>
            <a:r>
              <a:rPr lang="en-US" altLang="en-US" sz="1800" b="1" dirty="0">
                <a:solidFill>
                  <a:srgbClr val="FF0000"/>
                </a:solidFill>
              </a:rPr>
              <a:t>S</a:t>
            </a:r>
            <a:r>
              <a:rPr lang="en-US" altLang="en-US" sz="1800" dirty="0">
                <a:solidFill>
                  <a:srgbClr val="FF0000"/>
                </a:solidFill>
              </a:rPr>
              <a:t>uccess?</a:t>
            </a:r>
            <a:r>
              <a:rPr lang="en-US" altLang="en-US" sz="1800" b="1" dirty="0">
                <a:solidFill>
                  <a:srgbClr val="000000"/>
                </a:solidFill>
              </a:rPr>
              <a:t> </a:t>
            </a:r>
            <a:r>
              <a:rPr lang="en-US" altLang="en-US" sz="1800" dirty="0">
                <a:solidFill>
                  <a:srgbClr val="000000"/>
                </a:solidFill>
              </a:rPr>
              <a:t>On each trial, the probability of success, denoted by </a:t>
            </a:r>
            <a:r>
              <a:rPr lang="en-US" altLang="en-US" sz="1800" i="1" dirty="0">
                <a:solidFill>
                  <a:srgbClr val="000000"/>
                </a:solidFill>
              </a:rPr>
              <a:t>p</a:t>
            </a:r>
            <a:r>
              <a:rPr lang="en-US" altLang="en-US" sz="1800" dirty="0">
                <a:solidFill>
                  <a:srgbClr val="000000"/>
                </a:solidFill>
              </a:rPr>
              <a:t>, must be </a:t>
            </a:r>
            <a:r>
              <a:rPr lang="en-US" altLang="en-US" sz="1800" dirty="0" err="1">
                <a:solidFill>
                  <a:srgbClr val="000000"/>
                </a:solidFill>
              </a:rPr>
              <a:t>indentical</a:t>
            </a:r>
            <a:r>
              <a:rPr lang="en-US" altLang="en-US" sz="1800" dirty="0">
                <a:solidFill>
                  <a:srgbClr val="000000"/>
                </a:solidFill>
              </a:rPr>
              <a:t>.</a:t>
            </a:r>
            <a:endParaRPr lang="en-US" altLang="en-US" dirty="0">
              <a:solidFill>
                <a:srgbClr val="000000"/>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1000"/>
                                        <p:tgtEl>
                                          <p:spTgt spid="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p:txBody>
          <a:bodyPr/>
          <a:lstStyle/>
          <a:p>
            <a:pPr eaLnBrk="1" hangingPunct="1"/>
            <a:r>
              <a:rPr lang="en-US" altLang="en-US">
                <a:ea typeface="ＭＳ Ｐゴシック" pitchFamily="34" charset="-128"/>
              </a:rPr>
              <a:t>Binomial Distribution</a:t>
            </a:r>
          </a:p>
        </p:txBody>
      </p:sp>
      <p:sp>
        <p:nvSpPr>
          <p:cNvPr id="4915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E308DD78-9C34-485D-95CD-60B0870BF376}" type="slidenum">
              <a:rPr lang="en-US" altLang="en-US" sz="1200">
                <a:solidFill>
                  <a:schemeClr val="accent1"/>
                </a:solidFill>
              </a:rPr>
              <a:pPr>
                <a:lnSpc>
                  <a:spcPct val="80000"/>
                </a:lnSpc>
              </a:pPr>
              <a:t>21</a:t>
            </a:fld>
            <a:endParaRPr lang="en-US" altLang="en-US" sz="1200">
              <a:solidFill>
                <a:schemeClr val="accent1"/>
              </a:solidFill>
            </a:endParaRPr>
          </a:p>
        </p:txBody>
      </p:sp>
      <p:sp>
        <p:nvSpPr>
          <p:cNvPr id="49156" name="Vertical Text Placeholder 2"/>
          <p:cNvSpPr txBox="1">
            <a:spLocks/>
          </p:cNvSpPr>
          <p:nvPr/>
        </p:nvSpPr>
        <p:spPr bwMode="auto">
          <a:xfrm>
            <a:off x="174625" y="1084264"/>
            <a:ext cx="8588375" cy="169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buFont typeface="Wingdings" pitchFamily="2" charset="2"/>
              <a:buNone/>
            </a:pPr>
            <a:r>
              <a:rPr lang="en-US" altLang="en-US" dirty="0">
                <a:solidFill>
                  <a:schemeClr val="tx1"/>
                </a:solidFill>
              </a:rPr>
              <a:t>Consider tossing a coin </a:t>
            </a:r>
            <a:r>
              <a:rPr lang="en-US" altLang="en-US" i="1" dirty="0">
                <a:solidFill>
                  <a:schemeClr val="tx1"/>
                </a:solidFill>
              </a:rPr>
              <a:t>n</a:t>
            </a:r>
            <a:r>
              <a:rPr lang="en-US" altLang="en-US" dirty="0">
                <a:solidFill>
                  <a:schemeClr val="tx1"/>
                </a:solidFill>
              </a:rPr>
              <a:t> times. Each toss gives either the head or tail. Knowing the outcome of one toss does not change the probability of an outcome on any other toss. If we define the head as a success, then </a:t>
            </a:r>
            <a:r>
              <a:rPr lang="en-US" altLang="en-US" i="1" dirty="0">
                <a:solidFill>
                  <a:schemeClr val="tx1"/>
                </a:solidFill>
              </a:rPr>
              <a:t>p </a:t>
            </a:r>
            <a:r>
              <a:rPr lang="en-US" altLang="en-US" dirty="0">
                <a:solidFill>
                  <a:schemeClr val="tx1"/>
                </a:solidFill>
              </a:rPr>
              <a:t>is the probability of observing a head. The number of heads in </a:t>
            </a:r>
            <a:r>
              <a:rPr lang="en-US" altLang="en-US" i="1" dirty="0">
                <a:solidFill>
                  <a:schemeClr val="tx1"/>
                </a:solidFill>
              </a:rPr>
              <a:t>n</a:t>
            </a:r>
            <a:r>
              <a:rPr lang="en-US" altLang="en-US" dirty="0">
                <a:solidFill>
                  <a:schemeClr val="tx1"/>
                </a:solidFill>
              </a:rPr>
              <a:t> tosses is believed to follow the </a:t>
            </a:r>
            <a:r>
              <a:rPr lang="en-US" altLang="en-US" b="1" dirty="0">
                <a:solidFill>
                  <a:srgbClr val="800000"/>
                </a:solidFill>
              </a:rPr>
              <a:t>binomial distribution</a:t>
            </a:r>
            <a:r>
              <a:rPr lang="en-US" altLang="en-US" b="1" dirty="0">
                <a:solidFill>
                  <a:srgbClr val="990000"/>
                </a:solidFill>
              </a:rPr>
              <a:t>.</a:t>
            </a:r>
            <a:endParaRPr lang="en-US" altLang="en-US" dirty="0">
              <a:solidFill>
                <a:srgbClr val="990000"/>
              </a:solidFill>
            </a:endParaRPr>
          </a:p>
        </p:txBody>
      </p:sp>
      <p:sp>
        <p:nvSpPr>
          <p:cNvPr id="11" name="TextBox 10"/>
          <p:cNvSpPr txBox="1">
            <a:spLocks noChangeArrowheads="1"/>
          </p:cNvSpPr>
          <p:nvPr/>
        </p:nvSpPr>
        <p:spPr bwMode="auto">
          <a:xfrm>
            <a:off x="290491" y="3207389"/>
            <a:ext cx="8266112" cy="1693862"/>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37931725" indent="-3747452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6858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9144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1600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0574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defRPr/>
            </a:pPr>
            <a:r>
              <a:rPr lang="en-US" altLang="en-US" b="1" dirty="0">
                <a:solidFill>
                  <a:srgbClr val="800000"/>
                </a:solidFill>
              </a:rPr>
              <a:t>Binomial Distribution</a:t>
            </a:r>
          </a:p>
          <a:p>
            <a:pPr eaLnBrk="1" hangingPunct="1">
              <a:spcBef>
                <a:spcPct val="0"/>
              </a:spcBef>
              <a:buClrTx/>
              <a:buSzTx/>
              <a:buFontTx/>
              <a:buNone/>
              <a:defRPr/>
            </a:pPr>
            <a:r>
              <a:rPr lang="en-US" altLang="en-US" dirty="0">
                <a:solidFill>
                  <a:srgbClr val="000000"/>
                </a:solidFill>
              </a:rPr>
              <a:t>The count of successes, </a:t>
            </a:r>
            <a:r>
              <a:rPr lang="en-US" altLang="en-US" i="1" dirty="0">
                <a:solidFill>
                  <a:srgbClr val="000000"/>
                </a:solidFill>
              </a:rPr>
              <a:t>X</a:t>
            </a:r>
            <a:r>
              <a:rPr lang="en-US" altLang="en-US" dirty="0">
                <a:solidFill>
                  <a:srgbClr val="000000"/>
                </a:solidFill>
              </a:rPr>
              <a:t>,</a:t>
            </a:r>
            <a:r>
              <a:rPr lang="en-US" altLang="en-US" i="1" dirty="0">
                <a:solidFill>
                  <a:srgbClr val="000000"/>
                </a:solidFill>
              </a:rPr>
              <a:t> </a:t>
            </a:r>
            <a:r>
              <a:rPr lang="en-US" altLang="en-US" dirty="0">
                <a:solidFill>
                  <a:srgbClr val="000000"/>
                </a:solidFill>
              </a:rPr>
              <a:t>in a binomial setting has the </a:t>
            </a:r>
            <a:r>
              <a:rPr lang="en-US" altLang="en-US" b="1" dirty="0">
                <a:solidFill>
                  <a:srgbClr val="800000"/>
                </a:solidFill>
              </a:rPr>
              <a:t>binomial distribution</a:t>
            </a:r>
            <a:r>
              <a:rPr lang="en-US" altLang="en-US" b="1" dirty="0">
                <a:solidFill>
                  <a:srgbClr val="000000"/>
                </a:solidFill>
              </a:rPr>
              <a:t> </a:t>
            </a:r>
            <a:r>
              <a:rPr lang="en-US" altLang="en-US" dirty="0">
                <a:solidFill>
                  <a:srgbClr val="000000"/>
                </a:solidFill>
              </a:rPr>
              <a:t>with parameters </a:t>
            </a:r>
            <a:r>
              <a:rPr lang="en-US" altLang="en-US" i="1" dirty="0">
                <a:solidFill>
                  <a:srgbClr val="000000"/>
                </a:solidFill>
              </a:rPr>
              <a:t>n </a:t>
            </a:r>
            <a:r>
              <a:rPr lang="en-US" altLang="en-US" dirty="0">
                <a:solidFill>
                  <a:srgbClr val="000000"/>
                </a:solidFill>
              </a:rPr>
              <a:t>and </a:t>
            </a:r>
            <a:r>
              <a:rPr lang="en-US" altLang="en-US" i="1" dirty="0">
                <a:solidFill>
                  <a:srgbClr val="000000"/>
                </a:solidFill>
              </a:rPr>
              <a:t>p (denoted by </a:t>
            </a:r>
            <a:r>
              <a:rPr lang="en-US" altLang="en-US" b="1" i="1" dirty="0">
                <a:solidFill>
                  <a:srgbClr val="FF0000"/>
                </a:solidFill>
              </a:rPr>
              <a:t>B(n, p)</a:t>
            </a:r>
            <a:r>
              <a:rPr lang="en-US" altLang="en-US" i="1" dirty="0">
                <a:solidFill>
                  <a:srgbClr val="000000"/>
                </a:solidFill>
              </a:rPr>
              <a:t>)</a:t>
            </a:r>
            <a:r>
              <a:rPr lang="en-US" altLang="en-US" dirty="0">
                <a:solidFill>
                  <a:srgbClr val="000000"/>
                </a:solidFill>
              </a:rPr>
              <a:t>, where </a:t>
            </a:r>
            <a:r>
              <a:rPr lang="en-US" altLang="en-US" i="1" dirty="0">
                <a:solidFill>
                  <a:srgbClr val="000000"/>
                </a:solidFill>
              </a:rPr>
              <a:t>n </a:t>
            </a:r>
            <a:r>
              <a:rPr lang="en-US" altLang="en-US" dirty="0">
                <a:solidFill>
                  <a:srgbClr val="000000"/>
                </a:solidFill>
              </a:rPr>
              <a:t>is the number of trials and </a:t>
            </a:r>
            <a:r>
              <a:rPr lang="en-US" altLang="en-US" i="1" dirty="0">
                <a:solidFill>
                  <a:srgbClr val="000000"/>
                </a:solidFill>
              </a:rPr>
              <a:t>p </a:t>
            </a:r>
            <a:r>
              <a:rPr lang="en-US" altLang="en-US" dirty="0">
                <a:solidFill>
                  <a:srgbClr val="000000"/>
                </a:solidFill>
              </a:rPr>
              <a:t>is the probability of a success in each trial. The potential value of </a:t>
            </a:r>
            <a:r>
              <a:rPr lang="en-US" altLang="en-US" i="1" dirty="0">
                <a:solidFill>
                  <a:srgbClr val="000000"/>
                </a:solidFill>
              </a:rPr>
              <a:t>X </a:t>
            </a:r>
            <a:r>
              <a:rPr lang="en-US" altLang="en-US" dirty="0">
                <a:solidFill>
                  <a:srgbClr val="000000"/>
                </a:solidFill>
              </a:rPr>
              <a:t>varies </a:t>
            </a:r>
            <a:r>
              <a:rPr lang="en-US" altLang="en-US" dirty="0">
                <a:solidFill>
                  <a:srgbClr val="FF0000"/>
                </a:solidFill>
              </a:rPr>
              <a:t>from 0 to </a:t>
            </a:r>
            <a:r>
              <a:rPr lang="en-US" altLang="en-US" i="1" dirty="0">
                <a:solidFill>
                  <a:srgbClr val="FF0000"/>
                </a:solidFill>
              </a:rPr>
              <a:t>n</a:t>
            </a:r>
            <a:r>
              <a:rPr lang="en-US" altLang="en-US" dirty="0">
                <a:solidFill>
                  <a:srgbClr val="000000"/>
                </a:solidFill>
              </a:rPr>
              <a:t>.</a:t>
            </a:r>
            <a:endParaRPr lang="en-US" altLang="en-US" sz="2400" dirty="0">
              <a:solidFill>
                <a:srgbClr val="000000"/>
              </a:solidFill>
            </a:endParaRPr>
          </a:p>
        </p:txBody>
      </p:sp>
      <p:sp>
        <p:nvSpPr>
          <p:cNvPr id="12" name="TextBox 11"/>
          <p:cNvSpPr txBox="1">
            <a:spLocks noChangeArrowheads="1"/>
          </p:cNvSpPr>
          <p:nvPr/>
        </p:nvSpPr>
        <p:spPr bwMode="auto">
          <a:xfrm>
            <a:off x="178594" y="5294811"/>
            <a:ext cx="8584406"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b="1" dirty="0">
                <a:solidFill>
                  <a:schemeClr val="tx1"/>
                </a:solidFill>
              </a:rPr>
              <a:t>Note:</a:t>
            </a:r>
            <a:r>
              <a:rPr lang="en-US" altLang="en-US" dirty="0">
                <a:solidFill>
                  <a:schemeClr val="tx1"/>
                </a:solidFill>
              </a:rPr>
              <a:t> Not all counts are of binomial distributions. Be sure to check the four conditions of the binomial setting and make sure you are being asked to count the number of successes in a fixed number of trials.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500" fill="hold"/>
                                        <p:tgtEl>
                                          <p:spTgt spid="12"/>
                                        </p:tgtEl>
                                        <p:attrNameLst>
                                          <p:attrName>ppt_w</p:attrName>
                                        </p:attrNameLst>
                                      </p:cBhvr>
                                      <p:tavLst>
                                        <p:tav tm="0">
                                          <p:val>
                                            <p:fltVal val="0"/>
                                          </p:val>
                                        </p:tav>
                                        <p:tav tm="100000">
                                          <p:val>
                                            <p:strVal val="#ppt_w"/>
                                          </p:val>
                                        </p:tav>
                                      </p:tavLst>
                                    </p:anim>
                                    <p:anim calcmode="lin" valueType="num">
                                      <p:cBhvr>
                                        <p:cTn id="13" dur="500" fill="hold"/>
                                        <p:tgtEl>
                                          <p:spTgt spid="1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Binomial Probability</a:t>
            </a:r>
          </a:p>
        </p:txBody>
      </p:sp>
      <p:sp>
        <p:nvSpPr>
          <p:cNvPr id="50178"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FD88AB4E-A064-4B96-AC20-A180965F94C1}" type="slidenum">
              <a:rPr lang="en-US" altLang="en-US" sz="1400">
                <a:solidFill>
                  <a:schemeClr val="accent1"/>
                </a:solidFill>
              </a:rPr>
              <a:pPr/>
              <a:t>22</a:t>
            </a:fld>
            <a:endParaRPr lang="en-US" altLang="en-US" sz="1400">
              <a:solidFill>
                <a:schemeClr val="accent1"/>
              </a:solidFill>
            </a:endParaRPr>
          </a:p>
        </p:txBody>
      </p:sp>
      <mc:AlternateContent xmlns:mc="http://schemas.openxmlformats.org/markup-compatibility/2006" xmlns:a14="http://schemas.microsoft.com/office/drawing/2010/main">
        <mc:Choice Requires="a14">
          <p:sp>
            <p:nvSpPr>
              <p:cNvPr id="3" name="TextBox 2"/>
              <p:cNvSpPr txBox="1"/>
              <p:nvPr/>
            </p:nvSpPr>
            <p:spPr>
              <a:xfrm>
                <a:off x="923925" y="931228"/>
                <a:ext cx="7023100" cy="3888629"/>
              </a:xfrm>
              <a:prstGeom prst="rect">
                <a:avLst/>
              </a:prstGeom>
              <a:noFill/>
            </p:spPr>
            <p:txBody>
              <a:bodyPr wrap="square" rtlCol="0">
                <a:spAutoFit/>
              </a:bodyPr>
              <a:lstStyle/>
              <a:p>
                <a:r>
                  <a:rPr lang="en-US" dirty="0"/>
                  <a:t>In a binomial setting with </a:t>
                </a:r>
                <a:r>
                  <a:rPr lang="en-US" i="1" dirty="0"/>
                  <a:t>n</a:t>
                </a:r>
                <a:r>
                  <a:rPr lang="en-US" dirty="0"/>
                  <a:t> trials and success probability </a:t>
                </a:r>
                <a:r>
                  <a:rPr lang="en-US" i="1" dirty="0"/>
                  <a:t>p</a:t>
                </a:r>
                <a:r>
                  <a:rPr lang="en-US" dirty="0"/>
                  <a:t>, the probability of observing exactly </a:t>
                </a:r>
                <a14:m>
                  <m:oMath xmlns:m="http://schemas.openxmlformats.org/officeDocument/2006/math">
                    <m:r>
                      <a:rPr lang="en-US" b="0" i="1" smtClean="0">
                        <a:latin typeface="Cambria Math" panose="02040503050406030204" pitchFamily="18" charset="0"/>
                      </a:rPr>
                      <m:t>𝑚</m:t>
                    </m:r>
                  </m:oMath>
                </a14:m>
                <a:r>
                  <a:rPr lang="en-US" dirty="0"/>
                  <a:t> successes is</a:t>
                </a:r>
              </a:p>
              <a:p>
                <a:endParaRPr lang="en-US" dirty="0"/>
              </a:p>
              <a:p>
                <a:pPr/>
                <a14:m>
                  <m:oMathPara xmlns:m="http://schemas.openxmlformats.org/officeDocument/2006/math">
                    <m:oMath>
                      <m:r>
                        <a:rPr lang="en-US" sz="2400" b="0" i="1" smtClean="0">
                          <a:latin typeface="Cambria Math" panose="02040503050406030204" pitchFamily="18" charset="0"/>
                        </a:rPr>
                        <m:t>𝑃</m:t>
                      </m:r>
                      <m:d>
                        <m:dPr>
                          <m:ctrlPr>
                            <a:rPr lang="en-US" sz="2400" b="0" i="1" smtClean="0">
                              <a:latin typeface="Cambria Math"/>
                            </a:rPr>
                          </m:ctrlPr>
                        </m:dPr>
                        <m:e>
                          <m:r>
                            <a:rPr lang="en-US" sz="2400" b="0" i="1" smtClean="0">
                              <a:latin typeface="Cambria Math"/>
                            </a:rPr>
                            <m:t>𝑋</m:t>
                          </m:r>
                          <m:r>
                            <a:rPr lang="en-US" sz="2400" b="0" i="1" smtClean="0">
                              <a:latin typeface="Cambria Math"/>
                            </a:rPr>
                            <m:t>=</m:t>
                          </m:r>
                          <m:r>
                            <a:rPr lang="en-US" sz="2400" b="0" i="1" smtClean="0">
                              <a:latin typeface="Cambria Math" panose="02040503050406030204" pitchFamily="18" charset="0"/>
                            </a:rPr>
                            <m:t>𝑚</m:t>
                          </m:r>
                        </m:e>
                      </m:d>
                      <m:r>
                        <a:rPr lang="en-US" sz="2400" b="0" i="1" smtClean="0">
                          <a:latin typeface="Cambria Math"/>
                        </a:rPr>
                        <m:t>=</m:t>
                      </m:r>
                      <m:f>
                        <m:fPr>
                          <m:ctrlPr>
                            <a:rPr lang="en-US" sz="2400" b="0" i="1" smtClean="0">
                              <a:latin typeface="Cambria Math"/>
                            </a:rPr>
                          </m:ctrlPr>
                        </m:fPr>
                        <m:num>
                          <m:r>
                            <a:rPr lang="en-US" sz="2400" b="0" i="1" smtClean="0">
                              <a:latin typeface="Cambria Math"/>
                            </a:rPr>
                            <m:t>𝑛</m:t>
                          </m:r>
                          <m:r>
                            <a:rPr lang="en-US" sz="2400" b="0" i="1" smtClean="0">
                              <a:latin typeface="Cambria Math"/>
                            </a:rPr>
                            <m:t>!</m:t>
                          </m:r>
                        </m:num>
                        <m:den>
                          <m:r>
                            <a:rPr lang="en-US" sz="2400" b="0" i="1" smtClean="0">
                              <a:latin typeface="Cambria Math" panose="02040503050406030204" pitchFamily="18" charset="0"/>
                            </a:rPr>
                            <m:t>𝑚</m:t>
                          </m:r>
                          <m:r>
                            <a:rPr lang="en-US" sz="2400" b="0" i="1" smtClean="0">
                              <a:latin typeface="Cambria Math"/>
                            </a:rPr>
                            <m:t>!</m:t>
                          </m:r>
                          <m:d>
                            <m:dPr>
                              <m:ctrlPr>
                                <a:rPr lang="en-US" sz="2400" b="0" i="1" smtClean="0">
                                  <a:latin typeface="Cambria Math"/>
                                </a:rPr>
                              </m:ctrlPr>
                            </m:dPr>
                            <m:e>
                              <m:r>
                                <a:rPr lang="en-US" sz="2400" b="0" i="1" smtClean="0">
                                  <a:latin typeface="Cambria Math"/>
                                </a:rPr>
                                <m:t>𝑛</m:t>
                              </m:r>
                              <m:r>
                                <a:rPr lang="en-US" sz="2400" b="0" i="1" smtClean="0">
                                  <a:latin typeface="Cambria Math"/>
                                </a:rPr>
                                <m:t>−</m:t>
                              </m:r>
                              <m:r>
                                <a:rPr lang="en-US" sz="2400" b="0" i="1" smtClean="0">
                                  <a:latin typeface="Cambria Math" panose="02040503050406030204" pitchFamily="18" charset="0"/>
                                </a:rPr>
                                <m:t>𝑚</m:t>
                              </m:r>
                            </m:e>
                          </m:d>
                          <m:r>
                            <a:rPr lang="en-US" sz="2400" b="0" i="1" smtClean="0">
                              <a:latin typeface="Cambria Math"/>
                            </a:rPr>
                            <m:t>!</m:t>
                          </m:r>
                        </m:den>
                      </m:f>
                      <m:sSup>
                        <m:sSupPr>
                          <m:ctrlPr>
                            <a:rPr lang="en-US" sz="2400" b="0" i="1" smtClean="0">
                              <a:latin typeface="Cambria Math"/>
                            </a:rPr>
                          </m:ctrlPr>
                        </m:sSupPr>
                        <m:e>
                          <m:r>
                            <a:rPr lang="en-US" sz="2400" b="0" i="1" smtClean="0">
                              <a:latin typeface="Cambria Math"/>
                            </a:rPr>
                            <m:t>𝑝</m:t>
                          </m:r>
                        </m:e>
                        <m:sup>
                          <m:r>
                            <a:rPr lang="en-US" sz="2400" b="0" i="1" smtClean="0">
                              <a:latin typeface="Cambria Math" panose="02040503050406030204" pitchFamily="18" charset="0"/>
                            </a:rPr>
                            <m:t>𝑚</m:t>
                          </m:r>
                        </m:sup>
                      </m:sSup>
                      <m:sSup>
                        <m:sSupPr>
                          <m:ctrlPr>
                            <a:rPr lang="en-US" sz="2400" b="0" i="1" smtClean="0">
                              <a:latin typeface="Cambria Math"/>
                            </a:rPr>
                          </m:ctrlPr>
                        </m:sSupPr>
                        <m:e>
                          <m:r>
                            <a:rPr lang="en-US" sz="2400" b="0" i="1" smtClean="0">
                              <a:latin typeface="Cambria Math"/>
                            </a:rPr>
                            <m:t>(1−</m:t>
                          </m:r>
                          <m:r>
                            <a:rPr lang="en-US" sz="2400" b="0" i="1" smtClean="0">
                              <a:latin typeface="Cambria Math"/>
                            </a:rPr>
                            <m:t>𝑝</m:t>
                          </m:r>
                          <m:r>
                            <a:rPr lang="en-US" sz="2400" b="0" i="1" smtClean="0">
                              <a:latin typeface="Cambria Math"/>
                            </a:rPr>
                            <m:t>)</m:t>
                          </m:r>
                        </m:e>
                        <m:sup>
                          <m:r>
                            <a:rPr lang="en-US" sz="2400" b="0" i="1" smtClean="0">
                              <a:latin typeface="Cambria Math"/>
                            </a:rPr>
                            <m:t>𝑛</m:t>
                          </m:r>
                          <m:r>
                            <a:rPr lang="en-US" sz="2400" b="0" i="1" smtClean="0">
                              <a:latin typeface="Cambria Math"/>
                            </a:rPr>
                            <m:t>−</m:t>
                          </m:r>
                          <m:r>
                            <a:rPr lang="en-US" sz="2400" b="0" i="1" smtClean="0">
                              <a:latin typeface="Cambria Math" panose="02040503050406030204" pitchFamily="18" charset="0"/>
                            </a:rPr>
                            <m:t>𝑚</m:t>
                          </m:r>
                        </m:sup>
                      </m:sSup>
                    </m:oMath>
                  </m:oMathPara>
                </a14:m>
                <a:endParaRPr lang="en-US" sz="2400" dirty="0"/>
              </a:p>
              <a:p>
                <a:endParaRPr lang="en-US" dirty="0"/>
              </a:p>
              <a:p>
                <a:r>
                  <a:rPr lang="en-US" dirty="0"/>
                  <a:t>In this formula, </a:t>
                </a:r>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 </m:t>
                    </m:r>
                  </m:oMath>
                </a14:m>
                <a:r>
                  <a:rPr lang="en-US" dirty="0"/>
                  <a:t>means </a:t>
                </a:r>
                <a14:m>
                  <m:oMath xmlns:m="http://schemas.openxmlformats.org/officeDocument/2006/math">
                    <m:r>
                      <a:rPr lang="en-US" i="1">
                        <a:latin typeface="Cambria Math" panose="02040503050406030204" pitchFamily="18" charset="0"/>
                      </a:rPr>
                      <m:t>𝑚</m:t>
                    </m:r>
                    <m:d>
                      <m:dPr>
                        <m:ctrlPr>
                          <a:rPr lang="en-US" b="0" i="1" smtClean="0">
                            <a:latin typeface="Cambria Math" panose="02040503050406030204" pitchFamily="18" charset="0"/>
                          </a:rPr>
                        </m:ctrlPr>
                      </m:dPr>
                      <m:e>
                        <m:r>
                          <a:rPr lang="en-US" b="0" i="1" smtClean="0">
                            <a:latin typeface="Cambria Math" panose="02040503050406030204" pitchFamily="18" charset="0"/>
                          </a:rPr>
                          <m:t>𝑚</m:t>
                        </m:r>
                        <m:r>
                          <a:rPr lang="en-US" b="0" i="1" smtClean="0">
                            <a:latin typeface="Cambria Math" panose="02040503050406030204" pitchFamily="18" charset="0"/>
                          </a:rPr>
                          <m:t>−1</m:t>
                        </m:r>
                      </m:e>
                    </m:d>
                    <m:r>
                      <a:rPr lang="en-US" b="0" i="1" smtClean="0">
                        <a:latin typeface="Cambria Math" panose="02040503050406030204" pitchFamily="18" charset="0"/>
                      </a:rPr>
                      <m:t>⋯(2)(1)</m:t>
                    </m:r>
                  </m:oMath>
                </a14:m>
                <a:r>
                  <a:rPr lang="en-US" dirty="0"/>
                  <a:t>. </a:t>
                </a:r>
              </a:p>
              <a:p>
                <a:endParaRPr lang="en-US" dirty="0"/>
              </a:p>
              <a:p>
                <a:r>
                  <a:rPr lang="en-US" dirty="0"/>
                  <a:t>For example, if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=10</m:t>
                    </m:r>
                  </m:oMath>
                </a14:m>
                <a:r>
                  <a:rPr lang="en-US" dirty="0"/>
                  <a:t> and </a:t>
                </a:r>
                <a14:m>
                  <m:oMath xmlns:m="http://schemas.openxmlformats.org/officeDocument/2006/math">
                    <m:r>
                      <a:rPr lang="en-US" b="0" i="1" smtClean="0">
                        <a:latin typeface="Cambria Math" panose="02040503050406030204" pitchFamily="18" charset="0"/>
                      </a:rPr>
                      <m:t>𝑝</m:t>
                    </m:r>
                    <m:r>
                      <a:rPr lang="en-US" i="1">
                        <a:latin typeface="Cambria Math" panose="02040503050406030204" pitchFamily="18" charset="0"/>
                      </a:rPr>
                      <m:t>=</m:t>
                    </m:r>
                    <m:r>
                      <a:rPr lang="en-US" b="0" i="1" smtClean="0">
                        <a:latin typeface="Cambria Math" panose="02040503050406030204" pitchFamily="18" charset="0"/>
                      </a:rPr>
                      <m:t>0.3</m:t>
                    </m:r>
                  </m:oMath>
                </a14:m>
                <a:r>
                  <a:rPr lang="en-US" dirty="0"/>
                  <a:t>, then the probability of observing exactly </a:t>
                </a:r>
                <a14:m>
                  <m:oMath xmlns:m="http://schemas.openxmlformats.org/officeDocument/2006/math">
                    <m:r>
                      <a:rPr lang="en-US" i="1">
                        <a:latin typeface="Cambria Math" panose="02040503050406030204" pitchFamily="18" charset="0"/>
                      </a:rPr>
                      <m:t>𝑚</m:t>
                    </m:r>
                    <m:r>
                      <a:rPr lang="en-US" b="0" i="1" smtClean="0">
                        <a:latin typeface="Cambria Math" panose="02040503050406030204" pitchFamily="18" charset="0"/>
                      </a:rPr>
                      <m:t>=3</m:t>
                    </m:r>
                  </m:oMath>
                </a14:m>
                <a:r>
                  <a:rPr lang="en-US" dirty="0"/>
                  <a:t> successes is </a:t>
                </a:r>
              </a:p>
              <a:p>
                <a:pPr/>
                <a14:m>
                  <m:oMathPara xmlns:m="http://schemas.openxmlformats.org/officeDocument/2006/math">
                    <m:oMath>
                      <m:r>
                        <a:rPr lang="en-US" i="1">
                          <a:latin typeface="Cambria Math" panose="02040503050406030204" pitchFamily="18" charset="0"/>
                        </a:rPr>
                        <m:t>𝑃</m:t>
                      </m:r>
                      <m:d>
                        <m:dPr>
                          <m:ctrlPr>
                            <a:rPr lang="en-US" i="1">
                              <a:latin typeface="Cambria Math"/>
                            </a:rPr>
                          </m:ctrlPr>
                        </m:dPr>
                        <m:e>
                          <m:r>
                            <a:rPr lang="en-US" i="1">
                              <a:latin typeface="Cambria Math"/>
                            </a:rPr>
                            <m:t>𝑋</m:t>
                          </m:r>
                          <m:r>
                            <a:rPr lang="en-US" i="1">
                              <a:latin typeface="Cambria Math"/>
                            </a:rPr>
                            <m:t>=3</m:t>
                          </m:r>
                        </m:e>
                      </m:d>
                      <m:r>
                        <a:rPr lang="en-US" i="1">
                          <a:latin typeface="Cambria Math"/>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10</m:t>
                          </m:r>
                          <m:r>
                            <a:rPr lang="en-US" i="1">
                              <a:latin typeface="Cambria Math"/>
                            </a:rPr>
                            <m:t>!</m:t>
                          </m:r>
                        </m:num>
                        <m:den>
                          <m:r>
                            <a:rPr lang="en-US" b="0" i="1" smtClean="0">
                              <a:latin typeface="Cambria Math" panose="02040503050406030204" pitchFamily="18" charset="0"/>
                            </a:rPr>
                            <m:t>3</m:t>
                          </m:r>
                          <m:r>
                            <a:rPr lang="en-US" i="1">
                              <a:latin typeface="Cambria Math"/>
                            </a:rPr>
                            <m:t>!</m:t>
                          </m:r>
                          <m:d>
                            <m:dPr>
                              <m:ctrlPr>
                                <a:rPr lang="en-US" b="0" i="1" smtClean="0">
                                  <a:latin typeface="Cambria Math" panose="02040503050406030204" pitchFamily="18" charset="0"/>
                                </a:rPr>
                              </m:ctrlPr>
                            </m:dPr>
                            <m:e>
                              <m:r>
                                <a:rPr lang="en-US" b="0" i="1" smtClean="0">
                                  <a:latin typeface="Cambria Math" panose="02040503050406030204" pitchFamily="18" charset="0"/>
                                </a:rPr>
                                <m:t>10</m:t>
                              </m:r>
                              <m:r>
                                <a:rPr lang="en-US" i="1">
                                  <a:latin typeface="Cambria Math"/>
                                </a:rPr>
                                <m:t>−</m:t>
                              </m:r>
                              <m:r>
                                <a:rPr lang="en-US" b="0" i="1" smtClean="0">
                                  <a:latin typeface="Cambria Math" panose="02040503050406030204" pitchFamily="18" charset="0"/>
                                </a:rPr>
                                <m:t>3</m:t>
                              </m:r>
                            </m:e>
                          </m:d>
                          <m:r>
                            <a:rPr lang="en-US" i="1">
                              <a:latin typeface="Cambria Math"/>
                            </a:rPr>
                            <m:t>!</m:t>
                          </m:r>
                        </m:den>
                      </m:f>
                      <m:sSup>
                        <m:sSupPr>
                          <m:ctrlPr>
                            <a:rPr lang="en-US" b="0" i="1" smtClean="0">
                              <a:latin typeface="Cambria Math" panose="02040503050406030204" pitchFamily="18" charset="0"/>
                            </a:rPr>
                          </m:ctrlPr>
                        </m:sSupPr>
                        <m:e>
                          <m:r>
                            <a:rPr lang="en-US" b="0" i="1" smtClean="0">
                              <a:latin typeface="Cambria Math" panose="02040503050406030204" pitchFamily="18" charset="0"/>
                            </a:rPr>
                            <m:t>(.3)</m:t>
                          </m:r>
                        </m:e>
                        <m:sup>
                          <m:r>
                            <a:rPr lang="en-US" b="0" i="1" smtClean="0">
                              <a:latin typeface="Cambria Math" panose="02040503050406030204" pitchFamily="18" charset="0"/>
                            </a:rPr>
                            <m:t>3</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(.7)</m:t>
                          </m:r>
                        </m:e>
                        <m:sup>
                          <m:r>
                            <a:rPr lang="en-US" b="0" i="1" smtClean="0">
                              <a:latin typeface="Cambria Math" panose="02040503050406030204" pitchFamily="18" charset="0"/>
                            </a:rPr>
                            <m:t>10−3</m:t>
                          </m:r>
                        </m:sup>
                      </m:sSup>
                      <m:r>
                        <a:rPr lang="en-US" b="0" i="1" smtClean="0">
                          <a:latin typeface="Cambria Math" panose="02040503050406030204" pitchFamily="18" charset="0"/>
                        </a:rPr>
                        <m:t>≈0.2668</m:t>
                      </m:r>
                    </m:oMath>
                  </m:oMathPara>
                </a14:m>
                <a:endParaRPr lang="en-US" dirty="0"/>
              </a:p>
              <a:p>
                <a:r>
                  <a:rPr lang="en-US" dirty="0"/>
                  <a:t>Using SAS, the following code may give you the same result: </a:t>
                </a:r>
              </a:p>
            </p:txBody>
          </p:sp>
        </mc:Choice>
        <mc:Fallback xmlns="">
          <p:sp>
            <p:nvSpPr>
              <p:cNvPr id="3" name="TextBox 2"/>
              <p:cNvSpPr txBox="1">
                <a:spLocks noRot="1" noChangeAspect="1" noMove="1" noResize="1" noEditPoints="1" noAdjustHandles="1" noChangeArrowheads="1" noChangeShapeType="1" noTextEdit="1"/>
              </p:cNvSpPr>
              <p:nvPr/>
            </p:nvSpPr>
            <p:spPr>
              <a:xfrm>
                <a:off x="923925" y="931228"/>
                <a:ext cx="7023100" cy="3888629"/>
              </a:xfrm>
              <a:prstGeom prst="rect">
                <a:avLst/>
              </a:prstGeom>
              <a:blipFill>
                <a:blip r:embed="rId3"/>
                <a:stretch>
                  <a:fillRect l="-781" t="-940" b="-1567"/>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4CF6A44D-A4E0-7EBD-C5C7-FBFB98C06D39}"/>
              </a:ext>
            </a:extLst>
          </p:cNvPr>
          <p:cNvSpPr txBox="1">
            <a:spLocks noChangeArrowheads="1"/>
          </p:cNvSpPr>
          <p:nvPr/>
        </p:nvSpPr>
        <p:spPr bwMode="auto">
          <a:xfrm>
            <a:off x="2054508" y="4928860"/>
            <a:ext cx="4418720" cy="1785104"/>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1200"/>
              </a:spcAft>
              <a:buClrTx/>
              <a:buSzTx/>
              <a:buFontTx/>
              <a:buNone/>
              <a:defRPr/>
            </a:pPr>
            <a:r>
              <a:rPr lang="en-US" altLang="en-US" dirty="0">
                <a:solidFill>
                  <a:srgbClr val="000000"/>
                </a:solidFill>
              </a:rPr>
              <a:t>data binomial;</a:t>
            </a:r>
          </a:p>
          <a:p>
            <a:pPr eaLnBrk="1" hangingPunct="1">
              <a:spcBef>
                <a:spcPct val="0"/>
              </a:spcBef>
              <a:spcAft>
                <a:spcPts val="1200"/>
              </a:spcAft>
              <a:buClrTx/>
              <a:buSzTx/>
              <a:buFontTx/>
              <a:buNone/>
              <a:defRPr/>
            </a:pPr>
            <a:r>
              <a:rPr lang="en-US" altLang="en-US" dirty="0">
                <a:solidFill>
                  <a:srgbClr val="000000"/>
                </a:solidFill>
              </a:rPr>
              <a:t>    prob = pdf('BINOMIAL', 3, 0.3, 10);</a:t>
            </a:r>
          </a:p>
          <a:p>
            <a:pPr eaLnBrk="1" hangingPunct="1">
              <a:spcBef>
                <a:spcPct val="0"/>
              </a:spcBef>
              <a:spcAft>
                <a:spcPts val="1200"/>
              </a:spcAft>
              <a:buClrTx/>
              <a:buSzTx/>
              <a:buFontTx/>
              <a:buNone/>
              <a:defRPr/>
            </a:pPr>
            <a:r>
              <a:rPr lang="en-US" altLang="en-US" dirty="0">
                <a:solidFill>
                  <a:srgbClr val="000000"/>
                </a:solidFill>
              </a:rPr>
              <a:t>    proc print;</a:t>
            </a:r>
          </a:p>
          <a:p>
            <a:pPr eaLnBrk="1" hangingPunct="1">
              <a:spcBef>
                <a:spcPct val="0"/>
              </a:spcBef>
              <a:spcAft>
                <a:spcPts val="1200"/>
              </a:spcAft>
              <a:buClrTx/>
              <a:buSzTx/>
              <a:buFontTx/>
              <a:buNone/>
              <a:defRPr/>
            </a:pPr>
            <a:r>
              <a:rPr lang="en-US" altLang="en-US" dirty="0">
                <a:solidFill>
                  <a:srgbClr val="000000"/>
                </a:solidFill>
              </a:rPr>
              <a:t>run;</a:t>
            </a:r>
          </a:p>
        </p:txBody>
      </p:sp>
    </p:spTree>
    <p:extLst>
      <p:ext uri="{BB962C8B-B14F-4D97-AF65-F5344CB8AC3E}">
        <p14:creationId xmlns:p14="http://schemas.microsoft.com/office/powerpoint/2010/main" val="393920541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2"/>
          <p:cNvSpPr>
            <a:spLocks noGrp="1" noChangeArrowheads="1"/>
          </p:cNvSpPr>
          <p:nvPr>
            <p:ph type="title"/>
          </p:nvPr>
        </p:nvSpPr>
        <p:spPr/>
        <p:txBody>
          <a:bodyPr/>
          <a:lstStyle/>
          <a:p>
            <a:pPr eaLnBrk="1" hangingPunct="1">
              <a:lnSpc>
                <a:spcPct val="90000"/>
              </a:lnSpc>
            </a:pPr>
            <a:r>
              <a:rPr lang="en-US" altLang="en-US" dirty="0">
                <a:ea typeface="ＭＳ Ｐゴシック" pitchFamily="34" charset="-128"/>
              </a:rPr>
              <a:t>Example of Binomial Probability</a:t>
            </a:r>
            <a:endParaRPr lang="en-US" altLang="en-US" sz="2400" dirty="0">
              <a:solidFill>
                <a:srgbClr val="33CCFF"/>
              </a:solidFill>
              <a:ea typeface="ＭＳ Ｐゴシック" pitchFamily="34" charset="-128"/>
            </a:endParaRPr>
          </a:p>
        </p:txBody>
      </p:sp>
      <p:sp>
        <p:nvSpPr>
          <p:cNvPr id="61442"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53C6541F-F308-491D-9813-752A587AAEDE}" type="slidenum">
              <a:rPr lang="en-US" altLang="en-US" sz="1200">
                <a:solidFill>
                  <a:schemeClr val="accent1"/>
                </a:solidFill>
              </a:rPr>
              <a:pPr>
                <a:lnSpc>
                  <a:spcPct val="80000"/>
                </a:lnSpc>
              </a:pPr>
              <a:t>23</a:t>
            </a:fld>
            <a:endParaRPr lang="en-US" altLang="en-US" sz="1200">
              <a:solidFill>
                <a:schemeClr val="accent1"/>
              </a:solidFill>
            </a:endParaRPr>
          </a:p>
        </p:txBody>
      </p:sp>
      <p:sp>
        <p:nvSpPr>
          <p:cNvPr id="48133" name="Rectangle 1"/>
          <p:cNvSpPr>
            <a:spLocks noChangeArrowheads="1"/>
          </p:cNvSpPr>
          <p:nvPr/>
        </p:nvSpPr>
        <p:spPr bwMode="auto">
          <a:xfrm>
            <a:off x="409575" y="978752"/>
            <a:ext cx="8008937" cy="1264449"/>
          </a:xfrm>
          <a:prstGeom prst="rect">
            <a:avLst/>
          </a:prstGeom>
          <a:noFill/>
          <a:ln>
            <a:noFill/>
          </a:ln>
        </p:spPr>
        <p:txBody>
          <a:bodyPr>
            <a:spAutoFit/>
          </a:bodyPr>
          <a:lstStyle/>
          <a:p>
            <a:pPr eaLnBrk="1" hangingPunct="1">
              <a:buFont typeface="Wingdings" charset="0"/>
              <a:buNone/>
              <a:defRPr/>
            </a:pPr>
            <a:r>
              <a:rPr lang="en-US" dirty="0">
                <a:solidFill>
                  <a:srgbClr val="000000"/>
                </a:solidFill>
                <a:latin typeface="Arial" charset="0"/>
                <a:ea typeface="ＭＳ Ｐゴシック" charset="0"/>
                <a:cs typeface="ＭＳ Ｐゴシック" charset="0"/>
              </a:rPr>
              <a:t>Suppose each child of a particular couple has probability 0.25 of having blood type O and this couple have five children.</a:t>
            </a:r>
          </a:p>
          <a:p>
            <a:pPr marL="338328" indent="-338328" eaLnBrk="1" hangingPunct="1">
              <a:spcBef>
                <a:spcPts val="500"/>
              </a:spcBef>
              <a:buClr>
                <a:schemeClr val="tx1"/>
              </a:buClr>
              <a:buFont typeface="Wingdings" charset="0"/>
              <a:buNone/>
              <a:defRPr/>
            </a:pPr>
            <a:r>
              <a:rPr lang="en-US" b="1" dirty="0">
                <a:solidFill>
                  <a:srgbClr val="000000"/>
                </a:solidFill>
                <a:latin typeface="Arial" charset="0"/>
                <a:ea typeface="ＭＳ Ｐゴシック" charset="0"/>
                <a:cs typeface="ＭＳ Ｐゴシック" charset="0"/>
              </a:rPr>
              <a:t>(a) Find the probability that exactly three of the children have type O blood.</a:t>
            </a:r>
          </a:p>
        </p:txBody>
      </p:sp>
      <mc:AlternateContent xmlns:mc="http://schemas.openxmlformats.org/markup-compatibility/2006" xmlns:a14="http://schemas.microsoft.com/office/drawing/2010/main">
        <mc:Choice Requires="a14">
          <p:sp>
            <p:nvSpPr>
              <p:cNvPr id="61448" name="TextBox 8"/>
              <p:cNvSpPr txBox="1">
                <a:spLocks noChangeArrowheads="1"/>
              </p:cNvSpPr>
              <p:nvPr/>
            </p:nvSpPr>
            <p:spPr bwMode="auto">
              <a:xfrm>
                <a:off x="394494" y="2190290"/>
                <a:ext cx="8355012" cy="64633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sz="1800" dirty="0">
                    <a:solidFill>
                      <a:schemeClr val="tx1"/>
                    </a:solidFill>
                  </a:rPr>
                  <a:t>Let </a:t>
                </a:r>
                <a:r>
                  <a:rPr lang="en-US" altLang="en-US" sz="1800" i="1" dirty="0">
                    <a:solidFill>
                      <a:schemeClr val="tx1"/>
                    </a:solidFill>
                  </a:rPr>
                  <a:t>X</a:t>
                </a:r>
                <a:r>
                  <a:rPr lang="en-US" altLang="en-US" sz="1800" dirty="0">
                    <a:solidFill>
                      <a:schemeClr val="tx1"/>
                    </a:solidFill>
                  </a:rPr>
                  <a:t> be the number of children with type O blood. We assume </a:t>
                </a:r>
                <a:r>
                  <a:rPr lang="en-US" altLang="en-US" sz="1800" i="1" dirty="0">
                    <a:solidFill>
                      <a:schemeClr val="tx1"/>
                    </a:solidFill>
                  </a:rPr>
                  <a:t>X </a:t>
                </a:r>
                <a:r>
                  <a:rPr lang="en-US" altLang="en-US" sz="1800" dirty="0">
                    <a:solidFill>
                      <a:schemeClr val="tx1"/>
                    </a:solidFill>
                  </a:rPr>
                  <a:t>has a binomial distribution with </a:t>
                </a:r>
                <a:r>
                  <a:rPr lang="en-US" altLang="en-US" sz="1800" i="1" dirty="0">
                    <a:solidFill>
                      <a:schemeClr val="tx1"/>
                    </a:solidFill>
                  </a:rPr>
                  <a:t>n</a:t>
                </a:r>
                <a:r>
                  <a:rPr lang="en-US" altLang="en-US" sz="1800" dirty="0">
                    <a:solidFill>
                      <a:schemeClr val="tx1"/>
                    </a:solidFill>
                  </a:rPr>
                  <a:t> = 5</a:t>
                </a:r>
                <a:r>
                  <a:rPr lang="en-US" altLang="en-US" sz="1800" i="1" dirty="0">
                    <a:solidFill>
                      <a:schemeClr val="tx1"/>
                    </a:solidFill>
                  </a:rPr>
                  <a:t> </a:t>
                </a:r>
                <a:r>
                  <a:rPr lang="en-US" altLang="en-US" sz="1800" dirty="0">
                    <a:solidFill>
                      <a:schemeClr val="tx1"/>
                    </a:solidFill>
                  </a:rPr>
                  <a:t>and </a:t>
                </a:r>
                <a:r>
                  <a:rPr lang="en-US" altLang="en-US" sz="1800" i="1" dirty="0">
                    <a:solidFill>
                      <a:schemeClr val="tx1"/>
                    </a:solidFill>
                  </a:rPr>
                  <a:t>p</a:t>
                </a:r>
                <a:r>
                  <a:rPr lang="en-US" altLang="en-US" sz="1800" dirty="0">
                    <a:solidFill>
                      <a:schemeClr val="tx1"/>
                    </a:solidFill>
                  </a:rPr>
                  <a:t> = 0.25. Then the question is looking for </a:t>
                </a:r>
                <a14:m>
                  <m:oMath xmlns:m="http://schemas.openxmlformats.org/officeDocument/2006/math">
                    <m:r>
                      <a:rPr lang="en-US" altLang="en-US" sz="1800" b="0" i="1" smtClean="0">
                        <a:solidFill>
                          <a:schemeClr val="tx1"/>
                        </a:solidFill>
                        <a:latin typeface="Cambria Math" panose="02040503050406030204" pitchFamily="18" charset="0"/>
                      </a:rPr>
                      <m:t>𝑃</m:t>
                    </m:r>
                    <m:d>
                      <m:dPr>
                        <m:ctrlPr>
                          <a:rPr lang="en-US" altLang="en-US" sz="1800" b="0" i="1" smtClean="0">
                            <a:solidFill>
                              <a:schemeClr val="tx1"/>
                            </a:solidFill>
                            <a:latin typeface="Cambria Math" panose="02040503050406030204" pitchFamily="18" charset="0"/>
                          </a:rPr>
                        </m:ctrlPr>
                      </m:dPr>
                      <m:e>
                        <m:r>
                          <a:rPr lang="en-US" altLang="en-US" sz="1800" b="0" i="1" smtClean="0">
                            <a:solidFill>
                              <a:schemeClr val="tx1"/>
                            </a:solidFill>
                            <a:latin typeface="Cambria Math" panose="02040503050406030204" pitchFamily="18" charset="0"/>
                          </a:rPr>
                          <m:t>𝑋</m:t>
                        </m:r>
                        <m:r>
                          <a:rPr lang="en-US" altLang="en-US" sz="1800" b="0" i="1" smtClean="0">
                            <a:solidFill>
                              <a:schemeClr val="tx1"/>
                            </a:solidFill>
                            <a:latin typeface="Cambria Math" panose="02040503050406030204" pitchFamily="18" charset="0"/>
                          </a:rPr>
                          <m:t>=3</m:t>
                        </m:r>
                      </m:e>
                    </m:d>
                  </m:oMath>
                </a14:m>
                <a:r>
                  <a:rPr lang="en-US" altLang="en-US" sz="1800" dirty="0">
                    <a:solidFill>
                      <a:schemeClr val="tx1"/>
                    </a:solidFill>
                  </a:rPr>
                  <a:t>.</a:t>
                </a:r>
              </a:p>
            </p:txBody>
          </p:sp>
        </mc:Choice>
        <mc:Fallback xmlns="">
          <p:sp>
            <p:nvSpPr>
              <p:cNvPr id="61448" name="TextBox 8"/>
              <p:cNvSpPr txBox="1">
                <a:spLocks noRot="1" noChangeAspect="1" noMove="1" noResize="1" noEditPoints="1" noAdjustHandles="1" noChangeArrowheads="1" noChangeShapeType="1" noTextEdit="1"/>
              </p:cNvSpPr>
              <p:nvPr/>
            </p:nvSpPr>
            <p:spPr bwMode="auto">
              <a:xfrm>
                <a:off x="394494" y="2190290"/>
                <a:ext cx="8355012" cy="646331"/>
              </a:xfrm>
              <a:prstGeom prst="rect">
                <a:avLst/>
              </a:prstGeom>
              <a:blipFill>
                <a:blip r:embed="rId3"/>
                <a:stretch>
                  <a:fillRect l="-657" t="-4717" r="-511" b="-1415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0" name="TextBox 9"/>
          <p:cNvSpPr txBox="1">
            <a:spLocks noChangeArrowheads="1"/>
          </p:cNvSpPr>
          <p:nvPr/>
        </p:nvSpPr>
        <p:spPr bwMode="auto">
          <a:xfrm>
            <a:off x="499270" y="4448938"/>
            <a:ext cx="8010524"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1313" indent="-341313"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sz="1600" b="1" dirty="0">
                <a:solidFill>
                  <a:schemeClr val="tx1"/>
                </a:solidFill>
              </a:rPr>
              <a:t>(</a:t>
            </a:r>
            <a:r>
              <a:rPr lang="en-US" altLang="en-US" sz="1800" b="1" dirty="0">
                <a:solidFill>
                  <a:schemeClr val="tx1"/>
                </a:solidFill>
              </a:rPr>
              <a:t>b) What is the probability for them to have more than three children with type O blood?</a:t>
            </a:r>
          </a:p>
        </p:txBody>
      </p:sp>
      <p:sp>
        <p:nvSpPr>
          <p:cNvPr id="2" name="TextBox 1">
            <a:extLst>
              <a:ext uri="{FF2B5EF4-FFF2-40B4-BE49-F238E27FC236}">
                <a16:creationId xmlns:a16="http://schemas.microsoft.com/office/drawing/2014/main" id="{36606FB9-B6C6-5356-520C-D764B32E26E3}"/>
              </a:ext>
            </a:extLst>
          </p:cNvPr>
          <p:cNvSpPr txBox="1">
            <a:spLocks noChangeArrowheads="1"/>
          </p:cNvSpPr>
          <p:nvPr/>
        </p:nvSpPr>
        <p:spPr bwMode="auto">
          <a:xfrm>
            <a:off x="2035069" y="2847087"/>
            <a:ext cx="4107824" cy="1454335"/>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1200"/>
              </a:spcAft>
              <a:buClrTx/>
              <a:buSzTx/>
              <a:buFontTx/>
              <a:buNone/>
              <a:defRPr/>
            </a:pPr>
            <a:r>
              <a:rPr lang="en-US" altLang="en-US" sz="1400" dirty="0">
                <a:solidFill>
                  <a:srgbClr val="000000"/>
                </a:solidFill>
              </a:rPr>
              <a:t>data binomial;</a:t>
            </a:r>
          </a:p>
          <a:p>
            <a:pPr eaLnBrk="1" hangingPunct="1">
              <a:spcBef>
                <a:spcPct val="0"/>
              </a:spcBef>
              <a:spcAft>
                <a:spcPts val="1200"/>
              </a:spcAft>
              <a:buClrTx/>
              <a:buSzTx/>
              <a:buFontTx/>
              <a:buNone/>
              <a:defRPr/>
            </a:pPr>
            <a:r>
              <a:rPr lang="en-US" altLang="en-US" sz="1400" dirty="0">
                <a:solidFill>
                  <a:srgbClr val="000000"/>
                </a:solidFill>
              </a:rPr>
              <a:t>    prob = pdf('BINOMIAL', 3, 0.25, 5);</a:t>
            </a:r>
          </a:p>
          <a:p>
            <a:pPr eaLnBrk="1" hangingPunct="1">
              <a:spcBef>
                <a:spcPct val="0"/>
              </a:spcBef>
              <a:spcAft>
                <a:spcPts val="1200"/>
              </a:spcAft>
              <a:buClrTx/>
              <a:buSzTx/>
              <a:buFontTx/>
              <a:buNone/>
              <a:defRPr/>
            </a:pPr>
            <a:r>
              <a:rPr lang="en-US" altLang="en-US" sz="1400" dirty="0">
                <a:solidFill>
                  <a:srgbClr val="000000"/>
                </a:solidFill>
              </a:rPr>
              <a:t>    proc print;</a:t>
            </a:r>
          </a:p>
          <a:p>
            <a:pPr eaLnBrk="1" hangingPunct="1">
              <a:spcBef>
                <a:spcPct val="0"/>
              </a:spcBef>
              <a:spcAft>
                <a:spcPts val="1200"/>
              </a:spcAft>
              <a:buClrTx/>
              <a:buSzTx/>
              <a:buFontTx/>
              <a:buNone/>
              <a:defRPr/>
            </a:pPr>
            <a:r>
              <a:rPr lang="en-US" altLang="en-US" sz="1400" dirty="0">
                <a:solidFill>
                  <a:srgbClr val="000000"/>
                </a:solidFill>
              </a:rPr>
              <a:t>run;</a:t>
            </a:r>
          </a:p>
        </p:txBody>
      </p:sp>
      <p:sp>
        <p:nvSpPr>
          <p:cNvPr id="3" name="TextBox 2">
            <a:extLst>
              <a:ext uri="{FF2B5EF4-FFF2-40B4-BE49-F238E27FC236}">
                <a16:creationId xmlns:a16="http://schemas.microsoft.com/office/drawing/2014/main" id="{D67CC567-9695-9C0F-CF26-80BD64D6DE9E}"/>
              </a:ext>
            </a:extLst>
          </p:cNvPr>
          <p:cNvSpPr txBox="1">
            <a:spLocks noChangeArrowheads="1"/>
          </p:cNvSpPr>
          <p:nvPr/>
        </p:nvSpPr>
        <p:spPr bwMode="auto">
          <a:xfrm>
            <a:off x="1032975" y="5098131"/>
            <a:ext cx="3381068" cy="1631216"/>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1200"/>
              </a:spcAft>
              <a:buClrTx/>
              <a:buSzTx/>
              <a:buFontTx/>
              <a:buNone/>
              <a:defRPr/>
            </a:pPr>
            <a:r>
              <a:rPr lang="en-US" altLang="en-US" sz="1400" dirty="0">
                <a:solidFill>
                  <a:srgbClr val="000000"/>
                </a:solidFill>
              </a:rPr>
              <a:t>data binomial;</a:t>
            </a:r>
          </a:p>
          <a:p>
            <a:pPr eaLnBrk="1" hangingPunct="1">
              <a:spcBef>
                <a:spcPct val="0"/>
              </a:spcBef>
              <a:spcAft>
                <a:spcPts val="1200"/>
              </a:spcAft>
              <a:buClrTx/>
              <a:buSzTx/>
              <a:buFontTx/>
              <a:buNone/>
              <a:defRPr/>
            </a:pPr>
            <a:r>
              <a:rPr lang="en-US" altLang="en-US" sz="1400" dirty="0">
                <a:solidFill>
                  <a:srgbClr val="000000"/>
                </a:solidFill>
              </a:rPr>
              <a:t>    prob = pdf('BINOMIAL’, 4, 0.25, 5) + pdf('BINOMIAL’, 5, 0.25, 5);</a:t>
            </a:r>
          </a:p>
          <a:p>
            <a:pPr eaLnBrk="1" hangingPunct="1">
              <a:spcBef>
                <a:spcPct val="0"/>
              </a:spcBef>
              <a:spcAft>
                <a:spcPts val="1200"/>
              </a:spcAft>
              <a:buClrTx/>
              <a:buSzTx/>
              <a:buFontTx/>
              <a:buNone/>
              <a:defRPr/>
            </a:pPr>
            <a:r>
              <a:rPr lang="en-US" altLang="en-US" sz="1400" dirty="0">
                <a:solidFill>
                  <a:srgbClr val="000000"/>
                </a:solidFill>
              </a:rPr>
              <a:t>    proc print;</a:t>
            </a:r>
          </a:p>
          <a:p>
            <a:pPr eaLnBrk="1" hangingPunct="1">
              <a:spcBef>
                <a:spcPct val="0"/>
              </a:spcBef>
              <a:spcAft>
                <a:spcPts val="1200"/>
              </a:spcAft>
              <a:buClrTx/>
              <a:buSzTx/>
              <a:buFontTx/>
              <a:buNone/>
              <a:defRPr/>
            </a:pPr>
            <a:r>
              <a:rPr lang="en-US" altLang="en-US" sz="1400" dirty="0">
                <a:solidFill>
                  <a:srgbClr val="000000"/>
                </a:solidFill>
              </a:rPr>
              <a:t>run;</a:t>
            </a:r>
          </a:p>
        </p:txBody>
      </p:sp>
      <p:sp>
        <p:nvSpPr>
          <p:cNvPr id="4" name="TextBox 3">
            <a:extLst>
              <a:ext uri="{FF2B5EF4-FFF2-40B4-BE49-F238E27FC236}">
                <a16:creationId xmlns:a16="http://schemas.microsoft.com/office/drawing/2014/main" id="{C3565214-7E9B-C661-CA22-5158F2244220}"/>
              </a:ext>
            </a:extLst>
          </p:cNvPr>
          <p:cNvSpPr txBox="1">
            <a:spLocks noChangeArrowheads="1"/>
          </p:cNvSpPr>
          <p:nvPr/>
        </p:nvSpPr>
        <p:spPr bwMode="auto">
          <a:xfrm>
            <a:off x="4565957" y="5098131"/>
            <a:ext cx="3381068" cy="1415772"/>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1200"/>
              </a:spcAft>
              <a:buClrTx/>
              <a:buSzTx/>
              <a:buFontTx/>
              <a:buNone/>
              <a:defRPr/>
            </a:pPr>
            <a:r>
              <a:rPr lang="en-US" altLang="en-US" sz="1400" dirty="0">
                <a:solidFill>
                  <a:srgbClr val="000000"/>
                </a:solidFill>
              </a:rPr>
              <a:t>data binomial;</a:t>
            </a:r>
          </a:p>
          <a:p>
            <a:pPr eaLnBrk="1" hangingPunct="1">
              <a:spcBef>
                <a:spcPct val="0"/>
              </a:spcBef>
              <a:spcAft>
                <a:spcPts val="1200"/>
              </a:spcAft>
              <a:buClrTx/>
              <a:buSzTx/>
              <a:buFontTx/>
              <a:buNone/>
              <a:defRPr/>
            </a:pPr>
            <a:r>
              <a:rPr lang="en-US" altLang="en-US" sz="1400" dirty="0">
                <a:solidFill>
                  <a:srgbClr val="000000"/>
                </a:solidFill>
              </a:rPr>
              <a:t>    prob = 1-cdf('BINOMIAL’, 3, 0.25, 5);</a:t>
            </a:r>
          </a:p>
          <a:p>
            <a:pPr eaLnBrk="1" hangingPunct="1">
              <a:spcBef>
                <a:spcPct val="0"/>
              </a:spcBef>
              <a:spcAft>
                <a:spcPts val="1200"/>
              </a:spcAft>
              <a:buClrTx/>
              <a:buSzTx/>
              <a:buFontTx/>
              <a:buNone/>
              <a:defRPr/>
            </a:pPr>
            <a:r>
              <a:rPr lang="en-US" altLang="en-US" sz="1400" dirty="0">
                <a:solidFill>
                  <a:srgbClr val="000000"/>
                </a:solidFill>
              </a:rPr>
              <a:t>    proc print;</a:t>
            </a:r>
          </a:p>
          <a:p>
            <a:pPr eaLnBrk="1" hangingPunct="1">
              <a:spcBef>
                <a:spcPct val="0"/>
              </a:spcBef>
              <a:spcAft>
                <a:spcPts val="1200"/>
              </a:spcAft>
              <a:buClrTx/>
              <a:buSzTx/>
              <a:buFontTx/>
              <a:buNone/>
              <a:defRPr/>
            </a:pPr>
            <a:r>
              <a:rPr lang="en-US" altLang="en-US" sz="1400" dirty="0">
                <a:solidFill>
                  <a:srgbClr val="000000"/>
                </a:solidFill>
              </a:rPr>
              <a:t>run;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 grpId="0" animBg="1"/>
      <p:bldP spid="3" grpId="0" animBg="1"/>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a:xfrm>
            <a:off x="174625" y="153988"/>
            <a:ext cx="7772400" cy="1143000"/>
          </a:xfrm>
        </p:spPr>
        <p:txBody>
          <a:bodyPr/>
          <a:lstStyle/>
          <a:p>
            <a:pPr eaLnBrk="1" hangingPunct="1">
              <a:lnSpc>
                <a:spcPct val="90000"/>
              </a:lnSpc>
            </a:pPr>
            <a:r>
              <a:rPr lang="en-US" altLang="en-US" dirty="0">
                <a:ea typeface="ＭＳ Ｐゴシック" pitchFamily="34" charset="-128"/>
              </a:rPr>
              <a:t>Mean and Standard Deviation of Binomial Distribution</a:t>
            </a:r>
            <a:endParaRPr lang="en-US" altLang="en-US" sz="2400" dirty="0">
              <a:solidFill>
                <a:srgbClr val="33CCFF"/>
              </a:solidFill>
              <a:ea typeface="ＭＳ Ｐゴシック" pitchFamily="34" charset="-128"/>
            </a:endParaRPr>
          </a:p>
        </p:txBody>
      </p:sp>
      <p:sp>
        <p:nvSpPr>
          <p:cNvPr id="5427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8BB2753C-0941-41A7-858C-60F8D34A82C8}" type="slidenum">
              <a:rPr lang="en-US" altLang="en-US" sz="1200">
                <a:solidFill>
                  <a:schemeClr val="accent1"/>
                </a:solidFill>
              </a:rPr>
              <a:pPr>
                <a:lnSpc>
                  <a:spcPct val="80000"/>
                </a:lnSpc>
              </a:pPr>
              <a:t>24</a:t>
            </a:fld>
            <a:endParaRPr lang="en-US" altLang="en-US" sz="1200">
              <a:solidFill>
                <a:schemeClr val="accent1"/>
              </a:solidFill>
            </a:endParaRPr>
          </a:p>
        </p:txBody>
      </p:sp>
      <mc:AlternateContent xmlns:mc="http://schemas.openxmlformats.org/markup-compatibility/2006" xmlns:a14="http://schemas.microsoft.com/office/drawing/2010/main">
        <mc:Choice Requires="a14">
          <p:sp>
            <p:nvSpPr>
              <p:cNvPr id="54276" name="TextBox 1"/>
              <p:cNvSpPr txBox="1">
                <a:spLocks noChangeArrowheads="1"/>
              </p:cNvSpPr>
              <p:nvPr/>
            </p:nvSpPr>
            <p:spPr bwMode="auto">
              <a:xfrm>
                <a:off x="311105" y="1659322"/>
                <a:ext cx="8066134" cy="70788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buFont typeface="Wingdings" pitchFamily="2" charset="2"/>
                  <a:buNone/>
                </a:pPr>
                <a:r>
                  <a:rPr lang="en-US" altLang="en-US" dirty="0">
                    <a:solidFill>
                      <a:srgbClr val="000000"/>
                    </a:solidFill>
                  </a:rPr>
                  <a:t>If a count </a:t>
                </a:r>
                <a:r>
                  <a:rPr lang="en-US" altLang="en-US" i="1" dirty="0">
                    <a:solidFill>
                      <a:srgbClr val="000000"/>
                    </a:solidFill>
                  </a:rPr>
                  <a:t>X</a:t>
                </a:r>
                <a:r>
                  <a:rPr lang="en-US" altLang="en-US" dirty="0">
                    <a:solidFill>
                      <a:srgbClr val="000000"/>
                    </a:solidFill>
                  </a:rPr>
                  <a:t> has the binomial distribution </a:t>
                </a:r>
                <a:r>
                  <a:rPr lang="en-US" altLang="en-US" i="1" dirty="0">
                    <a:solidFill>
                      <a:srgbClr val="000000"/>
                    </a:solidFill>
                  </a:rPr>
                  <a:t>B(n, p)</a:t>
                </a:r>
                <a:r>
                  <a:rPr lang="en-US" altLang="en-US" dirty="0">
                    <a:solidFill>
                      <a:srgbClr val="000000"/>
                    </a:solidFill>
                  </a:rPr>
                  <a:t>, what are the corresponding (population) mean </a:t>
                </a:r>
                <a:r>
                  <a:rPr lang="en-US" altLang="en-US" i="1" dirty="0">
                    <a:solidFill>
                      <a:srgbClr val="000000"/>
                    </a:solidFill>
                  </a:rPr>
                  <a:t>µ </a:t>
                </a:r>
                <a:r>
                  <a:rPr lang="en-US" altLang="en-US" dirty="0">
                    <a:solidFill>
                      <a:srgbClr val="000000"/>
                    </a:solidFill>
                  </a:rPr>
                  <a:t>and standard deviation </a:t>
                </a:r>
                <a14:m>
                  <m:oMath xmlns:m="http://schemas.openxmlformats.org/officeDocument/2006/math">
                    <m:r>
                      <a:rPr lang="en-US" altLang="en-US" b="0" i="1" smtClean="0">
                        <a:solidFill>
                          <a:srgbClr val="000000"/>
                        </a:solidFill>
                        <a:latin typeface="Cambria Math" panose="02040503050406030204" pitchFamily="18" charset="0"/>
                      </a:rPr>
                      <m:t>𝜎</m:t>
                    </m:r>
                  </m:oMath>
                </a14:m>
                <a:r>
                  <a:rPr lang="en-US" altLang="en-US" dirty="0">
                    <a:solidFill>
                      <a:srgbClr val="000000"/>
                    </a:solidFill>
                  </a:rPr>
                  <a:t>?</a:t>
                </a:r>
                <a:endParaRPr lang="en-US" altLang="en-US" sz="3600" i="1" dirty="0">
                  <a:solidFill>
                    <a:srgbClr val="000000"/>
                  </a:solidFill>
                </a:endParaRPr>
              </a:p>
            </p:txBody>
          </p:sp>
        </mc:Choice>
        <mc:Fallback xmlns="">
          <p:sp>
            <p:nvSpPr>
              <p:cNvPr id="54276" name="TextBox 1"/>
              <p:cNvSpPr txBox="1">
                <a:spLocks noRot="1" noChangeAspect="1" noMove="1" noResize="1" noEditPoints="1" noAdjustHandles="1" noChangeArrowheads="1" noChangeShapeType="1" noTextEdit="1"/>
              </p:cNvSpPr>
              <p:nvPr/>
            </p:nvSpPr>
            <p:spPr bwMode="auto">
              <a:xfrm>
                <a:off x="311105" y="1659322"/>
                <a:ext cx="8066134" cy="707886"/>
              </a:xfrm>
              <a:prstGeom prst="rect">
                <a:avLst/>
              </a:prstGeom>
              <a:blipFill>
                <a:blip r:embed="rId2"/>
                <a:stretch>
                  <a:fillRect l="-756" t="-3448" b="-1551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0" name="TextBox 9"/>
          <p:cNvSpPr txBox="1">
            <a:spLocks noChangeArrowheads="1"/>
          </p:cNvSpPr>
          <p:nvPr/>
        </p:nvSpPr>
        <p:spPr bwMode="auto">
          <a:xfrm>
            <a:off x="998538" y="2921794"/>
            <a:ext cx="6896100" cy="308560"/>
          </a:xfrm>
          <a:prstGeom prst="rect">
            <a:avLst/>
          </a:prstGeom>
          <a:solidFill>
            <a:srgbClr val="D6DFE8"/>
          </a:solidFill>
          <a:ln w="10000">
            <a:solidFill>
              <a:schemeClr val="accent2"/>
            </a:solidFill>
            <a:miter lim="800000"/>
            <a:headEnd/>
            <a:tailEnd/>
          </a:ln>
          <a:effectLst>
            <a:outerShdw blurRad="38100" dist="30000" dir="5400000" rotWithShape="0">
              <a:srgbClr val="808080">
                <a:alpha val="45000"/>
              </a:srgbClr>
            </a:outerShdw>
          </a:effectLst>
        </p:spPr>
        <p:txBody>
          <a:bodyPr>
            <a:spAutoFit/>
          </a:bodyPr>
          <a:lstStyle/>
          <a:p>
            <a:pPr algn="ctr" eaLnBrk="1" fontAlgn="auto" hangingPunct="1">
              <a:spcBef>
                <a:spcPts val="0"/>
              </a:spcBef>
              <a:spcAft>
                <a:spcPts val="0"/>
              </a:spcAft>
              <a:defRPr/>
            </a:pPr>
            <a:r>
              <a:rPr lang="en-US" sz="1600" b="1" dirty="0">
                <a:solidFill>
                  <a:schemeClr val="dk1"/>
                </a:solidFill>
                <a:latin typeface="+mn-lt"/>
                <a:ea typeface="+mn-ea"/>
              </a:rPr>
              <a:t>Mean and Standard Deviation of </a:t>
            </a:r>
            <a:r>
              <a:rPr lang="en-US" sz="1600" b="1" i="1" dirty="0">
                <a:solidFill>
                  <a:schemeClr val="dk1"/>
                </a:solidFill>
                <a:latin typeface="+mn-lt"/>
                <a:ea typeface="+mn-ea"/>
              </a:rPr>
              <a:t>B(n, p)</a:t>
            </a:r>
          </a:p>
        </p:txBody>
      </p:sp>
      <mc:AlternateContent xmlns:mc="http://schemas.openxmlformats.org/markup-compatibility/2006" xmlns:a14="http://schemas.microsoft.com/office/drawing/2010/main">
        <mc:Choice Requires="a14">
          <p:sp>
            <p:nvSpPr>
              <p:cNvPr id="9" name="TextBox 8"/>
              <p:cNvSpPr txBox="1">
                <a:spLocks noChangeArrowheads="1"/>
              </p:cNvSpPr>
              <p:nvPr/>
            </p:nvSpPr>
            <p:spPr bwMode="auto">
              <a:xfrm>
                <a:off x="533400" y="3302416"/>
                <a:ext cx="7843838" cy="1720407"/>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37931725" indent="-3747452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6858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9144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1600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0574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1200"/>
                  </a:spcAft>
                  <a:buClrTx/>
                  <a:buSzTx/>
                  <a:buFontTx/>
                  <a:buNone/>
                  <a:defRPr/>
                </a:pPr>
                <a:r>
                  <a:rPr lang="en-US" altLang="en-US" sz="1800" dirty="0">
                    <a:solidFill>
                      <a:srgbClr val="000000"/>
                    </a:solidFill>
                  </a:rPr>
                  <a:t>If a count </a:t>
                </a:r>
                <a:r>
                  <a:rPr lang="en-US" altLang="en-US" sz="1800" i="1" dirty="0">
                    <a:solidFill>
                      <a:srgbClr val="000000"/>
                    </a:solidFill>
                  </a:rPr>
                  <a:t>X</a:t>
                </a:r>
                <a:r>
                  <a:rPr lang="en-US" altLang="en-US" sz="1800" dirty="0">
                    <a:solidFill>
                      <a:srgbClr val="000000"/>
                    </a:solidFill>
                  </a:rPr>
                  <a:t> has the binomial distribution with </a:t>
                </a:r>
                <a:r>
                  <a:rPr lang="en-US" altLang="en-US" sz="1800" i="1" dirty="0">
                    <a:solidFill>
                      <a:srgbClr val="000000"/>
                    </a:solidFill>
                  </a:rPr>
                  <a:t>n</a:t>
                </a:r>
                <a:r>
                  <a:rPr lang="en-US" altLang="en-US" sz="1800" dirty="0">
                    <a:solidFill>
                      <a:srgbClr val="000000"/>
                    </a:solidFill>
                  </a:rPr>
                  <a:t> trials</a:t>
                </a:r>
                <a:r>
                  <a:rPr lang="en-US" altLang="en-US" sz="1800" i="1" dirty="0">
                    <a:solidFill>
                      <a:srgbClr val="000000"/>
                    </a:solidFill>
                  </a:rPr>
                  <a:t> </a:t>
                </a:r>
                <a:r>
                  <a:rPr lang="en-US" altLang="en-US" sz="1800" dirty="0">
                    <a:solidFill>
                      <a:srgbClr val="000000"/>
                    </a:solidFill>
                  </a:rPr>
                  <a:t>and success probability </a:t>
                </a:r>
                <a:r>
                  <a:rPr lang="en-US" altLang="en-US" sz="1800" i="1" dirty="0">
                    <a:solidFill>
                      <a:srgbClr val="000000"/>
                    </a:solidFill>
                  </a:rPr>
                  <a:t>p</a:t>
                </a:r>
                <a:r>
                  <a:rPr lang="en-US" altLang="en-US" sz="1800" dirty="0">
                    <a:solidFill>
                      <a:srgbClr val="000000"/>
                    </a:solidFill>
                  </a:rPr>
                  <a:t>, the </a:t>
                </a:r>
                <a:r>
                  <a:rPr lang="en-US" altLang="en-US" sz="1800" b="1" dirty="0">
                    <a:solidFill>
                      <a:srgbClr val="800000"/>
                    </a:solidFill>
                  </a:rPr>
                  <a:t>mean</a:t>
                </a:r>
                <a:r>
                  <a:rPr lang="en-US" altLang="en-US" sz="1800" dirty="0">
                    <a:solidFill>
                      <a:srgbClr val="800000"/>
                    </a:solidFill>
                  </a:rPr>
                  <a:t> </a:t>
                </a:r>
                <a:r>
                  <a:rPr lang="en-US" altLang="en-US" sz="1800" dirty="0">
                    <a:solidFill>
                      <a:srgbClr val="000000"/>
                    </a:solidFill>
                  </a:rPr>
                  <a:t>and </a:t>
                </a:r>
                <a:r>
                  <a:rPr lang="en-US" altLang="en-US" sz="1800" b="1" dirty="0">
                    <a:solidFill>
                      <a:srgbClr val="800000"/>
                    </a:solidFill>
                  </a:rPr>
                  <a:t>standard deviation</a:t>
                </a:r>
                <a:r>
                  <a:rPr lang="en-US" altLang="en-US" sz="1800" dirty="0">
                    <a:solidFill>
                      <a:srgbClr val="800000"/>
                    </a:solidFill>
                  </a:rPr>
                  <a:t> </a:t>
                </a:r>
                <a:r>
                  <a:rPr lang="en-US" altLang="en-US" sz="1800" dirty="0">
                    <a:solidFill>
                      <a:srgbClr val="000000"/>
                    </a:solidFill>
                  </a:rPr>
                  <a:t>of </a:t>
                </a:r>
                <a:r>
                  <a:rPr lang="en-US" altLang="en-US" sz="1800" i="1" dirty="0">
                    <a:solidFill>
                      <a:srgbClr val="000000"/>
                    </a:solidFill>
                  </a:rPr>
                  <a:t>X </a:t>
                </a:r>
                <a:r>
                  <a:rPr lang="en-US" altLang="en-US" sz="1800" dirty="0">
                    <a:solidFill>
                      <a:srgbClr val="000000"/>
                    </a:solidFill>
                  </a:rPr>
                  <a:t>are respectively</a:t>
                </a:r>
              </a:p>
              <a:p>
                <a:pPr eaLnBrk="1" hangingPunct="1">
                  <a:spcBef>
                    <a:spcPct val="0"/>
                  </a:spcBef>
                  <a:spcAft>
                    <a:spcPts val="1200"/>
                  </a:spcAft>
                  <a:buClrTx/>
                  <a:buSzTx/>
                  <a:buFontTx/>
                  <a:buNone/>
                  <a:defRPr/>
                </a:pPr>
                <a14:m>
                  <m:oMathPara xmlns:m="http://schemas.openxmlformats.org/officeDocument/2006/math">
                    <m:oMath>
                      <m:r>
                        <a:rPr lang="en-US" altLang="en-US" sz="1800" b="0" i="1" smtClean="0">
                          <a:solidFill>
                            <a:srgbClr val="000000"/>
                          </a:solidFill>
                          <a:latin typeface="Cambria Math" panose="02040503050406030204" pitchFamily="18" charset="0"/>
                        </a:rPr>
                        <m:t>𝜇</m:t>
                      </m:r>
                      <m:r>
                        <a:rPr lang="en-US" altLang="en-US" sz="1800" b="0" i="1" smtClean="0">
                          <a:solidFill>
                            <a:srgbClr val="000000"/>
                          </a:solidFill>
                          <a:latin typeface="Cambria Math" panose="02040503050406030204" pitchFamily="18" charset="0"/>
                        </a:rPr>
                        <m:t>=</m:t>
                      </m:r>
                      <m:r>
                        <a:rPr lang="en-US" altLang="en-US" sz="1800" b="0" i="1" smtClean="0">
                          <a:solidFill>
                            <a:srgbClr val="000000"/>
                          </a:solidFill>
                          <a:latin typeface="Cambria Math" panose="02040503050406030204" pitchFamily="18" charset="0"/>
                        </a:rPr>
                        <m:t>𝑛𝑝</m:t>
                      </m:r>
                    </m:oMath>
                  </m:oMathPara>
                </a14:m>
                <a:endParaRPr lang="en-US" altLang="en-US" sz="1800" dirty="0">
                  <a:solidFill>
                    <a:srgbClr val="000000"/>
                  </a:solidFill>
                </a:endParaRPr>
              </a:p>
              <a:p>
                <a:pPr eaLnBrk="1" hangingPunct="1">
                  <a:spcBef>
                    <a:spcPct val="0"/>
                  </a:spcBef>
                  <a:spcAft>
                    <a:spcPts val="1200"/>
                  </a:spcAft>
                  <a:buClrTx/>
                  <a:buSzTx/>
                  <a:buNone/>
                  <a:defRPr/>
                </a:pPr>
                <a14:m>
                  <m:oMathPara xmlns:m="http://schemas.openxmlformats.org/officeDocument/2006/math">
                    <m:oMath>
                      <m:r>
                        <a:rPr lang="en-US" altLang="en-US" sz="1800" b="0" i="1" smtClean="0">
                          <a:solidFill>
                            <a:srgbClr val="000000"/>
                          </a:solidFill>
                          <a:latin typeface="Cambria Math" panose="02040503050406030204" pitchFamily="18" charset="0"/>
                        </a:rPr>
                        <m:t>𝜎</m:t>
                      </m:r>
                      <m:r>
                        <a:rPr lang="en-US" altLang="en-US" sz="1800" b="0" i="1" smtClean="0">
                          <a:solidFill>
                            <a:srgbClr val="000000"/>
                          </a:solidFill>
                          <a:latin typeface="Cambria Math" panose="02040503050406030204" pitchFamily="18" charset="0"/>
                        </a:rPr>
                        <m:t>=</m:t>
                      </m:r>
                      <m:rad>
                        <m:radPr>
                          <m:degHide m:val="on"/>
                          <m:ctrlPr>
                            <a:rPr lang="en-US" altLang="en-US" sz="1800" i="1">
                              <a:solidFill>
                                <a:srgbClr val="000000"/>
                              </a:solidFill>
                              <a:latin typeface="Cambria Math" panose="02040503050406030204" pitchFamily="18" charset="0"/>
                            </a:rPr>
                          </m:ctrlPr>
                        </m:radPr>
                        <m:deg/>
                        <m:e>
                          <m:r>
                            <a:rPr lang="en-US" altLang="en-US" sz="1800" i="1">
                              <a:solidFill>
                                <a:srgbClr val="000000"/>
                              </a:solidFill>
                              <a:latin typeface="Cambria Math" panose="02040503050406030204" pitchFamily="18" charset="0"/>
                            </a:rPr>
                            <m:t>𝑛𝑝</m:t>
                          </m:r>
                          <m:r>
                            <a:rPr lang="en-US" altLang="en-US" sz="1800" i="1">
                              <a:solidFill>
                                <a:srgbClr val="000000"/>
                              </a:solidFill>
                              <a:latin typeface="Cambria Math" panose="02040503050406030204" pitchFamily="18" charset="0"/>
                            </a:rPr>
                            <m:t>(1−</m:t>
                          </m:r>
                          <m:r>
                            <a:rPr lang="en-US" altLang="en-US" sz="1800" i="1">
                              <a:solidFill>
                                <a:srgbClr val="000000"/>
                              </a:solidFill>
                              <a:latin typeface="Cambria Math" panose="02040503050406030204" pitchFamily="18" charset="0"/>
                            </a:rPr>
                            <m:t>𝑝</m:t>
                          </m:r>
                          <m:r>
                            <a:rPr lang="en-US" altLang="en-US" sz="1800" i="1">
                              <a:solidFill>
                                <a:srgbClr val="000000"/>
                              </a:solidFill>
                              <a:latin typeface="Cambria Math" panose="02040503050406030204" pitchFamily="18" charset="0"/>
                            </a:rPr>
                            <m:t>)</m:t>
                          </m:r>
                        </m:e>
                      </m:rad>
                    </m:oMath>
                  </m:oMathPara>
                </a14:m>
                <a:endParaRPr lang="en-US" altLang="en-US" sz="1800" dirty="0">
                  <a:solidFill>
                    <a:srgbClr val="000000"/>
                  </a:solidFill>
                </a:endParaRPr>
              </a:p>
            </p:txBody>
          </p:sp>
        </mc:Choice>
        <mc:Fallback xmlns="">
          <p:sp>
            <p:nvSpPr>
              <p:cNvPr id="9" name="TextBox 8"/>
              <p:cNvSpPr txBox="1">
                <a:spLocks noRot="1" noChangeAspect="1" noMove="1" noResize="1" noEditPoints="1" noAdjustHandles="1" noChangeArrowheads="1" noChangeShapeType="1" noTextEdit="1"/>
              </p:cNvSpPr>
              <p:nvPr/>
            </p:nvSpPr>
            <p:spPr bwMode="auto">
              <a:xfrm>
                <a:off x="533400" y="3302416"/>
                <a:ext cx="7843838" cy="1720407"/>
              </a:xfrm>
              <a:prstGeom prst="rect">
                <a:avLst/>
              </a:prstGeom>
              <a:blipFill>
                <a:blip r:embed="rId3"/>
                <a:stretch>
                  <a:fillRect/>
                </a:stretch>
              </a:blipFill>
              <a:ln w="10000">
                <a:solidFill>
                  <a:srgbClr val="D2DA7A"/>
                </a:solidFill>
                <a:miter lim="800000"/>
                <a:headEnd/>
                <a:tailEnd/>
              </a:ln>
              <a:effectLst>
                <a:outerShdw blurRad="38100" dist="30000" dir="5400000" rotWithShape="0">
                  <a:srgbClr val="808080">
                    <a:alpha val="45000"/>
                  </a:srgbClr>
                </a:outerShdw>
              </a:effectLst>
            </p:spPr>
            <p:txBody>
              <a:bodyPr/>
              <a:lstStyle/>
              <a:p>
                <a:r>
                  <a:rPr lang="en-US">
                    <a:noFill/>
                  </a:rPr>
                  <a:t> </a:t>
                </a:r>
              </a:p>
            </p:txBody>
          </p:sp>
        </mc:Fallback>
      </mc:AlternateContent>
      <p:sp>
        <p:nvSpPr>
          <p:cNvPr id="12" name="TextBox 11"/>
          <p:cNvSpPr txBox="1">
            <a:spLocks noChangeArrowheads="1"/>
          </p:cNvSpPr>
          <p:nvPr/>
        </p:nvSpPr>
        <p:spPr bwMode="auto">
          <a:xfrm>
            <a:off x="533400" y="5427053"/>
            <a:ext cx="79375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sz="1800" b="1" dirty="0">
                <a:solidFill>
                  <a:schemeClr val="tx1"/>
                </a:solidFill>
              </a:rPr>
              <a:t>Note: </a:t>
            </a:r>
            <a:r>
              <a:rPr lang="en-US" altLang="en-US" sz="1800" dirty="0">
                <a:solidFill>
                  <a:schemeClr val="tx1"/>
                </a:solidFill>
              </a:rPr>
              <a:t>The above formulas of mean and standard deviation work ONLY for binomial distribution </a:t>
            </a:r>
            <a:r>
              <a:rPr lang="en-US" altLang="en-US" sz="1800" i="1" dirty="0">
                <a:solidFill>
                  <a:schemeClr val="tx1"/>
                </a:solidFill>
              </a:rPr>
              <a:t>B(n, p)</a:t>
            </a:r>
            <a:r>
              <a:rPr lang="en-US" altLang="en-US" sz="1800" dirty="0">
                <a:solidFill>
                  <a:schemeClr val="tx1"/>
                </a:solidFill>
              </a:rPr>
              <a:t>. They cannot be used for other distributions!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9" name="Rectangle 2"/>
          <p:cNvSpPr>
            <a:spLocks noGrp="1" noChangeArrowheads="1"/>
          </p:cNvSpPr>
          <p:nvPr>
            <p:ph type="title"/>
          </p:nvPr>
        </p:nvSpPr>
        <p:spPr>
          <a:xfrm>
            <a:off x="174625" y="153988"/>
            <a:ext cx="7772400" cy="1143000"/>
          </a:xfrm>
        </p:spPr>
        <p:txBody>
          <a:bodyPr/>
          <a:lstStyle/>
          <a:p>
            <a:pPr eaLnBrk="1" hangingPunct="1">
              <a:lnSpc>
                <a:spcPct val="90000"/>
              </a:lnSpc>
            </a:pPr>
            <a:r>
              <a:rPr lang="en-US" altLang="en-US" dirty="0">
                <a:ea typeface="ＭＳ Ｐゴシック" pitchFamily="34" charset="-128"/>
              </a:rPr>
              <a:t>Normal Approximation for </a:t>
            </a:r>
            <a:br>
              <a:rPr lang="en-US" altLang="en-US" dirty="0">
                <a:ea typeface="ＭＳ Ｐゴシック" pitchFamily="34" charset="-128"/>
              </a:rPr>
            </a:br>
            <a:r>
              <a:rPr lang="en-US" altLang="en-US" dirty="0">
                <a:ea typeface="ＭＳ Ｐゴシック" pitchFamily="34" charset="-128"/>
              </a:rPr>
              <a:t>Binomial Distributions</a:t>
            </a:r>
            <a:endParaRPr lang="en-US" altLang="en-US" sz="2400" dirty="0">
              <a:solidFill>
                <a:srgbClr val="33CCFF"/>
              </a:solidFill>
              <a:ea typeface="ＭＳ Ｐゴシック" pitchFamily="34" charset="-128"/>
            </a:endParaRPr>
          </a:p>
        </p:txBody>
      </p:sp>
      <p:sp>
        <p:nvSpPr>
          <p:cNvPr id="5529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4F44A1B2-B133-4301-B244-B65BDA47A671}" type="slidenum">
              <a:rPr lang="en-US" altLang="en-US" sz="1200">
                <a:solidFill>
                  <a:schemeClr val="accent1"/>
                </a:solidFill>
              </a:rPr>
              <a:pPr>
                <a:lnSpc>
                  <a:spcPct val="80000"/>
                </a:lnSpc>
              </a:pPr>
              <a:t>25</a:t>
            </a:fld>
            <a:endParaRPr lang="en-US" altLang="en-US" sz="1200">
              <a:solidFill>
                <a:schemeClr val="accent1"/>
              </a:solidFill>
            </a:endParaRPr>
          </a:p>
        </p:txBody>
      </p:sp>
      <p:sp>
        <p:nvSpPr>
          <p:cNvPr id="55300" name="Rectangle 1"/>
          <p:cNvSpPr>
            <a:spLocks noChangeArrowheads="1"/>
          </p:cNvSpPr>
          <p:nvPr/>
        </p:nvSpPr>
        <p:spPr bwMode="auto">
          <a:xfrm>
            <a:off x="481013" y="1430338"/>
            <a:ext cx="83788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Font typeface="Wingdings" pitchFamily="2" charset="2"/>
              <a:buNone/>
            </a:pPr>
            <a:r>
              <a:rPr lang="en-US" altLang="en-US" sz="2000" dirty="0">
                <a:solidFill>
                  <a:srgbClr val="000000"/>
                </a:solidFill>
              </a:rPr>
              <a:t>As </a:t>
            </a:r>
            <a:r>
              <a:rPr lang="en-US" altLang="en-US" sz="2000" i="1" dirty="0">
                <a:solidFill>
                  <a:srgbClr val="000000"/>
                </a:solidFill>
              </a:rPr>
              <a:t>n</a:t>
            </a:r>
            <a:r>
              <a:rPr lang="en-US" altLang="en-US" sz="2000" dirty="0">
                <a:solidFill>
                  <a:srgbClr val="000000"/>
                </a:solidFill>
              </a:rPr>
              <a:t> gets larger, something interesting happens to the shape of a binomial distribution.</a:t>
            </a:r>
          </a:p>
        </p:txBody>
      </p:sp>
      <p:pic>
        <p:nvPicPr>
          <p:cNvPr id="20" name="Picture 19" descr="The image shows a binomial distribution graph. X-axis shows 0, 8 and 10 markings on it, and the y-axis ranges from 0 to 0.330. The peak of the graph lie at marking 8 on the x-axis, and around 0.330 on the y-axis."/>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81025" y="2262188"/>
            <a:ext cx="2336800" cy="167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20" descr="The image shows a binomial distribution graph. X-axis shows 0, 16 and 20 markings on it, and the y-axis shows 0, 0.117 and 0.234 markings on it. The peak of the graph lie at the marking 16 on the x-axis, and around 0.234 on the y-axis."/>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263900" y="2262188"/>
            <a:ext cx="2335213" cy="167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21" descr="The image shows a binomial distribution graph. X-axis shows 0, 40 and 50 markings on it, and the y-axis shows 0, 0.074 and 0.148 markings on it. The peak of the graph lie at the marking 40 on the x-axis, and around 0.148 on the y-axis. It depicts that when n is large, the distribution of X is approximately Normal."/>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075363" y="2262188"/>
            <a:ext cx="2349500" cy="167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11" descr="The image shows normal approximation for binomial distributions. The statement &quot;Suppose that X has the binomial distribution with n trials and success probability p. When n is large, the distribution of X is approximately Normal with mean and standard deviation&quot; is mentioned, which is followed by probability expression given as: mean, mew subscript x equals to np. The other expression is given as : standard deviation sigma subscript x equals to square root of product of np and &quot;1 minus p.&quot; &#10;Another statement &quot;As a rule of thumb, we will use the Normal approximation when n is so large that np greater than equal to 10 and n (1 – p) greater than equal to 10&quot; is mentioned in the image.  &#10;"/>
          <p:cNvGrpSpPr>
            <a:grpSpLocks/>
          </p:cNvGrpSpPr>
          <p:nvPr/>
        </p:nvGrpSpPr>
        <p:grpSpPr bwMode="auto">
          <a:xfrm>
            <a:off x="581025" y="4059377"/>
            <a:ext cx="7843838" cy="2458655"/>
            <a:chOff x="292100" y="3799663"/>
            <a:chExt cx="7843838" cy="2460974"/>
          </a:xfrm>
        </p:grpSpPr>
        <p:sp>
          <p:nvSpPr>
            <p:cNvPr id="17" name="TextBox 16"/>
            <p:cNvSpPr txBox="1">
              <a:spLocks noChangeArrowheads="1"/>
            </p:cNvSpPr>
            <p:nvPr/>
          </p:nvSpPr>
          <p:spPr bwMode="auto">
            <a:xfrm>
              <a:off x="694531" y="3799663"/>
              <a:ext cx="6896100" cy="338457"/>
            </a:xfrm>
            <a:prstGeom prst="rect">
              <a:avLst/>
            </a:prstGeom>
            <a:solidFill>
              <a:srgbClr val="D6DFE8"/>
            </a:solidFill>
            <a:ln w="10000">
              <a:solidFill>
                <a:schemeClr val="accent2"/>
              </a:solidFill>
              <a:miter lim="800000"/>
              <a:headEnd/>
              <a:tailEnd/>
            </a:ln>
            <a:effectLst>
              <a:outerShdw blurRad="38100" dist="30000" dir="5400000" rotWithShape="0">
                <a:srgbClr val="808080">
                  <a:alpha val="45000"/>
                </a:srgbClr>
              </a:outerShdw>
            </a:effectLst>
          </p:spPr>
          <p:txBody>
            <a:bodyPr>
              <a:spAutoFit/>
            </a:bodyPr>
            <a:lstStyle/>
            <a:p>
              <a:pPr algn="ctr" eaLnBrk="1" fontAlgn="auto" hangingPunct="1">
                <a:spcBef>
                  <a:spcPts val="0"/>
                </a:spcBef>
                <a:spcAft>
                  <a:spcPts val="0"/>
                </a:spcAft>
                <a:defRPr/>
              </a:pPr>
              <a:r>
                <a:rPr lang="en-US" sz="1600" b="1" dirty="0">
                  <a:solidFill>
                    <a:schemeClr val="dk1"/>
                  </a:solidFill>
                  <a:latin typeface="+mn-lt"/>
                  <a:ea typeface="+mn-ea"/>
                </a:rPr>
                <a:t>Normal Approximation for Binomial Distributions</a:t>
              </a:r>
            </a:p>
          </p:txBody>
        </p:sp>
        <mc:AlternateContent xmlns:mc="http://schemas.openxmlformats.org/markup-compatibility/2006" xmlns:a14="http://schemas.microsoft.com/office/drawing/2010/main">
          <mc:Choice Requires="a14">
            <p:sp>
              <p:nvSpPr>
                <p:cNvPr id="16" name="TextBox 15"/>
                <p:cNvSpPr txBox="1">
                  <a:spLocks noChangeArrowheads="1"/>
                </p:cNvSpPr>
                <p:nvPr/>
              </p:nvSpPr>
              <p:spPr bwMode="auto">
                <a:xfrm>
                  <a:off x="292100" y="4138120"/>
                  <a:ext cx="7843838" cy="2122517"/>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1200"/>
                    </a:spcAft>
                    <a:buClrTx/>
                    <a:buSzTx/>
                    <a:buFontTx/>
                    <a:buNone/>
                    <a:defRPr/>
                  </a:pPr>
                  <a:r>
                    <a:rPr lang="en-US" altLang="en-US" sz="1800" dirty="0">
                      <a:solidFill>
                        <a:srgbClr val="000000"/>
                      </a:solidFill>
                    </a:rPr>
                    <a:t>Suppose that </a:t>
                  </a:r>
                  <a:r>
                    <a:rPr lang="en-US" altLang="en-US" sz="1800" i="1" dirty="0">
                      <a:solidFill>
                        <a:srgbClr val="000000"/>
                      </a:solidFill>
                    </a:rPr>
                    <a:t>X</a:t>
                  </a:r>
                  <a:r>
                    <a:rPr lang="en-US" altLang="en-US" sz="1800" dirty="0">
                      <a:solidFill>
                        <a:srgbClr val="000000"/>
                      </a:solidFill>
                    </a:rPr>
                    <a:t> has the binomial distribution with </a:t>
                  </a:r>
                  <a:r>
                    <a:rPr lang="en-US" altLang="en-US" sz="1800" i="1" dirty="0">
                      <a:solidFill>
                        <a:srgbClr val="000000"/>
                      </a:solidFill>
                    </a:rPr>
                    <a:t>n</a:t>
                  </a:r>
                  <a:r>
                    <a:rPr lang="en-US" altLang="en-US" sz="1800" dirty="0">
                      <a:solidFill>
                        <a:srgbClr val="000000"/>
                      </a:solidFill>
                    </a:rPr>
                    <a:t> trials and success probability </a:t>
                  </a:r>
                  <a:r>
                    <a:rPr lang="en-US" altLang="en-US" sz="1800" i="1" dirty="0">
                      <a:solidFill>
                        <a:srgbClr val="000000"/>
                      </a:solidFill>
                    </a:rPr>
                    <a:t>p</a:t>
                  </a:r>
                  <a:r>
                    <a:rPr lang="en-US" altLang="en-US" sz="1800" dirty="0">
                      <a:solidFill>
                        <a:srgbClr val="000000"/>
                      </a:solidFill>
                    </a:rPr>
                    <a:t>. When </a:t>
                  </a:r>
                  <a:r>
                    <a:rPr lang="en-US" altLang="en-US" sz="1800" i="1" dirty="0">
                      <a:solidFill>
                        <a:srgbClr val="000000"/>
                      </a:solidFill>
                    </a:rPr>
                    <a:t>n</a:t>
                  </a:r>
                  <a:r>
                    <a:rPr lang="en-US" altLang="en-US" sz="1800" dirty="0">
                      <a:solidFill>
                        <a:srgbClr val="000000"/>
                      </a:solidFill>
                    </a:rPr>
                    <a:t> is large, the distribution of </a:t>
                  </a:r>
                  <a:r>
                    <a:rPr lang="en-US" altLang="en-US" sz="1800" i="1" dirty="0">
                      <a:solidFill>
                        <a:srgbClr val="000000"/>
                      </a:solidFill>
                    </a:rPr>
                    <a:t>X</a:t>
                  </a:r>
                  <a:r>
                    <a:rPr lang="en-US" altLang="en-US" sz="1800" dirty="0">
                      <a:solidFill>
                        <a:srgbClr val="000000"/>
                      </a:solidFill>
                    </a:rPr>
                    <a:t> is approximately normal with mean and standard deviation, respectively,</a:t>
                  </a:r>
                </a:p>
                <a:p>
                  <a:pPr algn="ctr" eaLnBrk="1" hangingPunct="1">
                    <a:spcBef>
                      <a:spcPct val="0"/>
                    </a:spcBef>
                    <a:spcAft>
                      <a:spcPts val="1200"/>
                    </a:spcAft>
                    <a:buClrTx/>
                    <a:buSzTx/>
                    <a:buFontTx/>
                    <a:buNone/>
                    <a:defRPr/>
                  </a:pPr>
                  <a14:m>
                    <m:oMath xmlns:m="http://schemas.openxmlformats.org/officeDocument/2006/math">
                      <m:r>
                        <a:rPr lang="en-US" altLang="en-US" sz="1800" b="0" i="1" smtClean="0">
                          <a:solidFill>
                            <a:srgbClr val="000000"/>
                          </a:solidFill>
                          <a:latin typeface="Cambria Math" panose="02040503050406030204" pitchFamily="18" charset="0"/>
                        </a:rPr>
                        <m:t>𝜇</m:t>
                      </m:r>
                      <m:r>
                        <a:rPr lang="en-US" altLang="en-US" sz="1800" b="0" i="1" smtClean="0">
                          <a:solidFill>
                            <a:srgbClr val="000000"/>
                          </a:solidFill>
                          <a:latin typeface="Cambria Math" panose="02040503050406030204" pitchFamily="18" charset="0"/>
                        </a:rPr>
                        <m:t>=</m:t>
                      </m:r>
                      <m:r>
                        <a:rPr lang="en-US" altLang="en-US" sz="1800" b="0" i="1" smtClean="0">
                          <a:solidFill>
                            <a:srgbClr val="000000"/>
                          </a:solidFill>
                          <a:latin typeface="Cambria Math" panose="02040503050406030204" pitchFamily="18" charset="0"/>
                        </a:rPr>
                        <m:t>𝑛𝑝</m:t>
                      </m:r>
                    </m:oMath>
                  </a14:m>
                  <a:r>
                    <a:rPr lang="en-US" altLang="en-US" sz="1800" dirty="0">
                      <a:solidFill>
                        <a:srgbClr val="000000"/>
                      </a:solidFill>
                    </a:rPr>
                    <a:t>		</a:t>
                  </a:r>
                  <a14:m>
                    <m:oMath xmlns:m="http://schemas.openxmlformats.org/officeDocument/2006/math">
                      <m:r>
                        <a:rPr lang="en-US" altLang="en-US" sz="1800" b="0" i="1" smtClean="0">
                          <a:solidFill>
                            <a:srgbClr val="000000"/>
                          </a:solidFill>
                          <a:latin typeface="Cambria Math" panose="02040503050406030204" pitchFamily="18" charset="0"/>
                        </a:rPr>
                        <m:t>𝜎</m:t>
                      </m:r>
                      <m:r>
                        <a:rPr lang="en-US" altLang="en-US" sz="1800" b="0" i="1" smtClean="0">
                          <a:solidFill>
                            <a:srgbClr val="000000"/>
                          </a:solidFill>
                          <a:latin typeface="Cambria Math" panose="02040503050406030204" pitchFamily="18" charset="0"/>
                        </a:rPr>
                        <m:t>=</m:t>
                      </m:r>
                      <m:rad>
                        <m:radPr>
                          <m:degHide m:val="on"/>
                          <m:ctrlPr>
                            <a:rPr lang="en-US" altLang="en-US" sz="1800" b="0" i="1" smtClean="0">
                              <a:solidFill>
                                <a:srgbClr val="000000"/>
                              </a:solidFill>
                              <a:latin typeface="Cambria Math" panose="02040503050406030204" pitchFamily="18" charset="0"/>
                            </a:rPr>
                          </m:ctrlPr>
                        </m:radPr>
                        <m:deg/>
                        <m:e>
                          <m:r>
                            <a:rPr lang="en-US" altLang="en-US" sz="1800" b="0" i="1" smtClean="0">
                              <a:solidFill>
                                <a:srgbClr val="000000"/>
                              </a:solidFill>
                              <a:latin typeface="Cambria Math" panose="02040503050406030204" pitchFamily="18" charset="0"/>
                            </a:rPr>
                            <m:t>𝑛𝑝</m:t>
                          </m:r>
                          <m:d>
                            <m:dPr>
                              <m:ctrlPr>
                                <a:rPr lang="en-US" altLang="en-US" sz="1800" b="0" i="1" smtClean="0">
                                  <a:solidFill>
                                    <a:srgbClr val="000000"/>
                                  </a:solidFill>
                                  <a:latin typeface="Cambria Math" panose="02040503050406030204" pitchFamily="18" charset="0"/>
                                </a:rPr>
                              </m:ctrlPr>
                            </m:dPr>
                            <m:e>
                              <m:r>
                                <a:rPr lang="en-US" altLang="en-US" sz="1800" b="0" i="1" smtClean="0">
                                  <a:solidFill>
                                    <a:srgbClr val="000000"/>
                                  </a:solidFill>
                                  <a:latin typeface="Cambria Math" panose="02040503050406030204" pitchFamily="18" charset="0"/>
                                </a:rPr>
                                <m:t>1−</m:t>
                              </m:r>
                              <m:r>
                                <a:rPr lang="en-US" altLang="en-US" sz="1800" b="0" i="1" smtClean="0">
                                  <a:solidFill>
                                    <a:srgbClr val="000000"/>
                                  </a:solidFill>
                                  <a:latin typeface="Cambria Math" panose="02040503050406030204" pitchFamily="18" charset="0"/>
                                </a:rPr>
                                <m:t>𝑝</m:t>
                              </m:r>
                            </m:e>
                          </m:d>
                        </m:e>
                      </m:rad>
                    </m:oMath>
                  </a14:m>
                  <a:endParaRPr lang="en-US" altLang="en-US" sz="1800" dirty="0">
                    <a:solidFill>
                      <a:srgbClr val="000000"/>
                    </a:solidFill>
                  </a:endParaRPr>
                </a:p>
                <a:p>
                  <a:pPr eaLnBrk="1" hangingPunct="1">
                    <a:spcBef>
                      <a:spcPct val="0"/>
                    </a:spcBef>
                    <a:spcAft>
                      <a:spcPts val="1200"/>
                    </a:spcAft>
                    <a:buClrTx/>
                    <a:buSzTx/>
                    <a:buFontTx/>
                    <a:buNone/>
                    <a:defRPr/>
                  </a:pPr>
                  <a:r>
                    <a:rPr lang="en-US" altLang="en-US" sz="1800" dirty="0">
                      <a:solidFill>
                        <a:srgbClr val="000000"/>
                      </a:solidFill>
                    </a:rPr>
                    <a:t>As a rule of thumb, we will use the normal approximation when </a:t>
                  </a:r>
                  <a:r>
                    <a:rPr lang="en-US" altLang="en-US" sz="1800" i="1" dirty="0">
                      <a:solidFill>
                        <a:srgbClr val="000000"/>
                      </a:solidFill>
                    </a:rPr>
                    <a:t>n</a:t>
                  </a:r>
                  <a:r>
                    <a:rPr lang="en-US" altLang="en-US" sz="1800" dirty="0">
                      <a:solidFill>
                        <a:srgbClr val="000000"/>
                      </a:solidFill>
                    </a:rPr>
                    <a:t> is so large that </a:t>
                  </a:r>
                  <a:r>
                    <a:rPr lang="en-US" altLang="en-US" sz="1800" i="1" dirty="0">
                      <a:solidFill>
                        <a:srgbClr val="000000"/>
                      </a:solidFill>
                    </a:rPr>
                    <a:t>np </a:t>
                  </a:r>
                  <a:r>
                    <a:rPr lang="en-US" altLang="en-US" sz="1800" dirty="0">
                      <a:solidFill>
                        <a:srgbClr val="000000"/>
                      </a:solidFill>
                    </a:rPr>
                    <a:t>≥ 10 and </a:t>
                  </a:r>
                  <a:r>
                    <a:rPr lang="en-US" altLang="en-US" sz="1800" i="1" dirty="0">
                      <a:solidFill>
                        <a:srgbClr val="000000"/>
                      </a:solidFill>
                    </a:rPr>
                    <a:t>n</a:t>
                  </a:r>
                  <a:r>
                    <a:rPr lang="en-US" altLang="en-US" sz="1800" dirty="0">
                      <a:solidFill>
                        <a:srgbClr val="000000"/>
                      </a:solidFill>
                    </a:rPr>
                    <a:t>(1 – </a:t>
                  </a:r>
                  <a:r>
                    <a:rPr lang="en-US" altLang="en-US" sz="1800" i="1" dirty="0">
                      <a:solidFill>
                        <a:srgbClr val="000000"/>
                      </a:solidFill>
                    </a:rPr>
                    <a:t>p</a:t>
                  </a:r>
                  <a:r>
                    <a:rPr lang="en-US" altLang="en-US" sz="1800" dirty="0">
                      <a:solidFill>
                        <a:srgbClr val="000000"/>
                      </a:solidFill>
                    </a:rPr>
                    <a:t>) ≥ 10.  </a:t>
                  </a:r>
                </a:p>
              </p:txBody>
            </p:sp>
          </mc:Choice>
          <mc:Fallback xmlns="">
            <p:sp>
              <p:nvSpPr>
                <p:cNvPr id="16" name="TextBox 15"/>
                <p:cNvSpPr txBox="1">
                  <a:spLocks noRot="1" noChangeAspect="1" noMove="1" noResize="1" noEditPoints="1" noAdjustHandles="1" noChangeArrowheads="1" noChangeShapeType="1" noTextEdit="1"/>
                </p:cNvSpPr>
                <p:nvPr/>
              </p:nvSpPr>
              <p:spPr bwMode="auto">
                <a:xfrm>
                  <a:off x="292100" y="4138120"/>
                  <a:ext cx="7843838" cy="2122517"/>
                </a:xfrm>
                <a:prstGeom prst="rect">
                  <a:avLst/>
                </a:prstGeom>
                <a:blipFill>
                  <a:blip r:embed="rId5"/>
                  <a:stretch>
                    <a:fillRect/>
                  </a:stretch>
                </a:blipFill>
                <a:ln w="10000">
                  <a:solidFill>
                    <a:srgbClr val="D2DA7A"/>
                  </a:solidFill>
                  <a:miter lim="800000"/>
                  <a:headEnd/>
                  <a:tailEnd/>
                </a:ln>
                <a:effectLst>
                  <a:outerShdw blurRad="38100" dist="30000" dir="5400000" rotWithShape="0">
                    <a:srgbClr val="808080">
                      <a:alpha val="45000"/>
                    </a:srgbClr>
                  </a:outerShdw>
                </a:effectLst>
              </p:spPr>
              <p:txBody>
                <a:bodyPr/>
                <a:lstStyle/>
                <a:p>
                  <a:r>
                    <a:rPr lang="en-US">
                      <a:noFill/>
                    </a:rPr>
                    <a:t> </a:t>
                  </a:r>
                </a:p>
              </p:txBody>
            </p:sp>
          </mc:Fallback>
        </mc:AlternateContent>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p:cTn id="7" dur="500" fill="hold"/>
                                        <p:tgtEl>
                                          <p:spTgt spid="20"/>
                                        </p:tgtEl>
                                        <p:attrNameLst>
                                          <p:attrName>ppt_w</p:attrName>
                                        </p:attrNameLst>
                                      </p:cBhvr>
                                      <p:tavLst>
                                        <p:tav tm="0">
                                          <p:val>
                                            <p:fltVal val="0"/>
                                          </p:val>
                                        </p:tav>
                                        <p:tav tm="100000">
                                          <p:val>
                                            <p:strVal val="#ppt_w"/>
                                          </p:val>
                                        </p:tav>
                                      </p:tavLst>
                                    </p:anim>
                                    <p:anim calcmode="lin" valueType="num">
                                      <p:cBhvr>
                                        <p:cTn id="8" dur="500" fill="hold"/>
                                        <p:tgtEl>
                                          <p:spTgt spid="20"/>
                                        </p:tgtEl>
                                        <p:attrNameLst>
                                          <p:attrName>ppt_h</p:attrName>
                                        </p:attrNameLst>
                                      </p:cBhvr>
                                      <p:tavLst>
                                        <p:tav tm="0">
                                          <p:val>
                                            <p:fltVal val="0"/>
                                          </p:val>
                                        </p:tav>
                                        <p:tav tm="100000">
                                          <p:val>
                                            <p:strVal val="#ppt_h"/>
                                          </p:val>
                                        </p:tav>
                                      </p:tavLst>
                                    </p:anim>
                                    <p:anim calcmode="lin" valueType="num">
                                      <p:cBhvr>
                                        <p:cTn id="9" dur="500" fill="hold"/>
                                        <p:tgtEl>
                                          <p:spTgt spid="20"/>
                                        </p:tgtEl>
                                        <p:attrNameLst>
                                          <p:attrName>ppt_x</p:attrName>
                                        </p:attrNameLst>
                                      </p:cBhvr>
                                      <p:tavLst>
                                        <p:tav tm="0" fmla="#ppt_x+(cos(-2*pi*(1-$))*-#ppt_x-sin(-2*pi*(1-$))*(1-#ppt_y))*(1-$)">
                                          <p:val>
                                            <p:fltVal val="0"/>
                                          </p:val>
                                        </p:tav>
                                        <p:tav tm="100000">
                                          <p:val>
                                            <p:fltVal val="1"/>
                                          </p:val>
                                        </p:tav>
                                      </p:tavLst>
                                    </p:anim>
                                    <p:anim calcmode="lin" valueType="num">
                                      <p:cBhvr>
                                        <p:cTn id="10" dur="500" fill="hold"/>
                                        <p:tgtEl>
                                          <p:spTgt spid="2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5"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p:cTn id="15" dur="500" fill="hold"/>
                                        <p:tgtEl>
                                          <p:spTgt spid="21"/>
                                        </p:tgtEl>
                                        <p:attrNameLst>
                                          <p:attrName>ppt_w</p:attrName>
                                        </p:attrNameLst>
                                      </p:cBhvr>
                                      <p:tavLst>
                                        <p:tav tm="0">
                                          <p:val>
                                            <p:fltVal val="0"/>
                                          </p:val>
                                        </p:tav>
                                        <p:tav tm="100000">
                                          <p:val>
                                            <p:strVal val="#ppt_w"/>
                                          </p:val>
                                        </p:tav>
                                      </p:tavLst>
                                    </p:anim>
                                    <p:anim calcmode="lin" valueType="num">
                                      <p:cBhvr>
                                        <p:cTn id="16" dur="500" fill="hold"/>
                                        <p:tgtEl>
                                          <p:spTgt spid="21"/>
                                        </p:tgtEl>
                                        <p:attrNameLst>
                                          <p:attrName>ppt_h</p:attrName>
                                        </p:attrNameLst>
                                      </p:cBhvr>
                                      <p:tavLst>
                                        <p:tav tm="0">
                                          <p:val>
                                            <p:fltVal val="0"/>
                                          </p:val>
                                        </p:tav>
                                        <p:tav tm="100000">
                                          <p:val>
                                            <p:strVal val="#ppt_h"/>
                                          </p:val>
                                        </p:tav>
                                      </p:tavLst>
                                    </p:anim>
                                    <p:anim calcmode="lin" valueType="num">
                                      <p:cBhvr>
                                        <p:cTn id="17" dur="500" fill="hold"/>
                                        <p:tgtEl>
                                          <p:spTgt spid="21"/>
                                        </p:tgtEl>
                                        <p:attrNameLst>
                                          <p:attrName>ppt_x</p:attrName>
                                        </p:attrNameLst>
                                      </p:cBhvr>
                                      <p:tavLst>
                                        <p:tav tm="0" fmla="#ppt_x+(cos(-2*pi*(1-$))*-#ppt_x-sin(-2*pi*(1-$))*(1-#ppt_y))*(1-$)">
                                          <p:val>
                                            <p:fltVal val="0"/>
                                          </p:val>
                                        </p:tav>
                                        <p:tav tm="100000">
                                          <p:val>
                                            <p:fltVal val="1"/>
                                          </p:val>
                                        </p:tav>
                                      </p:tavLst>
                                    </p:anim>
                                    <p:anim calcmode="lin" valueType="num">
                                      <p:cBhvr>
                                        <p:cTn id="18" dur="500" fill="hold"/>
                                        <p:tgtEl>
                                          <p:spTgt spid="21"/>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5"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anim calcmode="lin" valueType="num">
                                      <p:cBhvr>
                                        <p:cTn id="23" dur="500" fill="hold"/>
                                        <p:tgtEl>
                                          <p:spTgt spid="22"/>
                                        </p:tgtEl>
                                        <p:attrNameLst>
                                          <p:attrName>ppt_w</p:attrName>
                                        </p:attrNameLst>
                                      </p:cBhvr>
                                      <p:tavLst>
                                        <p:tav tm="0">
                                          <p:val>
                                            <p:fltVal val="0"/>
                                          </p:val>
                                        </p:tav>
                                        <p:tav tm="100000">
                                          <p:val>
                                            <p:strVal val="#ppt_w"/>
                                          </p:val>
                                        </p:tav>
                                      </p:tavLst>
                                    </p:anim>
                                    <p:anim calcmode="lin" valueType="num">
                                      <p:cBhvr>
                                        <p:cTn id="24" dur="500" fill="hold"/>
                                        <p:tgtEl>
                                          <p:spTgt spid="22"/>
                                        </p:tgtEl>
                                        <p:attrNameLst>
                                          <p:attrName>ppt_h</p:attrName>
                                        </p:attrNameLst>
                                      </p:cBhvr>
                                      <p:tavLst>
                                        <p:tav tm="0">
                                          <p:val>
                                            <p:fltVal val="0"/>
                                          </p:val>
                                        </p:tav>
                                        <p:tav tm="100000">
                                          <p:val>
                                            <p:strVal val="#ppt_h"/>
                                          </p:val>
                                        </p:tav>
                                      </p:tavLst>
                                    </p:anim>
                                    <p:anim calcmode="lin" valueType="num">
                                      <p:cBhvr>
                                        <p:cTn id="25" dur="500" fill="hold"/>
                                        <p:tgtEl>
                                          <p:spTgt spid="22"/>
                                        </p:tgtEl>
                                        <p:attrNameLst>
                                          <p:attrName>ppt_x</p:attrName>
                                        </p:attrNameLst>
                                      </p:cBhvr>
                                      <p:tavLst>
                                        <p:tav tm="0" fmla="#ppt_x+(cos(-2*pi*(1-$))*-#ppt_x-sin(-2*pi*(1-$))*(1-#ppt_y))*(1-$)">
                                          <p:val>
                                            <p:fltVal val="0"/>
                                          </p:val>
                                        </p:tav>
                                        <p:tav tm="100000">
                                          <p:val>
                                            <p:fltVal val="1"/>
                                          </p:val>
                                        </p:tav>
                                      </p:tavLst>
                                    </p:anim>
                                    <p:anim calcmode="lin" valueType="num">
                                      <p:cBhvr>
                                        <p:cTn id="26" dur="500" fill="hold"/>
                                        <p:tgtEl>
                                          <p:spTgt spid="2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0" presetClass="entr" presetSubtype="0"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fade">
                                      <p:cBhvr>
                                        <p:cTn id="31"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3" name="Rectangle 2"/>
          <p:cNvSpPr>
            <a:spLocks noGrp="1" noChangeArrowheads="1"/>
          </p:cNvSpPr>
          <p:nvPr>
            <p:ph type="title"/>
          </p:nvPr>
        </p:nvSpPr>
        <p:spPr>
          <a:xfrm>
            <a:off x="174625" y="153988"/>
            <a:ext cx="8371846" cy="777240"/>
          </a:xfrm>
        </p:spPr>
        <p:txBody>
          <a:bodyPr/>
          <a:lstStyle/>
          <a:p>
            <a:pPr eaLnBrk="1" hangingPunct="1">
              <a:lnSpc>
                <a:spcPct val="90000"/>
              </a:lnSpc>
            </a:pPr>
            <a:r>
              <a:rPr lang="en-US" altLang="en-US" dirty="0">
                <a:ea typeface="ＭＳ Ｐゴシック" pitchFamily="34" charset="-128"/>
              </a:rPr>
              <a:t>Another Example of Binomial Probability</a:t>
            </a:r>
            <a:endParaRPr lang="en-US" altLang="en-US" sz="2400" dirty="0">
              <a:solidFill>
                <a:srgbClr val="33CCFF"/>
              </a:solidFill>
              <a:ea typeface="ＭＳ Ｐゴシック" pitchFamily="34" charset="-128"/>
            </a:endParaRPr>
          </a:p>
        </p:txBody>
      </p:sp>
      <p:sp>
        <p:nvSpPr>
          <p:cNvPr id="5632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56A0275F-3FCD-456C-9F7C-A9E92B69895F}" type="slidenum">
              <a:rPr lang="en-US" altLang="en-US" sz="1200">
                <a:solidFill>
                  <a:schemeClr val="accent1"/>
                </a:solidFill>
              </a:rPr>
              <a:pPr>
                <a:lnSpc>
                  <a:spcPct val="80000"/>
                </a:lnSpc>
              </a:pPr>
              <a:t>26</a:t>
            </a:fld>
            <a:endParaRPr lang="en-US" altLang="en-US" sz="1200">
              <a:solidFill>
                <a:schemeClr val="accent1"/>
              </a:solidFill>
            </a:endParaRPr>
          </a:p>
        </p:txBody>
      </p:sp>
      <p:pic>
        <p:nvPicPr>
          <p:cNvPr id="2" name="Picture 1" descr="The animations illustrate an example to estimate the probability that out of a random sample of 2500 adults, 1520 or more of the sample agree that &quot;I like buying new clothes, but shopping is often frustrating and time-consuming.&quot;&#10;The animations discuss three points, as follow:&#10;1) X is approximately a binomial random variable, wherein n equals 2500 trials of the chance process, probability of selecting an adult who agrees is p equals 0.60.&#10;2) Conditions for using a Normal approximation are true, wherein n times p equals 1500, and n times 1 minus p equals 1000.&#10;3) Probability of X greater than equals 1520 is calculated as 0.2061 using a Normal approximation, wherein n times p equals 1500, and standard deviation equals 24.49.&#10;Z value is calculated, which is equal to 0.82. Lastly, Probability of X greater than equals 1520 is calculated as Probability of Z greater than equals 0.82, which is 1 minus 0.7939, equals to 0.2061.&#10;" hidden="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725" y="402432"/>
            <a:ext cx="638175" cy="276225"/>
          </a:xfrm>
          <a:prstGeom prst="rect">
            <a:avLst/>
          </a:prstGeom>
        </p:spPr>
      </p:pic>
      <p:pic>
        <p:nvPicPr>
          <p:cNvPr id="3" name="Picture 2" descr="To skip animation steps, move to the next slide." hidden="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2996" y="413320"/>
            <a:ext cx="638175" cy="276225"/>
          </a:xfrm>
          <a:prstGeom prst="rect">
            <a:avLst/>
          </a:prstGeom>
        </p:spPr>
      </p:pic>
      <p:sp>
        <p:nvSpPr>
          <p:cNvPr id="56324" name="Rectangle 1"/>
          <p:cNvSpPr>
            <a:spLocks noChangeArrowheads="1"/>
          </p:cNvSpPr>
          <p:nvPr/>
        </p:nvSpPr>
        <p:spPr bwMode="auto">
          <a:xfrm>
            <a:off x="204272" y="897067"/>
            <a:ext cx="8626475"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Font typeface="Wingdings" pitchFamily="2" charset="2"/>
              <a:buNone/>
            </a:pPr>
            <a:r>
              <a:rPr lang="en-US" altLang="en-US" sz="1600" dirty="0">
                <a:solidFill>
                  <a:srgbClr val="000000"/>
                </a:solidFill>
              </a:rPr>
              <a:t>Sample surveys show that fewer people enjoy shopping than in the past. A survey asked a nationwide random sample of 2500 adults if they agreed or disagreed that </a:t>
            </a:r>
            <a:r>
              <a:rPr lang="ja-JP" altLang="en-US" sz="1600" dirty="0">
                <a:solidFill>
                  <a:srgbClr val="000000"/>
                </a:solidFill>
              </a:rPr>
              <a:t>“</a:t>
            </a:r>
            <a:r>
              <a:rPr lang="en-US" altLang="ja-JP" sz="1600" dirty="0">
                <a:solidFill>
                  <a:srgbClr val="000000"/>
                </a:solidFill>
              </a:rPr>
              <a:t>I like buying new clothes, but shopping is often frustrating and time-consuming.</a:t>
            </a:r>
            <a:r>
              <a:rPr lang="ja-JP" altLang="en-US" sz="1600" dirty="0">
                <a:solidFill>
                  <a:srgbClr val="000000"/>
                </a:solidFill>
              </a:rPr>
              <a:t>”</a:t>
            </a:r>
            <a:r>
              <a:rPr lang="en-US" altLang="ja-JP" sz="1600" dirty="0">
                <a:solidFill>
                  <a:srgbClr val="000000"/>
                </a:solidFill>
              </a:rPr>
              <a:t> Suppose that exactly 60% of the 2500 adults would say </a:t>
            </a:r>
            <a:r>
              <a:rPr lang="ja-JP" altLang="en-US" sz="1600" dirty="0">
                <a:solidFill>
                  <a:srgbClr val="000000"/>
                </a:solidFill>
              </a:rPr>
              <a:t>“</a:t>
            </a:r>
            <a:r>
              <a:rPr lang="en-US" altLang="ja-JP" sz="1600" dirty="0">
                <a:solidFill>
                  <a:srgbClr val="000000"/>
                </a:solidFill>
              </a:rPr>
              <a:t>agree</a:t>
            </a:r>
            <a:r>
              <a:rPr lang="ja-JP" altLang="en-US" sz="1600" dirty="0">
                <a:solidFill>
                  <a:srgbClr val="000000"/>
                </a:solidFill>
              </a:rPr>
              <a:t>”</a:t>
            </a:r>
            <a:r>
              <a:rPr lang="en-US" altLang="ja-JP" sz="1600" dirty="0">
                <a:solidFill>
                  <a:srgbClr val="000000"/>
                </a:solidFill>
              </a:rPr>
              <a:t> if asked the same question. Let </a:t>
            </a:r>
            <a:r>
              <a:rPr lang="en-US" altLang="ja-JP" sz="1600" i="1" dirty="0">
                <a:solidFill>
                  <a:srgbClr val="000000"/>
                </a:solidFill>
              </a:rPr>
              <a:t>X</a:t>
            </a:r>
            <a:r>
              <a:rPr lang="en-US" altLang="ja-JP" sz="1600" dirty="0">
                <a:solidFill>
                  <a:srgbClr val="000000"/>
                </a:solidFill>
              </a:rPr>
              <a:t> be the number in the sample who agree. </a:t>
            </a:r>
            <a:r>
              <a:rPr lang="en-US" altLang="ja-JP" sz="1600" b="1" dirty="0">
                <a:solidFill>
                  <a:srgbClr val="000000"/>
                </a:solidFill>
              </a:rPr>
              <a:t>Give the probability that there are 1520 or more of the 2500 adults say “agree”.</a:t>
            </a:r>
            <a:endParaRPr lang="en-US" altLang="en-US" sz="1600" dirty="0">
              <a:solidFill>
                <a:srgbClr val="000000"/>
              </a:solidFill>
            </a:endParaRPr>
          </a:p>
        </p:txBody>
      </p:sp>
      <p:sp>
        <p:nvSpPr>
          <p:cNvPr id="56325" name="TextBox 11"/>
          <p:cNvSpPr txBox="1">
            <a:spLocks noChangeArrowheads="1"/>
          </p:cNvSpPr>
          <p:nvPr/>
        </p:nvSpPr>
        <p:spPr bwMode="auto">
          <a:xfrm>
            <a:off x="357188" y="2380006"/>
            <a:ext cx="661193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sz="1600" b="1" dirty="0">
                <a:solidFill>
                  <a:schemeClr val="tx1"/>
                </a:solidFill>
              </a:rPr>
              <a:t>1) Justify that it is a binomial setting.</a:t>
            </a:r>
          </a:p>
        </p:txBody>
      </p:sp>
      <p:sp>
        <p:nvSpPr>
          <p:cNvPr id="25" name="TextBox 16"/>
          <p:cNvSpPr txBox="1">
            <a:spLocks noChangeArrowheads="1"/>
          </p:cNvSpPr>
          <p:nvPr/>
        </p:nvSpPr>
        <p:spPr bwMode="auto">
          <a:xfrm>
            <a:off x="620713" y="2700037"/>
            <a:ext cx="8291512" cy="116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sz="1400" b="1" dirty="0">
                <a:solidFill>
                  <a:schemeClr val="tx1"/>
                </a:solidFill>
              </a:rPr>
              <a:t>B:</a:t>
            </a:r>
            <a:r>
              <a:rPr lang="en-US" altLang="en-US" sz="1400" dirty="0">
                <a:solidFill>
                  <a:schemeClr val="tx1"/>
                </a:solidFill>
              </a:rPr>
              <a:t> Success = agree; Failure = do not </a:t>
            </a:r>
            <a:r>
              <a:rPr lang="en-US" altLang="ja-JP" sz="1400" dirty="0">
                <a:solidFill>
                  <a:schemeClr val="tx1"/>
                </a:solidFill>
              </a:rPr>
              <a:t>agree</a:t>
            </a:r>
          </a:p>
          <a:p>
            <a:pPr eaLnBrk="1" hangingPunct="1"/>
            <a:r>
              <a:rPr lang="en-US" altLang="en-US" sz="1400" b="1" dirty="0">
                <a:solidFill>
                  <a:schemeClr val="tx1"/>
                </a:solidFill>
              </a:rPr>
              <a:t>I:</a:t>
            </a:r>
            <a:r>
              <a:rPr lang="en-US" altLang="en-US" sz="1400" dirty="0">
                <a:solidFill>
                  <a:schemeClr val="tx1"/>
                </a:solidFill>
              </a:rPr>
              <a:t> Because the population of U.S. adults is over one hundred million, it is reasonable to assume that the 2500 trials are independent of each other.  </a:t>
            </a:r>
          </a:p>
          <a:p>
            <a:pPr eaLnBrk="1" hangingPunct="1"/>
            <a:r>
              <a:rPr lang="en-US" altLang="en-US" sz="1400" b="1" dirty="0">
                <a:solidFill>
                  <a:schemeClr val="tx1"/>
                </a:solidFill>
              </a:rPr>
              <a:t>N:</a:t>
            </a:r>
            <a:r>
              <a:rPr lang="en-US" altLang="en-US" sz="1400" dirty="0">
                <a:solidFill>
                  <a:schemeClr val="tx1"/>
                </a:solidFill>
              </a:rPr>
              <a:t> </a:t>
            </a:r>
            <a:r>
              <a:rPr lang="en-US" altLang="en-US" sz="1400" i="1" dirty="0">
                <a:solidFill>
                  <a:schemeClr val="tx1"/>
                </a:solidFill>
              </a:rPr>
              <a:t>n</a:t>
            </a:r>
            <a:r>
              <a:rPr lang="en-US" altLang="en-US" sz="1400" dirty="0">
                <a:solidFill>
                  <a:schemeClr val="tx1"/>
                </a:solidFill>
              </a:rPr>
              <a:t> = 2500 is fixed.</a:t>
            </a:r>
          </a:p>
          <a:p>
            <a:pPr eaLnBrk="1" hangingPunct="1"/>
            <a:r>
              <a:rPr lang="en-US" altLang="en-US" sz="1400" b="1" dirty="0">
                <a:solidFill>
                  <a:schemeClr val="tx1"/>
                </a:solidFill>
              </a:rPr>
              <a:t>S:</a:t>
            </a:r>
            <a:r>
              <a:rPr lang="en-US" altLang="en-US" sz="1400" dirty="0">
                <a:solidFill>
                  <a:schemeClr val="tx1"/>
                </a:solidFill>
              </a:rPr>
              <a:t> The probability of selecting an adult who agrees is </a:t>
            </a:r>
            <a:r>
              <a:rPr lang="en-US" altLang="en-US" sz="1400" i="1" dirty="0">
                <a:solidFill>
                  <a:schemeClr val="tx1"/>
                </a:solidFill>
              </a:rPr>
              <a:t>p</a:t>
            </a:r>
            <a:r>
              <a:rPr lang="en-US" altLang="en-US" sz="1400" dirty="0">
                <a:solidFill>
                  <a:schemeClr val="tx1"/>
                </a:solidFill>
              </a:rPr>
              <a:t> = 0.60.</a:t>
            </a:r>
          </a:p>
        </p:txBody>
      </p:sp>
      <p:sp>
        <p:nvSpPr>
          <p:cNvPr id="24" name="TextBox 11"/>
          <p:cNvSpPr txBox="1">
            <a:spLocks noChangeArrowheads="1"/>
          </p:cNvSpPr>
          <p:nvPr/>
        </p:nvSpPr>
        <p:spPr bwMode="auto">
          <a:xfrm>
            <a:off x="357188" y="3865563"/>
            <a:ext cx="58959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sz="1600" b="1" dirty="0">
                <a:solidFill>
                  <a:schemeClr val="tx1"/>
                </a:solidFill>
              </a:rPr>
              <a:t>2) Check the conditions for using a normal approximation.</a:t>
            </a:r>
          </a:p>
        </p:txBody>
      </p:sp>
      <p:sp>
        <p:nvSpPr>
          <p:cNvPr id="26" name="TextBox 16"/>
          <p:cNvSpPr txBox="1">
            <a:spLocks noChangeArrowheads="1"/>
          </p:cNvSpPr>
          <p:nvPr/>
        </p:nvSpPr>
        <p:spPr bwMode="auto">
          <a:xfrm>
            <a:off x="620713" y="4152900"/>
            <a:ext cx="80454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sz="1400" dirty="0">
                <a:solidFill>
                  <a:schemeClr val="tx1"/>
                </a:solidFill>
              </a:rPr>
              <a:t>Because </a:t>
            </a:r>
            <a:r>
              <a:rPr lang="en-US" altLang="en-US" sz="1400" i="1" dirty="0">
                <a:solidFill>
                  <a:schemeClr val="tx1"/>
                </a:solidFill>
              </a:rPr>
              <a:t>np</a:t>
            </a:r>
            <a:r>
              <a:rPr lang="en-US" altLang="en-US" sz="1400" dirty="0">
                <a:solidFill>
                  <a:schemeClr val="tx1"/>
                </a:solidFill>
              </a:rPr>
              <a:t> = 2500(0.60) = 1500 and </a:t>
            </a:r>
            <a:r>
              <a:rPr lang="en-US" altLang="en-US" sz="1400" i="1" dirty="0">
                <a:solidFill>
                  <a:schemeClr val="tx1"/>
                </a:solidFill>
              </a:rPr>
              <a:t>n</a:t>
            </a:r>
            <a:r>
              <a:rPr lang="en-US" altLang="en-US" sz="1400" dirty="0">
                <a:solidFill>
                  <a:schemeClr val="tx1"/>
                </a:solidFill>
              </a:rPr>
              <a:t>(1 – </a:t>
            </a:r>
            <a:r>
              <a:rPr lang="en-US" altLang="en-US" sz="1400" i="1" dirty="0">
                <a:solidFill>
                  <a:schemeClr val="tx1"/>
                </a:solidFill>
              </a:rPr>
              <a:t>p</a:t>
            </a:r>
            <a:r>
              <a:rPr lang="en-US" altLang="en-US" sz="1400" dirty="0">
                <a:solidFill>
                  <a:schemeClr val="tx1"/>
                </a:solidFill>
              </a:rPr>
              <a:t>) = 2500(0.40) = 1000 are both at least 10, we may use the normal approximation.</a:t>
            </a:r>
          </a:p>
        </p:txBody>
      </p:sp>
      <p:sp>
        <p:nvSpPr>
          <p:cNvPr id="27" name="TextBox 26"/>
          <p:cNvSpPr txBox="1">
            <a:spLocks noChangeArrowheads="1"/>
          </p:cNvSpPr>
          <p:nvPr/>
        </p:nvSpPr>
        <p:spPr bwMode="auto">
          <a:xfrm>
            <a:off x="342900" y="4706938"/>
            <a:ext cx="527259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sz="1600" b="1" dirty="0">
                <a:solidFill>
                  <a:schemeClr val="tx1"/>
                </a:solidFill>
              </a:rPr>
              <a:t>3) Calculate </a:t>
            </a:r>
            <a:r>
              <a:rPr lang="en-US" altLang="en-US" sz="1600" b="1" i="1" dirty="0">
                <a:solidFill>
                  <a:schemeClr val="tx1"/>
                </a:solidFill>
              </a:rPr>
              <a:t>P</a:t>
            </a:r>
            <a:r>
              <a:rPr lang="en-US" altLang="en-US" sz="1600" b="1" dirty="0">
                <a:solidFill>
                  <a:schemeClr val="tx1"/>
                </a:solidFill>
              </a:rPr>
              <a:t>(</a:t>
            </a:r>
            <a:r>
              <a:rPr lang="en-US" altLang="en-US" sz="1600" b="1" i="1" dirty="0">
                <a:solidFill>
                  <a:schemeClr val="tx1"/>
                </a:solidFill>
              </a:rPr>
              <a:t>X</a:t>
            </a:r>
            <a:r>
              <a:rPr lang="en-US" altLang="en-US" sz="1600" b="1" dirty="0">
                <a:solidFill>
                  <a:schemeClr val="tx1"/>
                </a:solidFill>
              </a:rPr>
              <a:t> ≥ 1520) accurately or approximately.</a:t>
            </a:r>
          </a:p>
        </p:txBody>
      </p:sp>
      <p:sp>
        <p:nvSpPr>
          <p:cNvPr id="4" name="TextBox 3">
            <a:extLst>
              <a:ext uri="{FF2B5EF4-FFF2-40B4-BE49-F238E27FC236}">
                <a16:creationId xmlns:a16="http://schemas.microsoft.com/office/drawing/2014/main" id="{7589CAA4-328E-2C8A-4B6E-07D36DEF4E01}"/>
              </a:ext>
            </a:extLst>
          </p:cNvPr>
          <p:cNvSpPr txBox="1">
            <a:spLocks noChangeArrowheads="1"/>
          </p:cNvSpPr>
          <p:nvPr/>
        </p:nvSpPr>
        <p:spPr bwMode="auto">
          <a:xfrm>
            <a:off x="620713" y="5180013"/>
            <a:ext cx="3254170" cy="1292662"/>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1200"/>
              </a:spcAft>
              <a:buClrTx/>
              <a:buSzTx/>
              <a:buFontTx/>
              <a:buNone/>
              <a:defRPr/>
            </a:pPr>
            <a:r>
              <a:rPr lang="en-US" altLang="en-US" sz="1200" dirty="0">
                <a:solidFill>
                  <a:srgbClr val="000000"/>
                </a:solidFill>
              </a:rPr>
              <a:t>data binomial;</a:t>
            </a:r>
          </a:p>
          <a:p>
            <a:pPr eaLnBrk="1" hangingPunct="1">
              <a:spcBef>
                <a:spcPct val="0"/>
              </a:spcBef>
              <a:spcAft>
                <a:spcPts val="1200"/>
              </a:spcAft>
              <a:buClrTx/>
              <a:buSzTx/>
              <a:buFontTx/>
              <a:buNone/>
              <a:defRPr/>
            </a:pPr>
            <a:r>
              <a:rPr lang="en-US" altLang="en-US" sz="1200" dirty="0">
                <a:solidFill>
                  <a:srgbClr val="000000"/>
                </a:solidFill>
              </a:rPr>
              <a:t>    prob = 1-cdf('BINOMIAL', 1519, 0.6, 2500);</a:t>
            </a:r>
          </a:p>
          <a:p>
            <a:pPr eaLnBrk="1" hangingPunct="1">
              <a:spcBef>
                <a:spcPct val="0"/>
              </a:spcBef>
              <a:spcAft>
                <a:spcPts val="1200"/>
              </a:spcAft>
              <a:buClrTx/>
              <a:buSzTx/>
              <a:buFontTx/>
              <a:buNone/>
              <a:defRPr/>
            </a:pPr>
            <a:r>
              <a:rPr lang="en-US" altLang="en-US" sz="1200" dirty="0">
                <a:solidFill>
                  <a:srgbClr val="000000"/>
                </a:solidFill>
              </a:rPr>
              <a:t>    proc print;</a:t>
            </a:r>
          </a:p>
          <a:p>
            <a:pPr eaLnBrk="1" hangingPunct="1">
              <a:spcBef>
                <a:spcPct val="0"/>
              </a:spcBef>
              <a:spcAft>
                <a:spcPts val="1200"/>
              </a:spcAft>
              <a:buClrTx/>
              <a:buSzTx/>
              <a:buFontTx/>
              <a:buNone/>
              <a:defRPr/>
            </a:pPr>
            <a:r>
              <a:rPr lang="en-US" altLang="en-US" sz="1200" dirty="0">
                <a:solidFill>
                  <a:srgbClr val="000000"/>
                </a:solidFill>
              </a:rPr>
              <a:t>run;</a:t>
            </a:r>
          </a:p>
        </p:txBody>
      </p:sp>
      <p:sp>
        <p:nvSpPr>
          <p:cNvPr id="7" name="TextBox 6">
            <a:extLst>
              <a:ext uri="{FF2B5EF4-FFF2-40B4-BE49-F238E27FC236}">
                <a16:creationId xmlns:a16="http://schemas.microsoft.com/office/drawing/2014/main" id="{470D0B91-89EC-7F8F-B35B-A46F30A193F9}"/>
              </a:ext>
            </a:extLst>
          </p:cNvPr>
          <p:cNvSpPr txBox="1">
            <a:spLocks noChangeArrowheads="1"/>
          </p:cNvSpPr>
          <p:nvPr/>
        </p:nvSpPr>
        <p:spPr bwMode="auto">
          <a:xfrm>
            <a:off x="3945689" y="5180013"/>
            <a:ext cx="4720474" cy="1292662"/>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1200"/>
              </a:spcAft>
              <a:buClrTx/>
              <a:buSzTx/>
              <a:buFontTx/>
              <a:buNone/>
              <a:defRPr/>
            </a:pPr>
            <a:r>
              <a:rPr lang="en-US" altLang="en-US" sz="1200" dirty="0">
                <a:solidFill>
                  <a:srgbClr val="000000"/>
                </a:solidFill>
              </a:rPr>
              <a:t>data normal;</a:t>
            </a:r>
          </a:p>
          <a:p>
            <a:pPr eaLnBrk="1" hangingPunct="1">
              <a:spcBef>
                <a:spcPct val="0"/>
              </a:spcBef>
              <a:spcAft>
                <a:spcPts val="1200"/>
              </a:spcAft>
              <a:buClrTx/>
              <a:buSzTx/>
              <a:buFontTx/>
              <a:buNone/>
              <a:defRPr/>
            </a:pPr>
            <a:r>
              <a:rPr lang="en-US" altLang="en-US" sz="1200" dirty="0">
                <a:solidFill>
                  <a:srgbClr val="000000"/>
                </a:solidFill>
              </a:rPr>
              <a:t>    prob = 1-cdf('NORMAL', 1519, 2500*0.6, (2500*0.6*(1-0.6))**.5);</a:t>
            </a:r>
          </a:p>
          <a:p>
            <a:pPr eaLnBrk="1" hangingPunct="1">
              <a:spcBef>
                <a:spcPct val="0"/>
              </a:spcBef>
              <a:spcAft>
                <a:spcPts val="1200"/>
              </a:spcAft>
              <a:buClrTx/>
              <a:buSzTx/>
              <a:buFontTx/>
              <a:buNone/>
              <a:defRPr/>
            </a:pPr>
            <a:r>
              <a:rPr lang="en-US" altLang="en-US" sz="1200" dirty="0">
                <a:solidFill>
                  <a:srgbClr val="000000"/>
                </a:solidFill>
              </a:rPr>
              <a:t>    proc print;</a:t>
            </a:r>
          </a:p>
          <a:p>
            <a:pPr eaLnBrk="1" hangingPunct="1">
              <a:spcBef>
                <a:spcPct val="0"/>
              </a:spcBef>
              <a:spcAft>
                <a:spcPts val="1200"/>
              </a:spcAft>
              <a:buClrTx/>
              <a:buSzTx/>
              <a:buFontTx/>
              <a:buNone/>
              <a:defRPr/>
            </a:pPr>
            <a:r>
              <a:rPr lang="en-US" altLang="en-US" sz="1200" dirty="0">
                <a:solidFill>
                  <a:srgbClr val="000000"/>
                </a:solidFill>
              </a:rPr>
              <a:t>run;</a:t>
            </a:r>
          </a:p>
        </p:txBody>
      </p:sp>
    </p:spTree>
    <p:extLst>
      <p:ext uri="{BB962C8B-B14F-4D97-AF65-F5344CB8AC3E}">
        <p14:creationId xmlns:p14="http://schemas.microsoft.com/office/powerpoint/2010/main" val="276139565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1000"/>
                                        <p:tgtEl>
                                          <p:spTgt spid="25"/>
                                        </p:tgtEl>
                                      </p:cBhvr>
                                    </p:animEffect>
                                    <p:anim calcmode="lin" valueType="num">
                                      <p:cBhvr>
                                        <p:cTn id="8" dur="1000" fill="hold"/>
                                        <p:tgtEl>
                                          <p:spTgt spid="25"/>
                                        </p:tgtEl>
                                        <p:attrNameLst>
                                          <p:attrName>ppt_x</p:attrName>
                                        </p:attrNameLst>
                                      </p:cBhvr>
                                      <p:tavLst>
                                        <p:tav tm="0">
                                          <p:val>
                                            <p:strVal val="#ppt_x"/>
                                          </p:val>
                                        </p:tav>
                                        <p:tav tm="100000">
                                          <p:val>
                                            <p:strVal val="#ppt_x"/>
                                          </p:val>
                                        </p:tav>
                                      </p:tavLst>
                                    </p:anim>
                                    <p:anim calcmode="lin" valueType="num">
                                      <p:cBhvr>
                                        <p:cTn id="9" dur="1000" fill="hold"/>
                                        <p:tgtEl>
                                          <p:spTgt spid="25"/>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1000"/>
                            </p:stCondLst>
                            <p:childTnLst>
                              <p:par>
                                <p:cTn id="11" presetID="10" presetClass="entr" presetSubtype="0" fill="hold" grpId="0" nodeType="after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1000"/>
                                        <p:tgtEl>
                                          <p:spTgt spid="2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fade">
                                      <p:cBhvr>
                                        <p:cTn id="18" dur="1000"/>
                                        <p:tgtEl>
                                          <p:spTgt spid="26"/>
                                        </p:tgtEl>
                                      </p:cBhvr>
                                    </p:animEffect>
                                  </p:childTnLst>
                                </p:cTn>
                              </p:par>
                            </p:childTnLst>
                          </p:cTn>
                        </p:par>
                        <p:par>
                          <p:cTn id="19" fill="hold" nodeType="afterGroup">
                            <p:stCondLst>
                              <p:cond delay="1000"/>
                            </p:stCondLst>
                            <p:childTnLst>
                              <p:par>
                                <p:cTn id="20" presetID="10" presetClass="entr" presetSubtype="0" fill="hold" grpId="0" nodeType="after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0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4" grpId="0"/>
      <p:bldP spid="26" grpId="0"/>
      <p:bldP spid="27" grpId="0"/>
      <p:bldP spid="4" grpId="0" animBg="1"/>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7" name="Rectangle 2"/>
          <p:cNvSpPr>
            <a:spLocks noGrp="1" noChangeArrowheads="1"/>
          </p:cNvSpPr>
          <p:nvPr>
            <p:ph type="title"/>
          </p:nvPr>
        </p:nvSpPr>
        <p:spPr>
          <a:xfrm>
            <a:off x="174625" y="153988"/>
            <a:ext cx="7772400" cy="1143000"/>
          </a:xfrm>
        </p:spPr>
        <p:txBody>
          <a:bodyPr/>
          <a:lstStyle/>
          <a:p>
            <a:pPr eaLnBrk="1" hangingPunct="1"/>
            <a:r>
              <a:rPr lang="en-US" altLang="en-US" dirty="0">
                <a:ea typeface="ＭＳ Ｐゴシック" pitchFamily="34" charset="-128"/>
              </a:rPr>
              <a:t>Sampling Distribution of the Sample Proportion </a:t>
            </a:r>
            <a:r>
              <a:rPr lang="en-US" altLang="zh-CN" dirty="0">
                <a:ea typeface="ＭＳ Ｐゴシック" pitchFamily="34" charset="-128"/>
              </a:rPr>
              <a:t>of an</a:t>
            </a:r>
            <a:r>
              <a:rPr lang="zh-CN" altLang="en-US" dirty="0">
                <a:ea typeface="ＭＳ Ｐゴシック" pitchFamily="34" charset="-128"/>
              </a:rPr>
              <a:t> </a:t>
            </a:r>
            <a:r>
              <a:rPr lang="en-US" altLang="zh-CN" dirty="0">
                <a:ea typeface="ＭＳ Ｐゴシック" pitchFamily="34" charset="-128"/>
              </a:rPr>
              <a:t>SRS</a:t>
            </a:r>
            <a:endParaRPr lang="en-US" altLang="en-US" dirty="0">
              <a:ea typeface="ＭＳ Ｐゴシック" pitchFamily="34" charset="-128"/>
            </a:endParaRPr>
          </a:p>
        </p:txBody>
      </p:sp>
      <p:sp>
        <p:nvSpPr>
          <p:cNvPr id="5734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E52E07D9-06EB-445B-8725-760BFE5F1754}" type="slidenum">
              <a:rPr lang="en-US" altLang="en-US" sz="1200">
                <a:solidFill>
                  <a:schemeClr val="accent1"/>
                </a:solidFill>
              </a:rPr>
              <a:pPr>
                <a:lnSpc>
                  <a:spcPct val="80000"/>
                </a:lnSpc>
              </a:pPr>
              <a:t>27</a:t>
            </a:fld>
            <a:endParaRPr lang="en-US" altLang="en-US" sz="1200">
              <a:solidFill>
                <a:schemeClr val="accent1"/>
              </a:solidFill>
            </a:endParaRPr>
          </a:p>
        </p:txBody>
      </p:sp>
      <p:pic>
        <p:nvPicPr>
          <p:cNvPr id="2" name="Picture 1" descr="The animation illustrates through a graph the sample proportion &quot;p hat,&quot; standard deviation and mean of the sampling distribution.&#10;The population proportion &quot;p&quot; of successes depicts many Simple Random Samples (SRS) from a population. The population distribution curve with horizontal axis labeled &quot;values of sample proportion p hat.&quot; The mid of the curve on the x-axis shows the mean value 'p,' and standard deviation of the sampling distribution equals &quot;whole square root of p times 1 minus p, divide by n.&quot;" hidden="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28356" y="767455"/>
            <a:ext cx="638175" cy="276225"/>
          </a:xfrm>
          <a:prstGeom prst="rect">
            <a:avLst/>
          </a:prstGeom>
        </p:spPr>
      </p:pic>
      <p:pic>
        <p:nvPicPr>
          <p:cNvPr id="3" name="Picture 2" descr="To skip animation steps, move to the next slide." hidden="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5206" y="721424"/>
            <a:ext cx="638175" cy="276225"/>
          </a:xfrm>
          <a:prstGeom prst="rect">
            <a:avLst/>
          </a:prstGeom>
        </p:spPr>
      </p:pic>
      <mc:AlternateContent xmlns:mc="http://schemas.openxmlformats.org/markup-compatibility/2006" xmlns:a14="http://schemas.microsoft.com/office/drawing/2010/main">
        <mc:Choice Requires="a14">
          <p:sp>
            <p:nvSpPr>
              <p:cNvPr id="4" name="TextBox 3"/>
              <p:cNvSpPr txBox="1"/>
              <p:nvPr/>
            </p:nvSpPr>
            <p:spPr>
              <a:xfrm>
                <a:off x="174625" y="1362566"/>
                <a:ext cx="8507648" cy="1496500"/>
              </a:xfrm>
              <a:prstGeom prst="rect">
                <a:avLst/>
              </a:prstGeom>
              <a:noFill/>
            </p:spPr>
            <p:txBody>
              <a:bodyPr wrap="square" rtlCol="0">
                <a:spAutoFit/>
              </a:bodyPr>
              <a:lstStyle/>
              <a:p>
                <a:r>
                  <a:rPr lang="en-US" dirty="0"/>
                  <a:t>There is an important connection between the </a:t>
                </a:r>
                <a:r>
                  <a:rPr lang="en-US" dirty="0">
                    <a:solidFill>
                      <a:srgbClr val="FF0000"/>
                    </a:solidFill>
                  </a:rPr>
                  <a:t>sample proportion </a:t>
                </a:r>
                <a:r>
                  <a:rPr lang="en-US" dirty="0"/>
                  <a:t>(denoted by </a:t>
                </a:r>
                <a14:m>
                  <m:oMath xmlns:m="http://schemas.openxmlformats.org/officeDocument/2006/math">
                    <m:acc>
                      <m:accPr>
                        <m:chr m:val="̂"/>
                        <m:ctrlPr>
                          <a:rPr lang="en-US" b="0" i="1" smtClean="0">
                            <a:latin typeface="Cambria Math"/>
                          </a:rPr>
                        </m:ctrlPr>
                      </m:accPr>
                      <m:e>
                        <m:r>
                          <a:rPr lang="en-US" b="0" i="1" smtClean="0">
                            <a:latin typeface="Cambria Math"/>
                          </a:rPr>
                          <m:t>𝑝</m:t>
                        </m:r>
                      </m:e>
                    </m:acc>
                  </m:oMath>
                </a14:m>
                <a:r>
                  <a:rPr lang="en-US" dirty="0"/>
                  <a:t>; a natural estimator of </a:t>
                </a:r>
                <a14:m>
                  <m:oMath xmlns:m="http://schemas.openxmlformats.org/officeDocument/2006/math">
                    <m:r>
                      <a:rPr lang="en-US" i="1" dirty="0" smtClean="0">
                        <a:latin typeface="Cambria Math" panose="02040503050406030204" pitchFamily="18" charset="0"/>
                      </a:rPr>
                      <m:t>𝑝</m:t>
                    </m:r>
                  </m:oMath>
                </a14:m>
                <a:r>
                  <a:rPr lang="en-US" dirty="0"/>
                  <a:t>) and the number of successes in the sample.</a:t>
                </a:r>
              </a:p>
              <a:p>
                <a:endParaRPr lang="en-US" dirty="0"/>
              </a:p>
              <a:p>
                <a:pPr algn="ctr"/>
                <a14:m>
                  <m:oMathPara xmlns:m="http://schemas.openxmlformats.org/officeDocument/2006/math">
                    <m:oMath>
                      <m:acc>
                        <m:accPr>
                          <m:chr m:val="̂"/>
                          <m:ctrlPr>
                            <a:rPr lang="en-US" b="0" i="1" smtClean="0">
                              <a:latin typeface="Cambria Math"/>
                            </a:rPr>
                          </m:ctrlPr>
                        </m:accPr>
                        <m:e>
                          <m:r>
                            <a:rPr lang="en-US" b="0" i="1" smtClean="0">
                              <a:latin typeface="Cambria Math"/>
                            </a:rPr>
                            <m:t>𝑝</m:t>
                          </m:r>
                        </m:e>
                      </m:acc>
                      <m:r>
                        <a:rPr lang="en-US" b="0" i="1" smtClean="0">
                          <a:latin typeface="Cambria Math"/>
                        </a:rPr>
                        <m:t>=</m:t>
                      </m:r>
                      <m:f>
                        <m:fPr>
                          <m:ctrlPr>
                            <a:rPr lang="en-US" b="0" i="0" smtClean="0">
                              <a:latin typeface="Cambria Math"/>
                            </a:rPr>
                          </m:ctrlPr>
                        </m:fPr>
                        <m:num>
                          <m:r>
                            <m:rPr>
                              <m:nor/>
                            </m:rPr>
                            <a:rPr lang="en-US" b="0" i="0" smtClean="0">
                              <a:latin typeface="Cambria Math"/>
                            </a:rPr>
                            <m:t>number of successes in sample</m:t>
                          </m:r>
                        </m:num>
                        <m:den>
                          <m:r>
                            <m:rPr>
                              <m:nor/>
                            </m:rPr>
                            <a:rPr lang="en-US" b="0" i="0" smtClean="0">
                              <a:latin typeface="Cambria Math"/>
                            </a:rPr>
                            <m:t>sample size</m:t>
                          </m:r>
                        </m:den>
                      </m:f>
                    </m:oMath>
                  </m:oMathPara>
                </a14:m>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174625" y="1362566"/>
                <a:ext cx="8507648" cy="1496500"/>
              </a:xfrm>
              <a:prstGeom prst="rect">
                <a:avLst/>
              </a:prstGeom>
              <a:blipFill>
                <a:blip r:embed="rId3"/>
                <a:stretch>
                  <a:fillRect l="-645" t="-2449" r="-430"/>
                </a:stretch>
              </a:blipFill>
            </p:spPr>
            <p:txBody>
              <a:bodyPr/>
              <a:lstStyle/>
              <a:p>
                <a:r>
                  <a:rPr lang="en-US">
                    <a:noFill/>
                  </a:rPr>
                  <a:t> </a:t>
                </a:r>
              </a:p>
            </p:txBody>
          </p:sp>
        </mc:Fallback>
      </mc:AlternateContent>
      <p:grpSp>
        <p:nvGrpSpPr>
          <p:cNvPr id="57355" name="Group 18" descr="already described"/>
          <p:cNvGrpSpPr>
            <a:grpSpLocks/>
          </p:cNvGrpSpPr>
          <p:nvPr/>
        </p:nvGrpSpPr>
        <p:grpSpPr bwMode="auto">
          <a:xfrm>
            <a:off x="593725" y="2960232"/>
            <a:ext cx="7953375" cy="3456683"/>
            <a:chOff x="-242149" y="4885842"/>
            <a:chExt cx="8422734" cy="3461261"/>
          </a:xfrm>
        </p:grpSpPr>
        <p:sp>
          <p:nvSpPr>
            <p:cNvPr id="24" name="TextBox 23"/>
            <p:cNvSpPr txBox="1">
              <a:spLocks noChangeArrowheads="1"/>
            </p:cNvSpPr>
            <p:nvPr/>
          </p:nvSpPr>
          <p:spPr bwMode="auto">
            <a:xfrm>
              <a:off x="781693" y="4885842"/>
              <a:ext cx="6497777" cy="338585"/>
            </a:xfrm>
            <a:prstGeom prst="rect">
              <a:avLst/>
            </a:prstGeom>
            <a:solidFill>
              <a:srgbClr val="D6DFE8"/>
            </a:solidFill>
            <a:ln w="10000">
              <a:solidFill>
                <a:schemeClr val="accent2"/>
              </a:solidFill>
              <a:miter lim="800000"/>
              <a:headEnd/>
              <a:tailEnd/>
            </a:ln>
            <a:effectLst>
              <a:outerShdw blurRad="38100" dist="30000" dir="5400000" rotWithShape="0">
                <a:srgbClr val="808080">
                  <a:alpha val="45000"/>
                </a:srgbClr>
              </a:outerShdw>
            </a:effectLst>
          </p:spPr>
          <p:txBody>
            <a:bodyPr>
              <a:spAutoFit/>
            </a:bodyPr>
            <a:lstStyle/>
            <a:p>
              <a:pPr algn="ctr" eaLnBrk="1" fontAlgn="auto" hangingPunct="1">
                <a:spcBef>
                  <a:spcPts val="0"/>
                </a:spcBef>
                <a:spcAft>
                  <a:spcPts val="0"/>
                </a:spcAft>
                <a:defRPr/>
              </a:pPr>
              <a:r>
                <a:rPr lang="en-US" sz="1600" b="1" dirty="0">
                  <a:solidFill>
                    <a:schemeClr val="dk1"/>
                  </a:solidFill>
                  <a:latin typeface="+mn-lt"/>
                  <a:ea typeface="+mn-ea"/>
                </a:rPr>
                <a:t>Sampling Distribution of a Sample Proportion</a:t>
              </a:r>
            </a:p>
          </p:txBody>
        </p:sp>
        <mc:AlternateContent xmlns:mc="http://schemas.openxmlformats.org/markup-compatibility/2006" xmlns:a14="http://schemas.microsoft.com/office/drawing/2010/main">
          <mc:Choice Requires="a14">
            <p:sp>
              <p:nvSpPr>
                <p:cNvPr id="23" name="TextBox 22"/>
                <p:cNvSpPr txBox="1">
                  <a:spLocks noChangeArrowheads="1"/>
                </p:cNvSpPr>
                <p:nvPr/>
              </p:nvSpPr>
              <p:spPr bwMode="auto">
                <a:xfrm>
                  <a:off x="-242149" y="5224427"/>
                  <a:ext cx="8422734" cy="3122676"/>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marL="342900" indent="-342900">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37931725" indent="-3747452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6858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9144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1600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0574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1200"/>
                    </a:spcAft>
                    <a:buClrTx/>
                    <a:buSzTx/>
                    <a:buFontTx/>
                    <a:buNone/>
                    <a:defRPr/>
                  </a:pPr>
                  <a:r>
                    <a:rPr lang="en-US" altLang="en-US" sz="1600" dirty="0">
                      <a:solidFill>
                        <a:srgbClr val="000000"/>
                      </a:solidFill>
                    </a:rPr>
                    <a:t>	Choose an SRS of size </a:t>
                  </a:r>
                  <a:r>
                    <a:rPr lang="en-US" altLang="en-US" sz="1600" i="1" dirty="0">
                      <a:solidFill>
                        <a:srgbClr val="000000"/>
                      </a:solidFill>
                    </a:rPr>
                    <a:t>n</a:t>
                  </a:r>
                  <a:r>
                    <a:rPr lang="en-US" altLang="en-US" sz="1600" dirty="0">
                      <a:solidFill>
                        <a:srgbClr val="000000"/>
                      </a:solidFill>
                    </a:rPr>
                    <a:t> from a population of size </a:t>
                  </a:r>
                  <a:r>
                    <a:rPr lang="en-US" altLang="en-US" sz="1600" i="1" dirty="0">
                      <a:solidFill>
                        <a:srgbClr val="000000"/>
                      </a:solidFill>
                    </a:rPr>
                    <a:t>N</a:t>
                  </a:r>
                  <a:r>
                    <a:rPr lang="en-US" altLang="en-US" sz="1600" dirty="0">
                      <a:solidFill>
                        <a:srgbClr val="000000"/>
                      </a:solidFill>
                    </a:rPr>
                    <a:t> with proportion </a:t>
                  </a:r>
                  <a:r>
                    <a:rPr lang="en-US" altLang="en-US" sz="1600" i="1" dirty="0">
                      <a:solidFill>
                        <a:srgbClr val="000000"/>
                      </a:solidFill>
                    </a:rPr>
                    <a:t>p</a:t>
                  </a:r>
                  <a:r>
                    <a:rPr lang="en-US" altLang="en-US" sz="1600" dirty="0">
                      <a:solidFill>
                        <a:srgbClr val="000000"/>
                      </a:solidFill>
                    </a:rPr>
                    <a:t> of successes. Let </a:t>
                  </a:r>
                  <a14:m>
                    <m:oMath xmlns:m="http://schemas.openxmlformats.org/officeDocument/2006/math">
                      <m:acc>
                        <m:accPr>
                          <m:chr m:val="̂"/>
                          <m:ctrlPr>
                            <a:rPr lang="en-US" altLang="en-US" sz="1600" b="0" i="1" smtClean="0">
                              <a:solidFill>
                                <a:srgbClr val="000000"/>
                              </a:solidFill>
                              <a:latin typeface="Cambria Math"/>
                            </a:rPr>
                          </m:ctrlPr>
                        </m:accPr>
                        <m:e>
                          <m:r>
                            <a:rPr lang="en-US" altLang="en-US" sz="1600" b="0" i="1" smtClean="0">
                              <a:solidFill>
                                <a:srgbClr val="000000"/>
                              </a:solidFill>
                              <a:latin typeface="Cambria Math"/>
                            </a:rPr>
                            <m:t>𝑝</m:t>
                          </m:r>
                        </m:e>
                      </m:acc>
                    </m:oMath>
                  </a14:m>
                  <a:r>
                    <a:rPr lang="en-US" altLang="en-US" sz="1600" dirty="0">
                      <a:solidFill>
                        <a:srgbClr val="000000"/>
                      </a:solidFill>
                    </a:rPr>
                    <a:t> be the sample proportion of successes. Then:</a:t>
                  </a:r>
                </a:p>
                <a:p>
                  <a:pPr eaLnBrk="1" hangingPunct="1">
                    <a:spcBef>
                      <a:spcPct val="0"/>
                    </a:spcBef>
                    <a:spcAft>
                      <a:spcPts val="1200"/>
                    </a:spcAft>
                    <a:buClrTx/>
                    <a:buSzTx/>
                    <a:buFontTx/>
                    <a:buNone/>
                    <a:defRPr/>
                  </a:pPr>
                  <a:r>
                    <a:rPr lang="en-US" altLang="en-US" sz="1600" dirty="0">
                      <a:solidFill>
                        <a:srgbClr val="000000"/>
                      </a:solidFill>
                    </a:rPr>
                    <a:t>	The </a:t>
                  </a:r>
                  <a:r>
                    <a:rPr lang="en-US" altLang="en-US" sz="1600" b="1" dirty="0">
                      <a:solidFill>
                        <a:srgbClr val="000000"/>
                      </a:solidFill>
                    </a:rPr>
                    <a:t>mean</a:t>
                  </a:r>
                  <a:r>
                    <a:rPr lang="en-US" altLang="en-US" sz="1600" dirty="0">
                      <a:solidFill>
                        <a:srgbClr val="000000"/>
                      </a:solidFill>
                    </a:rPr>
                    <a:t> of the sampling distribution is </a:t>
                  </a:r>
                  <a:r>
                    <a:rPr lang="en-US" altLang="en-US" sz="1600" i="1" dirty="0">
                      <a:solidFill>
                        <a:srgbClr val="000000"/>
                      </a:solidFill>
                    </a:rPr>
                    <a:t>p</a:t>
                  </a:r>
                  <a:r>
                    <a:rPr lang="en-US" altLang="en-US" sz="1600" dirty="0">
                      <a:solidFill>
                        <a:srgbClr val="000000"/>
                      </a:solidFill>
                    </a:rPr>
                    <a:t>.</a:t>
                  </a:r>
                </a:p>
                <a:p>
                  <a:pPr eaLnBrk="1" hangingPunct="1">
                    <a:spcBef>
                      <a:spcPct val="0"/>
                    </a:spcBef>
                    <a:spcAft>
                      <a:spcPts val="1200"/>
                    </a:spcAft>
                    <a:buClrTx/>
                    <a:buSzTx/>
                    <a:buFontTx/>
                    <a:buNone/>
                    <a:defRPr/>
                  </a:pPr>
                  <a:r>
                    <a:rPr lang="en-US" altLang="en-US" sz="1600" dirty="0">
                      <a:solidFill>
                        <a:srgbClr val="000000"/>
                      </a:solidFill>
                    </a:rPr>
                    <a:t>	The </a:t>
                  </a:r>
                  <a:r>
                    <a:rPr lang="en-US" altLang="en-US" sz="1600" b="1" dirty="0">
                      <a:solidFill>
                        <a:srgbClr val="000000"/>
                      </a:solidFill>
                    </a:rPr>
                    <a:t>standard deviation </a:t>
                  </a:r>
                  <a:r>
                    <a:rPr lang="en-US" altLang="en-US" sz="1600" dirty="0">
                      <a:solidFill>
                        <a:srgbClr val="000000"/>
                      </a:solidFill>
                    </a:rPr>
                    <a:t>of the sampling distribution is</a:t>
                  </a:r>
                </a:p>
                <a:p>
                  <a:pPr algn="ctr" eaLnBrk="1" hangingPunct="1">
                    <a:spcBef>
                      <a:spcPct val="0"/>
                    </a:spcBef>
                    <a:spcAft>
                      <a:spcPts val="1200"/>
                    </a:spcAft>
                    <a:buClrTx/>
                    <a:buSzTx/>
                    <a:buFontTx/>
                    <a:buNone/>
                    <a:defRPr/>
                  </a:pPr>
                  <a14:m>
                    <m:oMathPara xmlns:m="http://schemas.openxmlformats.org/officeDocument/2006/math">
                      <m:oMath>
                        <m:sSub>
                          <m:sSubPr>
                            <m:ctrlPr>
                              <a:rPr lang="en-US" altLang="en-US" sz="1600" i="1" smtClean="0">
                                <a:solidFill>
                                  <a:srgbClr val="000000"/>
                                </a:solidFill>
                                <a:latin typeface="Cambria Math"/>
                                <a:ea typeface="Cambria Math"/>
                              </a:rPr>
                            </m:ctrlPr>
                          </m:sSubPr>
                          <m:e>
                            <m:r>
                              <a:rPr lang="en-US" altLang="en-US" sz="1600" i="1" smtClean="0">
                                <a:solidFill>
                                  <a:srgbClr val="000000"/>
                                </a:solidFill>
                                <a:latin typeface="Cambria Math"/>
                                <a:ea typeface="Cambria Math"/>
                              </a:rPr>
                              <m:t>𝜎</m:t>
                            </m:r>
                          </m:e>
                          <m:sub>
                            <m:acc>
                              <m:accPr>
                                <m:chr m:val="̂"/>
                                <m:ctrlPr>
                                  <a:rPr lang="en-US" altLang="en-US" sz="1600" b="0" i="1" smtClean="0">
                                    <a:solidFill>
                                      <a:srgbClr val="000000"/>
                                    </a:solidFill>
                                    <a:latin typeface="Cambria Math"/>
                                  </a:rPr>
                                </m:ctrlPr>
                              </m:accPr>
                              <m:e>
                                <m:r>
                                  <a:rPr lang="en-US" altLang="en-US" sz="1600" b="0" i="1" smtClean="0">
                                    <a:solidFill>
                                      <a:srgbClr val="000000"/>
                                    </a:solidFill>
                                    <a:latin typeface="Cambria Math"/>
                                  </a:rPr>
                                  <m:t>𝑝</m:t>
                                </m:r>
                              </m:e>
                            </m:acc>
                          </m:sub>
                        </m:sSub>
                        <m:r>
                          <a:rPr lang="en-US" altLang="en-US" sz="1600" b="0" i="1" smtClean="0">
                            <a:solidFill>
                              <a:srgbClr val="000000"/>
                            </a:solidFill>
                            <a:latin typeface="Cambria Math"/>
                          </a:rPr>
                          <m:t>=</m:t>
                        </m:r>
                        <m:rad>
                          <m:radPr>
                            <m:degHide m:val="on"/>
                            <m:ctrlPr>
                              <a:rPr lang="en-US" altLang="en-US" sz="1600" b="0" i="1" smtClean="0">
                                <a:solidFill>
                                  <a:srgbClr val="000000"/>
                                </a:solidFill>
                                <a:latin typeface="Cambria Math" panose="02040503050406030204" pitchFamily="18" charset="0"/>
                              </a:rPr>
                            </m:ctrlPr>
                          </m:radPr>
                          <m:deg/>
                          <m:e>
                            <m:f>
                              <m:fPr>
                                <m:ctrlPr>
                                  <a:rPr lang="en-US" altLang="en-US" sz="1600" b="0" i="1" smtClean="0">
                                    <a:solidFill>
                                      <a:srgbClr val="000000"/>
                                    </a:solidFill>
                                    <a:latin typeface="Cambria Math"/>
                                  </a:rPr>
                                </m:ctrlPr>
                              </m:fPr>
                              <m:num>
                                <m:r>
                                  <a:rPr lang="en-US" altLang="en-US" sz="1600" b="0" i="1" smtClean="0">
                                    <a:solidFill>
                                      <a:srgbClr val="000000"/>
                                    </a:solidFill>
                                    <a:latin typeface="Cambria Math"/>
                                  </a:rPr>
                                  <m:t>𝑝</m:t>
                                </m:r>
                                <m:r>
                                  <a:rPr lang="en-US" altLang="en-US" sz="1600" b="0" i="1" smtClean="0">
                                    <a:solidFill>
                                      <a:srgbClr val="000000"/>
                                    </a:solidFill>
                                    <a:latin typeface="Cambria Math"/>
                                  </a:rPr>
                                  <m:t>(1−</m:t>
                                </m:r>
                                <m:r>
                                  <a:rPr lang="en-US" altLang="en-US" sz="1600" b="0" i="1" smtClean="0">
                                    <a:solidFill>
                                      <a:srgbClr val="000000"/>
                                    </a:solidFill>
                                    <a:latin typeface="Cambria Math"/>
                                  </a:rPr>
                                  <m:t>𝑝</m:t>
                                </m:r>
                                <m:r>
                                  <a:rPr lang="en-US" altLang="en-US" sz="1600" b="0" i="1" smtClean="0">
                                    <a:solidFill>
                                      <a:srgbClr val="000000"/>
                                    </a:solidFill>
                                    <a:latin typeface="Cambria Math"/>
                                  </a:rPr>
                                  <m:t>)</m:t>
                                </m:r>
                              </m:num>
                              <m:den>
                                <m:r>
                                  <a:rPr lang="en-US" altLang="en-US" sz="1600" b="0" i="1" smtClean="0">
                                    <a:solidFill>
                                      <a:srgbClr val="000000"/>
                                    </a:solidFill>
                                    <a:latin typeface="Cambria Math"/>
                                  </a:rPr>
                                  <m:t>𝑛</m:t>
                                </m:r>
                              </m:den>
                            </m:f>
                          </m:e>
                        </m:rad>
                      </m:oMath>
                    </m:oMathPara>
                  </a14:m>
                  <a:endParaRPr lang="en-US" altLang="en-US" sz="1600" i="1" dirty="0">
                    <a:solidFill>
                      <a:srgbClr val="000000"/>
                    </a:solidFill>
                  </a:endParaRPr>
                </a:p>
                <a:p>
                  <a:pPr eaLnBrk="1" hangingPunct="1">
                    <a:spcBef>
                      <a:spcPct val="0"/>
                    </a:spcBef>
                    <a:spcAft>
                      <a:spcPts val="1200"/>
                    </a:spcAft>
                    <a:buClrTx/>
                    <a:buSzTx/>
                    <a:buFontTx/>
                    <a:buNone/>
                    <a:defRPr/>
                  </a:pPr>
                  <a:r>
                    <a:rPr lang="en-US" altLang="en-US" sz="1600" i="1" dirty="0">
                      <a:solidFill>
                        <a:srgbClr val="000000"/>
                      </a:solidFill>
                    </a:rPr>
                    <a:t>	</a:t>
                  </a:r>
                  <a:r>
                    <a:rPr lang="en-US" altLang="en-US" sz="1600" dirty="0">
                      <a:solidFill>
                        <a:srgbClr val="000000"/>
                      </a:solidFill>
                    </a:rPr>
                    <a:t>For large n, </a:t>
                  </a:r>
                  <a14:m>
                    <m:oMath xmlns:m="http://schemas.openxmlformats.org/officeDocument/2006/math">
                      <m:acc>
                        <m:accPr>
                          <m:chr m:val="̂"/>
                          <m:ctrlPr>
                            <a:rPr lang="en-US" altLang="en-US" sz="1600" b="0" i="1" smtClean="0">
                              <a:solidFill>
                                <a:srgbClr val="000000"/>
                              </a:solidFill>
                              <a:latin typeface="Cambria Math"/>
                            </a:rPr>
                          </m:ctrlPr>
                        </m:accPr>
                        <m:e>
                          <m:r>
                            <a:rPr lang="en-US" altLang="en-US" sz="1600" b="0" i="1" smtClean="0">
                              <a:solidFill>
                                <a:srgbClr val="000000"/>
                              </a:solidFill>
                              <a:latin typeface="Cambria Math"/>
                            </a:rPr>
                            <m:t>𝑝</m:t>
                          </m:r>
                        </m:e>
                      </m:acc>
                    </m:oMath>
                  </a14:m>
                  <a:r>
                    <a:rPr lang="en-US" altLang="en-US" sz="1600" dirty="0">
                      <a:solidFill>
                        <a:srgbClr val="000000"/>
                      </a:solidFill>
                    </a:rPr>
                    <a:t> has approximately the </a:t>
                  </a:r>
                  <a14:m>
                    <m:oMath xmlns:m="http://schemas.openxmlformats.org/officeDocument/2006/math">
                      <m:r>
                        <a:rPr lang="en-US" altLang="en-US" sz="1600" b="0" i="1" smtClean="0">
                          <a:solidFill>
                            <a:srgbClr val="000000"/>
                          </a:solidFill>
                          <a:latin typeface="Cambria Math"/>
                        </a:rPr>
                        <m:t>𝑁</m:t>
                      </m:r>
                      <m:r>
                        <a:rPr lang="en-US" altLang="en-US" sz="1600" b="0" i="1" smtClean="0">
                          <a:solidFill>
                            <a:srgbClr val="000000"/>
                          </a:solidFill>
                          <a:latin typeface="Cambria Math"/>
                        </a:rPr>
                        <m:t>(</m:t>
                      </m:r>
                      <m:r>
                        <a:rPr lang="en-US" altLang="en-US" sz="1600" b="0" i="1" smtClean="0">
                          <a:solidFill>
                            <a:srgbClr val="000000"/>
                          </a:solidFill>
                          <a:latin typeface="Cambria Math"/>
                        </a:rPr>
                        <m:t>𝑝</m:t>
                      </m:r>
                      <m:r>
                        <a:rPr lang="en-US" altLang="en-US" sz="1600" b="0" i="1" smtClean="0">
                          <a:solidFill>
                            <a:srgbClr val="000000"/>
                          </a:solidFill>
                          <a:latin typeface="Cambria Math"/>
                        </a:rPr>
                        <m:t>,</m:t>
                      </m:r>
                      <m:rad>
                        <m:radPr>
                          <m:degHide m:val="on"/>
                          <m:ctrlPr>
                            <a:rPr lang="en-US" altLang="en-US" sz="1600" b="0" i="1" smtClean="0">
                              <a:solidFill>
                                <a:srgbClr val="000000"/>
                              </a:solidFill>
                              <a:latin typeface="Cambria Math" panose="02040503050406030204" pitchFamily="18" charset="0"/>
                            </a:rPr>
                          </m:ctrlPr>
                        </m:radPr>
                        <m:deg/>
                        <m:e>
                          <m:r>
                            <a:rPr lang="en-US" altLang="en-US" sz="1600" b="0" i="1" smtClean="0">
                              <a:solidFill>
                                <a:srgbClr val="000000"/>
                              </a:solidFill>
                              <a:latin typeface="Cambria Math"/>
                            </a:rPr>
                            <m:t>𝑝</m:t>
                          </m:r>
                          <m:r>
                            <a:rPr lang="en-US" altLang="en-US" sz="1600" b="0" i="1" smtClean="0">
                              <a:solidFill>
                                <a:srgbClr val="000000"/>
                              </a:solidFill>
                              <a:latin typeface="Cambria Math"/>
                            </a:rPr>
                            <m:t>(1−</m:t>
                          </m:r>
                          <m:r>
                            <a:rPr lang="en-US" altLang="en-US" sz="1600" b="0" i="1" smtClean="0">
                              <a:solidFill>
                                <a:srgbClr val="000000"/>
                              </a:solidFill>
                              <a:latin typeface="Cambria Math"/>
                            </a:rPr>
                            <m:t>𝑝</m:t>
                          </m:r>
                          <m:r>
                            <a:rPr lang="en-US" altLang="en-US" sz="1600" b="0" i="1" smtClean="0">
                              <a:solidFill>
                                <a:srgbClr val="000000"/>
                              </a:solidFill>
                              <a:latin typeface="Cambria Math"/>
                            </a:rPr>
                            <m:t>)/</m:t>
                          </m:r>
                          <m:r>
                            <a:rPr lang="en-US" altLang="en-US" sz="1600" b="0" i="1" smtClean="0">
                              <a:solidFill>
                                <a:srgbClr val="000000"/>
                              </a:solidFill>
                              <a:latin typeface="Cambria Math"/>
                            </a:rPr>
                            <m:t>𝑛</m:t>
                          </m:r>
                        </m:e>
                      </m:rad>
                    </m:oMath>
                  </a14:m>
                  <a:r>
                    <a:rPr lang="en-US" altLang="en-US" sz="1600" i="1" dirty="0">
                      <a:solidFill>
                        <a:srgbClr val="000000"/>
                      </a:solidFill>
                    </a:rPr>
                    <a:t> </a:t>
                  </a:r>
                  <a:r>
                    <a:rPr lang="en-US" altLang="en-US" sz="1600" dirty="0">
                      <a:solidFill>
                        <a:srgbClr val="000000"/>
                      </a:solidFill>
                    </a:rPr>
                    <a:t>distribution.</a:t>
                  </a:r>
                  <a:endParaRPr lang="en-US" altLang="en-US" sz="1600" i="1" dirty="0">
                    <a:solidFill>
                      <a:srgbClr val="000000"/>
                    </a:solidFill>
                  </a:endParaRPr>
                </a:p>
                <a:p>
                  <a:pPr eaLnBrk="1" hangingPunct="1">
                    <a:spcBef>
                      <a:spcPct val="0"/>
                    </a:spcBef>
                    <a:spcAft>
                      <a:spcPts val="1200"/>
                    </a:spcAft>
                    <a:buClrTx/>
                    <a:buSzTx/>
                    <a:buFontTx/>
                    <a:buNone/>
                    <a:defRPr/>
                  </a:pPr>
                  <a:r>
                    <a:rPr lang="en-US" altLang="en-US" sz="1600" dirty="0">
                      <a:solidFill>
                        <a:srgbClr val="000000"/>
                      </a:solidFill>
                    </a:rPr>
                    <a:t>	As </a:t>
                  </a:r>
                  <a:r>
                    <a:rPr lang="en-US" altLang="en-US" sz="1600" i="1" dirty="0">
                      <a:solidFill>
                        <a:srgbClr val="000000"/>
                      </a:solidFill>
                    </a:rPr>
                    <a:t>n</a:t>
                  </a:r>
                  <a:r>
                    <a:rPr lang="en-US" altLang="en-US" sz="1600" dirty="0">
                      <a:solidFill>
                        <a:srgbClr val="000000"/>
                      </a:solidFill>
                    </a:rPr>
                    <a:t> increases, the sampling distribution becomes </a:t>
                  </a:r>
                  <a:r>
                    <a:rPr lang="en-US" altLang="en-US" sz="1600" b="1" dirty="0">
                      <a:solidFill>
                        <a:srgbClr val="000000"/>
                      </a:solidFill>
                    </a:rPr>
                    <a:t>approximately Normal</a:t>
                  </a:r>
                  <a:r>
                    <a:rPr lang="en-US" altLang="en-US" sz="1600" dirty="0">
                      <a:solidFill>
                        <a:srgbClr val="000000"/>
                      </a:solidFill>
                    </a:rPr>
                    <a:t>.</a:t>
                  </a:r>
                </a:p>
              </p:txBody>
            </p:sp>
          </mc:Choice>
          <mc:Fallback xmlns="">
            <p:sp>
              <p:nvSpPr>
                <p:cNvPr id="23" name="TextBox 22"/>
                <p:cNvSpPr txBox="1">
                  <a:spLocks noRot="1" noChangeAspect="1" noMove="1" noResize="1" noEditPoints="1" noAdjustHandles="1" noChangeArrowheads="1" noChangeShapeType="1" noTextEdit="1"/>
                </p:cNvSpPr>
                <p:nvPr/>
              </p:nvSpPr>
              <p:spPr bwMode="auto">
                <a:xfrm>
                  <a:off x="-242149" y="5224427"/>
                  <a:ext cx="8422734" cy="3122676"/>
                </a:xfrm>
                <a:prstGeom prst="rect">
                  <a:avLst/>
                </a:prstGeom>
                <a:blipFill rotWithShape="0">
                  <a:blip r:embed="rId4"/>
                  <a:stretch>
                    <a:fillRect/>
                  </a:stretch>
                </a:blipFill>
                <a:ln w="10000">
                  <a:solidFill>
                    <a:srgbClr val="D2DA7A"/>
                  </a:solidFill>
                  <a:miter lim="800000"/>
                  <a:headEnd/>
                  <a:tailEnd/>
                </a:ln>
                <a:effectLst>
                  <a:outerShdw blurRad="38100" dist="30000" dir="5400000" rotWithShape="0">
                    <a:srgbClr val="808080">
                      <a:alpha val="45000"/>
                    </a:srgbClr>
                  </a:outerShdw>
                </a:effectLst>
              </p:spPr>
              <p:txBody>
                <a:bodyPr/>
                <a:lstStyle/>
                <a:p>
                  <a:r>
                    <a:rPr lang="en-US">
                      <a:noFill/>
                    </a:rPr>
                    <a:t> </a:t>
                  </a:r>
                </a:p>
              </p:txBody>
            </p:sp>
          </mc:Fallback>
        </mc:AlternateContent>
      </p:grpSp>
      <p:pic>
        <p:nvPicPr>
          <p:cNvPr id="19" name="Picture 18" descr="already described"/>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38112" y="2811140"/>
            <a:ext cx="8643937" cy="3691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5684283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7355"/>
                                        </p:tgtEl>
                                        <p:attrNameLst>
                                          <p:attrName>style.visibility</p:attrName>
                                        </p:attrNameLst>
                                      </p:cBhvr>
                                      <p:to>
                                        <p:strVal val="visible"/>
                                      </p:to>
                                    </p:set>
                                    <p:animEffect transition="in" filter="fade">
                                      <p:cBhvr>
                                        <p:cTn id="7" dur="500"/>
                                        <p:tgtEl>
                                          <p:spTgt spid="57355"/>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iterate type="lt">
                                    <p:tmPct val="5000"/>
                                  </p:iterate>
                                  <p:childTnLst>
                                    <p:set>
                                      <p:cBhvr>
                                        <p:cTn id="11" dur="1" fill="hold">
                                          <p:stCondLst>
                                            <p:cond delay="0"/>
                                          </p:stCondLst>
                                        </p:cTn>
                                        <p:tgtEl>
                                          <p:spTgt spid="19"/>
                                        </p:tgtEl>
                                        <p:attrNameLst>
                                          <p:attrName>style.visibility</p:attrName>
                                        </p:attrNameLst>
                                      </p:cBhvr>
                                      <p:to>
                                        <p:strVal val="visible"/>
                                      </p:to>
                                    </p:set>
                                    <p:anim calcmode="lin" valueType="num">
                                      <p:cBhvr>
                                        <p:cTn id="12" dur="1000" fill="hold"/>
                                        <p:tgtEl>
                                          <p:spTgt spid="19"/>
                                        </p:tgtEl>
                                        <p:attrNameLst>
                                          <p:attrName>ppt_w</p:attrName>
                                        </p:attrNameLst>
                                      </p:cBhvr>
                                      <p:tavLst>
                                        <p:tav tm="0">
                                          <p:val>
                                            <p:fltVal val="0"/>
                                          </p:val>
                                        </p:tav>
                                        <p:tav tm="100000">
                                          <p:val>
                                            <p:strVal val="#ppt_w"/>
                                          </p:val>
                                        </p:tav>
                                      </p:tavLst>
                                    </p:anim>
                                    <p:anim calcmode="lin" valueType="num">
                                      <p:cBhvr>
                                        <p:cTn id="13" dur="1000" fill="hold"/>
                                        <p:tgtEl>
                                          <p:spTgt spid="19"/>
                                        </p:tgtEl>
                                        <p:attrNameLst>
                                          <p:attrName>ppt_h</p:attrName>
                                        </p:attrNameLst>
                                      </p:cBhvr>
                                      <p:tavLst>
                                        <p:tav tm="0">
                                          <p:val>
                                            <p:fltVal val="0"/>
                                          </p:val>
                                        </p:tav>
                                        <p:tav tm="100000">
                                          <p:val>
                                            <p:strVal val="#ppt_h"/>
                                          </p:val>
                                        </p:tav>
                                      </p:tavLst>
                                    </p:anim>
                                    <p:anim calcmode="lin" valueType="num">
                                      <p:cBhvr>
                                        <p:cTn id="14" dur="1000" fill="hold"/>
                                        <p:tgtEl>
                                          <p:spTgt spid="19"/>
                                        </p:tgtEl>
                                        <p:attrNameLst>
                                          <p:attrName>style.rotation</p:attrName>
                                        </p:attrNameLst>
                                      </p:cBhvr>
                                      <p:tavLst>
                                        <p:tav tm="0">
                                          <p:val>
                                            <p:fltVal val="90"/>
                                          </p:val>
                                        </p:tav>
                                        <p:tav tm="100000">
                                          <p:val>
                                            <p:fltVal val="0"/>
                                          </p:val>
                                        </p:tav>
                                      </p:tavLst>
                                    </p:anim>
                                    <p:animEffect transition="in" filter="fade">
                                      <p:cBhvr>
                                        <p:cTn id="15"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p:nvPr>
        </p:nvSpPr>
        <p:spPr/>
        <p:txBody>
          <a:bodyPr/>
          <a:lstStyle/>
          <a:p>
            <a:pPr eaLnBrk="1" hangingPunct="1">
              <a:lnSpc>
                <a:spcPct val="90000"/>
              </a:lnSpc>
            </a:pPr>
            <a:r>
              <a:rPr lang="en-US" altLang="en-US" dirty="0">
                <a:ea typeface="ＭＳ Ｐゴシック" pitchFamily="34" charset="-128"/>
              </a:rPr>
              <a:t>Poisson Setting</a:t>
            </a:r>
            <a:endParaRPr lang="en-US" altLang="en-US" sz="2400" dirty="0">
              <a:solidFill>
                <a:srgbClr val="33CCFF"/>
              </a:solidFill>
              <a:ea typeface="ＭＳ Ｐゴシック" pitchFamily="34" charset="-128"/>
            </a:endParaRPr>
          </a:p>
        </p:txBody>
      </p:sp>
      <p:sp>
        <p:nvSpPr>
          <p:cNvPr id="62466"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854605C3-D04E-4C56-945F-F389753046F2}" type="slidenum">
              <a:rPr lang="en-US" altLang="en-US" sz="1200">
                <a:solidFill>
                  <a:schemeClr val="accent1"/>
                </a:solidFill>
              </a:rPr>
              <a:pPr>
                <a:lnSpc>
                  <a:spcPct val="80000"/>
                </a:lnSpc>
              </a:pPr>
              <a:t>28</a:t>
            </a:fld>
            <a:endParaRPr lang="en-US" altLang="en-US" sz="1200">
              <a:solidFill>
                <a:schemeClr val="accent1"/>
              </a:solidFill>
            </a:endParaRPr>
          </a:p>
        </p:txBody>
      </p:sp>
      <p:sp>
        <p:nvSpPr>
          <p:cNvPr id="62469" name="Rectangle 3"/>
          <p:cNvSpPr txBox="1">
            <a:spLocks noChangeArrowheads="1"/>
          </p:cNvSpPr>
          <p:nvPr/>
        </p:nvSpPr>
        <p:spPr bwMode="auto">
          <a:xfrm>
            <a:off x="317500" y="1204913"/>
            <a:ext cx="8639175" cy="157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1200150" indent="-45720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buFont typeface="Wingdings" pitchFamily="2" charset="2"/>
              <a:buNone/>
            </a:pPr>
            <a:r>
              <a:rPr lang="en-US" altLang="en-US" dirty="0">
                <a:solidFill>
                  <a:schemeClr val="tx1"/>
                </a:solidFill>
              </a:rPr>
              <a:t>Frequently, we meet counts that are open-ended:</a:t>
            </a:r>
          </a:p>
          <a:p>
            <a:pPr marL="342900" indent="-342900">
              <a:buFont typeface="Arial" panose="020B0604020202020204" pitchFamily="34" charset="0"/>
              <a:buChar char="•"/>
            </a:pPr>
            <a:r>
              <a:rPr lang="en-US" altLang="ja-JP" sz="2000" dirty="0">
                <a:solidFill>
                  <a:schemeClr val="tx1"/>
                </a:solidFill>
              </a:rPr>
              <a:t>The number of customers at a café between noon and 1:00 p.m.</a:t>
            </a:r>
          </a:p>
          <a:p>
            <a:pPr marL="342900" indent="-342900">
              <a:buFont typeface="Arial" panose="020B0604020202020204" pitchFamily="34" charset="0"/>
              <a:buChar char="•"/>
            </a:pPr>
            <a:r>
              <a:rPr lang="en-US" altLang="ja-JP" sz="2000" dirty="0">
                <a:solidFill>
                  <a:schemeClr val="tx1"/>
                </a:solidFill>
              </a:rPr>
              <a:t>The number of patients coming to the ER between 10 p.m. and 11 p.m.</a:t>
            </a:r>
          </a:p>
          <a:p>
            <a:pPr marL="342900" indent="-342900">
              <a:buFont typeface="Arial" panose="020B0604020202020204" pitchFamily="34" charset="0"/>
              <a:buChar char="•"/>
            </a:pPr>
            <a:r>
              <a:rPr lang="en-US" altLang="ja-JP" sz="2000" dirty="0">
                <a:solidFill>
                  <a:schemeClr val="tx1"/>
                </a:solidFill>
              </a:rPr>
              <a:t>The number of reported pedestrian/bicyclist collisions on campus during an academic year  </a:t>
            </a:r>
            <a:endParaRPr lang="en-US" altLang="en-US" sz="2000" dirty="0">
              <a:solidFill>
                <a:schemeClr val="tx1"/>
              </a:solidFill>
            </a:endParaRPr>
          </a:p>
        </p:txBody>
      </p:sp>
      <p:sp>
        <p:nvSpPr>
          <p:cNvPr id="13" name="TextBox 12"/>
          <p:cNvSpPr txBox="1">
            <a:spLocks noChangeArrowheads="1"/>
          </p:cNvSpPr>
          <p:nvPr/>
        </p:nvSpPr>
        <p:spPr bwMode="auto">
          <a:xfrm>
            <a:off x="355600" y="2969099"/>
            <a:ext cx="8308975" cy="646112"/>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p>
            <a:pPr eaLnBrk="1" hangingPunct="1">
              <a:defRPr/>
            </a:pPr>
            <a:r>
              <a:rPr lang="en-US" altLang="zh-CN" dirty="0">
                <a:solidFill>
                  <a:srgbClr val="000000"/>
                </a:solidFill>
                <a:latin typeface="Arial"/>
                <a:ea typeface="ＭＳ Ｐゴシック" charset="-128"/>
                <a:cs typeface="Arial"/>
              </a:rPr>
              <a:t>The</a:t>
            </a:r>
            <a:r>
              <a:rPr lang="en-US" dirty="0">
                <a:solidFill>
                  <a:srgbClr val="000000"/>
                </a:solidFill>
                <a:latin typeface="Arial"/>
                <a:ea typeface="ＭＳ Ｐゴシック" charset="-128"/>
                <a:cs typeface="Arial"/>
              </a:rPr>
              <a:t> </a:t>
            </a:r>
            <a:r>
              <a:rPr lang="en-US" b="1" dirty="0">
                <a:solidFill>
                  <a:srgbClr val="000000"/>
                </a:solidFill>
                <a:latin typeface="Arial"/>
                <a:ea typeface="ＭＳ Ｐゴシック" charset="-128"/>
                <a:cs typeface="Arial"/>
              </a:rPr>
              <a:t>Poisson setting </a:t>
            </a:r>
            <a:r>
              <a:rPr lang="en-US" dirty="0">
                <a:solidFill>
                  <a:srgbClr val="000000"/>
                </a:solidFill>
                <a:latin typeface="Arial"/>
                <a:ea typeface="ＭＳ Ｐゴシック" charset="-128"/>
                <a:cs typeface="Arial"/>
              </a:rPr>
              <a:t>arises when we consider the number of successes that occur in a fixed unit of measure, such as a period of time or a region of space.</a:t>
            </a:r>
          </a:p>
        </p:txBody>
      </p:sp>
      <p:sp>
        <p:nvSpPr>
          <p:cNvPr id="2" name="TextBox 1"/>
          <p:cNvSpPr txBox="1"/>
          <p:nvPr/>
        </p:nvSpPr>
        <p:spPr>
          <a:xfrm>
            <a:off x="2448718" y="3740279"/>
            <a:ext cx="3659976" cy="369332"/>
          </a:xfrm>
          <a:prstGeom prst="rect">
            <a:avLst/>
          </a:prstGeom>
        </p:spPr>
        <p:style>
          <a:lnRef idx="1">
            <a:schemeClr val="accent2"/>
          </a:lnRef>
          <a:fillRef idx="2">
            <a:schemeClr val="accent2"/>
          </a:fillRef>
          <a:effectRef idx="1">
            <a:schemeClr val="accent2"/>
          </a:effectRef>
          <a:fontRef idx="minor">
            <a:schemeClr val="dk1"/>
          </a:fontRef>
        </p:style>
        <p:txBody>
          <a:bodyPr wrap="none">
            <a:spAutoFit/>
          </a:bodyPr>
          <a:lstStyle/>
          <a:p>
            <a:pPr eaLnBrk="1" hangingPunct="1">
              <a:defRPr/>
            </a:pPr>
            <a:r>
              <a:rPr lang="en-US" dirty="0"/>
              <a:t>Conditions for the Poisson </a:t>
            </a:r>
            <a:r>
              <a:rPr lang="en-US" altLang="zh-CN" dirty="0"/>
              <a:t>Setting</a:t>
            </a:r>
            <a:endParaRPr lang="en-US" dirty="0"/>
          </a:p>
        </p:txBody>
      </p:sp>
      <p:sp>
        <p:nvSpPr>
          <p:cNvPr id="15" name="TextBox 14"/>
          <p:cNvSpPr txBox="1">
            <a:spLocks noChangeArrowheads="1"/>
          </p:cNvSpPr>
          <p:nvPr/>
        </p:nvSpPr>
        <p:spPr bwMode="auto">
          <a:xfrm>
            <a:off x="355600" y="4171950"/>
            <a:ext cx="8308975" cy="2030413"/>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marL="168275" indent="-168275"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marL="342900" indent="-342900" eaLnBrk="1" hangingPunct="1">
              <a:buFont typeface="+mj-lt"/>
              <a:buAutoNum type="arabicPeriod"/>
              <a:defRPr/>
            </a:pPr>
            <a:r>
              <a:rPr lang="en-US" dirty="0">
                <a:solidFill>
                  <a:srgbClr val="000000"/>
                </a:solidFill>
                <a:cs typeface="Arial" charset="0"/>
              </a:rPr>
              <a:t>The number of successes that occur in two nonoverlapping units of measure are </a:t>
            </a:r>
            <a:r>
              <a:rPr lang="en-US" b="1" dirty="0">
                <a:solidFill>
                  <a:srgbClr val="000000"/>
                </a:solidFill>
                <a:cs typeface="Arial" charset="0"/>
              </a:rPr>
              <a:t>independent</a:t>
            </a:r>
            <a:r>
              <a:rPr lang="en-US" dirty="0">
                <a:solidFill>
                  <a:srgbClr val="000000"/>
                </a:solidFill>
                <a:cs typeface="Arial" charset="0"/>
              </a:rPr>
              <a:t>.</a:t>
            </a:r>
          </a:p>
          <a:p>
            <a:pPr marL="342900" indent="-342900" eaLnBrk="1" hangingPunct="1">
              <a:buFont typeface="+mj-lt"/>
              <a:buAutoNum type="arabicPeriod"/>
              <a:defRPr/>
            </a:pPr>
            <a:r>
              <a:rPr lang="en-US" dirty="0">
                <a:solidFill>
                  <a:srgbClr val="000000"/>
                </a:solidFill>
                <a:cs typeface="Arial" charset="0"/>
              </a:rPr>
              <a:t>The probability that a success will occur in a unit of measure is the same for all units of equal size and is proportional to the size of the unit.</a:t>
            </a:r>
          </a:p>
          <a:p>
            <a:pPr marL="342900" indent="-342900" eaLnBrk="1" hangingPunct="1">
              <a:buFont typeface="+mj-lt"/>
              <a:buAutoNum type="arabicPeriod"/>
              <a:defRPr/>
            </a:pPr>
            <a:r>
              <a:rPr lang="en-US" dirty="0">
                <a:solidFill>
                  <a:srgbClr val="000000"/>
                </a:solidFill>
                <a:cs typeface="Arial" charset="0"/>
              </a:rPr>
              <a:t>The probability that more than one event occurs in a unit of measure is negligible for very small-sized units. In other words, the events occur one at a time.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childTnLst>
                                </p:cTn>
                              </p:par>
                              <p:par>
                                <p:cTn id="18" presetID="12" presetClass="entr" presetSubtype="4" fill="hold" nodeType="withEffect">
                                  <p:stCondLst>
                                    <p:cond delay="0"/>
                                  </p:stCondLst>
                                  <p:childTnLst>
                                    <p:set>
                                      <p:cBhvr>
                                        <p:cTn id="19" dur="1" fill="hold">
                                          <p:stCondLst>
                                            <p:cond delay="0"/>
                                          </p:stCondLst>
                                        </p:cTn>
                                        <p:tgtEl>
                                          <p:spTgt spid="15">
                                            <p:txEl>
                                              <p:pRg st="0" end="0"/>
                                            </p:txEl>
                                          </p:spTgt>
                                        </p:tgtEl>
                                        <p:attrNameLst>
                                          <p:attrName>style.visibility</p:attrName>
                                        </p:attrNameLst>
                                      </p:cBhvr>
                                      <p:to>
                                        <p:strVal val="visible"/>
                                      </p:to>
                                    </p:set>
                                    <p:anim calcmode="lin" valueType="num">
                                      <p:cBhvr additive="base">
                                        <p:cTn id="20" dur="500"/>
                                        <p:tgtEl>
                                          <p:spTgt spid="15">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15">
                                            <p:txEl>
                                              <p:pRg st="0" end="0"/>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2" presetClass="entr" presetSubtype="4" fill="hold" nodeType="clickEffect">
                                  <p:stCondLst>
                                    <p:cond delay="0"/>
                                  </p:stCondLst>
                                  <p:childTnLst>
                                    <p:set>
                                      <p:cBhvr>
                                        <p:cTn id="25" dur="1" fill="hold">
                                          <p:stCondLst>
                                            <p:cond delay="0"/>
                                          </p:stCondLst>
                                        </p:cTn>
                                        <p:tgtEl>
                                          <p:spTgt spid="15">
                                            <p:txEl>
                                              <p:pRg st="1" end="1"/>
                                            </p:txEl>
                                          </p:spTgt>
                                        </p:tgtEl>
                                        <p:attrNameLst>
                                          <p:attrName>style.visibility</p:attrName>
                                        </p:attrNameLst>
                                      </p:cBhvr>
                                      <p:to>
                                        <p:strVal val="visible"/>
                                      </p:to>
                                    </p:set>
                                    <p:anim calcmode="lin" valueType="num">
                                      <p:cBhvr additive="base">
                                        <p:cTn id="26" dur="500"/>
                                        <p:tgtEl>
                                          <p:spTgt spid="15">
                                            <p:txEl>
                                              <p:pRg st="1" end="1"/>
                                            </p:txEl>
                                          </p:spTgt>
                                        </p:tgtEl>
                                        <p:attrNameLst>
                                          <p:attrName>ppt_y</p:attrName>
                                        </p:attrNameLst>
                                      </p:cBhvr>
                                      <p:tavLst>
                                        <p:tav tm="0">
                                          <p:val>
                                            <p:strVal val="#ppt_y+#ppt_h*1.125000"/>
                                          </p:val>
                                        </p:tav>
                                        <p:tav tm="100000">
                                          <p:val>
                                            <p:strVal val="#ppt_y"/>
                                          </p:val>
                                        </p:tav>
                                      </p:tavLst>
                                    </p:anim>
                                    <p:animEffect transition="in" filter="wipe(up)">
                                      <p:cBhvr>
                                        <p:cTn id="27" dur="500"/>
                                        <p:tgtEl>
                                          <p:spTgt spid="15">
                                            <p:txEl>
                                              <p:pRg st="1" end="1"/>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4" fill="hold" nodeType="clickEffect">
                                  <p:stCondLst>
                                    <p:cond delay="0"/>
                                  </p:stCondLst>
                                  <p:childTnLst>
                                    <p:set>
                                      <p:cBhvr>
                                        <p:cTn id="31" dur="1" fill="hold">
                                          <p:stCondLst>
                                            <p:cond delay="0"/>
                                          </p:stCondLst>
                                        </p:cTn>
                                        <p:tgtEl>
                                          <p:spTgt spid="15">
                                            <p:txEl>
                                              <p:pRg st="2" end="2"/>
                                            </p:txEl>
                                          </p:spTgt>
                                        </p:tgtEl>
                                        <p:attrNameLst>
                                          <p:attrName>style.visibility</p:attrName>
                                        </p:attrNameLst>
                                      </p:cBhvr>
                                      <p:to>
                                        <p:strVal val="visible"/>
                                      </p:to>
                                    </p:set>
                                    <p:anim calcmode="lin" valueType="num">
                                      <p:cBhvr additive="base">
                                        <p:cTn id="32" dur="500" fill="hold"/>
                                        <p:tgtEl>
                                          <p:spTgt spid="15">
                                            <p:txEl>
                                              <p:pRg st="2" end="2"/>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1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 grpId="0" animBg="1"/>
      <p:bldP spid="1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2"/>
          <p:cNvSpPr>
            <a:spLocks noGrp="1" noChangeArrowheads="1"/>
          </p:cNvSpPr>
          <p:nvPr>
            <p:ph type="title"/>
          </p:nvPr>
        </p:nvSpPr>
        <p:spPr>
          <a:xfrm>
            <a:off x="174625" y="145279"/>
            <a:ext cx="7772400" cy="777240"/>
          </a:xfrm>
        </p:spPr>
        <p:txBody>
          <a:bodyPr/>
          <a:lstStyle/>
          <a:p>
            <a:pPr eaLnBrk="1" hangingPunct="1">
              <a:lnSpc>
                <a:spcPct val="90000"/>
              </a:lnSpc>
            </a:pPr>
            <a:r>
              <a:rPr lang="en-US" altLang="en-US" dirty="0">
                <a:ea typeface="ＭＳ Ｐゴシック" pitchFamily="34" charset="-128"/>
              </a:rPr>
              <a:t>Poisson Distribution</a:t>
            </a:r>
            <a:endParaRPr lang="en-US" altLang="en-US" sz="2400" dirty="0">
              <a:solidFill>
                <a:srgbClr val="33CCFF"/>
              </a:solidFill>
              <a:ea typeface="ＭＳ Ｐゴシック" pitchFamily="34" charset="-128"/>
            </a:endParaRPr>
          </a:p>
        </p:txBody>
      </p:sp>
      <p:sp>
        <p:nvSpPr>
          <p:cNvPr id="63490"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545FFF75-3727-43A5-8871-E33C515EB4DF}" type="slidenum">
              <a:rPr lang="en-US" altLang="en-US" sz="1200">
                <a:solidFill>
                  <a:schemeClr val="accent1"/>
                </a:solidFill>
              </a:rPr>
              <a:pPr>
                <a:lnSpc>
                  <a:spcPct val="80000"/>
                </a:lnSpc>
              </a:pPr>
              <a:t>29</a:t>
            </a:fld>
            <a:endParaRPr lang="en-US" altLang="en-US" sz="1200">
              <a:solidFill>
                <a:schemeClr val="accent1"/>
              </a:solidFill>
            </a:endParaRPr>
          </a:p>
        </p:txBody>
      </p:sp>
      <p:sp>
        <p:nvSpPr>
          <p:cNvPr id="26" name="TextBox 25"/>
          <p:cNvSpPr txBox="1">
            <a:spLocks noChangeArrowheads="1"/>
          </p:cNvSpPr>
          <p:nvPr/>
        </p:nvSpPr>
        <p:spPr bwMode="auto">
          <a:xfrm>
            <a:off x="2521743" y="961572"/>
            <a:ext cx="4083050" cy="369887"/>
          </a:xfrm>
          <a:prstGeom prst="rect">
            <a:avLst/>
          </a:prstGeom>
          <a:solidFill>
            <a:srgbClr val="D6DFE8"/>
          </a:solidFill>
          <a:ln w="10000">
            <a:solidFill>
              <a:schemeClr val="accent2"/>
            </a:solidFill>
            <a:miter lim="800000"/>
            <a:headEnd/>
            <a:tailEnd/>
          </a:ln>
          <a:effectLst>
            <a:outerShdw blurRad="38100" dist="30000" dir="5400000" rotWithShape="0">
              <a:srgbClr val="808080">
                <a:alpha val="45000"/>
              </a:srgbClr>
            </a:outerShdw>
          </a:effectLst>
        </p:spPr>
        <p:txBody>
          <a:bodyPr>
            <a:spAutoFit/>
          </a:bodyPr>
          <a:lstStyle/>
          <a:p>
            <a:pPr algn="ctr" eaLnBrk="1" fontAlgn="auto" hangingPunct="1">
              <a:spcBef>
                <a:spcPts val="0"/>
              </a:spcBef>
              <a:spcAft>
                <a:spcPts val="0"/>
              </a:spcAft>
              <a:defRPr/>
            </a:pPr>
            <a:r>
              <a:rPr lang="en-US" b="1" dirty="0">
                <a:solidFill>
                  <a:schemeClr val="dk1"/>
                </a:solidFill>
                <a:latin typeface="+mn-lt"/>
                <a:ea typeface="+mn-ea"/>
              </a:rPr>
              <a:t>Poisson Probability</a:t>
            </a:r>
          </a:p>
        </p:txBody>
      </p:sp>
      <mc:AlternateContent xmlns:mc="http://schemas.openxmlformats.org/markup-compatibility/2006" xmlns:a14="http://schemas.microsoft.com/office/drawing/2010/main">
        <mc:Choice Requires="a14">
          <p:sp>
            <p:nvSpPr>
              <p:cNvPr id="25" name="TextBox 24"/>
              <p:cNvSpPr txBox="1">
                <a:spLocks noChangeArrowheads="1"/>
              </p:cNvSpPr>
              <p:nvPr/>
            </p:nvSpPr>
            <p:spPr bwMode="auto">
              <a:xfrm>
                <a:off x="641350" y="1331459"/>
                <a:ext cx="7843837" cy="1892890"/>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1200"/>
                  </a:spcAft>
                  <a:buClrTx/>
                  <a:buSzTx/>
                  <a:buFontTx/>
                  <a:buNone/>
                  <a:defRPr/>
                </a:pPr>
                <a:r>
                  <a:rPr lang="en-US" altLang="en-US" dirty="0">
                    <a:solidFill>
                      <a:srgbClr val="000000"/>
                    </a:solidFill>
                  </a:rPr>
                  <a:t>If </a:t>
                </a:r>
                <a:r>
                  <a:rPr lang="en-US" altLang="en-US" i="1" dirty="0">
                    <a:solidFill>
                      <a:srgbClr val="000000"/>
                    </a:solidFill>
                  </a:rPr>
                  <a:t>X</a:t>
                </a:r>
                <a:r>
                  <a:rPr lang="en-US" altLang="en-US" dirty="0">
                    <a:solidFill>
                      <a:srgbClr val="000000"/>
                    </a:solidFill>
                  </a:rPr>
                  <a:t> has the Poisson distribution with mean </a:t>
                </a:r>
                <a:r>
                  <a:rPr lang="en-US" altLang="en-US" i="1" dirty="0">
                    <a:solidFill>
                      <a:srgbClr val="000000"/>
                    </a:solidFill>
                  </a:rPr>
                  <a:t>μ </a:t>
                </a:r>
                <a:r>
                  <a:rPr lang="en-US" altLang="en-US" dirty="0">
                    <a:solidFill>
                      <a:srgbClr val="000000"/>
                    </a:solidFill>
                  </a:rPr>
                  <a:t>(and </a:t>
                </a:r>
                <a:r>
                  <a:rPr lang="en-US" altLang="en-US" dirty="0">
                    <a:solidFill>
                      <a:schemeClr val="tx1"/>
                    </a:solidFill>
                  </a:rPr>
                  <a:t>standard deviation </a:t>
                </a:r>
                <a14:m>
                  <m:oMath xmlns:m="http://schemas.openxmlformats.org/officeDocument/2006/math">
                    <m:rad>
                      <m:radPr>
                        <m:degHide m:val="on"/>
                        <m:ctrlPr>
                          <a:rPr lang="en-US" altLang="en-US" i="1">
                            <a:solidFill>
                              <a:schemeClr val="tx1"/>
                            </a:solidFill>
                            <a:latin typeface="Cambria Math" panose="02040503050406030204" pitchFamily="18" charset="0"/>
                          </a:rPr>
                        </m:ctrlPr>
                      </m:radPr>
                      <m:deg/>
                      <m:e>
                        <m:r>
                          <a:rPr lang="en-US" altLang="en-US" i="1">
                            <a:solidFill>
                              <a:schemeClr val="tx1"/>
                            </a:solidFill>
                            <a:latin typeface="Cambria Math" panose="02040503050406030204" pitchFamily="18" charset="0"/>
                          </a:rPr>
                          <m:t>𝜇</m:t>
                        </m:r>
                      </m:e>
                    </m:rad>
                  </m:oMath>
                </a14:m>
                <a:r>
                  <a:rPr lang="en-US" altLang="en-US" dirty="0">
                    <a:solidFill>
                      <a:srgbClr val="000000"/>
                    </a:solidFill>
                  </a:rPr>
                  <a:t>), the potential value of </a:t>
                </a:r>
                <a:r>
                  <a:rPr lang="en-US" altLang="en-US" i="1" dirty="0">
                    <a:solidFill>
                      <a:srgbClr val="000000"/>
                    </a:solidFill>
                  </a:rPr>
                  <a:t>X</a:t>
                </a:r>
                <a:r>
                  <a:rPr lang="en-US" altLang="en-US" dirty="0">
                    <a:solidFill>
                      <a:srgbClr val="000000"/>
                    </a:solidFill>
                  </a:rPr>
                  <a:t> is 0, 1, 2, 3, … If </a:t>
                </a:r>
                <a:r>
                  <a:rPr lang="en-US" altLang="en-US" i="1" dirty="0">
                    <a:solidFill>
                      <a:srgbClr val="000000"/>
                    </a:solidFill>
                  </a:rPr>
                  <a:t>k</a:t>
                </a:r>
                <a:r>
                  <a:rPr lang="en-US" altLang="en-US" dirty="0">
                    <a:solidFill>
                      <a:srgbClr val="000000"/>
                    </a:solidFill>
                  </a:rPr>
                  <a:t> is a non-negative integer, then</a:t>
                </a:r>
              </a:p>
              <a:p>
                <a:pPr eaLnBrk="1" hangingPunct="1">
                  <a:spcBef>
                    <a:spcPct val="0"/>
                  </a:spcBef>
                  <a:spcAft>
                    <a:spcPts val="1200"/>
                  </a:spcAft>
                  <a:buClrTx/>
                  <a:buSzTx/>
                  <a:buFontTx/>
                  <a:buNone/>
                  <a:defRPr/>
                </a:pPr>
                <a14:m>
                  <m:oMathPara xmlns:m="http://schemas.openxmlformats.org/officeDocument/2006/math">
                    <m:oMath>
                      <m:r>
                        <a:rPr lang="en-US" altLang="en-US" sz="1800" b="0" i="1" smtClean="0">
                          <a:solidFill>
                            <a:srgbClr val="000000"/>
                          </a:solidFill>
                          <a:latin typeface="Cambria Math" panose="02040503050406030204" pitchFamily="18" charset="0"/>
                        </a:rPr>
                        <m:t>𝑃</m:t>
                      </m:r>
                      <m:d>
                        <m:dPr>
                          <m:ctrlPr>
                            <a:rPr lang="en-US" altLang="en-US" sz="1800" b="0" i="1" smtClean="0">
                              <a:solidFill>
                                <a:srgbClr val="000000"/>
                              </a:solidFill>
                              <a:latin typeface="Cambria Math" panose="02040503050406030204" pitchFamily="18" charset="0"/>
                            </a:rPr>
                          </m:ctrlPr>
                        </m:dPr>
                        <m:e>
                          <m:r>
                            <a:rPr lang="en-US" altLang="en-US" sz="1800" b="0" i="1" smtClean="0">
                              <a:solidFill>
                                <a:srgbClr val="000000"/>
                              </a:solidFill>
                              <a:latin typeface="Cambria Math" panose="02040503050406030204" pitchFamily="18" charset="0"/>
                            </a:rPr>
                            <m:t>𝑋</m:t>
                          </m:r>
                          <m:r>
                            <a:rPr lang="en-US" altLang="en-US" sz="1800" b="0" i="1" smtClean="0">
                              <a:solidFill>
                                <a:srgbClr val="000000"/>
                              </a:solidFill>
                              <a:latin typeface="Cambria Math" panose="02040503050406030204" pitchFamily="18" charset="0"/>
                            </a:rPr>
                            <m:t>=</m:t>
                          </m:r>
                          <m:r>
                            <a:rPr lang="en-US" altLang="en-US" sz="1800" b="0" i="1" smtClean="0">
                              <a:solidFill>
                                <a:srgbClr val="000000"/>
                              </a:solidFill>
                              <a:latin typeface="Cambria Math" panose="02040503050406030204" pitchFamily="18" charset="0"/>
                            </a:rPr>
                            <m:t>𝑘</m:t>
                          </m:r>
                        </m:e>
                      </m:d>
                      <m:r>
                        <a:rPr lang="en-US" altLang="en-US" sz="1800" b="0" i="1" smtClean="0">
                          <a:solidFill>
                            <a:srgbClr val="000000"/>
                          </a:solidFill>
                          <a:latin typeface="Cambria Math" panose="02040503050406030204" pitchFamily="18" charset="0"/>
                        </a:rPr>
                        <m:t>=</m:t>
                      </m:r>
                      <m:f>
                        <m:fPr>
                          <m:ctrlPr>
                            <a:rPr lang="en-US" altLang="en-US" sz="1800" b="0" i="1" smtClean="0">
                              <a:solidFill>
                                <a:srgbClr val="000000"/>
                              </a:solidFill>
                              <a:latin typeface="Cambria Math" panose="02040503050406030204" pitchFamily="18" charset="0"/>
                            </a:rPr>
                          </m:ctrlPr>
                        </m:fPr>
                        <m:num>
                          <m:sSup>
                            <m:sSupPr>
                              <m:ctrlPr>
                                <a:rPr lang="en-US" altLang="en-US" sz="1800" b="0" i="1" smtClean="0">
                                  <a:solidFill>
                                    <a:srgbClr val="000000"/>
                                  </a:solidFill>
                                  <a:latin typeface="Cambria Math" panose="02040503050406030204" pitchFamily="18" charset="0"/>
                                </a:rPr>
                              </m:ctrlPr>
                            </m:sSupPr>
                            <m:e>
                              <m:r>
                                <a:rPr lang="en-US" altLang="en-US" sz="1800" b="0" i="1" smtClean="0">
                                  <a:solidFill>
                                    <a:srgbClr val="000000"/>
                                  </a:solidFill>
                                  <a:latin typeface="Cambria Math" panose="02040503050406030204" pitchFamily="18" charset="0"/>
                                </a:rPr>
                                <m:t>𝑒</m:t>
                              </m:r>
                            </m:e>
                            <m:sup>
                              <m:r>
                                <a:rPr lang="en-US" altLang="en-US" sz="1800" b="0" i="1" smtClean="0">
                                  <a:solidFill>
                                    <a:srgbClr val="000000"/>
                                  </a:solidFill>
                                  <a:latin typeface="Cambria Math" panose="02040503050406030204" pitchFamily="18" charset="0"/>
                                </a:rPr>
                                <m:t>−</m:t>
                              </m:r>
                              <m:r>
                                <a:rPr lang="en-US" altLang="en-US" sz="1800" b="0" i="1" smtClean="0">
                                  <a:solidFill>
                                    <a:srgbClr val="000000"/>
                                  </a:solidFill>
                                  <a:latin typeface="Cambria Math" panose="02040503050406030204" pitchFamily="18" charset="0"/>
                                </a:rPr>
                                <m:t>𝜇</m:t>
                              </m:r>
                            </m:sup>
                          </m:sSup>
                          <m:sSup>
                            <m:sSupPr>
                              <m:ctrlPr>
                                <a:rPr lang="en-US" altLang="en-US" sz="1800" b="0" i="1" smtClean="0">
                                  <a:solidFill>
                                    <a:srgbClr val="000000"/>
                                  </a:solidFill>
                                  <a:latin typeface="Cambria Math" panose="02040503050406030204" pitchFamily="18" charset="0"/>
                                </a:rPr>
                              </m:ctrlPr>
                            </m:sSupPr>
                            <m:e>
                              <m:r>
                                <a:rPr lang="en-US" altLang="en-US" sz="1800" b="0" i="1" smtClean="0">
                                  <a:solidFill>
                                    <a:srgbClr val="000000"/>
                                  </a:solidFill>
                                  <a:latin typeface="Cambria Math" panose="02040503050406030204" pitchFamily="18" charset="0"/>
                                </a:rPr>
                                <m:t>𝜇</m:t>
                              </m:r>
                            </m:e>
                            <m:sup>
                              <m:r>
                                <a:rPr lang="en-US" altLang="en-US" sz="1800" b="0" i="1" smtClean="0">
                                  <a:solidFill>
                                    <a:srgbClr val="000000"/>
                                  </a:solidFill>
                                  <a:latin typeface="Cambria Math" panose="02040503050406030204" pitchFamily="18" charset="0"/>
                                </a:rPr>
                                <m:t>𝑘</m:t>
                              </m:r>
                            </m:sup>
                          </m:sSup>
                        </m:num>
                        <m:den>
                          <m:r>
                            <a:rPr lang="en-US" altLang="en-US" sz="1800" b="0" i="1" smtClean="0">
                              <a:solidFill>
                                <a:srgbClr val="000000"/>
                              </a:solidFill>
                              <a:latin typeface="Cambria Math" panose="02040503050406030204" pitchFamily="18" charset="0"/>
                            </a:rPr>
                            <m:t>𝑘</m:t>
                          </m:r>
                          <m:r>
                            <a:rPr lang="en-US" altLang="en-US" sz="1800" b="0" i="1" smtClean="0">
                              <a:solidFill>
                                <a:srgbClr val="000000"/>
                              </a:solidFill>
                              <a:latin typeface="Cambria Math" panose="02040503050406030204" pitchFamily="18" charset="0"/>
                            </a:rPr>
                            <m:t>!</m:t>
                          </m:r>
                        </m:den>
                      </m:f>
                    </m:oMath>
                  </m:oMathPara>
                </a14:m>
                <a:endParaRPr lang="en-US" altLang="en-US" sz="1800" dirty="0">
                  <a:solidFill>
                    <a:srgbClr val="000000"/>
                  </a:solidFill>
                </a:endParaRPr>
              </a:p>
            </p:txBody>
          </p:sp>
        </mc:Choice>
        <mc:Fallback xmlns="">
          <p:sp>
            <p:nvSpPr>
              <p:cNvPr id="25" name="TextBox 24"/>
              <p:cNvSpPr txBox="1">
                <a:spLocks noRot="1" noChangeAspect="1" noMove="1" noResize="1" noEditPoints="1" noAdjustHandles="1" noChangeArrowheads="1" noChangeShapeType="1" noTextEdit="1"/>
              </p:cNvSpPr>
              <p:nvPr/>
            </p:nvSpPr>
            <p:spPr bwMode="auto">
              <a:xfrm>
                <a:off x="641350" y="1331459"/>
                <a:ext cx="7843837" cy="1892890"/>
              </a:xfrm>
              <a:prstGeom prst="rect">
                <a:avLst/>
              </a:prstGeom>
              <a:blipFill>
                <a:blip r:embed="rId2"/>
                <a:stretch>
                  <a:fillRect/>
                </a:stretch>
              </a:blipFill>
              <a:ln w="10000">
                <a:solidFill>
                  <a:srgbClr val="D2DA7A"/>
                </a:solidFill>
                <a:miter lim="800000"/>
                <a:headEnd/>
                <a:tailEnd/>
              </a:ln>
              <a:effectLst>
                <a:outerShdw blurRad="38100" dist="30000" dir="5400000" rotWithShape="0">
                  <a:srgbClr val="808080">
                    <a:alpha val="45000"/>
                  </a:srgbClr>
                </a:outerShdw>
              </a:effectLst>
            </p:spPr>
            <p:txBody>
              <a:bodyPr/>
              <a:lstStyle/>
              <a:p>
                <a:r>
                  <a:rPr lang="en-US">
                    <a:noFill/>
                  </a:rPr>
                  <a:t> </a:t>
                </a:r>
              </a:p>
            </p:txBody>
          </p:sp>
        </mc:Fallback>
      </mc:AlternateContent>
      <p:sp>
        <p:nvSpPr>
          <p:cNvPr id="3" name="TextBox 2"/>
          <p:cNvSpPr txBox="1"/>
          <p:nvPr/>
        </p:nvSpPr>
        <p:spPr>
          <a:xfrm>
            <a:off x="4044155" y="3296845"/>
            <a:ext cx="1082675" cy="369888"/>
          </a:xfrm>
          <a:prstGeom prst="rect">
            <a:avLst/>
          </a:prstGeom>
        </p:spPr>
        <p:style>
          <a:lnRef idx="1">
            <a:schemeClr val="accent2"/>
          </a:lnRef>
          <a:fillRef idx="2">
            <a:schemeClr val="accent2"/>
          </a:fillRef>
          <a:effectRef idx="1">
            <a:schemeClr val="accent2"/>
          </a:effectRef>
          <a:fontRef idx="minor">
            <a:schemeClr val="dk1"/>
          </a:fontRef>
        </p:style>
        <p:txBody>
          <a:bodyPr wrap="none">
            <a:spAutoFit/>
          </a:bodyPr>
          <a:lstStyle/>
          <a:p>
            <a:pPr eaLnBrk="1" hangingPunct="1">
              <a:defRPr/>
            </a:pPr>
            <a:r>
              <a:rPr lang="en-US" dirty="0"/>
              <a:t>Example</a:t>
            </a:r>
          </a:p>
        </p:txBody>
      </p:sp>
      <p:sp>
        <p:nvSpPr>
          <p:cNvPr id="10" name="TextBox 9"/>
          <p:cNvSpPr txBox="1">
            <a:spLocks noChangeArrowheads="1"/>
          </p:cNvSpPr>
          <p:nvPr/>
        </p:nvSpPr>
        <p:spPr bwMode="auto">
          <a:xfrm>
            <a:off x="407987" y="3633289"/>
            <a:ext cx="8355013" cy="1477962"/>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lvl1pPr marL="341313" indent="-341313"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r>
              <a:rPr lang="en-US" altLang="en-US" sz="1800" b="1" dirty="0"/>
              <a:t>Suppose the number of dropped calls on your cell phone varies, with an average of 2.1 calls per day. If we assume the Poisson setting is satisfied, we can model the daily count of dropped calls </a:t>
            </a:r>
            <a:r>
              <a:rPr lang="en-US" altLang="en-US" sz="1800" b="1" i="1" dirty="0"/>
              <a:t>X</a:t>
            </a:r>
            <a:r>
              <a:rPr lang="en-US" altLang="en-US" sz="1800" b="1" dirty="0"/>
              <a:t> using the Poisson distribution with </a:t>
            </a:r>
            <a:r>
              <a:rPr lang="en-US" altLang="en-US" sz="1800" b="1" i="1" dirty="0"/>
              <a:t>μ</a:t>
            </a:r>
            <a:r>
              <a:rPr lang="en-US" altLang="en-US" sz="1800" b="1" dirty="0"/>
              <a:t> = 2.1. What is the probability of having no more than two dropped calls tomorrow?</a:t>
            </a:r>
          </a:p>
        </p:txBody>
      </p:sp>
      <p:sp>
        <p:nvSpPr>
          <p:cNvPr id="14" name="TextBox 13"/>
          <p:cNvSpPr txBox="1"/>
          <p:nvPr/>
        </p:nvSpPr>
        <p:spPr>
          <a:xfrm>
            <a:off x="6894241" y="5206431"/>
            <a:ext cx="1868759" cy="1569660"/>
          </a:xfrm>
          <a:prstGeom prst="rect">
            <a:avLst/>
          </a:prstGeom>
          <a:solidFill>
            <a:schemeClr val="accent3">
              <a:lumMod val="20000"/>
              <a:lumOff val="80000"/>
            </a:schemeClr>
          </a:solidFill>
        </p:spPr>
        <p:style>
          <a:lnRef idx="0">
            <a:schemeClr val="accent5"/>
          </a:lnRef>
          <a:fillRef idx="3">
            <a:schemeClr val="accent5"/>
          </a:fillRef>
          <a:effectRef idx="3">
            <a:schemeClr val="accent5"/>
          </a:effectRef>
          <a:fontRef idx="minor">
            <a:schemeClr val="lt1"/>
          </a:fontRef>
        </p:style>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defRPr/>
            </a:pPr>
            <a:r>
              <a:rPr lang="en-US" sz="1600" dirty="0">
                <a:solidFill>
                  <a:srgbClr val="000000"/>
                </a:solidFill>
              </a:rPr>
              <a:t>There is roughly a 65% chance that you will have no more than two dropped calls tomorrow.</a:t>
            </a:r>
          </a:p>
        </p:txBody>
      </p:sp>
      <p:sp>
        <p:nvSpPr>
          <p:cNvPr id="2" name="TextBox 1">
            <a:extLst>
              <a:ext uri="{FF2B5EF4-FFF2-40B4-BE49-F238E27FC236}">
                <a16:creationId xmlns:a16="http://schemas.microsoft.com/office/drawing/2014/main" id="{EC3166E0-B834-F5B2-4F4F-316B7F58D60D}"/>
              </a:ext>
            </a:extLst>
          </p:cNvPr>
          <p:cNvSpPr txBox="1">
            <a:spLocks noChangeArrowheads="1"/>
          </p:cNvSpPr>
          <p:nvPr/>
        </p:nvSpPr>
        <p:spPr bwMode="auto">
          <a:xfrm>
            <a:off x="407987" y="5226251"/>
            <a:ext cx="2760726" cy="1415772"/>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1200"/>
              </a:spcAft>
              <a:buClrTx/>
              <a:buSzTx/>
              <a:buFontTx/>
              <a:buNone/>
              <a:defRPr/>
            </a:pPr>
            <a:r>
              <a:rPr lang="en-US" altLang="en-US" sz="1400" dirty="0">
                <a:solidFill>
                  <a:srgbClr val="000000"/>
                </a:solidFill>
              </a:rPr>
              <a:t>data </a:t>
            </a:r>
            <a:r>
              <a:rPr lang="en-US" altLang="en-US" sz="1400" dirty="0" err="1">
                <a:solidFill>
                  <a:srgbClr val="000000"/>
                </a:solidFill>
              </a:rPr>
              <a:t>poisson</a:t>
            </a:r>
            <a:r>
              <a:rPr lang="en-US" altLang="en-US" sz="1400" dirty="0">
                <a:solidFill>
                  <a:srgbClr val="000000"/>
                </a:solidFill>
              </a:rPr>
              <a:t>;</a:t>
            </a:r>
          </a:p>
          <a:p>
            <a:pPr eaLnBrk="1" hangingPunct="1">
              <a:spcBef>
                <a:spcPct val="0"/>
              </a:spcBef>
              <a:spcAft>
                <a:spcPts val="1200"/>
              </a:spcAft>
              <a:buClrTx/>
              <a:buSzTx/>
              <a:buFontTx/>
              <a:buNone/>
              <a:defRPr/>
            </a:pPr>
            <a:r>
              <a:rPr lang="en-US" altLang="en-US" sz="1400" dirty="0">
                <a:solidFill>
                  <a:srgbClr val="000000"/>
                </a:solidFill>
              </a:rPr>
              <a:t>    prob = </a:t>
            </a:r>
            <a:r>
              <a:rPr lang="en-US" altLang="en-US" sz="1400" dirty="0" err="1">
                <a:solidFill>
                  <a:srgbClr val="000000"/>
                </a:solidFill>
              </a:rPr>
              <a:t>cdf</a:t>
            </a:r>
            <a:r>
              <a:rPr lang="en-US" altLang="en-US" sz="1400" dirty="0">
                <a:solidFill>
                  <a:srgbClr val="000000"/>
                </a:solidFill>
              </a:rPr>
              <a:t>('POISSON', 2, 2.1);</a:t>
            </a:r>
          </a:p>
          <a:p>
            <a:pPr eaLnBrk="1" hangingPunct="1">
              <a:spcBef>
                <a:spcPct val="0"/>
              </a:spcBef>
              <a:spcAft>
                <a:spcPts val="1200"/>
              </a:spcAft>
              <a:buClrTx/>
              <a:buSzTx/>
              <a:buFontTx/>
              <a:buNone/>
              <a:defRPr/>
            </a:pPr>
            <a:r>
              <a:rPr lang="en-US" altLang="en-US" sz="1400" dirty="0">
                <a:solidFill>
                  <a:srgbClr val="000000"/>
                </a:solidFill>
              </a:rPr>
              <a:t>    proc print;</a:t>
            </a:r>
          </a:p>
          <a:p>
            <a:pPr eaLnBrk="1" hangingPunct="1">
              <a:spcBef>
                <a:spcPct val="0"/>
              </a:spcBef>
              <a:spcAft>
                <a:spcPts val="1200"/>
              </a:spcAft>
              <a:buClrTx/>
              <a:buSzTx/>
              <a:buFontTx/>
              <a:buNone/>
              <a:defRPr/>
            </a:pPr>
            <a:r>
              <a:rPr lang="en-US" altLang="en-US" sz="1400" dirty="0">
                <a:solidFill>
                  <a:srgbClr val="000000"/>
                </a:solidFill>
              </a:rPr>
              <a:t>run;</a:t>
            </a:r>
          </a:p>
        </p:txBody>
      </p:sp>
      <p:sp>
        <p:nvSpPr>
          <p:cNvPr id="4" name="TextBox 3">
            <a:extLst>
              <a:ext uri="{FF2B5EF4-FFF2-40B4-BE49-F238E27FC236}">
                <a16:creationId xmlns:a16="http://schemas.microsoft.com/office/drawing/2014/main" id="{828D6DE0-9D52-F336-1259-6EEF61FFCDEE}"/>
              </a:ext>
            </a:extLst>
          </p:cNvPr>
          <p:cNvSpPr txBox="1">
            <a:spLocks noChangeArrowheads="1"/>
          </p:cNvSpPr>
          <p:nvPr/>
        </p:nvSpPr>
        <p:spPr bwMode="auto">
          <a:xfrm>
            <a:off x="3558331" y="5160264"/>
            <a:ext cx="2643293" cy="1661993"/>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1200"/>
              </a:spcAft>
              <a:buClrTx/>
              <a:buSzTx/>
              <a:buFontTx/>
              <a:buNone/>
              <a:defRPr/>
            </a:pPr>
            <a:r>
              <a:rPr lang="en-US" altLang="en-US" sz="1200" dirty="0">
                <a:solidFill>
                  <a:srgbClr val="000000"/>
                </a:solidFill>
              </a:rPr>
              <a:t>data </a:t>
            </a:r>
            <a:r>
              <a:rPr lang="en-US" altLang="en-US" sz="1200" dirty="0" err="1">
                <a:solidFill>
                  <a:srgbClr val="000000"/>
                </a:solidFill>
              </a:rPr>
              <a:t>poisson</a:t>
            </a:r>
            <a:r>
              <a:rPr lang="en-US" altLang="en-US" sz="1200" dirty="0">
                <a:solidFill>
                  <a:srgbClr val="000000"/>
                </a:solidFill>
              </a:rPr>
              <a:t>;</a:t>
            </a:r>
          </a:p>
          <a:p>
            <a:pPr eaLnBrk="1" hangingPunct="1">
              <a:spcBef>
                <a:spcPct val="0"/>
              </a:spcBef>
              <a:spcAft>
                <a:spcPts val="1200"/>
              </a:spcAft>
              <a:buClrTx/>
              <a:buSzTx/>
              <a:buFontTx/>
              <a:buNone/>
              <a:defRPr/>
            </a:pPr>
            <a:r>
              <a:rPr lang="en-US" altLang="en-US" sz="1200" dirty="0">
                <a:solidFill>
                  <a:srgbClr val="000000"/>
                </a:solidFill>
              </a:rPr>
              <a:t>    prob = pdf('POISSON’, 0, 2.1)+ pdf('POISSON’, 1, 2.1)+ pdf('POISSON’, 2, 2.1);</a:t>
            </a:r>
          </a:p>
          <a:p>
            <a:pPr eaLnBrk="1" hangingPunct="1">
              <a:spcBef>
                <a:spcPct val="0"/>
              </a:spcBef>
              <a:spcAft>
                <a:spcPts val="1200"/>
              </a:spcAft>
              <a:buClrTx/>
              <a:buSzTx/>
              <a:buFontTx/>
              <a:buNone/>
              <a:defRPr/>
            </a:pPr>
            <a:r>
              <a:rPr lang="en-US" altLang="en-US" sz="1200" dirty="0">
                <a:solidFill>
                  <a:srgbClr val="000000"/>
                </a:solidFill>
              </a:rPr>
              <a:t>    proc print;</a:t>
            </a:r>
          </a:p>
          <a:p>
            <a:pPr eaLnBrk="1" hangingPunct="1">
              <a:spcBef>
                <a:spcPct val="0"/>
              </a:spcBef>
              <a:spcAft>
                <a:spcPts val="1200"/>
              </a:spcAft>
              <a:buClrTx/>
              <a:buSzTx/>
              <a:buFontTx/>
              <a:buNone/>
              <a:defRPr/>
            </a:pPr>
            <a:r>
              <a:rPr lang="en-US" altLang="en-US" sz="1200" dirty="0">
                <a:solidFill>
                  <a:srgbClr val="000000"/>
                </a:solidFill>
              </a:rPr>
              <a:t>run;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fade">
                                      <p:cBhvr>
                                        <p:cTn id="7" dur="1000"/>
                                        <p:tgtEl>
                                          <p:spTgt spid="2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xEl>
                                              <p:pRg st="1" end="1"/>
                                            </p:txEl>
                                          </p:spTgt>
                                        </p:tgtEl>
                                        <p:attrNameLst>
                                          <p:attrName>style.visibility</p:attrName>
                                        </p:attrNameLst>
                                      </p:cBhvr>
                                      <p:to>
                                        <p:strVal val="visible"/>
                                      </p:to>
                                    </p:set>
                                    <p:animEffect transition="in" filter="fade">
                                      <p:cBhvr>
                                        <p:cTn id="10" dur="1000"/>
                                        <p:tgtEl>
                                          <p:spTgt spid="25">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1000"/>
                                        <p:tgtEl>
                                          <p:spTgt spid="1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7" presetClass="entr" presetSubtype="1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 calcmode="lin" valueType="num">
                                      <p:cBhvr>
                                        <p:cTn id="22" dur="500" fill="hold"/>
                                        <p:tgtEl>
                                          <p:spTgt spid="14"/>
                                        </p:tgtEl>
                                        <p:attrNameLst>
                                          <p:attrName>ppt_w</p:attrName>
                                        </p:attrNameLst>
                                      </p:cBhvr>
                                      <p:tavLst>
                                        <p:tav tm="0">
                                          <p:val>
                                            <p:fltVal val="0"/>
                                          </p:val>
                                        </p:tav>
                                        <p:tav tm="100000">
                                          <p:val>
                                            <p:strVal val="#ppt_w"/>
                                          </p:val>
                                        </p:tav>
                                      </p:tavLst>
                                    </p:anim>
                                    <p:anim calcmode="lin" valueType="num">
                                      <p:cBhvr>
                                        <p:cTn id="23" dur="500" fill="hold"/>
                                        <p:tgtEl>
                                          <p:spTgt spid="14"/>
                                        </p:tgtEl>
                                        <p:attrNameLst>
                                          <p:attrName>ppt_h</p:attrName>
                                        </p:attrNameLst>
                                      </p:cBhvr>
                                      <p:tavLst>
                                        <p:tav tm="0">
                                          <p:val>
                                            <p:strVal val="#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fade">
                                      <p:cBhvr>
                                        <p:cTn id="28" dur="500"/>
                                        <p:tgtEl>
                                          <p:spTgt spid="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fade">
                                      <p:cBhvr>
                                        <p:cTn id="3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uild="p" bldLvl="5"/>
      <p:bldP spid="3" grpId="0" animBg="1"/>
      <p:bldP spid="10" grpId="0" animBg="1"/>
      <p:bldP spid="2" grpId="0" animBg="1"/>
      <p:bldP spid="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61951"/>
            <a:ext cx="6508750" cy="1695448"/>
          </a:xfrm>
        </p:spPr>
        <p:txBody>
          <a:bodyPr/>
          <a:lstStyle/>
          <a:p>
            <a:r>
              <a:rPr lang="en-US" altLang="en-US" b="1" dirty="0"/>
              <a:t>Chapter 5</a:t>
            </a:r>
            <a:br>
              <a:rPr lang="en-US" altLang="en-US" b="1" dirty="0"/>
            </a:br>
            <a:r>
              <a:rPr lang="en-US" altLang="en-US" b="1" dirty="0"/>
              <a:t>Sampling Distributions (Review)</a:t>
            </a:r>
            <a:endParaRPr lang="en-US" b="1" dirty="0"/>
          </a:p>
        </p:txBody>
      </p:sp>
      <p:sp>
        <p:nvSpPr>
          <p:cNvPr id="3" name="Content Placeholder 2"/>
          <p:cNvSpPr>
            <a:spLocks noGrp="1"/>
          </p:cNvSpPr>
          <p:nvPr>
            <p:ph idx="1"/>
          </p:nvPr>
        </p:nvSpPr>
        <p:spPr/>
        <p:txBody>
          <a:bodyPr/>
          <a:lstStyle/>
          <a:p>
            <a:pPr marL="0" lvl="0" indent="0" eaLnBrk="1" hangingPunct="1">
              <a:spcBef>
                <a:spcPct val="0"/>
              </a:spcBef>
              <a:spcAft>
                <a:spcPts val="1800"/>
              </a:spcAft>
              <a:buClrTx/>
              <a:buSzTx/>
              <a:buNone/>
            </a:pPr>
            <a:r>
              <a:rPr lang="en-US" altLang="en-US" sz="2800" b="1" dirty="0">
                <a:solidFill>
                  <a:srgbClr val="073779"/>
                </a:solidFill>
                <a:latin typeface="Arial" pitchFamily="34" charset="0"/>
                <a:ea typeface="ＭＳ Ｐゴシック" pitchFamily="34" charset="-128"/>
                <a:cs typeface="+mn-cs"/>
              </a:rPr>
              <a:t>5.1 Toward Statistical Inference</a:t>
            </a:r>
          </a:p>
          <a:p>
            <a:pPr marL="0" lvl="0" indent="0" eaLnBrk="1" hangingPunct="1">
              <a:spcBef>
                <a:spcPct val="0"/>
              </a:spcBef>
              <a:spcAft>
                <a:spcPts val="1800"/>
              </a:spcAft>
              <a:buClrTx/>
              <a:buSzTx/>
              <a:buNone/>
            </a:pPr>
            <a:r>
              <a:rPr lang="en-US" altLang="en-US" sz="2800" b="1" dirty="0">
                <a:solidFill>
                  <a:srgbClr val="073779"/>
                </a:solidFill>
                <a:latin typeface="Arial" pitchFamily="34" charset="0"/>
                <a:ea typeface="ＭＳ Ｐゴシック" pitchFamily="34" charset="-128"/>
                <a:cs typeface="+mn-cs"/>
              </a:rPr>
              <a:t>5.2 Sampling Distribution </a:t>
            </a:r>
            <a:r>
              <a:rPr lang="en-US" altLang="en-US" sz="2800" b="1">
                <a:solidFill>
                  <a:srgbClr val="073779"/>
                </a:solidFill>
                <a:latin typeface="Arial" pitchFamily="34" charset="0"/>
                <a:ea typeface="ＭＳ Ｐゴシック" pitchFamily="34" charset="-128"/>
                <a:cs typeface="+mn-cs"/>
              </a:rPr>
              <a:t>of </a:t>
            </a:r>
            <a:r>
              <a:rPr lang="en-US" altLang="zh-CN" sz="2800" b="1">
                <a:solidFill>
                  <a:srgbClr val="073779"/>
                </a:solidFill>
                <a:latin typeface="Arial" pitchFamily="34" charset="0"/>
                <a:ea typeface="ＭＳ Ｐゴシック" pitchFamily="34" charset="-128"/>
                <a:cs typeface="+mn-cs"/>
              </a:rPr>
              <a:t>the</a:t>
            </a:r>
            <a:r>
              <a:rPr lang="en-US" altLang="en-US" sz="2800" b="1">
                <a:solidFill>
                  <a:srgbClr val="073779"/>
                </a:solidFill>
                <a:latin typeface="Arial" pitchFamily="34" charset="0"/>
                <a:ea typeface="ＭＳ Ｐゴシック" pitchFamily="34" charset="-128"/>
                <a:cs typeface="+mn-cs"/>
              </a:rPr>
              <a:t> </a:t>
            </a:r>
            <a:r>
              <a:rPr lang="en-US" altLang="en-US" sz="2800" b="1" dirty="0">
                <a:solidFill>
                  <a:srgbClr val="073779"/>
                </a:solidFill>
                <a:latin typeface="Arial" pitchFamily="34" charset="0"/>
                <a:ea typeface="ＭＳ Ｐゴシック" pitchFamily="34" charset="-128"/>
                <a:cs typeface="+mn-cs"/>
              </a:rPr>
              <a:t>Sample Mean</a:t>
            </a:r>
          </a:p>
          <a:p>
            <a:pPr marL="0" lvl="0" indent="0" eaLnBrk="1" hangingPunct="1">
              <a:spcBef>
                <a:spcPct val="0"/>
              </a:spcBef>
              <a:spcAft>
                <a:spcPts val="1800"/>
              </a:spcAft>
              <a:buClrTx/>
              <a:buSzTx/>
              <a:buNone/>
            </a:pPr>
            <a:r>
              <a:rPr lang="en-US" altLang="en-US" sz="2800" b="1" dirty="0">
                <a:solidFill>
                  <a:srgbClr val="073779"/>
                </a:solidFill>
                <a:latin typeface="Arial" pitchFamily="34" charset="0"/>
                <a:ea typeface="ＭＳ Ｐゴシック" pitchFamily="34" charset="-128"/>
                <a:cs typeface="+mn-cs"/>
              </a:rPr>
              <a:t>5.3 Sampling Distributions for Counts and Proportions</a:t>
            </a:r>
          </a:p>
        </p:txBody>
      </p:sp>
      <p:sp>
        <p:nvSpPr>
          <p:cNvPr id="64514"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8B2FB0E8-16D1-4D2F-B9AD-7CA3AF2B9F51}" type="slidenum">
              <a:rPr lang="en-US" altLang="en-US" sz="1400">
                <a:solidFill>
                  <a:schemeClr val="accent1"/>
                </a:solidFill>
              </a:rPr>
              <a:pPr/>
              <a:t>30</a:t>
            </a:fld>
            <a:endParaRPr lang="en-US" altLang="en-US" sz="1400">
              <a:solidFill>
                <a:schemeClr val="accent1"/>
              </a:solidFill>
            </a:endParaRPr>
          </a:p>
        </p:txBody>
      </p:sp>
    </p:spTree>
  </p:cSld>
  <p:clrMapOvr>
    <a:masterClrMapping/>
  </p:clrMapOvr>
</p:sld>
</file>

<file path=ppt/theme/theme1.xml><?xml version="1.0" encoding="utf-8"?>
<a:theme xmlns:a="http://schemas.openxmlformats.org/drawingml/2006/main" name="Plaza">
  <a:themeElements>
    <a:clrScheme name="Sky">
      <a:dk1>
        <a:sysClr val="windowText" lastClr="000000"/>
      </a:dk1>
      <a:lt1>
        <a:sysClr val="window" lastClr="FFFFFF"/>
      </a:lt1>
      <a:dk2>
        <a:srgbClr val="1782BF"/>
      </a:dk2>
      <a:lt2>
        <a:srgbClr val="62BCE9"/>
      </a:lt2>
      <a:accent1>
        <a:srgbClr val="073779"/>
      </a:accent1>
      <a:accent2>
        <a:srgbClr val="8FD9FB"/>
      </a:accent2>
      <a:accent3>
        <a:srgbClr val="FFCC00"/>
      </a:accent3>
      <a:accent4>
        <a:srgbClr val="EB6615"/>
      </a:accent4>
      <a:accent5>
        <a:srgbClr val="C76402"/>
      </a:accent5>
      <a:accent6>
        <a:srgbClr val="B523B4"/>
      </a:accent6>
      <a:hlink>
        <a:srgbClr val="FFDE26"/>
      </a:hlink>
      <a:folHlink>
        <a:srgbClr val="DEBE0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laza">
      <a:fillStyleLst>
        <a:solidFill>
          <a:schemeClr val="phClr"/>
        </a:solidFill>
        <a:gradFill rotWithShape="1">
          <a:gsLst>
            <a:gs pos="0">
              <a:schemeClr val="phClr">
                <a:tint val="100000"/>
                <a:shade val="60000"/>
                <a:satMod val="135000"/>
              </a:schemeClr>
            </a:gs>
            <a:gs pos="100000">
              <a:schemeClr val="phClr">
                <a:tint val="100000"/>
                <a:shade val="100000"/>
                <a:satMod val="135000"/>
              </a:schemeClr>
            </a:gs>
          </a:gsLst>
          <a:lin ang="16200000" scaled="1"/>
        </a:gradFill>
        <a:gradFill rotWithShape="1">
          <a:gsLst>
            <a:gs pos="0">
              <a:schemeClr val="phClr">
                <a:shade val="70000"/>
                <a:satMod val="120000"/>
              </a:schemeClr>
            </a:gs>
            <a:gs pos="35000">
              <a:schemeClr val="phClr">
                <a:shade val="100000"/>
                <a:satMod val="150000"/>
              </a:schemeClr>
            </a:gs>
            <a:gs pos="70000">
              <a:schemeClr val="phClr">
                <a:tint val="100000"/>
                <a:shade val="100000"/>
                <a:satMod val="200000"/>
                <a:greenMod val="100000"/>
              </a:schemeClr>
            </a:gs>
            <a:gs pos="100000">
              <a:schemeClr val="phClr">
                <a:tint val="100000"/>
                <a:shade val="100000"/>
                <a:satMod val="250000"/>
                <a:greenMod val="100000"/>
              </a:schemeClr>
            </a:gs>
          </a:gsLst>
          <a:lin ang="162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a:effectStyle>
        <a:effectStyle>
          <a:effectLst>
            <a:innerShdw blurRad="50800" dist="25400" dir="13500000">
              <a:srgbClr val="FFFFFF">
                <a:alpha val="75000"/>
              </a:srgbClr>
            </a:innerShdw>
            <a:outerShdw blurRad="88900" dist="38100" dir="6600000" sx="101000" sy="101000" rotWithShape="0">
              <a:srgbClr val="000000">
                <a:alpha val="50000"/>
              </a:srgbClr>
            </a:outerShdw>
          </a:effectLst>
          <a:scene3d>
            <a:camera prst="perspectiveFront" fov="3000000"/>
            <a:lightRig rig="morning" dir="tl">
              <a:rot lat="0" lon="0" rev="1800000"/>
            </a:lightRig>
          </a:scene3d>
          <a:sp3d contourW="38100" prstMaterial="softEdge">
            <a:bevelT w="25400" h="38100"/>
            <a:contourClr>
              <a:schemeClr val="phClr">
                <a:tint val="6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Plaza.thmx</Template>
  <TotalTime>14834</TotalTime>
  <Words>3370</Words>
  <Application>Microsoft Office PowerPoint</Application>
  <PresentationFormat>On-screen Show (4:3)</PresentationFormat>
  <Paragraphs>292</Paragraphs>
  <Slides>30</Slides>
  <Notes>12</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30</vt:i4>
      </vt:variant>
    </vt:vector>
  </HeadingPairs>
  <TitlesOfParts>
    <vt:vector size="41" baseType="lpstr">
      <vt:lpstr>ＭＳ Ｐゴシック</vt:lpstr>
      <vt:lpstr>Palatino</vt:lpstr>
      <vt:lpstr>Arial</vt:lpstr>
      <vt:lpstr>Calibri</vt:lpstr>
      <vt:lpstr>Cambria Math</vt:lpstr>
      <vt:lpstr>Symbol</vt:lpstr>
      <vt:lpstr>Tw Cen MT</vt:lpstr>
      <vt:lpstr>Wingdings</vt:lpstr>
      <vt:lpstr>Wingdings 2</vt:lpstr>
      <vt:lpstr>Plaza</vt:lpstr>
      <vt:lpstr>Equation</vt:lpstr>
      <vt:lpstr>Chapter 5: Sampling Distributions</vt:lpstr>
      <vt:lpstr>Chapter 5 Sampling Distributions</vt:lpstr>
      <vt:lpstr>5.1 Toward Statistical Inference</vt:lpstr>
      <vt:lpstr>Parameters and Statistics</vt:lpstr>
      <vt:lpstr>Estimation</vt:lpstr>
      <vt:lpstr>Statistical Inference </vt:lpstr>
      <vt:lpstr>Sampling Variability</vt:lpstr>
      <vt:lpstr>Sampling Distributions</vt:lpstr>
      <vt:lpstr>Bias and Variability </vt:lpstr>
      <vt:lpstr>Managing Bias and Variability</vt:lpstr>
      <vt:lpstr>Why Random Sampling?</vt:lpstr>
      <vt:lpstr>5.2 The Sampling Distribution of a Sample Mean</vt:lpstr>
      <vt:lpstr>Probability Distribution</vt:lpstr>
      <vt:lpstr>Mean and Standard Deviation of  the Sampling Distribution of  the Sample Mean</vt:lpstr>
      <vt:lpstr>Sampling Distribution of  the Sample Mean </vt:lpstr>
      <vt:lpstr>Central Limit Theorem</vt:lpstr>
      <vt:lpstr>Illustrative Example of CLT</vt:lpstr>
      <vt:lpstr>A Few More Facts</vt:lpstr>
      <vt:lpstr>5.3 Sampling Distributions for Counts and Proportions</vt:lpstr>
      <vt:lpstr>Binomial Setting</vt:lpstr>
      <vt:lpstr>Binomial Distribution</vt:lpstr>
      <vt:lpstr>Binomial Probability</vt:lpstr>
      <vt:lpstr>Example of Binomial Probability</vt:lpstr>
      <vt:lpstr>Mean and Standard Deviation of Binomial Distribution</vt:lpstr>
      <vt:lpstr>Normal Approximation for  Binomial Distributions</vt:lpstr>
      <vt:lpstr>Another Example of Binomial Probability</vt:lpstr>
      <vt:lpstr>Sampling Distribution of the Sample Proportion of an SRS</vt:lpstr>
      <vt:lpstr>Poisson Setting</vt:lpstr>
      <vt:lpstr>Poisson Distribution</vt:lpstr>
      <vt:lpstr>Chapter 5 Sampling Distributions (Review)</vt:lpstr>
    </vt:vector>
  </TitlesOfParts>
  <Company>ISD 194</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5: Sampling Distributions</dc:title>
  <dc:creator>Jason Molesky</dc:creator>
  <cp:lastModifiedBy>Zhiyang Zhou</cp:lastModifiedBy>
  <cp:revision>300</cp:revision>
  <dcterms:created xsi:type="dcterms:W3CDTF">2012-01-13T00:58:02Z</dcterms:created>
  <dcterms:modified xsi:type="dcterms:W3CDTF">2026-10-20T03:33:33Z</dcterms:modified>
</cp:coreProperties>
</file>