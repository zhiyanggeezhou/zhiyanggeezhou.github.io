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handoutMasterIdLst>
    <p:handoutMasterId r:id="rId40"/>
  </p:handoutMasterIdLst>
  <p:sldIdLst>
    <p:sldId id="256" r:id="rId2"/>
    <p:sldId id="314" r:id="rId3"/>
    <p:sldId id="258" r:id="rId4"/>
    <p:sldId id="367" r:id="rId5"/>
    <p:sldId id="319" r:id="rId6"/>
    <p:sldId id="368" r:id="rId7"/>
    <p:sldId id="322" r:id="rId8"/>
    <p:sldId id="369" r:id="rId9"/>
    <p:sldId id="323" r:id="rId10"/>
    <p:sldId id="325" r:id="rId11"/>
    <p:sldId id="327" r:id="rId12"/>
    <p:sldId id="331" r:id="rId13"/>
    <p:sldId id="332" r:id="rId14"/>
    <p:sldId id="333" r:id="rId15"/>
    <p:sldId id="334" r:id="rId16"/>
    <p:sldId id="335" r:id="rId17"/>
    <p:sldId id="336" r:id="rId18"/>
    <p:sldId id="337" r:id="rId19"/>
    <p:sldId id="338" r:id="rId20"/>
    <p:sldId id="348" r:id="rId21"/>
    <p:sldId id="341" r:id="rId22"/>
    <p:sldId id="342" r:id="rId23"/>
    <p:sldId id="343" r:id="rId24"/>
    <p:sldId id="344" r:id="rId25"/>
    <p:sldId id="345" r:id="rId26"/>
    <p:sldId id="346" r:id="rId27"/>
    <p:sldId id="347" r:id="rId28"/>
    <p:sldId id="350" r:id="rId29"/>
    <p:sldId id="352" r:id="rId30"/>
    <p:sldId id="353" r:id="rId31"/>
    <p:sldId id="354" r:id="rId32"/>
    <p:sldId id="355" r:id="rId33"/>
    <p:sldId id="356" r:id="rId34"/>
    <p:sldId id="357" r:id="rId35"/>
    <p:sldId id="370" r:id="rId36"/>
    <p:sldId id="366" r:id="rId37"/>
    <p:sldId id="317" r:id="rId38"/>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D" initials="J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0B1"/>
    <a:srgbClr val="FFD780"/>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8CEC95-C2F8-475B-B319-23A3594C103C}" v="5451" dt="2026-10-17T06:15:09.587"/>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p:restoredTop sz="91372" autoAdjust="0"/>
  </p:normalViewPr>
  <p:slideViewPr>
    <p:cSldViewPr snapToGrid="0" snapToObjects="1">
      <p:cViewPr varScale="1">
        <p:scale>
          <a:sx n="102" d="100"/>
          <a:sy n="102" d="100"/>
        </p:scale>
        <p:origin x="188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yang Zhou" userId="715b216a-9552-4d73-a9aa-1ef002111b6f" providerId="ADAL" clId="{2B661EA1-28DD-4C7A-9BAA-1E2E41397E83}"/>
    <pc:docChg chg="undo custSel delSld modSld">
      <pc:chgData name="Zhiyang Zhou" userId="715b216a-9552-4d73-a9aa-1ef002111b6f" providerId="ADAL" clId="{2B661EA1-28DD-4C7A-9BAA-1E2E41397E83}" dt="2026-10-17T06:15:09.587" v="8223" actId="20577"/>
      <pc:docMkLst>
        <pc:docMk/>
      </pc:docMkLst>
      <pc:sldChg chg="modSp mod">
        <pc:chgData name="Zhiyang Zhou" userId="715b216a-9552-4d73-a9aa-1ef002111b6f" providerId="ADAL" clId="{2B661EA1-28DD-4C7A-9BAA-1E2E41397E83}" dt="2026-10-16T22:26:41.475" v="2981" actId="20577"/>
        <pc:sldMkLst>
          <pc:docMk/>
          <pc:sldMk cId="0" sldId="258"/>
        </pc:sldMkLst>
        <pc:spChg chg="mod">
          <ac:chgData name="Zhiyang Zhou" userId="715b216a-9552-4d73-a9aa-1ef002111b6f" providerId="ADAL" clId="{2B661EA1-28DD-4C7A-9BAA-1E2E41397E83}" dt="2026-10-16T22:26:41.475" v="2981" actId="20577"/>
          <ac:spMkLst>
            <pc:docMk/>
            <pc:sldMk cId="0" sldId="258"/>
            <ac:spMk id="28675" creationId="{00000000-0000-0000-0000-000000000000}"/>
          </ac:spMkLst>
        </pc:spChg>
      </pc:sldChg>
      <pc:sldChg chg="modSp mod">
        <pc:chgData name="Zhiyang Zhou" userId="715b216a-9552-4d73-a9aa-1ef002111b6f" providerId="ADAL" clId="{2B661EA1-28DD-4C7A-9BAA-1E2E41397E83}" dt="2026-10-17T06:07:11.721" v="8134" actId="20577"/>
        <pc:sldMkLst>
          <pc:docMk/>
          <pc:sldMk cId="0" sldId="314"/>
        </pc:sldMkLst>
        <pc:spChg chg="mod">
          <ac:chgData name="Zhiyang Zhou" userId="715b216a-9552-4d73-a9aa-1ef002111b6f" providerId="ADAL" clId="{2B661EA1-28DD-4C7A-9BAA-1E2E41397E83}" dt="2026-10-17T06:07:11.721" v="8134" actId="20577"/>
          <ac:spMkLst>
            <pc:docMk/>
            <pc:sldMk cId="0" sldId="314"/>
            <ac:spMk id="3" creationId="{00000000-0000-0000-0000-000000000000}"/>
          </ac:spMkLst>
        </pc:spChg>
      </pc:sldChg>
      <pc:sldChg chg="modSp mod">
        <pc:chgData name="Zhiyang Zhou" userId="715b216a-9552-4d73-a9aa-1ef002111b6f" providerId="ADAL" clId="{2B661EA1-28DD-4C7A-9BAA-1E2E41397E83}" dt="2026-10-17T06:06:52.955" v="8133" actId="20577"/>
        <pc:sldMkLst>
          <pc:docMk/>
          <pc:sldMk cId="0" sldId="317"/>
        </pc:sldMkLst>
        <pc:spChg chg="mod">
          <ac:chgData name="Zhiyang Zhou" userId="715b216a-9552-4d73-a9aa-1ef002111b6f" providerId="ADAL" clId="{2B661EA1-28DD-4C7A-9BAA-1E2E41397E83}" dt="2026-10-17T06:06:52.955" v="8133" actId="20577"/>
          <ac:spMkLst>
            <pc:docMk/>
            <pc:sldMk cId="0" sldId="317"/>
            <ac:spMk id="3" creationId="{00000000-0000-0000-0000-000000000000}"/>
          </ac:spMkLst>
        </pc:spChg>
      </pc:sldChg>
      <pc:sldChg chg="modSp mod modAnim">
        <pc:chgData name="Zhiyang Zhou" userId="715b216a-9552-4d73-a9aa-1ef002111b6f" providerId="ADAL" clId="{2B661EA1-28DD-4C7A-9BAA-1E2E41397E83}" dt="2026-10-17T03:02:18.714" v="4995" actId="1035"/>
        <pc:sldMkLst>
          <pc:docMk/>
          <pc:sldMk cId="0" sldId="319"/>
        </pc:sldMkLst>
        <pc:spChg chg="mod">
          <ac:chgData name="Zhiyang Zhou" userId="715b216a-9552-4d73-a9aa-1ef002111b6f" providerId="ADAL" clId="{2B661EA1-28DD-4C7A-9BAA-1E2E41397E83}" dt="2026-10-17T03:02:18.714" v="4995" actId="1035"/>
          <ac:spMkLst>
            <pc:docMk/>
            <pc:sldMk cId="0" sldId="319"/>
            <ac:spMk id="2" creationId="{00000000-0000-0000-0000-000000000000}"/>
          </ac:spMkLst>
        </pc:spChg>
      </pc:sldChg>
      <pc:sldChg chg="delSp modSp del mod modAnim">
        <pc:chgData name="Zhiyang Zhou" userId="715b216a-9552-4d73-a9aa-1ef002111b6f" providerId="ADAL" clId="{2B661EA1-28DD-4C7A-9BAA-1E2E41397E83}" dt="2026-10-16T21:07:47.572" v="1012" actId="47"/>
        <pc:sldMkLst>
          <pc:docMk/>
          <pc:sldMk cId="0" sldId="320"/>
        </pc:sldMkLst>
        <pc:spChg chg="del">
          <ac:chgData name="Zhiyang Zhou" userId="715b216a-9552-4d73-a9aa-1ef002111b6f" providerId="ADAL" clId="{2B661EA1-28DD-4C7A-9BAA-1E2E41397E83}" dt="2026-10-16T20:55:21.960" v="396" actId="478"/>
          <ac:spMkLst>
            <pc:docMk/>
            <pc:sldMk cId="0" sldId="320"/>
            <ac:spMk id="2" creationId="{00000000-0000-0000-0000-000000000000}"/>
          </ac:spMkLst>
        </pc:spChg>
        <pc:spChg chg="del mod">
          <ac:chgData name="Zhiyang Zhou" userId="715b216a-9552-4d73-a9aa-1ef002111b6f" providerId="ADAL" clId="{2B661EA1-28DD-4C7A-9BAA-1E2E41397E83}" dt="2026-10-16T21:04:32.520" v="980" actId="478"/>
          <ac:spMkLst>
            <pc:docMk/>
            <pc:sldMk cId="0" sldId="320"/>
            <ac:spMk id="17" creationId="{00000000-0000-0000-0000-000000000000}"/>
          </ac:spMkLst>
        </pc:spChg>
        <pc:spChg chg="del mod">
          <ac:chgData name="Zhiyang Zhou" userId="715b216a-9552-4d73-a9aa-1ef002111b6f" providerId="ADAL" clId="{2B661EA1-28DD-4C7A-9BAA-1E2E41397E83}" dt="2026-10-16T21:05:28.775" v="988" actId="478"/>
          <ac:spMkLst>
            <pc:docMk/>
            <pc:sldMk cId="0" sldId="320"/>
            <ac:spMk id="18" creationId="{00000000-0000-0000-0000-000000000000}"/>
          </ac:spMkLst>
        </pc:spChg>
        <pc:spChg chg="mod">
          <ac:chgData name="Zhiyang Zhou" userId="715b216a-9552-4d73-a9aa-1ef002111b6f" providerId="ADAL" clId="{2B661EA1-28DD-4C7A-9BAA-1E2E41397E83}" dt="2026-10-16T20:58:09.910" v="494" actId="20577"/>
          <ac:spMkLst>
            <pc:docMk/>
            <pc:sldMk cId="0" sldId="320"/>
            <ac:spMk id="32771" creationId="{00000000-0000-0000-0000-000000000000}"/>
          </ac:spMkLst>
        </pc:spChg>
        <pc:spChg chg="mod">
          <ac:chgData name="Zhiyang Zhou" userId="715b216a-9552-4d73-a9aa-1ef002111b6f" providerId="ADAL" clId="{2B661EA1-28DD-4C7A-9BAA-1E2E41397E83}" dt="2026-10-16T21:06:00.952" v="992" actId="14100"/>
          <ac:spMkLst>
            <pc:docMk/>
            <pc:sldMk cId="0" sldId="320"/>
            <ac:spMk id="32772" creationId="{00000000-0000-0000-0000-000000000000}"/>
          </ac:spMkLst>
        </pc:spChg>
      </pc:sldChg>
      <pc:sldChg chg="addSp delSp modSp mod addAnim delAnim modAnim">
        <pc:chgData name="Zhiyang Zhou" userId="715b216a-9552-4d73-a9aa-1ef002111b6f" providerId="ADAL" clId="{2B661EA1-28DD-4C7A-9BAA-1E2E41397E83}" dt="2026-10-17T03:06:34.054" v="5114" actId="20577"/>
        <pc:sldMkLst>
          <pc:docMk/>
          <pc:sldMk cId="0" sldId="322"/>
        </pc:sldMkLst>
        <pc:spChg chg="mod">
          <ac:chgData name="Zhiyang Zhou" userId="715b216a-9552-4d73-a9aa-1ef002111b6f" providerId="ADAL" clId="{2B661EA1-28DD-4C7A-9BAA-1E2E41397E83}" dt="2026-10-16T21:12:02.738" v="1192" actId="1036"/>
          <ac:spMkLst>
            <pc:docMk/>
            <pc:sldMk cId="0" sldId="322"/>
            <ac:spMk id="2" creationId="{00000000-0000-0000-0000-000000000000}"/>
          </ac:spMkLst>
        </pc:spChg>
        <pc:spChg chg="mod">
          <ac:chgData name="Zhiyang Zhou" userId="715b216a-9552-4d73-a9aa-1ef002111b6f" providerId="ADAL" clId="{2B661EA1-28DD-4C7A-9BAA-1E2E41397E83}" dt="2026-10-17T03:06:34.054" v="5114" actId="20577"/>
          <ac:spMkLst>
            <pc:docMk/>
            <pc:sldMk cId="0" sldId="322"/>
            <ac:spMk id="3" creationId="{00000000-0000-0000-0000-000000000000}"/>
          </ac:spMkLst>
        </pc:spChg>
        <pc:spChg chg="add del mod">
          <ac:chgData name="Zhiyang Zhou" userId="715b216a-9552-4d73-a9aa-1ef002111b6f" providerId="ADAL" clId="{2B661EA1-28DD-4C7A-9BAA-1E2E41397E83}" dt="2026-10-16T22:10:21.495" v="2394" actId="478"/>
          <ac:spMkLst>
            <pc:docMk/>
            <pc:sldMk cId="0" sldId="322"/>
            <ac:spMk id="7" creationId="{FA780632-B4BB-F6F5-60D2-3101B48CE0B4}"/>
          </ac:spMkLst>
        </pc:spChg>
        <pc:spChg chg="mod">
          <ac:chgData name="Zhiyang Zhou" userId="715b216a-9552-4d73-a9aa-1ef002111b6f" providerId="ADAL" clId="{2B661EA1-28DD-4C7A-9BAA-1E2E41397E83}" dt="2026-10-17T01:50:55.589" v="3727" actId="1035"/>
          <ac:spMkLst>
            <pc:docMk/>
            <pc:sldMk cId="0" sldId="322"/>
            <ac:spMk id="11" creationId="{00000000-0000-0000-0000-000000000000}"/>
          </ac:spMkLst>
        </pc:spChg>
        <pc:spChg chg="mod">
          <ac:chgData name="Zhiyang Zhou" userId="715b216a-9552-4d73-a9aa-1ef002111b6f" providerId="ADAL" clId="{2B661EA1-28DD-4C7A-9BAA-1E2E41397E83}" dt="2026-10-16T21:16:10.072" v="1339" actId="207"/>
          <ac:spMkLst>
            <pc:docMk/>
            <pc:sldMk cId="0" sldId="322"/>
            <ac:spMk id="12" creationId="{00000000-0000-0000-0000-000000000000}"/>
          </ac:spMkLst>
        </pc:spChg>
        <pc:spChg chg="mod">
          <ac:chgData name="Zhiyang Zhou" userId="715b216a-9552-4d73-a9aa-1ef002111b6f" providerId="ADAL" clId="{2B661EA1-28DD-4C7A-9BAA-1E2E41397E83}" dt="2026-10-16T22:12:28.334" v="2728" actId="20577"/>
          <ac:spMkLst>
            <pc:docMk/>
            <pc:sldMk cId="0" sldId="322"/>
            <ac:spMk id="13" creationId="{00000000-0000-0000-0000-000000000000}"/>
          </ac:spMkLst>
        </pc:spChg>
        <pc:spChg chg="del">
          <ac:chgData name="Zhiyang Zhou" userId="715b216a-9552-4d73-a9aa-1ef002111b6f" providerId="ADAL" clId="{2B661EA1-28DD-4C7A-9BAA-1E2E41397E83}" dt="2026-10-16T21:37:39.833" v="1453" actId="478"/>
          <ac:spMkLst>
            <pc:docMk/>
            <pc:sldMk cId="0" sldId="322"/>
            <ac:spMk id="22" creationId="{00000000-0000-0000-0000-000000000000}"/>
          </ac:spMkLst>
        </pc:spChg>
        <pc:picChg chg="add del">
          <ac:chgData name="Zhiyang Zhou" userId="715b216a-9552-4d73-a9aa-1ef002111b6f" providerId="ADAL" clId="{2B661EA1-28DD-4C7A-9BAA-1E2E41397E83}" dt="2026-10-16T21:16:40.146" v="1342" actId="22"/>
          <ac:picMkLst>
            <pc:docMk/>
            <pc:sldMk cId="0" sldId="322"/>
            <ac:picMk id="5" creationId="{2A50AE09-5932-A3D1-37D4-756FC9F654BF}"/>
          </ac:picMkLst>
        </pc:picChg>
      </pc:sldChg>
      <pc:sldChg chg="addSp delSp modSp mod modAnim">
        <pc:chgData name="Zhiyang Zhou" userId="715b216a-9552-4d73-a9aa-1ef002111b6f" providerId="ADAL" clId="{2B661EA1-28DD-4C7A-9BAA-1E2E41397E83}" dt="2026-10-17T02:17:18.408" v="4229" actId="20577"/>
        <pc:sldMkLst>
          <pc:docMk/>
          <pc:sldMk cId="0" sldId="323"/>
        </pc:sldMkLst>
        <pc:spChg chg="add del mod">
          <ac:chgData name="Zhiyang Zhou" userId="715b216a-9552-4d73-a9aa-1ef002111b6f" providerId="ADAL" clId="{2B661EA1-28DD-4C7A-9BAA-1E2E41397E83}" dt="2026-10-16T22:19:34.547" v="2806" actId="478"/>
          <ac:spMkLst>
            <pc:docMk/>
            <pc:sldMk cId="0" sldId="323"/>
            <ac:spMk id="3" creationId="{98EEB6CF-6CB7-7882-B02F-75189747B6BB}"/>
          </ac:spMkLst>
        </pc:spChg>
        <pc:spChg chg="mod">
          <ac:chgData name="Zhiyang Zhou" userId="715b216a-9552-4d73-a9aa-1ef002111b6f" providerId="ADAL" clId="{2B661EA1-28DD-4C7A-9BAA-1E2E41397E83}" dt="2026-10-17T02:16:37.391" v="4225" actId="1076"/>
          <ac:spMkLst>
            <pc:docMk/>
            <pc:sldMk cId="0" sldId="323"/>
            <ac:spMk id="13" creationId="{00000000-0000-0000-0000-000000000000}"/>
          </ac:spMkLst>
        </pc:spChg>
        <pc:spChg chg="mod">
          <ac:chgData name="Zhiyang Zhou" userId="715b216a-9552-4d73-a9aa-1ef002111b6f" providerId="ADAL" clId="{2B661EA1-28DD-4C7A-9BAA-1E2E41397E83}" dt="2026-10-17T02:17:18.408" v="4229" actId="20577"/>
          <ac:spMkLst>
            <pc:docMk/>
            <pc:sldMk cId="0" sldId="323"/>
            <ac:spMk id="15" creationId="{00000000-0000-0000-0000-000000000000}"/>
          </ac:spMkLst>
        </pc:spChg>
        <pc:spChg chg="mod">
          <ac:chgData name="Zhiyang Zhou" userId="715b216a-9552-4d73-a9aa-1ef002111b6f" providerId="ADAL" clId="{2B661EA1-28DD-4C7A-9BAA-1E2E41397E83}" dt="2026-10-17T02:11:14.859" v="3981" actId="20577"/>
          <ac:spMkLst>
            <pc:docMk/>
            <pc:sldMk cId="0" sldId="323"/>
            <ac:spMk id="37891" creationId="{00000000-0000-0000-0000-000000000000}"/>
          </ac:spMkLst>
        </pc:spChg>
        <pc:spChg chg="del mod">
          <ac:chgData name="Zhiyang Zhou" userId="715b216a-9552-4d73-a9aa-1ef002111b6f" providerId="ADAL" clId="{2B661EA1-28DD-4C7A-9BAA-1E2E41397E83}" dt="2026-10-16T22:23:07.556" v="2947" actId="478"/>
          <ac:spMkLst>
            <pc:docMk/>
            <pc:sldMk cId="0" sldId="323"/>
            <ac:spMk id="37894" creationId="{00000000-0000-0000-0000-000000000000}"/>
          </ac:spMkLst>
        </pc:spChg>
        <pc:spChg chg="del mod">
          <ac:chgData name="Zhiyang Zhou" userId="715b216a-9552-4d73-a9aa-1ef002111b6f" providerId="ADAL" clId="{2B661EA1-28DD-4C7A-9BAA-1E2E41397E83}" dt="2026-10-16T22:23:06.243" v="2946" actId="478"/>
          <ac:spMkLst>
            <pc:docMk/>
            <pc:sldMk cId="0" sldId="323"/>
            <ac:spMk id="37896" creationId="{00000000-0000-0000-0000-000000000000}"/>
          </ac:spMkLst>
        </pc:spChg>
      </pc:sldChg>
      <pc:sldChg chg="addSp delSp modSp mod delAnim modAnim">
        <pc:chgData name="Zhiyang Zhou" userId="715b216a-9552-4d73-a9aa-1ef002111b6f" providerId="ADAL" clId="{2B661EA1-28DD-4C7A-9BAA-1E2E41397E83}" dt="2026-10-17T02:20:01.519" v="4317" actId="20577"/>
        <pc:sldMkLst>
          <pc:docMk/>
          <pc:sldMk cId="0" sldId="325"/>
        </pc:sldMkLst>
        <pc:spChg chg="add mod">
          <ac:chgData name="Zhiyang Zhou" userId="715b216a-9552-4d73-a9aa-1ef002111b6f" providerId="ADAL" clId="{2B661EA1-28DD-4C7A-9BAA-1E2E41397E83}" dt="2026-10-17T02:20:01.519" v="4317" actId="20577"/>
          <ac:spMkLst>
            <pc:docMk/>
            <pc:sldMk cId="0" sldId="325"/>
            <ac:spMk id="3" creationId="{7DFA77AF-6638-DF84-03E0-A305EC1A2B32}"/>
          </ac:spMkLst>
        </pc:spChg>
        <pc:spChg chg="mod">
          <ac:chgData name="Zhiyang Zhou" userId="715b216a-9552-4d73-a9aa-1ef002111b6f" providerId="ADAL" clId="{2B661EA1-28DD-4C7A-9BAA-1E2E41397E83}" dt="2026-10-17T02:07:28.681" v="3873" actId="20577"/>
          <ac:spMkLst>
            <pc:docMk/>
            <pc:sldMk cId="0" sldId="325"/>
            <ac:spMk id="5" creationId="{00000000-0000-0000-0000-000000000000}"/>
          </ac:spMkLst>
        </pc:spChg>
        <pc:spChg chg="mod">
          <ac:chgData name="Zhiyang Zhou" userId="715b216a-9552-4d73-a9aa-1ef002111b6f" providerId="ADAL" clId="{2B661EA1-28DD-4C7A-9BAA-1E2E41397E83}" dt="2026-10-17T02:17:08.233" v="4227" actId="1076"/>
          <ac:spMkLst>
            <pc:docMk/>
            <pc:sldMk cId="0" sldId="325"/>
            <ac:spMk id="9" creationId="{00000000-0000-0000-0000-000000000000}"/>
          </ac:spMkLst>
        </pc:spChg>
        <pc:spChg chg="mod">
          <ac:chgData name="Zhiyang Zhou" userId="715b216a-9552-4d73-a9aa-1ef002111b6f" providerId="ADAL" clId="{2B661EA1-28DD-4C7A-9BAA-1E2E41397E83}" dt="2026-10-17T02:07:46.645" v="3882" actId="20577"/>
          <ac:spMkLst>
            <pc:docMk/>
            <pc:sldMk cId="0" sldId="325"/>
            <ac:spMk id="10" creationId="{00000000-0000-0000-0000-000000000000}"/>
          </ac:spMkLst>
        </pc:spChg>
        <pc:spChg chg="mod">
          <ac:chgData name="Zhiyang Zhou" userId="715b216a-9552-4d73-a9aa-1ef002111b6f" providerId="ADAL" clId="{2B661EA1-28DD-4C7A-9BAA-1E2E41397E83}" dt="2026-10-16T22:44:13.032" v="3530" actId="20577"/>
          <ac:spMkLst>
            <pc:docMk/>
            <pc:sldMk cId="0" sldId="325"/>
            <ac:spMk id="38915" creationId="{00000000-0000-0000-0000-000000000000}"/>
          </ac:spMkLst>
        </pc:spChg>
        <pc:spChg chg="del">
          <ac:chgData name="Zhiyang Zhou" userId="715b216a-9552-4d73-a9aa-1ef002111b6f" providerId="ADAL" clId="{2B661EA1-28DD-4C7A-9BAA-1E2E41397E83}" dt="2026-10-16T22:28:50.539" v="2986" actId="478"/>
          <ac:spMkLst>
            <pc:docMk/>
            <pc:sldMk cId="0" sldId="325"/>
            <ac:spMk id="38916" creationId="{00000000-0000-0000-0000-000000000000}"/>
          </ac:spMkLst>
        </pc:spChg>
        <pc:grpChg chg="mod">
          <ac:chgData name="Zhiyang Zhou" userId="715b216a-9552-4d73-a9aa-1ef002111b6f" providerId="ADAL" clId="{2B661EA1-28DD-4C7A-9BAA-1E2E41397E83}" dt="2026-10-17T02:12:09.759" v="4060" actId="1036"/>
          <ac:grpSpMkLst>
            <pc:docMk/>
            <pc:sldMk cId="0" sldId="325"/>
            <ac:grpSpMk id="2" creationId="{00000000-0000-0000-0000-000000000000}"/>
          </ac:grpSpMkLst>
        </pc:grpChg>
        <pc:graphicFrameChg chg="del mod">
          <ac:chgData name="Zhiyang Zhou" userId="715b216a-9552-4d73-a9aa-1ef002111b6f" providerId="ADAL" clId="{2B661EA1-28DD-4C7A-9BAA-1E2E41397E83}" dt="2026-10-16T22:35:27.835" v="3161" actId="478"/>
          <ac:graphicFrameMkLst>
            <pc:docMk/>
            <pc:sldMk cId="0" sldId="325"/>
            <ac:graphicFrameMk id="6" creationId="{00000000-0000-0000-0000-000000000000}"/>
          </ac:graphicFrameMkLst>
        </pc:graphicFrameChg>
        <pc:picChg chg="del">
          <ac:chgData name="Zhiyang Zhou" userId="715b216a-9552-4d73-a9aa-1ef002111b6f" providerId="ADAL" clId="{2B661EA1-28DD-4C7A-9BAA-1E2E41397E83}" dt="2026-10-16T22:35:28.152" v="3162" actId="478"/>
          <ac:picMkLst>
            <pc:docMk/>
            <pc:sldMk cId="0" sldId="325"/>
            <ac:picMk id="7" creationId="{00000000-0000-0000-0000-000000000000}"/>
          </ac:picMkLst>
        </pc:picChg>
      </pc:sldChg>
      <pc:sldChg chg="modSp mod modAnim">
        <pc:chgData name="Zhiyang Zhou" userId="715b216a-9552-4d73-a9aa-1ef002111b6f" providerId="ADAL" clId="{2B661EA1-28DD-4C7A-9BAA-1E2E41397E83}" dt="2026-10-17T02:28:34.929" v="4393" actId="1035"/>
        <pc:sldMkLst>
          <pc:docMk/>
          <pc:sldMk cId="0" sldId="327"/>
        </pc:sldMkLst>
        <pc:spChg chg="mod">
          <ac:chgData name="Zhiyang Zhou" userId="715b216a-9552-4d73-a9aa-1ef002111b6f" providerId="ADAL" clId="{2B661EA1-28DD-4C7A-9BAA-1E2E41397E83}" dt="2026-10-17T02:25:32.847" v="4329" actId="1076"/>
          <ac:spMkLst>
            <pc:docMk/>
            <pc:sldMk cId="0" sldId="327"/>
            <ac:spMk id="2" creationId="{00000000-0000-0000-0000-000000000000}"/>
          </ac:spMkLst>
        </pc:spChg>
        <pc:spChg chg="mod">
          <ac:chgData name="Zhiyang Zhou" userId="715b216a-9552-4d73-a9aa-1ef002111b6f" providerId="ADAL" clId="{2B661EA1-28DD-4C7A-9BAA-1E2E41397E83}" dt="2026-10-17T02:28:34.929" v="4393" actId="1035"/>
          <ac:spMkLst>
            <pc:docMk/>
            <pc:sldMk cId="0" sldId="327"/>
            <ac:spMk id="7" creationId="{00000000-0000-0000-0000-000000000000}"/>
          </ac:spMkLst>
        </pc:spChg>
      </pc:sldChg>
      <pc:sldChg chg="del">
        <pc:chgData name="Zhiyang Zhou" userId="715b216a-9552-4d73-a9aa-1ef002111b6f" providerId="ADAL" clId="{2B661EA1-28DD-4C7A-9BAA-1E2E41397E83}" dt="2026-10-17T01:49:08.821" v="3705" actId="2696"/>
        <pc:sldMkLst>
          <pc:docMk/>
          <pc:sldMk cId="0" sldId="328"/>
        </pc:sldMkLst>
      </pc:sldChg>
      <pc:sldChg chg="modSp del mod modShow">
        <pc:chgData name="Zhiyang Zhou" userId="715b216a-9552-4d73-a9aa-1ef002111b6f" providerId="ADAL" clId="{2B661EA1-28DD-4C7A-9BAA-1E2E41397E83}" dt="2026-10-17T02:19:08.607" v="4276" actId="2696"/>
        <pc:sldMkLst>
          <pc:docMk/>
          <pc:sldMk cId="0" sldId="329"/>
        </pc:sldMkLst>
        <pc:spChg chg="mod">
          <ac:chgData name="Zhiyang Zhou" userId="715b216a-9552-4d73-a9aa-1ef002111b6f" providerId="ADAL" clId="{2B661EA1-28DD-4C7A-9BAA-1E2E41397E83}" dt="2026-10-17T01:49:12.812" v="3706" actId="20577"/>
          <ac:spMkLst>
            <pc:docMk/>
            <pc:sldMk cId="0" sldId="329"/>
            <ac:spMk id="41986" creationId="{00000000-0000-0000-0000-000000000000}"/>
          </ac:spMkLst>
        </pc:spChg>
        <pc:spChg chg="mod">
          <ac:chgData name="Zhiyang Zhou" userId="715b216a-9552-4d73-a9aa-1ef002111b6f" providerId="ADAL" clId="{2B661EA1-28DD-4C7A-9BAA-1E2E41397E83}" dt="2026-10-17T01:52:02.460" v="3729"/>
          <ac:spMkLst>
            <pc:docMk/>
            <pc:sldMk cId="0" sldId="329"/>
            <ac:spMk id="41987" creationId="{00000000-0000-0000-0000-000000000000}"/>
          </ac:spMkLst>
        </pc:spChg>
      </pc:sldChg>
      <pc:sldChg chg="addSp delSp modSp del mod modShow modNotesTx">
        <pc:chgData name="Zhiyang Zhou" userId="715b216a-9552-4d73-a9aa-1ef002111b6f" providerId="ADAL" clId="{2B661EA1-28DD-4C7A-9BAA-1E2E41397E83}" dt="2026-10-17T02:31:10.949" v="4427" actId="2696"/>
        <pc:sldMkLst>
          <pc:docMk/>
          <pc:sldMk cId="0" sldId="330"/>
        </pc:sldMkLst>
        <pc:spChg chg="mod">
          <ac:chgData name="Zhiyang Zhou" userId="715b216a-9552-4d73-a9aa-1ef002111b6f" providerId="ADAL" clId="{2B661EA1-28DD-4C7A-9BAA-1E2E41397E83}" dt="2026-10-16T17:32:51.926" v="30" actId="20577"/>
          <ac:spMkLst>
            <pc:docMk/>
            <pc:sldMk cId="0" sldId="330"/>
            <ac:spMk id="46082" creationId="{00000000-0000-0000-0000-000000000000}"/>
          </ac:spMkLst>
        </pc:spChg>
        <pc:spChg chg="mod">
          <ac:chgData name="Zhiyang Zhou" userId="715b216a-9552-4d73-a9aa-1ef002111b6f" providerId="ADAL" clId="{2B661EA1-28DD-4C7A-9BAA-1E2E41397E83}" dt="2026-10-16T17:41:02.156" v="160" actId="1076"/>
          <ac:spMkLst>
            <pc:docMk/>
            <pc:sldMk cId="0" sldId="330"/>
            <ac:spMk id="46085" creationId="{00000000-0000-0000-0000-000000000000}"/>
          </ac:spMkLst>
        </pc:spChg>
        <pc:spChg chg="mod">
          <ac:chgData name="Zhiyang Zhou" userId="715b216a-9552-4d73-a9aa-1ef002111b6f" providerId="ADAL" clId="{2B661EA1-28DD-4C7A-9BAA-1E2E41397E83}" dt="2026-10-16T17:41:02.156" v="160" actId="1076"/>
          <ac:spMkLst>
            <pc:docMk/>
            <pc:sldMk cId="0" sldId="330"/>
            <ac:spMk id="46086" creationId="{00000000-0000-0000-0000-000000000000}"/>
          </ac:spMkLst>
        </pc:spChg>
        <pc:spChg chg="mod">
          <ac:chgData name="Zhiyang Zhou" userId="715b216a-9552-4d73-a9aa-1ef002111b6f" providerId="ADAL" clId="{2B661EA1-28DD-4C7A-9BAA-1E2E41397E83}" dt="2026-10-16T17:40:45.233" v="155" actId="1076"/>
          <ac:spMkLst>
            <pc:docMk/>
            <pc:sldMk cId="0" sldId="330"/>
            <ac:spMk id="46087" creationId="{00000000-0000-0000-0000-000000000000}"/>
          </ac:spMkLst>
        </pc:spChg>
        <pc:grpChg chg="add del">
          <ac:chgData name="Zhiyang Zhou" userId="715b216a-9552-4d73-a9aa-1ef002111b6f" providerId="ADAL" clId="{2B661EA1-28DD-4C7A-9BAA-1E2E41397E83}" dt="2026-10-16T17:41:02.480" v="161" actId="478"/>
          <ac:grpSpMkLst>
            <pc:docMk/>
            <pc:sldMk cId="0" sldId="330"/>
            <ac:grpSpMk id="46083" creationId="{00000000-0000-0000-0000-000000000000}"/>
          </ac:grpSpMkLst>
        </pc:grpChg>
        <pc:picChg chg="mod">
          <ac:chgData name="Zhiyang Zhou" userId="715b216a-9552-4d73-a9aa-1ef002111b6f" providerId="ADAL" clId="{2B661EA1-28DD-4C7A-9BAA-1E2E41397E83}" dt="2026-10-16T17:41:02.156" v="160" actId="1076"/>
          <ac:picMkLst>
            <pc:docMk/>
            <pc:sldMk cId="0" sldId="330"/>
            <ac:picMk id="46084" creationId="{00000000-0000-0000-0000-000000000000}"/>
          </ac:picMkLst>
        </pc:picChg>
      </pc:sldChg>
      <pc:sldChg chg="addSp delSp modSp mod">
        <pc:chgData name="Zhiyang Zhou" userId="715b216a-9552-4d73-a9aa-1ef002111b6f" providerId="ADAL" clId="{2B661EA1-28DD-4C7A-9BAA-1E2E41397E83}" dt="2026-10-17T02:44:53.903" v="4860" actId="20577"/>
        <pc:sldMkLst>
          <pc:docMk/>
          <pc:sldMk cId="0" sldId="331"/>
        </pc:sldMkLst>
        <pc:spChg chg="add mod">
          <ac:chgData name="Zhiyang Zhou" userId="715b216a-9552-4d73-a9aa-1ef002111b6f" providerId="ADAL" clId="{2B661EA1-28DD-4C7A-9BAA-1E2E41397E83}" dt="2026-10-17T02:35:44.941" v="4481" actId="1076"/>
          <ac:spMkLst>
            <pc:docMk/>
            <pc:sldMk cId="0" sldId="331"/>
            <ac:spMk id="3" creationId="{2DA81A68-C459-DC5B-0276-BA8861F72C9C}"/>
          </ac:spMkLst>
        </pc:spChg>
        <pc:spChg chg="mod">
          <ac:chgData name="Zhiyang Zhou" userId="715b216a-9552-4d73-a9aa-1ef002111b6f" providerId="ADAL" clId="{2B661EA1-28DD-4C7A-9BAA-1E2E41397E83}" dt="2026-10-17T02:37:00.560" v="4505" actId="20577"/>
          <ac:spMkLst>
            <pc:docMk/>
            <pc:sldMk cId="0" sldId="331"/>
            <ac:spMk id="48130" creationId="{00000000-0000-0000-0000-000000000000}"/>
          </ac:spMkLst>
        </pc:spChg>
        <pc:spChg chg="mod">
          <ac:chgData name="Zhiyang Zhou" userId="715b216a-9552-4d73-a9aa-1ef002111b6f" providerId="ADAL" clId="{2B661EA1-28DD-4C7A-9BAA-1E2E41397E83}" dt="2026-10-17T02:33:59.943" v="4455" actId="20577"/>
          <ac:spMkLst>
            <pc:docMk/>
            <pc:sldMk cId="0" sldId="331"/>
            <ac:spMk id="48131" creationId="{00000000-0000-0000-0000-000000000000}"/>
          </ac:spMkLst>
        </pc:spChg>
        <pc:spChg chg="mod">
          <ac:chgData name="Zhiyang Zhou" userId="715b216a-9552-4d73-a9aa-1ef002111b6f" providerId="ADAL" clId="{2B661EA1-28DD-4C7A-9BAA-1E2E41397E83}" dt="2026-10-17T02:44:53.903" v="4860" actId="20577"/>
          <ac:spMkLst>
            <pc:docMk/>
            <pc:sldMk cId="0" sldId="331"/>
            <ac:spMk id="1260549" creationId="{00000000-0000-0000-0000-000000000000}"/>
          </ac:spMkLst>
        </pc:spChg>
        <pc:graphicFrameChg chg="del mod">
          <ac:chgData name="Zhiyang Zhou" userId="715b216a-9552-4d73-a9aa-1ef002111b6f" providerId="ADAL" clId="{2B661EA1-28DD-4C7A-9BAA-1E2E41397E83}" dt="2026-10-17T02:35:42.473" v="4480" actId="478"/>
          <ac:graphicFrameMkLst>
            <pc:docMk/>
            <pc:sldMk cId="0" sldId="331"/>
            <ac:graphicFrameMk id="48132" creationId="{00000000-0000-0000-0000-000000000000}"/>
          </ac:graphicFrameMkLst>
        </pc:graphicFrameChg>
      </pc:sldChg>
      <pc:sldChg chg="addSp delSp modSp mod delAnim">
        <pc:chgData name="Zhiyang Zhou" userId="715b216a-9552-4d73-a9aa-1ef002111b6f" providerId="ADAL" clId="{2B661EA1-28DD-4C7A-9BAA-1E2E41397E83}" dt="2026-10-17T03:06:14.175" v="5109" actId="20577"/>
        <pc:sldMkLst>
          <pc:docMk/>
          <pc:sldMk cId="0" sldId="332"/>
        </pc:sldMkLst>
        <pc:spChg chg="add mod">
          <ac:chgData name="Zhiyang Zhou" userId="715b216a-9552-4d73-a9aa-1ef002111b6f" providerId="ADAL" clId="{2B661EA1-28DD-4C7A-9BAA-1E2E41397E83}" dt="2026-10-17T02:43:53.886" v="4774" actId="20577"/>
          <ac:spMkLst>
            <pc:docMk/>
            <pc:sldMk cId="0" sldId="332"/>
            <ac:spMk id="3" creationId="{A78DC6D9-0649-00C0-56DF-0B0E278D5E41}"/>
          </ac:spMkLst>
        </pc:spChg>
        <pc:spChg chg="mod">
          <ac:chgData name="Zhiyang Zhou" userId="715b216a-9552-4d73-a9aa-1ef002111b6f" providerId="ADAL" clId="{2B661EA1-28DD-4C7A-9BAA-1E2E41397E83}" dt="2026-10-17T03:06:14.175" v="5109" actId="20577"/>
          <ac:spMkLst>
            <pc:docMk/>
            <pc:sldMk cId="0" sldId="332"/>
            <ac:spMk id="50178" creationId="{00000000-0000-0000-0000-000000000000}"/>
          </ac:spMkLst>
        </pc:spChg>
        <pc:spChg chg="mod">
          <ac:chgData name="Zhiyang Zhou" userId="715b216a-9552-4d73-a9aa-1ef002111b6f" providerId="ADAL" clId="{2B661EA1-28DD-4C7A-9BAA-1E2E41397E83}" dt="2026-10-17T02:42:55.155" v="4749" actId="20577"/>
          <ac:spMkLst>
            <pc:docMk/>
            <pc:sldMk cId="0" sldId="332"/>
            <ac:spMk id="50180" creationId="{00000000-0000-0000-0000-000000000000}"/>
          </ac:spMkLst>
        </pc:spChg>
        <pc:spChg chg="mod">
          <ac:chgData name="Zhiyang Zhou" userId="715b216a-9552-4d73-a9aa-1ef002111b6f" providerId="ADAL" clId="{2B661EA1-28DD-4C7A-9BAA-1E2E41397E83}" dt="2026-10-17T02:44:25.352" v="4798" actId="1035"/>
          <ac:spMkLst>
            <pc:docMk/>
            <pc:sldMk cId="0" sldId="332"/>
            <ac:spMk id="1259535" creationId="{00000000-0000-0000-0000-000000000000}"/>
          </ac:spMkLst>
        </pc:spChg>
        <pc:graphicFrameChg chg="del">
          <ac:chgData name="Zhiyang Zhou" userId="715b216a-9552-4d73-a9aa-1ef002111b6f" providerId="ADAL" clId="{2B661EA1-28DD-4C7A-9BAA-1E2E41397E83}" dt="2026-10-17T02:43:56.376" v="4775" actId="478"/>
          <ac:graphicFrameMkLst>
            <pc:docMk/>
            <pc:sldMk cId="0" sldId="332"/>
            <ac:graphicFrameMk id="1259532" creationId="{00000000-0000-0000-0000-000000000000}"/>
          </ac:graphicFrameMkLst>
        </pc:graphicFrameChg>
        <pc:picChg chg="del">
          <ac:chgData name="Zhiyang Zhou" userId="715b216a-9552-4d73-a9aa-1ef002111b6f" providerId="ADAL" clId="{2B661EA1-28DD-4C7A-9BAA-1E2E41397E83}" dt="2026-10-17T02:44:27.071" v="4799" actId="478"/>
          <ac:picMkLst>
            <pc:docMk/>
            <pc:sldMk cId="0" sldId="332"/>
            <ac:picMk id="50181" creationId="{00000000-0000-0000-0000-000000000000}"/>
          </ac:picMkLst>
        </pc:picChg>
      </pc:sldChg>
      <pc:sldChg chg="modSp mod modAnim">
        <pc:chgData name="Zhiyang Zhou" userId="715b216a-9552-4d73-a9aa-1ef002111b6f" providerId="ADAL" clId="{2B661EA1-28DD-4C7A-9BAA-1E2E41397E83}" dt="2026-10-17T02:40:49.325" v="4720"/>
        <pc:sldMkLst>
          <pc:docMk/>
          <pc:sldMk cId="0" sldId="333"/>
        </pc:sldMkLst>
        <pc:spChg chg="mod">
          <ac:chgData name="Zhiyang Zhou" userId="715b216a-9552-4d73-a9aa-1ef002111b6f" providerId="ADAL" clId="{2B661EA1-28DD-4C7A-9BAA-1E2E41397E83}" dt="2026-10-17T02:40:49.325" v="4720"/>
          <ac:spMkLst>
            <pc:docMk/>
            <pc:sldMk cId="0" sldId="333"/>
            <ac:spMk id="41987" creationId="{00000000-0000-0000-0000-000000000000}"/>
          </ac:spMkLst>
        </pc:spChg>
      </pc:sldChg>
      <pc:sldChg chg="modSp mod">
        <pc:chgData name="Zhiyang Zhou" userId="715b216a-9552-4d73-a9aa-1ef002111b6f" providerId="ADAL" clId="{2B661EA1-28DD-4C7A-9BAA-1E2E41397E83}" dt="2026-10-17T05:30:29.626" v="7085" actId="20577"/>
        <pc:sldMkLst>
          <pc:docMk/>
          <pc:sldMk cId="0" sldId="334"/>
        </pc:sldMkLst>
        <pc:spChg chg="mod">
          <ac:chgData name="Zhiyang Zhou" userId="715b216a-9552-4d73-a9aa-1ef002111b6f" providerId="ADAL" clId="{2B661EA1-28DD-4C7A-9BAA-1E2E41397E83}" dt="2026-10-16T20:36:53.588" v="338" actId="14100"/>
          <ac:spMkLst>
            <pc:docMk/>
            <pc:sldMk cId="0" sldId="334"/>
            <ac:spMk id="54274" creationId="{00000000-0000-0000-0000-000000000000}"/>
          </ac:spMkLst>
        </pc:spChg>
        <pc:spChg chg="mod">
          <ac:chgData name="Zhiyang Zhou" userId="715b216a-9552-4d73-a9aa-1ef002111b6f" providerId="ADAL" clId="{2B661EA1-28DD-4C7A-9BAA-1E2E41397E83}" dt="2026-10-17T05:30:29.626" v="7085" actId="20577"/>
          <ac:spMkLst>
            <pc:docMk/>
            <pc:sldMk cId="0" sldId="334"/>
            <ac:spMk id="54275" creationId="{00000000-0000-0000-0000-000000000000}"/>
          </ac:spMkLst>
        </pc:spChg>
      </pc:sldChg>
      <pc:sldChg chg="delSp modSp mod">
        <pc:chgData name="Zhiyang Zhou" userId="715b216a-9552-4d73-a9aa-1ef002111b6f" providerId="ADAL" clId="{2B661EA1-28DD-4C7A-9BAA-1E2E41397E83}" dt="2026-10-17T03:11:52.025" v="5316" actId="20577"/>
        <pc:sldMkLst>
          <pc:docMk/>
          <pc:sldMk cId="0" sldId="335"/>
        </pc:sldMkLst>
        <pc:spChg chg="mod">
          <ac:chgData name="Zhiyang Zhou" userId="715b216a-9552-4d73-a9aa-1ef002111b6f" providerId="ADAL" clId="{2B661EA1-28DD-4C7A-9BAA-1E2E41397E83}" dt="2026-10-17T03:11:52.025" v="5316" actId="20577"/>
          <ac:spMkLst>
            <pc:docMk/>
            <pc:sldMk cId="0" sldId="335"/>
            <ac:spMk id="2" creationId="{00000000-0000-0000-0000-000000000000}"/>
          </ac:spMkLst>
        </pc:spChg>
        <pc:spChg chg="del mod">
          <ac:chgData name="Zhiyang Zhou" userId="715b216a-9552-4d73-a9aa-1ef002111b6f" providerId="ADAL" clId="{2B661EA1-28DD-4C7A-9BAA-1E2E41397E83}" dt="2026-10-17T03:02:29.851" v="4996" actId="478"/>
          <ac:spMkLst>
            <pc:docMk/>
            <pc:sldMk cId="0" sldId="335"/>
            <ac:spMk id="55298" creationId="{00000000-0000-0000-0000-000000000000}"/>
          </ac:spMkLst>
        </pc:spChg>
        <pc:spChg chg="mod">
          <ac:chgData name="Zhiyang Zhou" userId="715b216a-9552-4d73-a9aa-1ef002111b6f" providerId="ADAL" clId="{2B661EA1-28DD-4C7A-9BAA-1E2E41397E83}" dt="2026-10-16T20:37:44.345" v="344" actId="20577"/>
          <ac:spMkLst>
            <pc:docMk/>
            <pc:sldMk cId="0" sldId="335"/>
            <ac:spMk id="55300" creationId="{00000000-0000-0000-0000-000000000000}"/>
          </ac:spMkLst>
        </pc:spChg>
      </pc:sldChg>
      <pc:sldChg chg="modSp mod modNotesTx">
        <pc:chgData name="Zhiyang Zhou" userId="715b216a-9552-4d73-a9aa-1ef002111b6f" providerId="ADAL" clId="{2B661EA1-28DD-4C7A-9BAA-1E2E41397E83}" dt="2026-10-17T03:37:53.484" v="5362" actId="20577"/>
        <pc:sldMkLst>
          <pc:docMk/>
          <pc:sldMk cId="0" sldId="336"/>
        </pc:sldMkLst>
        <pc:spChg chg="mod">
          <ac:chgData name="Zhiyang Zhou" userId="715b216a-9552-4d73-a9aa-1ef002111b6f" providerId="ADAL" clId="{2B661EA1-28DD-4C7A-9BAA-1E2E41397E83}" dt="2026-10-17T03:09:07.747" v="5236" actId="20577"/>
          <ac:spMkLst>
            <pc:docMk/>
            <pc:sldMk cId="0" sldId="336"/>
            <ac:spMk id="8" creationId="{00000000-0000-0000-0000-000000000000}"/>
          </ac:spMkLst>
        </pc:spChg>
        <pc:spChg chg="mod">
          <ac:chgData name="Zhiyang Zhou" userId="715b216a-9552-4d73-a9aa-1ef002111b6f" providerId="ADAL" clId="{2B661EA1-28DD-4C7A-9BAA-1E2E41397E83}" dt="2026-10-17T03:09:19.858" v="5266" actId="1036"/>
          <ac:spMkLst>
            <pc:docMk/>
            <pc:sldMk cId="0" sldId="336"/>
            <ac:spMk id="9" creationId="{00000000-0000-0000-0000-000000000000}"/>
          </ac:spMkLst>
        </pc:spChg>
        <pc:spChg chg="mod">
          <ac:chgData name="Zhiyang Zhou" userId="715b216a-9552-4d73-a9aa-1ef002111b6f" providerId="ADAL" clId="{2B661EA1-28DD-4C7A-9BAA-1E2E41397E83}" dt="2026-10-17T03:09:14.501" v="5255" actId="1036"/>
          <ac:spMkLst>
            <pc:docMk/>
            <pc:sldMk cId="0" sldId="336"/>
            <ac:spMk id="10" creationId="{00000000-0000-0000-0000-000000000000}"/>
          </ac:spMkLst>
        </pc:spChg>
        <pc:spChg chg="mod">
          <ac:chgData name="Zhiyang Zhou" userId="715b216a-9552-4d73-a9aa-1ef002111b6f" providerId="ADAL" clId="{2B661EA1-28DD-4C7A-9BAA-1E2E41397E83}" dt="2026-10-17T03:04:24.500" v="5068" actId="20577"/>
          <ac:spMkLst>
            <pc:docMk/>
            <pc:sldMk cId="0" sldId="336"/>
            <ac:spMk id="13" creationId="{00000000-0000-0000-0000-000000000000}"/>
          </ac:spMkLst>
        </pc:spChg>
        <pc:spChg chg="mod">
          <ac:chgData name="Zhiyang Zhou" userId="715b216a-9552-4d73-a9aa-1ef002111b6f" providerId="ADAL" clId="{2B661EA1-28DD-4C7A-9BAA-1E2E41397E83}" dt="2026-10-17T03:37:53.484" v="5362" actId="20577"/>
          <ac:spMkLst>
            <pc:docMk/>
            <pc:sldMk cId="0" sldId="336"/>
            <ac:spMk id="56323" creationId="{00000000-0000-0000-0000-000000000000}"/>
          </ac:spMkLst>
        </pc:spChg>
      </pc:sldChg>
      <pc:sldChg chg="modSp mod">
        <pc:chgData name="Zhiyang Zhou" userId="715b216a-9552-4d73-a9aa-1ef002111b6f" providerId="ADAL" clId="{2B661EA1-28DD-4C7A-9BAA-1E2E41397E83}" dt="2026-10-17T03:40:08.262" v="5399" actId="1076"/>
        <pc:sldMkLst>
          <pc:docMk/>
          <pc:sldMk cId="0" sldId="337"/>
        </pc:sldMkLst>
        <pc:spChg chg="mod">
          <ac:chgData name="Zhiyang Zhou" userId="715b216a-9552-4d73-a9aa-1ef002111b6f" providerId="ADAL" clId="{2B661EA1-28DD-4C7A-9BAA-1E2E41397E83}" dt="2026-10-17T03:38:35.894" v="5372" actId="20577"/>
          <ac:spMkLst>
            <pc:docMk/>
            <pc:sldMk cId="0" sldId="337"/>
            <ac:spMk id="18" creationId="{00000000-0000-0000-0000-000000000000}"/>
          </ac:spMkLst>
        </pc:spChg>
        <pc:spChg chg="mod">
          <ac:chgData name="Zhiyang Zhou" userId="715b216a-9552-4d73-a9aa-1ef002111b6f" providerId="ADAL" clId="{2B661EA1-28DD-4C7A-9BAA-1E2E41397E83}" dt="2026-10-17T03:39:45.809" v="5397" actId="20577"/>
          <ac:spMkLst>
            <pc:docMk/>
            <pc:sldMk cId="0" sldId="337"/>
            <ac:spMk id="19" creationId="{00000000-0000-0000-0000-000000000000}"/>
          </ac:spMkLst>
        </pc:spChg>
        <pc:spChg chg="mod">
          <ac:chgData name="Zhiyang Zhou" userId="715b216a-9552-4d73-a9aa-1ef002111b6f" providerId="ADAL" clId="{2B661EA1-28DD-4C7A-9BAA-1E2E41397E83}" dt="2026-10-17T03:40:08.262" v="5399" actId="1076"/>
          <ac:spMkLst>
            <pc:docMk/>
            <pc:sldMk cId="0" sldId="337"/>
            <ac:spMk id="57347" creationId="{00000000-0000-0000-0000-000000000000}"/>
          </ac:spMkLst>
        </pc:spChg>
        <pc:spChg chg="mod">
          <ac:chgData name="Zhiyang Zhou" userId="715b216a-9552-4d73-a9aa-1ef002111b6f" providerId="ADAL" clId="{2B661EA1-28DD-4C7A-9BAA-1E2E41397E83}" dt="2026-10-17T03:09:41.446" v="5275" actId="20577"/>
          <ac:spMkLst>
            <pc:docMk/>
            <pc:sldMk cId="0" sldId="337"/>
            <ac:spMk id="57348" creationId="{00000000-0000-0000-0000-000000000000}"/>
          </ac:spMkLst>
        </pc:spChg>
      </pc:sldChg>
      <pc:sldChg chg="addSp delSp modSp mod addAnim delAnim">
        <pc:chgData name="Zhiyang Zhou" userId="715b216a-9552-4d73-a9aa-1ef002111b6f" providerId="ADAL" clId="{2B661EA1-28DD-4C7A-9BAA-1E2E41397E83}" dt="2026-10-17T05:07:55.748" v="6342" actId="14100"/>
        <pc:sldMkLst>
          <pc:docMk/>
          <pc:sldMk cId="0" sldId="338"/>
        </pc:sldMkLst>
        <pc:spChg chg="add del mod">
          <ac:chgData name="Zhiyang Zhou" userId="715b216a-9552-4d73-a9aa-1ef002111b6f" providerId="ADAL" clId="{2B661EA1-28DD-4C7A-9BAA-1E2E41397E83}" dt="2026-10-17T03:43:01.549" v="5428" actId="20577"/>
          <ac:spMkLst>
            <pc:docMk/>
            <pc:sldMk cId="0" sldId="338"/>
            <ac:spMk id="12" creationId="{00000000-0000-0000-0000-000000000000}"/>
          </ac:spMkLst>
        </pc:spChg>
        <pc:spChg chg="del mod">
          <ac:chgData name="Zhiyang Zhou" userId="715b216a-9552-4d73-a9aa-1ef002111b6f" providerId="ADAL" clId="{2B661EA1-28DD-4C7A-9BAA-1E2E41397E83}" dt="2026-10-17T03:42:26.380" v="5413" actId="478"/>
          <ac:spMkLst>
            <pc:docMk/>
            <pc:sldMk cId="0" sldId="338"/>
            <ac:spMk id="13" creationId="{00000000-0000-0000-0000-000000000000}"/>
          </ac:spMkLst>
        </pc:spChg>
        <pc:spChg chg="mod">
          <ac:chgData name="Zhiyang Zhou" userId="715b216a-9552-4d73-a9aa-1ef002111b6f" providerId="ADAL" clId="{2B661EA1-28DD-4C7A-9BAA-1E2E41397E83}" dt="2026-10-17T05:07:55.748" v="6342" actId="14100"/>
          <ac:spMkLst>
            <pc:docMk/>
            <pc:sldMk cId="0" sldId="338"/>
            <ac:spMk id="58371" creationId="{00000000-0000-0000-0000-000000000000}"/>
          </ac:spMkLst>
        </pc:spChg>
        <pc:spChg chg="del">
          <ac:chgData name="Zhiyang Zhou" userId="715b216a-9552-4d73-a9aa-1ef002111b6f" providerId="ADAL" clId="{2B661EA1-28DD-4C7A-9BAA-1E2E41397E83}" dt="2026-10-17T03:41:49.260" v="5406" actId="478"/>
          <ac:spMkLst>
            <pc:docMk/>
            <pc:sldMk cId="0" sldId="338"/>
            <ac:spMk id="58373" creationId="{00000000-0000-0000-0000-000000000000}"/>
          </ac:spMkLst>
        </pc:spChg>
      </pc:sldChg>
      <pc:sldChg chg="delSp modSp del mod">
        <pc:chgData name="Zhiyang Zhou" userId="715b216a-9552-4d73-a9aa-1ef002111b6f" providerId="ADAL" clId="{2B661EA1-28DD-4C7A-9BAA-1E2E41397E83}" dt="2026-10-17T03:55:53.872" v="5477" actId="2696"/>
        <pc:sldMkLst>
          <pc:docMk/>
          <pc:sldMk cId="0" sldId="339"/>
        </pc:sldMkLst>
        <pc:spChg chg="del mod">
          <ac:chgData name="Zhiyang Zhou" userId="715b216a-9552-4d73-a9aa-1ef002111b6f" providerId="ADAL" clId="{2B661EA1-28DD-4C7A-9BAA-1E2E41397E83}" dt="2026-10-17T03:55:26.858" v="5468" actId="21"/>
          <ac:spMkLst>
            <pc:docMk/>
            <pc:sldMk cId="0" sldId="339"/>
            <ac:spMk id="19" creationId="{00000000-0000-0000-0000-000000000000}"/>
          </ac:spMkLst>
        </pc:spChg>
        <pc:spChg chg="del mod">
          <ac:chgData name="Zhiyang Zhou" userId="715b216a-9552-4d73-a9aa-1ef002111b6f" providerId="ADAL" clId="{2B661EA1-28DD-4C7A-9BAA-1E2E41397E83}" dt="2026-10-17T03:51:45.889" v="5461" actId="478"/>
          <ac:spMkLst>
            <pc:docMk/>
            <pc:sldMk cId="0" sldId="339"/>
            <ac:spMk id="59396" creationId="{00000000-0000-0000-0000-000000000000}"/>
          </ac:spMkLst>
        </pc:spChg>
      </pc:sldChg>
      <pc:sldChg chg="addSp modSp del mod modAnim modShow">
        <pc:chgData name="Zhiyang Zhou" userId="715b216a-9552-4d73-a9aa-1ef002111b6f" providerId="ADAL" clId="{2B661EA1-28DD-4C7A-9BAA-1E2E41397E83}" dt="2026-10-17T04:36:56.655" v="6026" actId="2696"/>
        <pc:sldMkLst>
          <pc:docMk/>
          <pc:sldMk cId="0" sldId="340"/>
        </pc:sldMkLst>
        <pc:spChg chg="add mod">
          <ac:chgData name="Zhiyang Zhou" userId="715b216a-9552-4d73-a9aa-1ef002111b6f" providerId="ADAL" clId="{2B661EA1-28DD-4C7A-9BAA-1E2E41397E83}" dt="2026-10-17T04:25:33.862" v="5724" actId="1076"/>
          <ac:spMkLst>
            <pc:docMk/>
            <pc:sldMk cId="0" sldId="340"/>
            <ac:spMk id="2" creationId="{9D88CB08-321F-B267-BD33-64B2F5820ABF}"/>
          </ac:spMkLst>
        </pc:spChg>
        <pc:spChg chg="mod">
          <ac:chgData name="Zhiyang Zhou" userId="715b216a-9552-4d73-a9aa-1ef002111b6f" providerId="ADAL" clId="{2B661EA1-28DD-4C7A-9BAA-1E2E41397E83}" dt="2026-10-17T04:02:13.559" v="5649" actId="20577"/>
          <ac:spMkLst>
            <pc:docMk/>
            <pc:sldMk cId="0" sldId="340"/>
            <ac:spMk id="11" creationId="{00000000-0000-0000-0000-000000000000}"/>
          </ac:spMkLst>
        </pc:spChg>
        <pc:spChg chg="mod">
          <ac:chgData name="Zhiyang Zhou" userId="715b216a-9552-4d73-a9aa-1ef002111b6f" providerId="ADAL" clId="{2B661EA1-28DD-4C7A-9BAA-1E2E41397E83}" dt="2026-10-17T04:17:35.220" v="5664" actId="20577"/>
          <ac:spMkLst>
            <pc:docMk/>
            <pc:sldMk cId="0" sldId="340"/>
            <ac:spMk id="63491" creationId="{00000000-0000-0000-0000-000000000000}"/>
          </ac:spMkLst>
        </pc:spChg>
        <pc:spChg chg="mod">
          <ac:chgData name="Zhiyang Zhou" userId="715b216a-9552-4d73-a9aa-1ef002111b6f" providerId="ADAL" clId="{2B661EA1-28DD-4C7A-9BAA-1E2E41397E83}" dt="2026-10-17T04:01:51.982" v="5639" actId="20577"/>
          <ac:spMkLst>
            <pc:docMk/>
            <pc:sldMk cId="0" sldId="340"/>
            <ac:spMk id="63492" creationId="{00000000-0000-0000-0000-000000000000}"/>
          </ac:spMkLst>
        </pc:spChg>
      </pc:sldChg>
      <pc:sldChg chg="addSp delSp modSp mod delAnim modAnim">
        <pc:chgData name="Zhiyang Zhou" userId="715b216a-9552-4d73-a9aa-1ef002111b6f" providerId="ADAL" clId="{2B661EA1-28DD-4C7A-9BAA-1E2E41397E83}" dt="2026-10-17T05:06:12.833" v="6309" actId="1076"/>
        <pc:sldMkLst>
          <pc:docMk/>
          <pc:sldMk cId="0" sldId="341"/>
        </pc:sldMkLst>
        <pc:spChg chg="mod">
          <ac:chgData name="Zhiyang Zhou" userId="715b216a-9552-4d73-a9aa-1ef002111b6f" providerId="ADAL" clId="{2B661EA1-28DD-4C7A-9BAA-1E2E41397E83}" dt="2026-10-17T04:17:29.802" v="5657" actId="20577"/>
          <ac:spMkLst>
            <pc:docMk/>
            <pc:sldMk cId="0" sldId="341"/>
            <ac:spMk id="2" creationId="{00000000-0000-0000-0000-000000000000}"/>
          </ac:spMkLst>
        </pc:spChg>
        <pc:spChg chg="add mod">
          <ac:chgData name="Zhiyang Zhou" userId="715b216a-9552-4d73-a9aa-1ef002111b6f" providerId="ADAL" clId="{2B661EA1-28DD-4C7A-9BAA-1E2E41397E83}" dt="2026-10-17T05:06:00.262" v="6307" actId="20577"/>
          <ac:spMkLst>
            <pc:docMk/>
            <pc:sldMk cId="0" sldId="341"/>
            <ac:spMk id="4" creationId="{28AC7BBB-0DC3-9F5D-2CB7-FE5927A194E0}"/>
          </ac:spMkLst>
        </pc:spChg>
        <pc:spChg chg="add mod">
          <ac:chgData name="Zhiyang Zhou" userId="715b216a-9552-4d73-a9aa-1ef002111b6f" providerId="ADAL" clId="{2B661EA1-28DD-4C7A-9BAA-1E2E41397E83}" dt="2026-10-17T05:06:12.833" v="6309" actId="1076"/>
          <ac:spMkLst>
            <pc:docMk/>
            <pc:sldMk cId="0" sldId="341"/>
            <ac:spMk id="5" creationId="{CF3ADDB9-B660-FF0D-E25D-3119DBA38936}"/>
          </ac:spMkLst>
        </pc:spChg>
        <pc:spChg chg="del mod">
          <ac:chgData name="Zhiyang Zhou" userId="715b216a-9552-4d73-a9aa-1ef002111b6f" providerId="ADAL" clId="{2B661EA1-28DD-4C7A-9BAA-1E2E41397E83}" dt="2026-10-17T04:34:32.709" v="5930" actId="478"/>
          <ac:spMkLst>
            <pc:docMk/>
            <pc:sldMk cId="0" sldId="341"/>
            <ac:spMk id="10" creationId="{00000000-0000-0000-0000-000000000000}"/>
          </ac:spMkLst>
        </pc:spChg>
        <pc:spChg chg="mod">
          <ac:chgData name="Zhiyang Zhou" userId="715b216a-9552-4d73-a9aa-1ef002111b6f" providerId="ADAL" clId="{2B661EA1-28DD-4C7A-9BAA-1E2E41397E83}" dt="2026-10-17T05:06:10.261" v="6308" actId="1076"/>
          <ac:spMkLst>
            <pc:docMk/>
            <pc:sldMk cId="0" sldId="341"/>
            <ac:spMk id="11" creationId="{00000000-0000-0000-0000-000000000000}"/>
          </ac:spMkLst>
        </pc:spChg>
        <pc:spChg chg="del mod">
          <ac:chgData name="Zhiyang Zhou" userId="715b216a-9552-4d73-a9aa-1ef002111b6f" providerId="ADAL" clId="{2B661EA1-28DD-4C7A-9BAA-1E2E41397E83}" dt="2026-10-17T04:28:23.188" v="5762" actId="478"/>
          <ac:spMkLst>
            <pc:docMk/>
            <pc:sldMk cId="0" sldId="341"/>
            <ac:spMk id="64516" creationId="{00000000-0000-0000-0000-000000000000}"/>
          </ac:spMkLst>
        </pc:spChg>
      </pc:sldChg>
      <pc:sldChg chg="modSp mod">
        <pc:chgData name="Zhiyang Zhou" userId="715b216a-9552-4d73-a9aa-1ef002111b6f" providerId="ADAL" clId="{2B661EA1-28DD-4C7A-9BAA-1E2E41397E83}" dt="2026-10-17T04:42:17.335" v="6243" actId="20577"/>
        <pc:sldMkLst>
          <pc:docMk/>
          <pc:sldMk cId="0" sldId="342"/>
        </pc:sldMkLst>
        <pc:spChg chg="mod">
          <ac:chgData name="Zhiyang Zhou" userId="715b216a-9552-4d73-a9aa-1ef002111b6f" providerId="ADAL" clId="{2B661EA1-28DD-4C7A-9BAA-1E2E41397E83}" dt="2026-10-17T04:40:30.054" v="6129" actId="20577"/>
          <ac:spMkLst>
            <pc:docMk/>
            <pc:sldMk cId="0" sldId="342"/>
            <ac:spMk id="16" creationId="{00000000-0000-0000-0000-000000000000}"/>
          </ac:spMkLst>
        </pc:spChg>
        <pc:spChg chg="mod">
          <ac:chgData name="Zhiyang Zhou" userId="715b216a-9552-4d73-a9aa-1ef002111b6f" providerId="ADAL" clId="{2B661EA1-28DD-4C7A-9BAA-1E2E41397E83}" dt="2026-10-17T04:42:17.335" v="6243" actId="20577"/>
          <ac:spMkLst>
            <pc:docMk/>
            <pc:sldMk cId="0" sldId="342"/>
            <ac:spMk id="17" creationId="{00000000-0000-0000-0000-000000000000}"/>
          </ac:spMkLst>
        </pc:spChg>
        <pc:spChg chg="mod">
          <ac:chgData name="Zhiyang Zhou" userId="715b216a-9552-4d73-a9aa-1ef002111b6f" providerId="ADAL" clId="{2B661EA1-28DD-4C7A-9BAA-1E2E41397E83}" dt="2026-10-17T04:42:07.492" v="6227" actId="20577"/>
          <ac:spMkLst>
            <pc:docMk/>
            <pc:sldMk cId="0" sldId="342"/>
            <ac:spMk id="65539" creationId="{00000000-0000-0000-0000-000000000000}"/>
          </ac:spMkLst>
        </pc:spChg>
        <pc:spChg chg="mod">
          <ac:chgData name="Zhiyang Zhou" userId="715b216a-9552-4d73-a9aa-1ef002111b6f" providerId="ADAL" clId="{2B661EA1-28DD-4C7A-9BAA-1E2E41397E83}" dt="2026-10-17T04:41:45.002" v="6206" actId="20577"/>
          <ac:spMkLst>
            <pc:docMk/>
            <pc:sldMk cId="0" sldId="342"/>
            <ac:spMk id="65542" creationId="{00000000-0000-0000-0000-000000000000}"/>
          </ac:spMkLst>
        </pc:spChg>
      </pc:sldChg>
      <pc:sldChg chg="addSp delSp modSp mod modAnim">
        <pc:chgData name="Zhiyang Zhou" userId="715b216a-9552-4d73-a9aa-1ef002111b6f" providerId="ADAL" clId="{2B661EA1-28DD-4C7A-9BAA-1E2E41397E83}" dt="2026-10-17T05:14:05.475" v="6412" actId="478"/>
        <pc:sldMkLst>
          <pc:docMk/>
          <pc:sldMk cId="0" sldId="344"/>
        </pc:sldMkLst>
        <pc:spChg chg="add mod">
          <ac:chgData name="Zhiyang Zhou" userId="715b216a-9552-4d73-a9aa-1ef002111b6f" providerId="ADAL" clId="{2B661EA1-28DD-4C7A-9BAA-1E2E41397E83}" dt="2026-10-17T05:13:45.898" v="6411" actId="1035"/>
          <ac:spMkLst>
            <pc:docMk/>
            <pc:sldMk cId="0" sldId="344"/>
            <ac:spMk id="4" creationId="{DBE29049-B510-85A7-2166-AA23981EAABE}"/>
          </ac:spMkLst>
        </pc:spChg>
        <pc:spChg chg="add mod">
          <ac:chgData name="Zhiyang Zhou" userId="715b216a-9552-4d73-a9aa-1ef002111b6f" providerId="ADAL" clId="{2B661EA1-28DD-4C7A-9BAA-1E2E41397E83}" dt="2026-10-17T05:13:42.230" v="6392" actId="1035"/>
          <ac:spMkLst>
            <pc:docMk/>
            <pc:sldMk cId="0" sldId="344"/>
            <ac:spMk id="5" creationId="{9D28655F-1CF0-E313-F527-6C7ED0A3E2CE}"/>
          </ac:spMkLst>
        </pc:spChg>
        <pc:spChg chg="del mod">
          <ac:chgData name="Zhiyang Zhou" userId="715b216a-9552-4d73-a9aa-1ef002111b6f" providerId="ADAL" clId="{2B661EA1-28DD-4C7A-9BAA-1E2E41397E83}" dt="2026-10-17T05:14:05.475" v="6412" actId="478"/>
          <ac:spMkLst>
            <pc:docMk/>
            <pc:sldMk cId="0" sldId="344"/>
            <ac:spMk id="10" creationId="{00000000-0000-0000-0000-000000000000}"/>
          </ac:spMkLst>
        </pc:spChg>
        <pc:spChg chg="mod">
          <ac:chgData name="Zhiyang Zhou" userId="715b216a-9552-4d73-a9aa-1ef002111b6f" providerId="ADAL" clId="{2B661EA1-28DD-4C7A-9BAA-1E2E41397E83}" dt="2026-10-17T05:09:09.008" v="6369" actId="14100"/>
          <ac:spMkLst>
            <pc:docMk/>
            <pc:sldMk cId="0" sldId="344"/>
            <ac:spMk id="68611" creationId="{00000000-0000-0000-0000-000000000000}"/>
          </ac:spMkLst>
        </pc:spChg>
        <pc:spChg chg="del">
          <ac:chgData name="Zhiyang Zhou" userId="715b216a-9552-4d73-a9aa-1ef002111b6f" providerId="ADAL" clId="{2B661EA1-28DD-4C7A-9BAA-1E2E41397E83}" dt="2026-10-17T05:13:23.759" v="6370" actId="478"/>
          <ac:spMkLst>
            <pc:docMk/>
            <pc:sldMk cId="0" sldId="344"/>
            <ac:spMk id="68612" creationId="{00000000-0000-0000-0000-000000000000}"/>
          </ac:spMkLst>
        </pc:spChg>
        <pc:picChg chg="add del">
          <ac:chgData name="Zhiyang Zhou" userId="715b216a-9552-4d73-a9aa-1ef002111b6f" providerId="ADAL" clId="{2B661EA1-28DD-4C7A-9BAA-1E2E41397E83}" dt="2026-10-17T05:08:29.709" v="6360" actId="22"/>
          <ac:picMkLst>
            <pc:docMk/>
            <pc:sldMk cId="0" sldId="344"/>
            <ac:picMk id="3" creationId="{8645A8BD-ADB2-9C43-3F55-49D20BAB3A88}"/>
          </ac:picMkLst>
        </pc:picChg>
      </pc:sldChg>
      <pc:sldChg chg="modSp mod">
        <pc:chgData name="Zhiyang Zhou" userId="715b216a-9552-4d73-a9aa-1ef002111b6f" providerId="ADAL" clId="{2B661EA1-28DD-4C7A-9BAA-1E2E41397E83}" dt="2026-10-17T05:14:58.170" v="6439" actId="20577"/>
        <pc:sldMkLst>
          <pc:docMk/>
          <pc:sldMk cId="0" sldId="345"/>
        </pc:sldMkLst>
        <pc:spChg chg="mod">
          <ac:chgData name="Zhiyang Zhou" userId="715b216a-9552-4d73-a9aa-1ef002111b6f" providerId="ADAL" clId="{2B661EA1-28DD-4C7A-9BAA-1E2E41397E83}" dt="2026-10-17T05:14:28.915" v="6415" actId="14100"/>
          <ac:spMkLst>
            <pc:docMk/>
            <pc:sldMk cId="0" sldId="345"/>
            <ac:spMk id="2" creationId="{00000000-0000-0000-0000-000000000000}"/>
          </ac:spMkLst>
        </pc:spChg>
        <pc:spChg chg="mod">
          <ac:chgData name="Zhiyang Zhou" userId="715b216a-9552-4d73-a9aa-1ef002111b6f" providerId="ADAL" clId="{2B661EA1-28DD-4C7A-9BAA-1E2E41397E83}" dt="2026-10-17T05:14:58.170" v="6439" actId="20577"/>
          <ac:spMkLst>
            <pc:docMk/>
            <pc:sldMk cId="0" sldId="345"/>
            <ac:spMk id="6" creationId="{00000000-0000-0000-0000-000000000000}"/>
          </ac:spMkLst>
        </pc:spChg>
      </pc:sldChg>
      <pc:sldChg chg="addSp modSp mod modAnim">
        <pc:chgData name="Zhiyang Zhou" userId="715b216a-9552-4d73-a9aa-1ef002111b6f" providerId="ADAL" clId="{2B661EA1-28DD-4C7A-9BAA-1E2E41397E83}" dt="2026-10-17T05:29:08.514" v="7076" actId="20577"/>
        <pc:sldMkLst>
          <pc:docMk/>
          <pc:sldMk cId="0" sldId="346"/>
        </pc:sldMkLst>
        <pc:spChg chg="mod">
          <ac:chgData name="Zhiyang Zhou" userId="715b216a-9552-4d73-a9aa-1ef002111b6f" providerId="ADAL" clId="{2B661EA1-28DD-4C7A-9BAA-1E2E41397E83}" dt="2026-10-17T05:15:44.312" v="6455" actId="14100"/>
          <ac:spMkLst>
            <pc:docMk/>
            <pc:sldMk cId="0" sldId="346"/>
            <ac:spMk id="2" creationId="{00000000-0000-0000-0000-000000000000}"/>
          </ac:spMkLst>
        </pc:spChg>
        <pc:spChg chg="add mod">
          <ac:chgData name="Zhiyang Zhou" userId="715b216a-9552-4d73-a9aa-1ef002111b6f" providerId="ADAL" clId="{2B661EA1-28DD-4C7A-9BAA-1E2E41397E83}" dt="2026-10-17T05:23:16.683" v="6575" actId="1076"/>
          <ac:spMkLst>
            <pc:docMk/>
            <pc:sldMk cId="0" sldId="346"/>
            <ac:spMk id="3" creationId="{CCB14EB5-F683-26FF-80E3-05DC84F67626}"/>
          </ac:spMkLst>
        </pc:spChg>
        <pc:spChg chg="add mod">
          <ac:chgData name="Zhiyang Zhou" userId="715b216a-9552-4d73-a9aa-1ef002111b6f" providerId="ADAL" clId="{2B661EA1-28DD-4C7A-9BAA-1E2E41397E83}" dt="2026-10-17T05:29:08.514" v="7076" actId="20577"/>
          <ac:spMkLst>
            <pc:docMk/>
            <pc:sldMk cId="0" sldId="346"/>
            <ac:spMk id="5" creationId="{18B474D8-BD1D-1EF3-4A49-528AECCB753C}"/>
          </ac:spMkLst>
        </pc:spChg>
        <pc:spChg chg="mod">
          <ac:chgData name="Zhiyang Zhou" userId="715b216a-9552-4d73-a9aa-1ef002111b6f" providerId="ADAL" clId="{2B661EA1-28DD-4C7A-9BAA-1E2E41397E83}" dt="2026-10-17T05:24:25.917" v="6599" actId="20577"/>
          <ac:spMkLst>
            <pc:docMk/>
            <pc:sldMk cId="0" sldId="346"/>
            <ac:spMk id="8" creationId="{00000000-0000-0000-0000-000000000000}"/>
          </ac:spMkLst>
        </pc:spChg>
        <pc:picChg chg="mod">
          <ac:chgData name="Zhiyang Zhou" userId="715b216a-9552-4d73-a9aa-1ef002111b6f" providerId="ADAL" clId="{2B661EA1-28DD-4C7A-9BAA-1E2E41397E83}" dt="2026-10-17T05:23:20.718" v="6576" actId="1076"/>
          <ac:picMkLst>
            <pc:docMk/>
            <pc:sldMk cId="0" sldId="346"/>
            <ac:picMk id="9" creationId="{00000000-0000-0000-0000-000000000000}"/>
          </ac:picMkLst>
        </pc:picChg>
      </pc:sldChg>
      <pc:sldChg chg="modSp mod modAnim">
        <pc:chgData name="Zhiyang Zhou" userId="715b216a-9552-4d73-a9aa-1ef002111b6f" providerId="ADAL" clId="{2B661EA1-28DD-4C7A-9BAA-1E2E41397E83}" dt="2026-10-17T05:39:59.980" v="7573" actId="20577"/>
        <pc:sldMkLst>
          <pc:docMk/>
          <pc:sldMk cId="0" sldId="347"/>
        </pc:sldMkLst>
        <pc:spChg chg="mod">
          <ac:chgData name="Zhiyang Zhou" userId="715b216a-9552-4d73-a9aa-1ef002111b6f" providerId="ADAL" clId="{2B661EA1-28DD-4C7A-9BAA-1E2E41397E83}" dt="2026-10-17T05:39:59.980" v="7573" actId="20577"/>
          <ac:spMkLst>
            <pc:docMk/>
            <pc:sldMk cId="0" sldId="347"/>
            <ac:spMk id="8" creationId="{00000000-0000-0000-0000-000000000000}"/>
          </ac:spMkLst>
        </pc:spChg>
        <pc:spChg chg="mod">
          <ac:chgData name="Zhiyang Zhou" userId="715b216a-9552-4d73-a9aa-1ef002111b6f" providerId="ADAL" clId="{2B661EA1-28DD-4C7A-9BAA-1E2E41397E83}" dt="2026-10-17T05:02:14.702" v="6264" actId="114"/>
          <ac:spMkLst>
            <pc:docMk/>
            <pc:sldMk cId="0" sldId="347"/>
            <ac:spMk id="73731" creationId="{00000000-0000-0000-0000-000000000000}"/>
          </ac:spMkLst>
        </pc:spChg>
      </pc:sldChg>
      <pc:sldChg chg="addSp modSp mod modAnim">
        <pc:chgData name="Zhiyang Zhou" userId="715b216a-9552-4d73-a9aa-1ef002111b6f" providerId="ADAL" clId="{2B661EA1-28DD-4C7A-9BAA-1E2E41397E83}" dt="2026-10-17T05:30:36.624" v="7087" actId="20577"/>
        <pc:sldMkLst>
          <pc:docMk/>
          <pc:sldMk cId="0" sldId="348"/>
        </pc:sldMkLst>
        <pc:spChg chg="add mod">
          <ac:chgData name="Zhiyang Zhou" userId="715b216a-9552-4d73-a9aa-1ef002111b6f" providerId="ADAL" clId="{2B661EA1-28DD-4C7A-9BAA-1E2E41397E83}" dt="2026-10-17T03:56:37.460" v="5532" actId="14100"/>
          <ac:spMkLst>
            <pc:docMk/>
            <pc:sldMk cId="0" sldId="348"/>
            <ac:spMk id="3" creationId="{39817D08-7A5A-FEC5-F3C4-3E166F70EAC0}"/>
          </ac:spMkLst>
        </pc:spChg>
        <pc:spChg chg="mod">
          <ac:chgData name="Zhiyang Zhou" userId="715b216a-9552-4d73-a9aa-1ef002111b6f" providerId="ADAL" clId="{2B661EA1-28DD-4C7A-9BAA-1E2E41397E83}" dt="2026-10-17T03:59:07.437" v="5567" actId="20577"/>
          <ac:spMkLst>
            <pc:docMk/>
            <pc:sldMk cId="0" sldId="348"/>
            <ac:spMk id="19" creationId="{00000000-0000-0000-0000-000000000000}"/>
          </ac:spMkLst>
        </pc:spChg>
        <pc:spChg chg="mod">
          <ac:chgData name="Zhiyang Zhou" userId="715b216a-9552-4d73-a9aa-1ef002111b6f" providerId="ADAL" clId="{2B661EA1-28DD-4C7A-9BAA-1E2E41397E83}" dt="2026-10-17T03:59:25.233" v="5573" actId="114"/>
          <ac:spMkLst>
            <pc:docMk/>
            <pc:sldMk cId="0" sldId="348"/>
            <ac:spMk id="20" creationId="{00000000-0000-0000-0000-000000000000}"/>
          </ac:spMkLst>
        </pc:spChg>
        <pc:spChg chg="mod">
          <ac:chgData name="Zhiyang Zhou" userId="715b216a-9552-4d73-a9aa-1ef002111b6f" providerId="ADAL" clId="{2B661EA1-28DD-4C7A-9BAA-1E2E41397E83}" dt="2026-10-17T05:30:36.624" v="7087" actId="20577"/>
          <ac:spMkLst>
            <pc:docMk/>
            <pc:sldMk cId="0" sldId="348"/>
            <ac:spMk id="61443" creationId="{00000000-0000-0000-0000-000000000000}"/>
          </ac:spMkLst>
        </pc:spChg>
        <pc:spChg chg="mod">
          <ac:chgData name="Zhiyang Zhou" userId="715b216a-9552-4d73-a9aa-1ef002111b6f" providerId="ADAL" clId="{2B661EA1-28DD-4C7A-9BAA-1E2E41397E83}" dt="2026-10-17T03:57:39.128" v="5550" actId="20577"/>
          <ac:spMkLst>
            <pc:docMk/>
            <pc:sldMk cId="0" sldId="348"/>
            <ac:spMk id="61444" creationId="{00000000-0000-0000-0000-000000000000}"/>
          </ac:spMkLst>
        </pc:spChg>
      </pc:sldChg>
      <pc:sldChg chg="modSp del">
        <pc:chgData name="Zhiyang Zhou" userId="715b216a-9552-4d73-a9aa-1ef002111b6f" providerId="ADAL" clId="{2B661EA1-28DD-4C7A-9BAA-1E2E41397E83}" dt="2026-10-17T05:30:12.122" v="7077" actId="2696"/>
        <pc:sldMkLst>
          <pc:docMk/>
          <pc:sldMk cId="0" sldId="349"/>
        </pc:sldMkLst>
        <pc:spChg chg="mod">
          <ac:chgData name="Zhiyang Zhou" userId="715b216a-9552-4d73-a9aa-1ef002111b6f" providerId="ADAL" clId="{2B661EA1-28DD-4C7A-9BAA-1E2E41397E83}" dt="2026-10-17T04:59:11.896" v="6244" actId="20577"/>
          <ac:spMkLst>
            <pc:docMk/>
            <pc:sldMk cId="0" sldId="349"/>
            <ac:spMk id="57347" creationId="{00000000-0000-0000-0000-000000000000}"/>
          </ac:spMkLst>
        </pc:spChg>
      </pc:sldChg>
      <pc:sldChg chg="modSp mod">
        <pc:chgData name="Zhiyang Zhou" userId="715b216a-9552-4d73-a9aa-1ef002111b6f" providerId="ADAL" clId="{2B661EA1-28DD-4C7A-9BAA-1E2E41397E83}" dt="2026-10-17T05:04:33.602" v="6267" actId="20577"/>
        <pc:sldMkLst>
          <pc:docMk/>
          <pc:sldMk cId="0" sldId="350"/>
        </pc:sldMkLst>
        <pc:spChg chg="mod">
          <ac:chgData name="Zhiyang Zhou" userId="715b216a-9552-4d73-a9aa-1ef002111b6f" providerId="ADAL" clId="{2B661EA1-28DD-4C7A-9BAA-1E2E41397E83}" dt="2026-10-17T05:04:33.602" v="6267" actId="20577"/>
          <ac:spMkLst>
            <pc:docMk/>
            <pc:sldMk cId="0" sldId="350"/>
            <ac:spMk id="76803" creationId="{00000000-0000-0000-0000-000000000000}"/>
          </ac:spMkLst>
        </pc:spChg>
      </pc:sldChg>
      <pc:sldChg chg="del">
        <pc:chgData name="Zhiyang Zhou" userId="715b216a-9552-4d73-a9aa-1ef002111b6f" providerId="ADAL" clId="{2B661EA1-28DD-4C7A-9BAA-1E2E41397E83}" dt="2026-10-17T05:04:24.119" v="6266" actId="2696"/>
        <pc:sldMkLst>
          <pc:docMk/>
          <pc:sldMk cId="0" sldId="351"/>
        </pc:sldMkLst>
      </pc:sldChg>
      <pc:sldChg chg="modSp mod modAnim">
        <pc:chgData name="Zhiyang Zhou" userId="715b216a-9552-4d73-a9aa-1ef002111b6f" providerId="ADAL" clId="{2B661EA1-28DD-4C7A-9BAA-1E2E41397E83}" dt="2026-10-17T05:42:55.993" v="7634" actId="14100"/>
        <pc:sldMkLst>
          <pc:docMk/>
          <pc:sldMk cId="0" sldId="352"/>
        </pc:sldMkLst>
        <pc:spChg chg="mod">
          <ac:chgData name="Zhiyang Zhou" userId="715b216a-9552-4d73-a9aa-1ef002111b6f" providerId="ADAL" clId="{2B661EA1-28DD-4C7A-9BAA-1E2E41397E83}" dt="2026-10-17T05:40:45.161" v="7593" actId="20577"/>
          <ac:spMkLst>
            <pc:docMk/>
            <pc:sldMk cId="0" sldId="352"/>
            <ac:spMk id="2" creationId="{00000000-0000-0000-0000-000000000000}"/>
          </ac:spMkLst>
        </pc:spChg>
        <pc:spChg chg="mod">
          <ac:chgData name="Zhiyang Zhou" userId="715b216a-9552-4d73-a9aa-1ef002111b6f" providerId="ADAL" clId="{2B661EA1-28DD-4C7A-9BAA-1E2E41397E83}" dt="2026-10-17T05:42:55.993" v="7634" actId="14100"/>
          <ac:spMkLst>
            <pc:docMk/>
            <pc:sldMk cId="0" sldId="352"/>
            <ac:spMk id="1307652" creationId="{00000000-0000-0000-0000-000000000000}"/>
          </ac:spMkLst>
        </pc:spChg>
      </pc:sldChg>
      <pc:sldChg chg="modSp">
        <pc:chgData name="Zhiyang Zhou" userId="715b216a-9552-4d73-a9aa-1ef002111b6f" providerId="ADAL" clId="{2B661EA1-28DD-4C7A-9BAA-1E2E41397E83}" dt="2026-10-17T05:40:51.459" v="7594"/>
        <pc:sldMkLst>
          <pc:docMk/>
          <pc:sldMk cId="0" sldId="353"/>
        </pc:sldMkLst>
        <pc:spChg chg="mod">
          <ac:chgData name="Zhiyang Zhou" userId="715b216a-9552-4d73-a9aa-1ef002111b6f" providerId="ADAL" clId="{2B661EA1-28DD-4C7A-9BAA-1E2E41397E83}" dt="2026-10-17T05:40:51.459" v="7594"/>
          <ac:spMkLst>
            <pc:docMk/>
            <pc:sldMk cId="0" sldId="353"/>
            <ac:spMk id="2" creationId="{00000000-0000-0000-0000-000000000000}"/>
          </ac:spMkLst>
        </pc:spChg>
      </pc:sldChg>
      <pc:sldChg chg="modSp modAnim modNotesTx">
        <pc:chgData name="Zhiyang Zhou" userId="715b216a-9552-4d73-a9aa-1ef002111b6f" providerId="ADAL" clId="{2B661EA1-28DD-4C7A-9BAA-1E2E41397E83}" dt="2026-10-17T05:48:06.589" v="7659" actId="20577"/>
        <pc:sldMkLst>
          <pc:docMk/>
          <pc:sldMk cId="0" sldId="354"/>
        </pc:sldMkLst>
        <pc:spChg chg="mod">
          <ac:chgData name="Zhiyang Zhou" userId="715b216a-9552-4d73-a9aa-1ef002111b6f" providerId="ADAL" clId="{2B661EA1-28DD-4C7A-9BAA-1E2E41397E83}" dt="2026-10-17T05:45:36.038" v="7636"/>
          <ac:spMkLst>
            <pc:docMk/>
            <pc:sldMk cId="0" sldId="354"/>
            <ac:spMk id="2" creationId="{00000000-0000-0000-0000-000000000000}"/>
          </ac:spMkLst>
        </pc:spChg>
        <pc:spChg chg="mod">
          <ac:chgData name="Zhiyang Zhou" userId="715b216a-9552-4d73-a9aa-1ef002111b6f" providerId="ADAL" clId="{2B661EA1-28DD-4C7A-9BAA-1E2E41397E83}" dt="2026-10-17T05:48:06.589" v="7659" actId="20577"/>
          <ac:spMkLst>
            <pc:docMk/>
            <pc:sldMk cId="0" sldId="354"/>
            <ac:spMk id="1309700" creationId="{00000000-0000-0000-0000-000000000000}"/>
          </ac:spMkLst>
        </pc:spChg>
      </pc:sldChg>
      <pc:sldChg chg="modSp mod">
        <pc:chgData name="Zhiyang Zhou" userId="715b216a-9552-4d73-a9aa-1ef002111b6f" providerId="ADAL" clId="{2B661EA1-28DD-4C7A-9BAA-1E2E41397E83}" dt="2026-10-17T05:48:17.182" v="7661" actId="14100"/>
        <pc:sldMkLst>
          <pc:docMk/>
          <pc:sldMk cId="0" sldId="355"/>
        </pc:sldMkLst>
        <pc:spChg chg="mod">
          <ac:chgData name="Zhiyang Zhou" userId="715b216a-9552-4d73-a9aa-1ef002111b6f" providerId="ADAL" clId="{2B661EA1-28DD-4C7A-9BAA-1E2E41397E83}" dt="2026-10-17T05:48:17.182" v="7661" actId="14100"/>
          <ac:spMkLst>
            <pc:docMk/>
            <pc:sldMk cId="0" sldId="355"/>
            <ac:spMk id="88067" creationId="{00000000-0000-0000-0000-000000000000}"/>
          </ac:spMkLst>
        </pc:spChg>
      </pc:sldChg>
      <pc:sldChg chg="modSp mod">
        <pc:chgData name="Zhiyang Zhou" userId="715b216a-9552-4d73-a9aa-1ef002111b6f" providerId="ADAL" clId="{2B661EA1-28DD-4C7A-9BAA-1E2E41397E83}" dt="2026-10-17T06:01:43.725" v="7863" actId="20577"/>
        <pc:sldMkLst>
          <pc:docMk/>
          <pc:sldMk cId="0" sldId="356"/>
        </pc:sldMkLst>
        <pc:spChg chg="mod">
          <ac:chgData name="Zhiyang Zhou" userId="715b216a-9552-4d73-a9aa-1ef002111b6f" providerId="ADAL" clId="{2B661EA1-28DD-4C7A-9BAA-1E2E41397E83}" dt="2026-10-17T05:48:22.339" v="7663" actId="20577"/>
          <ac:spMkLst>
            <pc:docMk/>
            <pc:sldMk cId="0" sldId="356"/>
            <ac:spMk id="89091" creationId="{00000000-0000-0000-0000-000000000000}"/>
          </ac:spMkLst>
        </pc:spChg>
        <pc:graphicFrameChg chg="modGraphic">
          <ac:chgData name="Zhiyang Zhou" userId="715b216a-9552-4d73-a9aa-1ef002111b6f" providerId="ADAL" clId="{2B661EA1-28DD-4C7A-9BAA-1E2E41397E83}" dt="2026-10-17T06:01:43.725" v="7863" actId="20577"/>
          <ac:graphicFrameMkLst>
            <pc:docMk/>
            <pc:sldMk cId="0" sldId="356"/>
            <ac:graphicFrameMk id="7" creationId="{00000000-0000-0000-0000-000000000000}"/>
          </ac:graphicFrameMkLst>
        </pc:graphicFrameChg>
      </pc:sldChg>
      <pc:sldChg chg="delSp modSp mod modAnim">
        <pc:chgData name="Zhiyang Zhou" userId="715b216a-9552-4d73-a9aa-1ef002111b6f" providerId="ADAL" clId="{2B661EA1-28DD-4C7A-9BAA-1E2E41397E83}" dt="2026-10-17T06:05:59.201" v="8076" actId="12"/>
        <pc:sldMkLst>
          <pc:docMk/>
          <pc:sldMk cId="0" sldId="357"/>
        </pc:sldMkLst>
        <pc:spChg chg="mod">
          <ac:chgData name="Zhiyang Zhou" userId="715b216a-9552-4d73-a9aa-1ef002111b6f" providerId="ADAL" clId="{2B661EA1-28DD-4C7A-9BAA-1E2E41397E83}" dt="2026-10-17T06:03:06.682" v="7864" actId="20577"/>
          <ac:spMkLst>
            <pc:docMk/>
            <pc:sldMk cId="0" sldId="357"/>
            <ac:spMk id="2" creationId="{00000000-0000-0000-0000-000000000000}"/>
          </ac:spMkLst>
        </pc:spChg>
        <pc:spChg chg="mod">
          <ac:chgData name="Zhiyang Zhou" userId="715b216a-9552-4d73-a9aa-1ef002111b6f" providerId="ADAL" clId="{2B661EA1-28DD-4C7A-9BAA-1E2E41397E83}" dt="2026-10-17T05:52:36.126" v="7699" actId="1076"/>
          <ac:spMkLst>
            <pc:docMk/>
            <pc:sldMk cId="0" sldId="357"/>
            <ac:spMk id="11" creationId="{00000000-0000-0000-0000-000000000000}"/>
          </ac:spMkLst>
        </pc:spChg>
        <pc:spChg chg="del mod">
          <ac:chgData name="Zhiyang Zhou" userId="715b216a-9552-4d73-a9aa-1ef002111b6f" providerId="ADAL" clId="{2B661EA1-28DD-4C7A-9BAA-1E2E41397E83}" dt="2026-10-17T05:52:29.031" v="7698" actId="478"/>
          <ac:spMkLst>
            <pc:docMk/>
            <pc:sldMk cId="0" sldId="357"/>
            <ac:spMk id="27651" creationId="{00000000-0000-0000-0000-000000000000}"/>
          </ac:spMkLst>
        </pc:spChg>
        <pc:spChg chg="mod">
          <ac:chgData name="Zhiyang Zhou" userId="715b216a-9552-4d73-a9aa-1ef002111b6f" providerId="ADAL" clId="{2B661EA1-28DD-4C7A-9BAA-1E2E41397E83}" dt="2026-10-17T06:05:59.201" v="8076" actId="12"/>
          <ac:spMkLst>
            <pc:docMk/>
            <pc:sldMk cId="0" sldId="357"/>
            <ac:spMk id="69637" creationId="{00000000-0000-0000-0000-000000000000}"/>
          </ac:spMkLst>
        </pc:spChg>
      </pc:sldChg>
      <pc:sldChg chg="del">
        <pc:chgData name="Zhiyang Zhou" userId="715b216a-9552-4d73-a9aa-1ef002111b6f" providerId="ADAL" clId="{2B661EA1-28DD-4C7A-9BAA-1E2E41397E83}" dt="2026-10-17T05:05:10.614" v="6268" actId="2696"/>
        <pc:sldMkLst>
          <pc:docMk/>
          <pc:sldMk cId="0" sldId="360"/>
        </pc:sldMkLst>
      </pc:sldChg>
      <pc:sldChg chg="del">
        <pc:chgData name="Zhiyang Zhou" userId="715b216a-9552-4d73-a9aa-1ef002111b6f" providerId="ADAL" clId="{2B661EA1-28DD-4C7A-9BAA-1E2E41397E83}" dt="2026-10-17T05:04:08.066" v="6265" actId="2696"/>
        <pc:sldMkLst>
          <pc:docMk/>
          <pc:sldMk cId="0" sldId="361"/>
        </pc:sldMkLst>
      </pc:sldChg>
      <pc:sldChg chg="modSp del">
        <pc:chgData name="Zhiyang Zhou" userId="715b216a-9552-4d73-a9aa-1ef002111b6f" providerId="ADAL" clId="{2B661EA1-28DD-4C7A-9BAA-1E2E41397E83}" dt="2026-10-17T05:45:21.077" v="7635" actId="2696"/>
        <pc:sldMkLst>
          <pc:docMk/>
          <pc:sldMk cId="0" sldId="362"/>
        </pc:sldMkLst>
        <pc:spChg chg="mod">
          <ac:chgData name="Zhiyang Zhou" userId="715b216a-9552-4d73-a9aa-1ef002111b6f" providerId="ADAL" clId="{2B661EA1-28DD-4C7A-9BAA-1E2E41397E83}" dt="2026-10-17T05:40:54.788" v="7595"/>
          <ac:spMkLst>
            <pc:docMk/>
            <pc:sldMk cId="0" sldId="362"/>
            <ac:spMk id="2" creationId="{00000000-0000-0000-0000-000000000000}"/>
          </ac:spMkLst>
        </pc:spChg>
      </pc:sldChg>
      <pc:sldChg chg="del">
        <pc:chgData name="Zhiyang Zhou" userId="715b216a-9552-4d73-a9aa-1ef002111b6f" providerId="ADAL" clId="{2B661EA1-28DD-4C7A-9BAA-1E2E41397E83}" dt="2026-10-17T05:02:03.525" v="6259" actId="2696"/>
        <pc:sldMkLst>
          <pc:docMk/>
          <pc:sldMk cId="0" sldId="364"/>
        </pc:sldMkLst>
      </pc:sldChg>
      <pc:sldChg chg="del mod modShow">
        <pc:chgData name="Zhiyang Zhou" userId="715b216a-9552-4d73-a9aa-1ef002111b6f" providerId="ADAL" clId="{2B661EA1-28DD-4C7A-9BAA-1E2E41397E83}" dt="2026-10-17T01:51:21.573" v="3728" actId="2696"/>
        <pc:sldMkLst>
          <pc:docMk/>
          <pc:sldMk cId="0" sldId="365"/>
        </pc:sldMkLst>
      </pc:sldChg>
      <pc:sldChg chg="modSp mod modAnim">
        <pc:chgData name="Zhiyang Zhou" userId="715b216a-9552-4d73-a9aa-1ef002111b6f" providerId="ADAL" clId="{2B661EA1-28DD-4C7A-9BAA-1E2E41397E83}" dt="2026-10-17T06:15:09.587" v="8223" actId="20577"/>
        <pc:sldMkLst>
          <pc:docMk/>
          <pc:sldMk cId="0" sldId="366"/>
        </pc:sldMkLst>
        <pc:spChg chg="mod">
          <ac:chgData name="Zhiyang Zhou" userId="715b216a-9552-4d73-a9aa-1ef002111b6f" providerId="ADAL" clId="{2B661EA1-28DD-4C7A-9BAA-1E2E41397E83}" dt="2026-10-17T06:15:09.587" v="8223" actId="20577"/>
          <ac:spMkLst>
            <pc:docMk/>
            <pc:sldMk cId="0" sldId="366"/>
            <ac:spMk id="17" creationId="{00000000-0000-0000-0000-000000000000}"/>
          </ac:spMkLst>
        </pc:spChg>
        <pc:spChg chg="mod">
          <ac:chgData name="Zhiyang Zhou" userId="715b216a-9552-4d73-a9aa-1ef002111b6f" providerId="ADAL" clId="{2B661EA1-28DD-4C7A-9BAA-1E2E41397E83}" dt="2026-10-17T06:10:28.470" v="8173" actId="20577"/>
          <ac:spMkLst>
            <pc:docMk/>
            <pc:sldMk cId="0" sldId="366"/>
            <ac:spMk id="92163" creationId="{00000000-0000-0000-0000-000000000000}"/>
          </ac:spMkLst>
        </pc:spChg>
      </pc:sldChg>
      <pc:sldChg chg="modSp mod">
        <pc:chgData name="Zhiyang Zhou" userId="715b216a-9552-4d73-a9aa-1ef002111b6f" providerId="ADAL" clId="{2B661EA1-28DD-4C7A-9BAA-1E2E41397E83}" dt="2026-10-16T20:47:06.553" v="388" actId="20577"/>
        <pc:sldMkLst>
          <pc:docMk/>
          <pc:sldMk cId="334243179" sldId="367"/>
        </pc:sldMkLst>
        <pc:spChg chg="mod">
          <ac:chgData name="Zhiyang Zhou" userId="715b216a-9552-4d73-a9aa-1ef002111b6f" providerId="ADAL" clId="{2B661EA1-28DD-4C7A-9BAA-1E2E41397E83}" dt="2026-10-16T20:47:06.553" v="388" actId="20577"/>
          <ac:spMkLst>
            <pc:docMk/>
            <pc:sldMk cId="334243179" sldId="367"/>
            <ac:spMk id="5" creationId="{00000000-0000-0000-0000-000000000000}"/>
          </ac:spMkLst>
        </pc:spChg>
        <pc:spChg chg="mod">
          <ac:chgData name="Zhiyang Zhou" userId="715b216a-9552-4d73-a9aa-1ef002111b6f" providerId="ADAL" clId="{2B661EA1-28DD-4C7A-9BAA-1E2E41397E83}" dt="2026-10-16T20:41:06.439" v="377" actId="20577"/>
          <ac:spMkLst>
            <pc:docMk/>
            <pc:sldMk cId="334243179" sldId="367"/>
            <ac:spMk id="29700" creationId="{00000000-0000-0000-0000-000000000000}"/>
          </ac:spMkLst>
        </pc:spChg>
      </pc:sldChg>
      <pc:sldChg chg="addSp delSp modSp mod delAnim">
        <pc:chgData name="Zhiyang Zhou" userId="715b216a-9552-4d73-a9aa-1ef002111b6f" providerId="ADAL" clId="{2B661EA1-28DD-4C7A-9BAA-1E2E41397E83}" dt="2026-10-17T03:06:29.119" v="5112" actId="20577"/>
        <pc:sldMkLst>
          <pc:docMk/>
          <pc:sldMk cId="1596761500" sldId="368"/>
        </pc:sldMkLst>
        <pc:spChg chg="mod">
          <ac:chgData name="Zhiyang Zhou" userId="715b216a-9552-4d73-a9aa-1ef002111b6f" providerId="ADAL" clId="{2B661EA1-28DD-4C7A-9BAA-1E2E41397E83}" dt="2026-10-17T03:06:29.119" v="5112" actId="20577"/>
          <ac:spMkLst>
            <pc:docMk/>
            <pc:sldMk cId="1596761500" sldId="368"/>
            <ac:spMk id="2" creationId="{00000000-0000-0000-0000-000000000000}"/>
          </ac:spMkLst>
        </pc:spChg>
        <pc:spChg chg="add mod">
          <ac:chgData name="Zhiyang Zhou" userId="715b216a-9552-4d73-a9aa-1ef002111b6f" providerId="ADAL" clId="{2B661EA1-28DD-4C7A-9BAA-1E2E41397E83}" dt="2026-10-16T21:17:13.086" v="1355" actId="21"/>
          <ac:spMkLst>
            <pc:docMk/>
            <pc:sldMk cId="1596761500" sldId="368"/>
            <ac:spMk id="6" creationId="{413F5988-4049-FAEE-0027-D25673247B6F}"/>
          </ac:spMkLst>
        </pc:spChg>
        <pc:spChg chg="mod">
          <ac:chgData name="Zhiyang Zhou" userId="715b216a-9552-4d73-a9aa-1ef002111b6f" providerId="ADAL" clId="{2B661EA1-28DD-4C7A-9BAA-1E2E41397E83}" dt="2026-10-16T21:11:41.601" v="1180"/>
          <ac:spMkLst>
            <pc:docMk/>
            <pc:sldMk cId="1596761500" sldId="368"/>
            <ac:spMk id="9" creationId="{00000000-0000-0000-0000-000000000000}"/>
          </ac:spMkLst>
        </pc:spChg>
        <pc:spChg chg="del">
          <ac:chgData name="Zhiyang Zhou" userId="715b216a-9552-4d73-a9aa-1ef002111b6f" providerId="ADAL" clId="{2B661EA1-28DD-4C7A-9BAA-1E2E41397E83}" dt="2026-10-16T21:05:49.385" v="990" actId="478"/>
          <ac:spMkLst>
            <pc:docMk/>
            <pc:sldMk cId="1596761500" sldId="368"/>
            <ac:spMk id="19" creationId="{00000000-0000-0000-0000-000000000000}"/>
          </ac:spMkLst>
        </pc:spChg>
        <pc:spChg chg="mod">
          <ac:chgData name="Zhiyang Zhou" userId="715b216a-9552-4d73-a9aa-1ef002111b6f" providerId="ADAL" clId="{2B661EA1-28DD-4C7A-9BAA-1E2E41397E83}" dt="2026-10-16T21:11:28.438" v="1178" actId="20577"/>
          <ac:spMkLst>
            <pc:docMk/>
            <pc:sldMk cId="1596761500" sldId="368"/>
            <ac:spMk id="33795" creationId="{00000000-0000-0000-0000-000000000000}"/>
          </ac:spMkLst>
        </pc:spChg>
        <pc:graphicFrameChg chg="del mod">
          <ac:chgData name="Zhiyang Zhou" userId="715b216a-9552-4d73-a9aa-1ef002111b6f" providerId="ADAL" clId="{2B661EA1-28DD-4C7A-9BAA-1E2E41397E83}" dt="2026-10-16T21:10:48.655" v="1146" actId="478"/>
          <ac:graphicFrameMkLst>
            <pc:docMk/>
            <pc:sldMk cId="1596761500" sldId="368"/>
            <ac:graphicFrameMk id="11" creationId="{00000000-0000-0000-0000-000000000000}"/>
          </ac:graphicFrameMkLst>
        </pc:graphicFrameChg>
      </pc:sldChg>
      <pc:sldChg chg="addSp delSp modSp mod delAnim modAnim modShow chgLayout">
        <pc:chgData name="Zhiyang Zhou" userId="715b216a-9552-4d73-a9aa-1ef002111b6f" providerId="ADAL" clId="{2B661EA1-28DD-4C7A-9BAA-1E2E41397E83}" dt="2026-10-17T03:01:01.209" v="4928" actId="1037"/>
        <pc:sldMkLst>
          <pc:docMk/>
          <pc:sldMk cId="735052116" sldId="369"/>
        </pc:sldMkLst>
        <pc:spChg chg="add del mod">
          <ac:chgData name="Zhiyang Zhou" userId="715b216a-9552-4d73-a9aa-1ef002111b6f" providerId="ADAL" clId="{2B661EA1-28DD-4C7A-9BAA-1E2E41397E83}" dt="2026-10-16T21:56:06.954" v="1815" actId="6264"/>
          <ac:spMkLst>
            <pc:docMk/>
            <pc:sldMk cId="735052116" sldId="369"/>
            <ac:spMk id="4" creationId="{5E46181C-6E5C-391D-72F6-7E382AF3D6F9}"/>
          </ac:spMkLst>
        </pc:spChg>
        <pc:spChg chg="add del mod">
          <ac:chgData name="Zhiyang Zhou" userId="715b216a-9552-4d73-a9aa-1ef002111b6f" providerId="ADAL" clId="{2B661EA1-28DD-4C7A-9BAA-1E2E41397E83}" dt="2026-10-16T21:56:06.954" v="1815" actId="6264"/>
          <ac:spMkLst>
            <pc:docMk/>
            <pc:sldMk cId="735052116" sldId="369"/>
            <ac:spMk id="5" creationId="{AE492CE6-CBD0-BBFE-949E-725FF73B3084}"/>
          </ac:spMkLst>
        </pc:spChg>
        <pc:spChg chg="add del">
          <ac:chgData name="Zhiyang Zhou" userId="715b216a-9552-4d73-a9aa-1ef002111b6f" providerId="ADAL" clId="{2B661EA1-28DD-4C7A-9BAA-1E2E41397E83}" dt="2026-10-17T02:53:49.728" v="4862" actId="22"/>
          <ac:spMkLst>
            <pc:docMk/>
            <pc:sldMk cId="735052116" sldId="369"/>
            <ac:spMk id="7" creationId="{E956BC9F-7C8D-7F2A-00EC-D8FC2891F903}"/>
          </ac:spMkLst>
        </pc:spChg>
        <pc:spChg chg="add del">
          <ac:chgData name="Zhiyang Zhou" userId="715b216a-9552-4d73-a9aa-1ef002111b6f" providerId="ADAL" clId="{2B661EA1-28DD-4C7A-9BAA-1E2E41397E83}" dt="2026-10-17T02:58:45.805" v="4864" actId="22"/>
          <ac:spMkLst>
            <pc:docMk/>
            <pc:sldMk cId="735052116" sldId="369"/>
            <ac:spMk id="9" creationId="{9B19889E-6894-C48E-3911-AB201AE09F9C}"/>
          </ac:spMkLst>
        </pc:spChg>
        <pc:spChg chg="add mod">
          <ac:chgData name="Zhiyang Zhou" userId="715b216a-9552-4d73-a9aa-1ef002111b6f" providerId="ADAL" clId="{2B661EA1-28DD-4C7A-9BAA-1E2E41397E83}" dt="2026-10-17T03:00:55.117" v="4912" actId="14100"/>
          <ac:spMkLst>
            <pc:docMk/>
            <pc:sldMk cId="735052116" sldId="369"/>
            <ac:spMk id="12" creationId="{38EDD22C-DAC3-D456-7AC2-FEF190ABBC6F}"/>
          </ac:spMkLst>
        </pc:spChg>
        <pc:spChg chg="del mod">
          <ac:chgData name="Zhiyang Zhou" userId="715b216a-9552-4d73-a9aa-1ef002111b6f" providerId="ADAL" clId="{2B661EA1-28DD-4C7A-9BAA-1E2E41397E83}" dt="2026-10-16T22:25:54.277" v="2969" actId="478"/>
          <ac:spMkLst>
            <pc:docMk/>
            <pc:sldMk cId="735052116" sldId="369"/>
            <ac:spMk id="14" creationId="{00000000-0000-0000-0000-000000000000}"/>
          </ac:spMkLst>
        </pc:spChg>
        <pc:spChg chg="del mod">
          <ac:chgData name="Zhiyang Zhou" userId="715b216a-9552-4d73-a9aa-1ef002111b6f" providerId="ADAL" clId="{2B661EA1-28DD-4C7A-9BAA-1E2E41397E83}" dt="2026-10-16T22:25:53.079" v="2968" actId="478"/>
          <ac:spMkLst>
            <pc:docMk/>
            <pc:sldMk cId="735052116" sldId="369"/>
            <ac:spMk id="15" creationId="{00000000-0000-0000-0000-000000000000}"/>
          </ac:spMkLst>
        </pc:spChg>
        <pc:spChg chg="del">
          <ac:chgData name="Zhiyang Zhou" userId="715b216a-9552-4d73-a9aa-1ef002111b6f" providerId="ADAL" clId="{2B661EA1-28DD-4C7A-9BAA-1E2E41397E83}" dt="2026-10-16T22:26:01.125" v="2971" actId="478"/>
          <ac:spMkLst>
            <pc:docMk/>
            <pc:sldMk cId="735052116" sldId="369"/>
            <ac:spMk id="16" creationId="{00000000-0000-0000-0000-000000000000}"/>
          </ac:spMkLst>
        </pc:spChg>
        <pc:spChg chg="mod ord">
          <ac:chgData name="Zhiyang Zhou" userId="715b216a-9552-4d73-a9aa-1ef002111b6f" providerId="ADAL" clId="{2B661EA1-28DD-4C7A-9BAA-1E2E41397E83}" dt="2026-10-17T02:11:18.731" v="3982"/>
          <ac:spMkLst>
            <pc:docMk/>
            <pc:sldMk cId="735052116" sldId="369"/>
            <ac:spMk id="36866" creationId="{00000000-0000-0000-0000-000000000000}"/>
          </ac:spMkLst>
        </pc:spChg>
        <pc:spChg chg="mod">
          <ac:chgData name="Zhiyang Zhou" userId="715b216a-9552-4d73-a9aa-1ef002111b6f" providerId="ADAL" clId="{2B661EA1-28DD-4C7A-9BAA-1E2E41397E83}" dt="2026-10-17T03:00:46.634" v="4896" actId="1035"/>
          <ac:spMkLst>
            <pc:docMk/>
            <pc:sldMk cId="735052116" sldId="369"/>
            <ac:spMk id="36867" creationId="{00000000-0000-0000-0000-000000000000}"/>
          </ac:spMkLst>
        </pc:spChg>
        <pc:spChg chg="mod ord">
          <ac:chgData name="Zhiyang Zhou" userId="715b216a-9552-4d73-a9aa-1ef002111b6f" providerId="ADAL" clId="{2B661EA1-28DD-4C7A-9BAA-1E2E41397E83}" dt="2026-10-16T21:56:06.954" v="1815" actId="6264"/>
          <ac:spMkLst>
            <pc:docMk/>
            <pc:sldMk cId="735052116" sldId="369"/>
            <ac:spMk id="36873" creationId="{00000000-0000-0000-0000-000000000000}"/>
          </ac:spMkLst>
        </pc:spChg>
        <pc:picChg chg="del">
          <ac:chgData name="Zhiyang Zhou" userId="715b216a-9552-4d73-a9aa-1ef002111b6f" providerId="ADAL" clId="{2B661EA1-28DD-4C7A-9BAA-1E2E41397E83}" dt="2026-10-16T22:25:59.776" v="2970" actId="478"/>
          <ac:picMkLst>
            <pc:docMk/>
            <pc:sldMk cId="735052116" sldId="369"/>
            <ac:picMk id="11" creationId="{00000000-0000-0000-0000-000000000000}"/>
          </ac:picMkLst>
        </pc:picChg>
        <pc:picChg chg="add del mod">
          <ac:chgData name="Zhiyang Zhou" userId="715b216a-9552-4d73-a9aa-1ef002111b6f" providerId="ADAL" clId="{2B661EA1-28DD-4C7A-9BAA-1E2E41397E83}" dt="2026-10-17T03:01:01.209" v="4928" actId="1037"/>
          <ac:picMkLst>
            <pc:docMk/>
            <pc:sldMk cId="735052116" sldId="369"/>
            <ac:picMk id="13" creationId="{00000000-0000-0000-0000-000000000000}"/>
          </ac:picMkLst>
        </pc:picChg>
      </pc:sldChg>
      <pc:sldChg chg="modSp mod">
        <pc:chgData name="Zhiyang Zhou" userId="715b216a-9552-4d73-a9aa-1ef002111b6f" providerId="ADAL" clId="{2B661EA1-28DD-4C7A-9BAA-1E2E41397E83}" dt="2026-10-17T06:06:32.266" v="8132" actId="14100"/>
        <pc:sldMkLst>
          <pc:docMk/>
          <pc:sldMk cId="2888992230" sldId="370"/>
        </pc:sldMkLst>
        <pc:spChg chg="mod">
          <ac:chgData name="Zhiyang Zhou" userId="715b216a-9552-4d73-a9aa-1ef002111b6f" providerId="ADAL" clId="{2B661EA1-28DD-4C7A-9BAA-1E2E41397E83}" dt="2026-10-17T06:06:32.266" v="8132" actId="14100"/>
          <ac:spMkLst>
            <pc:docMk/>
            <pc:sldMk cId="2888992230" sldId="370"/>
            <ac:spMk id="3" creationId="{00000000-0000-0000-0000-000000000000}"/>
          </ac:spMkLst>
        </pc:spChg>
        <pc:spChg chg="mod">
          <ac:chgData name="Zhiyang Zhou" userId="715b216a-9552-4d73-a9aa-1ef002111b6f" providerId="ADAL" clId="{2B661EA1-28DD-4C7A-9BAA-1E2E41397E83}" dt="2026-10-17T06:04:25.804" v="7900" actId="20577"/>
          <ac:spMkLst>
            <pc:docMk/>
            <pc:sldMk cId="2888992230" sldId="370"/>
            <ac:spMk id="23" creationId="{00000000-0000-0000-0000-000000000000}"/>
          </ac:spMkLst>
        </pc:spChg>
      </pc:sldChg>
      <pc:sldChg chg="modSp del mod">
        <pc:chgData name="Zhiyang Zhou" userId="715b216a-9552-4d73-a9aa-1ef002111b6f" providerId="ADAL" clId="{2B661EA1-28DD-4C7A-9BAA-1E2E41397E83}" dt="2026-10-17T03:03:38.479" v="5042" actId="2696"/>
        <pc:sldMkLst>
          <pc:docMk/>
          <pc:sldMk cId="1666742867" sldId="371"/>
        </pc:sldMkLst>
        <pc:spChg chg="mod">
          <ac:chgData name="Zhiyang Zhou" userId="715b216a-9552-4d73-a9aa-1ef002111b6f" providerId="ADAL" clId="{2B661EA1-28DD-4C7A-9BAA-1E2E41397E83}" dt="2026-10-16T20:40:34.129" v="374" actId="14100"/>
          <ac:spMkLst>
            <pc:docMk/>
            <pc:sldMk cId="1666742867" sldId="371"/>
            <ac:spMk id="5632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A1479A24-2B06-4A3F-830C-A2FE93DDC064}" type="datetime1">
              <a:rPr lang="en-US" altLang="en-US"/>
              <a:pPr>
                <a:defRPr/>
              </a:pPr>
              <a:t>10/19/2026</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FE141379-1532-499F-9B48-CDE6C6FAD884}" type="slidenum">
              <a:rPr lang="en-US" altLang="en-US"/>
              <a:pPr/>
              <a:t>‹#›</a:t>
            </a:fld>
            <a:endParaRPr lang="en-US" altLang="en-US"/>
          </a:p>
        </p:txBody>
      </p:sp>
    </p:spTree>
    <p:extLst>
      <p:ext uri="{BB962C8B-B14F-4D97-AF65-F5344CB8AC3E}">
        <p14:creationId xmlns:p14="http://schemas.microsoft.com/office/powerpoint/2010/main" val="2150923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2032A364-A2CE-4BCE-96F6-7F597534BC38}" type="datetime1">
              <a:rPr lang="en-US" altLang="en-US"/>
              <a:pPr>
                <a:defRPr/>
              </a:pPr>
              <a:t>10/19/2026</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A8D6DCE0-C720-4934-9D1B-E9DA6B9E2C22}" type="slidenum">
              <a:rPr lang="en-US" altLang="en-US"/>
              <a:pPr/>
              <a:t>‹#›</a:t>
            </a:fld>
            <a:endParaRPr lang="en-US" altLang="en-US"/>
          </a:p>
        </p:txBody>
      </p:sp>
    </p:spTree>
    <p:extLst>
      <p:ext uri="{BB962C8B-B14F-4D97-AF65-F5344CB8AC3E}">
        <p14:creationId xmlns:p14="http://schemas.microsoft.com/office/powerpoint/2010/main" val="1485812944"/>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youtube.com/watch?v=QBONLUp7i28"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www.youtube.com/watch?v=VX_M3tIyiY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F62456D5-13F4-4F35-96A7-1575B1EB93AA}" type="slidenum">
              <a:rPr lang="en-US" altLang="en-US"/>
              <a:pPr/>
              <a:t>6</a:t>
            </a:fld>
            <a:endParaRPr lang="en-US" altLang="en-US"/>
          </a:p>
        </p:txBody>
      </p:sp>
    </p:spTree>
    <p:extLst>
      <p:ext uri="{BB962C8B-B14F-4D97-AF65-F5344CB8AC3E}">
        <p14:creationId xmlns:p14="http://schemas.microsoft.com/office/powerpoint/2010/main" val="1808903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interpretation</a:t>
            </a:r>
            <a:r>
              <a:rPr lang="en-US" baseline="0" dirty="0"/>
              <a:t> of 95% CI is tricky! Because mu is a fixed unknown value, mu doesn’t have 95% CI. Instead, if we “repeat” this procedure, 95% of those CIs will cover/capture the true mu. </a:t>
            </a:r>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7</a:t>
            </a:fld>
            <a:endParaRPr lang="en-US" altLang="en-US"/>
          </a:p>
        </p:txBody>
      </p:sp>
    </p:spTree>
    <p:extLst>
      <p:ext uri="{BB962C8B-B14F-4D97-AF65-F5344CB8AC3E}">
        <p14:creationId xmlns:p14="http://schemas.microsoft.com/office/powerpoint/2010/main" val="2550035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a 95% CI wider or</a:t>
            </a:r>
            <a:r>
              <a:rPr lang="en-US" baseline="0" dirty="0"/>
              <a:t> a 90% CI ? Why?</a:t>
            </a:r>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9</a:t>
            </a:fld>
            <a:endParaRPr lang="en-US" altLang="en-US"/>
          </a:p>
        </p:txBody>
      </p:sp>
    </p:spTree>
    <p:extLst>
      <p:ext uri="{BB962C8B-B14F-4D97-AF65-F5344CB8AC3E}">
        <p14:creationId xmlns:p14="http://schemas.microsoft.com/office/powerpoint/2010/main" val="3177571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10</a:t>
            </a:fld>
            <a:endParaRPr lang="en-US" altLang="en-US"/>
          </a:p>
        </p:txBody>
      </p:sp>
    </p:spTree>
    <p:extLst>
      <p:ext uri="{BB962C8B-B14F-4D97-AF65-F5344CB8AC3E}">
        <p14:creationId xmlns:p14="http://schemas.microsoft.com/office/powerpoint/2010/main" val="1416241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F8EA56D7-AC87-4E90-BE18-A6175C142768}" type="slidenum">
              <a:rPr lang="en-US" altLang="en-US">
                <a:latin typeface="Calibri" pitchFamily="34" charset="0"/>
              </a:rPr>
              <a:pPr/>
              <a:t>11</a:t>
            </a:fld>
            <a:endParaRPr lang="en-US" altLang="en-US">
              <a:latin typeface="Calibri" pitchFamily="34" charset="0"/>
            </a:endParaRPr>
          </a:p>
        </p:txBody>
      </p:sp>
    </p:spTree>
    <p:extLst>
      <p:ext uri="{BB962C8B-B14F-4D97-AF65-F5344CB8AC3E}">
        <p14:creationId xmlns:p14="http://schemas.microsoft.com/office/powerpoint/2010/main" val="941126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680382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904276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itchFamily="34" charset="0"/>
                <a:ea typeface="ＭＳ Ｐゴシック" pitchFamily="34" charset="-128"/>
              </a:rPr>
              <a:t>Random</a:t>
            </a:r>
            <a:r>
              <a:rPr lang="en-US" altLang="en-US" baseline="0" dirty="0">
                <a:latin typeface="Arial" pitchFamily="34" charset="0"/>
                <a:ea typeface="ＭＳ Ｐゴシック" pitchFamily="34" charset="-128"/>
              </a:rPr>
              <a:t> sampling errors – not measurement error</a:t>
            </a: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1314127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likely</a:t>
            </a:r>
            <a:r>
              <a:rPr lang="en-US" baseline="0" dirty="0"/>
              <a:t> the observed data will be collected if the null hypothesis is true.</a:t>
            </a:r>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16</a:t>
            </a:fld>
            <a:endParaRPr lang="en-US" altLang="en-US"/>
          </a:p>
        </p:txBody>
      </p:sp>
    </p:spTree>
    <p:extLst>
      <p:ext uri="{BB962C8B-B14F-4D97-AF65-F5344CB8AC3E}">
        <p14:creationId xmlns:p14="http://schemas.microsoft.com/office/powerpoint/2010/main" val="938162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17</a:t>
            </a:fld>
            <a:endParaRPr lang="en-US" altLang="en-US"/>
          </a:p>
        </p:txBody>
      </p:sp>
    </p:spTree>
    <p:extLst>
      <p:ext uri="{BB962C8B-B14F-4D97-AF65-F5344CB8AC3E}">
        <p14:creationId xmlns:p14="http://schemas.microsoft.com/office/powerpoint/2010/main" val="3055914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t>
            </a:r>
            <a:r>
              <a:rPr lang="en-US" baseline="0" dirty="0"/>
              <a:t> </a:t>
            </a:r>
            <a:r>
              <a:rPr lang="en-US" dirty="0"/>
              <a:t>Red yeast rice to reduce cholesterol</a:t>
            </a:r>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18</a:t>
            </a:fld>
            <a:endParaRPr lang="en-US" altLang="en-US"/>
          </a:p>
        </p:txBody>
      </p:sp>
    </p:spTree>
    <p:extLst>
      <p:ext uri="{BB962C8B-B14F-4D97-AF65-F5344CB8AC3E}">
        <p14:creationId xmlns:p14="http://schemas.microsoft.com/office/powerpoint/2010/main" val="3827127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a:t>
            </a:r>
            <a:r>
              <a:rPr lang="en-US" baseline="0" dirty="0"/>
              <a:t> is this study design? </a:t>
            </a:r>
            <a:r>
              <a:rPr lang="en-US" dirty="0"/>
              <a:t>Cross-over design</a:t>
            </a:r>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19</a:t>
            </a:fld>
            <a:endParaRPr lang="en-US" altLang="en-US"/>
          </a:p>
        </p:txBody>
      </p:sp>
    </p:spTree>
    <p:extLst>
      <p:ext uri="{BB962C8B-B14F-4D97-AF65-F5344CB8AC3E}">
        <p14:creationId xmlns:p14="http://schemas.microsoft.com/office/powerpoint/2010/main" val="1704074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66139D66-4D4B-4C82-8D0A-B5A492CCC0D6}" type="slidenum">
              <a:rPr lang="en-US" altLang="en-US"/>
              <a:pPr/>
              <a:t>20</a:t>
            </a:fld>
            <a:endParaRPr lang="en-US" altLang="en-US"/>
          </a:p>
        </p:txBody>
      </p:sp>
    </p:spTree>
    <p:extLst>
      <p:ext uri="{BB962C8B-B14F-4D97-AF65-F5344CB8AC3E}">
        <p14:creationId xmlns:p14="http://schemas.microsoft.com/office/powerpoint/2010/main" val="1222926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6F4D475A-36E2-480F-8E00-9ECCE5E27478}" type="slidenum">
              <a:rPr lang="en-US" altLang="en-US"/>
              <a:pPr/>
              <a:t>23</a:t>
            </a:fld>
            <a:endParaRPr lang="en-US" altLang="en-US"/>
          </a:p>
        </p:txBody>
      </p:sp>
    </p:spTree>
    <p:extLst>
      <p:ext uri="{BB962C8B-B14F-4D97-AF65-F5344CB8AC3E}">
        <p14:creationId xmlns:p14="http://schemas.microsoft.com/office/powerpoint/2010/main" val="506278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B65B26E0-24FA-4F1E-BCDE-3C2AEF025A77}" type="slidenum">
              <a:rPr lang="en-US" altLang="en-US"/>
              <a:pPr/>
              <a:t>27</a:t>
            </a:fld>
            <a:endParaRPr lang="en-US" altLang="en-US"/>
          </a:p>
        </p:txBody>
      </p:sp>
    </p:spTree>
    <p:extLst>
      <p:ext uri="{BB962C8B-B14F-4D97-AF65-F5344CB8AC3E}">
        <p14:creationId xmlns:p14="http://schemas.microsoft.com/office/powerpoint/2010/main" val="3405805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994029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itchFamily="34" charset="0"/>
                <a:ea typeface="ＭＳ Ｐゴシック" pitchFamily="34" charset="-128"/>
              </a:rPr>
              <a:t>Microarray – heterogeneity – perform</a:t>
            </a:r>
            <a:r>
              <a:rPr lang="en-US" altLang="en-US" baseline="0" dirty="0">
                <a:latin typeface="Arial" pitchFamily="34" charset="0"/>
                <a:ea typeface="ＭＳ Ｐゴシック" pitchFamily="34" charset="-128"/>
              </a:rPr>
              <a:t> subset analysis, subpopulation, Simpson paradox, -- it’s not just one test, one model…</a:t>
            </a: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2550070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3193338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t>
            </a:r>
            <a:r>
              <a:rPr lang="en-US" baseline="0" dirty="0"/>
              <a:t> &lt;- (0.0999-0.08)/(</a:t>
            </a:r>
            <a:r>
              <a:rPr lang="en-US" baseline="0" dirty="0" err="1"/>
              <a:t>sqrt</a:t>
            </a:r>
            <a:r>
              <a:rPr lang="en-US" baseline="0" dirty="0"/>
              <a:t>(0.08*0.92/500); </a:t>
            </a:r>
            <a:r>
              <a:rPr lang="en-US" baseline="0" dirty="0" err="1"/>
              <a:t>pnorm</a:t>
            </a:r>
            <a:r>
              <a:rPr lang="en-US" baseline="0" dirty="0"/>
              <a:t>(Z) =0.05</a:t>
            </a:r>
            <a:endParaRPr lang="en-US" dirty="0"/>
          </a:p>
          <a:p>
            <a:r>
              <a:rPr lang="en-US" dirty="0"/>
              <a:t>Excellent </a:t>
            </a:r>
            <a:r>
              <a:rPr lang="en-US" dirty="0" err="1"/>
              <a:t>youtube</a:t>
            </a:r>
            <a:r>
              <a:rPr lang="en-US" dirty="0"/>
              <a:t>: </a:t>
            </a:r>
            <a:r>
              <a:rPr lang="en-US" dirty="0">
                <a:hlinkClick r:id="rId3"/>
              </a:rPr>
              <a:t>https://www.youtube.com/watch?v=QBONLUp7i28</a:t>
            </a:r>
            <a:r>
              <a:rPr lang="en-US" dirty="0"/>
              <a:t>      and   </a:t>
            </a:r>
            <a:r>
              <a:rPr lang="en-US" dirty="0">
                <a:hlinkClick r:id="rId4"/>
              </a:rPr>
              <a:t>https://www.youtube.com/watch?v=VX_M3tIyiYk</a:t>
            </a:r>
            <a:endParaRPr lang="en-US" dirty="0"/>
          </a:p>
          <a:p>
            <a:r>
              <a:rPr lang="en-US" dirty="0"/>
              <a:t>P=0.11 is unknown,</a:t>
            </a:r>
            <a:r>
              <a:rPr lang="en-US" baseline="0" dirty="0"/>
              <a:t> this is a hypothetic value (for alternative hypothesis). Under Ha: p=0.11</a:t>
            </a:r>
          </a:p>
          <a:p>
            <a:r>
              <a:rPr lang="en-US" baseline="0" dirty="0"/>
              <a:t>0.0999 corresponds to the critical value for 5% type I error.</a:t>
            </a:r>
            <a:endParaRPr lang="en-US" dirty="0"/>
          </a:p>
        </p:txBody>
      </p:sp>
      <p:sp>
        <p:nvSpPr>
          <p:cNvPr id="4" name="Slide Number Placeholder 3"/>
          <p:cNvSpPr>
            <a:spLocks noGrp="1"/>
          </p:cNvSpPr>
          <p:nvPr>
            <p:ph type="sldNum" sz="quarter" idx="10"/>
          </p:nvPr>
        </p:nvSpPr>
        <p:spPr/>
        <p:txBody>
          <a:bodyPr/>
          <a:lstStyle/>
          <a:p>
            <a:fld id="{A8D6DCE0-C720-4934-9D1B-E9DA6B9E2C22}" type="slidenum">
              <a:rPr lang="en-US" altLang="en-US" smtClean="0"/>
              <a:pPr/>
              <a:t>35</a:t>
            </a:fld>
            <a:endParaRPr lang="en-US" altLang="en-US"/>
          </a:p>
        </p:txBody>
      </p:sp>
    </p:spTree>
    <p:extLst>
      <p:ext uri="{BB962C8B-B14F-4D97-AF65-F5344CB8AC3E}">
        <p14:creationId xmlns:p14="http://schemas.microsoft.com/office/powerpoint/2010/main" val="225000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1046347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CE99E6F4-CC93-4BD6-818F-D4FC81E15018}" type="slidenum">
              <a:rPr lang="en-US" altLang="en-US"/>
              <a:pPr/>
              <a:t>‹#›</a:t>
            </a:fld>
            <a:endParaRPr lang="en-US" altLang="en-US"/>
          </a:p>
        </p:txBody>
      </p:sp>
    </p:spTree>
    <p:extLst>
      <p:ext uri="{BB962C8B-B14F-4D97-AF65-F5344CB8AC3E}">
        <p14:creationId xmlns:p14="http://schemas.microsoft.com/office/powerpoint/2010/main" val="3528645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5F8DF5A0-01E1-4DF3-850A-8EC78716194A}" type="slidenum">
              <a:rPr lang="en-US" altLang="en-US"/>
              <a:pPr/>
              <a:t>‹#›</a:t>
            </a:fld>
            <a:endParaRPr lang="en-US" altLang="en-US"/>
          </a:p>
        </p:txBody>
      </p:sp>
    </p:spTree>
    <p:extLst>
      <p:ext uri="{BB962C8B-B14F-4D97-AF65-F5344CB8AC3E}">
        <p14:creationId xmlns:p14="http://schemas.microsoft.com/office/powerpoint/2010/main" val="2744667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430250B2-B930-44E1-A31B-C342A5AD56F8}" type="slidenum">
              <a:rPr lang="en-US" altLang="en-US"/>
              <a:pPr/>
              <a:t>‹#›</a:t>
            </a:fld>
            <a:endParaRPr lang="en-US" altLang="en-US"/>
          </a:p>
        </p:txBody>
      </p:sp>
    </p:spTree>
    <p:extLst>
      <p:ext uri="{BB962C8B-B14F-4D97-AF65-F5344CB8AC3E}">
        <p14:creationId xmlns:p14="http://schemas.microsoft.com/office/powerpoint/2010/main" val="1704306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95860070-7CFB-40B4-BE14-29929D3899EF}" type="slidenum">
              <a:rPr lang="en-US" altLang="en-US"/>
              <a:pPr/>
              <a:t>‹#›</a:t>
            </a:fld>
            <a:endParaRPr lang="en-US" altLang="en-US"/>
          </a:p>
        </p:txBody>
      </p:sp>
    </p:spTree>
    <p:extLst>
      <p:ext uri="{BB962C8B-B14F-4D97-AF65-F5344CB8AC3E}">
        <p14:creationId xmlns:p14="http://schemas.microsoft.com/office/powerpoint/2010/main" val="1387426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072C4CC0-5C85-4D22-B3BA-06E0622481F4}" type="slidenum">
              <a:rPr lang="en-US" altLang="en-US"/>
              <a:pPr/>
              <a:t>‹#›</a:t>
            </a:fld>
            <a:endParaRPr lang="en-US" altLang="en-US"/>
          </a:p>
        </p:txBody>
      </p:sp>
    </p:spTree>
    <p:extLst>
      <p:ext uri="{BB962C8B-B14F-4D97-AF65-F5344CB8AC3E}">
        <p14:creationId xmlns:p14="http://schemas.microsoft.com/office/powerpoint/2010/main" val="250221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8B0978C-EF3E-41DA-91F1-AC8021269503}" type="slidenum">
              <a:rPr lang="en-US" altLang="en-US"/>
              <a:pPr/>
              <a:t>‹#›</a:t>
            </a:fld>
            <a:endParaRPr lang="en-US" altLang="en-US"/>
          </a:p>
        </p:txBody>
      </p:sp>
    </p:spTree>
    <p:extLst>
      <p:ext uri="{BB962C8B-B14F-4D97-AF65-F5344CB8AC3E}">
        <p14:creationId xmlns:p14="http://schemas.microsoft.com/office/powerpoint/2010/main" val="177114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D01AC6DB-0039-4298-A171-5D5626195348}" type="slidenum">
              <a:rPr lang="en-US" altLang="en-US"/>
              <a:pPr/>
              <a:t>‹#›</a:t>
            </a:fld>
            <a:endParaRPr lang="en-US" altLang="en-US"/>
          </a:p>
        </p:txBody>
      </p:sp>
    </p:spTree>
    <p:extLst>
      <p:ext uri="{BB962C8B-B14F-4D97-AF65-F5344CB8AC3E}">
        <p14:creationId xmlns:p14="http://schemas.microsoft.com/office/powerpoint/2010/main" val="361240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5C884DE9-E04F-4288-9ED9-FE5D550713BA}" type="slidenum">
              <a:rPr lang="en-US" altLang="en-US"/>
              <a:pPr/>
              <a:t>‹#›</a:t>
            </a:fld>
            <a:endParaRPr lang="en-US" altLang="en-US"/>
          </a:p>
        </p:txBody>
      </p:sp>
    </p:spTree>
    <p:extLst>
      <p:ext uri="{BB962C8B-B14F-4D97-AF65-F5344CB8AC3E}">
        <p14:creationId xmlns:p14="http://schemas.microsoft.com/office/powerpoint/2010/main" val="2606735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23D08046-30D2-4299-ABA6-D1D398EEE5FC}" type="slidenum">
              <a:rPr lang="en-US" altLang="en-US"/>
              <a:pPr/>
              <a:t>‹#›</a:t>
            </a:fld>
            <a:endParaRPr lang="en-US" altLang="en-US"/>
          </a:p>
        </p:txBody>
      </p:sp>
    </p:spTree>
    <p:extLst>
      <p:ext uri="{BB962C8B-B14F-4D97-AF65-F5344CB8AC3E}">
        <p14:creationId xmlns:p14="http://schemas.microsoft.com/office/powerpoint/2010/main" val="3743122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6E4021AC-30CC-476E-BC84-58CAE81714B8}" type="slidenum">
              <a:rPr lang="en-US" altLang="en-US"/>
              <a:pPr/>
              <a:t>‹#›</a:t>
            </a:fld>
            <a:endParaRPr lang="en-US" altLang="en-US"/>
          </a:p>
        </p:txBody>
      </p:sp>
    </p:spTree>
    <p:extLst>
      <p:ext uri="{BB962C8B-B14F-4D97-AF65-F5344CB8AC3E}">
        <p14:creationId xmlns:p14="http://schemas.microsoft.com/office/powerpoint/2010/main" val="435987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7772400" cy="772639"/>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70F7A7FE-7E23-4E26-893C-084BB9E221DC}" type="slidenum">
              <a:rPr lang="en-US" altLang="en-US" smtClean="0"/>
              <a:pPr/>
              <a:t>‹#›</a:t>
            </a:fld>
            <a:endParaRPr lang="en-US" altLang="en-US" dirty="0"/>
          </a:p>
        </p:txBody>
      </p:sp>
    </p:spTree>
    <p:extLst>
      <p:ext uri="{BB962C8B-B14F-4D97-AF65-F5344CB8AC3E}">
        <p14:creationId xmlns:p14="http://schemas.microsoft.com/office/powerpoint/2010/main" val="202841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BDD56373-BEE7-4190-8119-BD4E96CAD248}" type="slidenum">
              <a:rPr lang="en-US" altLang="en-US"/>
              <a:pPr/>
              <a:t>‹#›</a:t>
            </a:fld>
            <a:endParaRPr lang="en-US" altLang="en-US"/>
          </a:p>
        </p:txBody>
      </p:sp>
    </p:spTree>
    <p:extLst>
      <p:ext uri="{BB962C8B-B14F-4D97-AF65-F5344CB8AC3E}">
        <p14:creationId xmlns:p14="http://schemas.microsoft.com/office/powerpoint/2010/main" val="2630102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18EBB0A0-0E76-4528-B8AF-81CFD3D0EFCC}" type="slidenum">
              <a:rPr lang="en-US" altLang="en-US"/>
              <a:pPr/>
              <a:t>‹#›</a:t>
            </a:fld>
            <a:endParaRPr lang="en-US" altLang="en-US"/>
          </a:p>
        </p:txBody>
      </p:sp>
    </p:spTree>
    <p:extLst>
      <p:ext uri="{BB962C8B-B14F-4D97-AF65-F5344CB8AC3E}">
        <p14:creationId xmlns:p14="http://schemas.microsoft.com/office/powerpoint/2010/main" val="1414034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91024C4B-4E14-439F-B979-B1840C2CC932}" type="slidenum">
              <a:rPr lang="en-US" altLang="en-US"/>
              <a:pPr/>
              <a:t>‹#›</a:t>
            </a:fld>
            <a:endParaRPr lang="en-US" altLang="en-US"/>
          </a:p>
        </p:txBody>
      </p:sp>
    </p:spTree>
    <p:extLst>
      <p:ext uri="{BB962C8B-B14F-4D97-AF65-F5344CB8AC3E}">
        <p14:creationId xmlns:p14="http://schemas.microsoft.com/office/powerpoint/2010/main" val="3174641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30CFB260-02FA-48D7-88CA-301EB77EF19D}" type="slidenum">
              <a:rPr lang="en-US" altLang="en-US"/>
              <a:pPr/>
              <a:t>‹#›</a:t>
            </a:fld>
            <a:endParaRPr lang="en-US" altLang="en-US"/>
          </a:p>
        </p:txBody>
      </p:sp>
    </p:spTree>
    <p:extLst>
      <p:ext uri="{BB962C8B-B14F-4D97-AF65-F5344CB8AC3E}">
        <p14:creationId xmlns:p14="http://schemas.microsoft.com/office/powerpoint/2010/main" val="1756212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38AB7D43-D50F-4614-9900-23CCDBE8A61F}" type="slidenum">
              <a:rPr lang="en-US" altLang="en-US"/>
              <a:pPr/>
              <a:t>‹#›</a:t>
            </a:fld>
            <a:endParaRPr lang="en-US" altLang="en-US"/>
          </a:p>
        </p:txBody>
      </p:sp>
    </p:spTree>
    <p:extLst>
      <p:ext uri="{BB962C8B-B14F-4D97-AF65-F5344CB8AC3E}">
        <p14:creationId xmlns:p14="http://schemas.microsoft.com/office/powerpoint/2010/main" val="25538617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9BD780B-6627-4E88-A188-7DC10087F062}" type="slidenum">
              <a:rPr lang="en-US" altLang="en-US"/>
              <a:pPr/>
              <a:t>‹#›</a:t>
            </a:fld>
            <a:endParaRPr lang="en-US" altLang="en-US"/>
          </a:p>
        </p:txBody>
      </p:sp>
    </p:spTree>
    <p:extLst>
      <p:ext uri="{BB962C8B-B14F-4D97-AF65-F5344CB8AC3E}">
        <p14:creationId xmlns:p14="http://schemas.microsoft.com/office/powerpoint/2010/main" val="2317960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A3C348E-D1EF-417D-8F0A-638F0E335320}" type="slidenum">
              <a:rPr lang="en-US" altLang="en-US"/>
              <a:pPr/>
              <a:t>‹#›</a:t>
            </a:fld>
            <a:endParaRPr lang="en-US" altLang="en-US"/>
          </a:p>
        </p:txBody>
      </p:sp>
    </p:spTree>
    <p:extLst>
      <p:ext uri="{BB962C8B-B14F-4D97-AF65-F5344CB8AC3E}">
        <p14:creationId xmlns:p14="http://schemas.microsoft.com/office/powerpoint/2010/main" val="3430532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CCA0EEAF-1806-4E70-BA51-AF24E6AF17F3}" type="slidenum">
              <a:rPr lang="en-US" altLang="en-US"/>
              <a:pPr/>
              <a:t>‹#›</a:t>
            </a:fld>
            <a:endParaRPr lang="en-US" altLang="en-US"/>
          </a:p>
        </p:txBody>
      </p:sp>
    </p:spTree>
    <p:extLst>
      <p:ext uri="{BB962C8B-B14F-4D97-AF65-F5344CB8AC3E}">
        <p14:creationId xmlns:p14="http://schemas.microsoft.com/office/powerpoint/2010/main" val="3084728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D80332D8-222A-4384-B54F-29636FA87E51}" type="slidenum">
              <a:rPr lang="en-US" altLang="en-US"/>
              <a:pPr/>
              <a:t>‹#›</a:t>
            </a:fld>
            <a:endParaRPr lang="en-US" altLang="en-US"/>
          </a:p>
        </p:txBody>
      </p:sp>
    </p:spTree>
    <p:extLst>
      <p:ext uri="{BB962C8B-B14F-4D97-AF65-F5344CB8AC3E}">
        <p14:creationId xmlns:p14="http://schemas.microsoft.com/office/powerpoint/2010/main" val="1941018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151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75AE6FD4-389B-4EB5-90E1-FBDA34AC8DA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61" r:id="rId1"/>
    <p:sldLayoutId id="2147484962" r:id="rId2"/>
    <p:sldLayoutId id="2147484963" r:id="rId3"/>
    <p:sldLayoutId id="2147484964" r:id="rId4"/>
    <p:sldLayoutId id="2147484965" r:id="rId5"/>
    <p:sldLayoutId id="2147484966" r:id="rId6"/>
    <p:sldLayoutId id="2147484967" r:id="rId7"/>
    <p:sldLayoutId id="2147484968" r:id="rId8"/>
    <p:sldLayoutId id="2147484969" r:id="rId9"/>
    <p:sldLayoutId id="2147484970" r:id="rId10"/>
    <p:sldLayoutId id="2147484971" r:id="rId11"/>
    <p:sldLayoutId id="2147484972" r:id="rId12"/>
    <p:sldLayoutId id="2147484973" r:id="rId13"/>
    <p:sldLayoutId id="2147484974" r:id="rId14"/>
    <p:sldLayoutId id="2147484975" r:id="rId15"/>
    <p:sldLayoutId id="2147484976" r:id="rId16"/>
    <p:sldLayoutId id="2147484977" r:id="rId17"/>
    <p:sldLayoutId id="2147484978" r:id="rId18"/>
    <p:sldLayoutId id="2147484979" r:id="rId19"/>
    <p:sldLayoutId id="2147484980" r:id="rId20"/>
    <p:sldLayoutId id="2147484981" r:id="rId21"/>
    <p:sldLayoutId id="2147484982"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3" Type="http://schemas.openxmlformats.org/officeDocument/2006/relationships/image" Target="../media/image9.png"/><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9.png"/><Relationship Id="rId1" Type="http://schemas.openxmlformats.org/officeDocument/2006/relationships/slideLayout" Target="../slideLayouts/slideLayout12.xml"/><Relationship Id="rId4" Type="http://schemas.openxmlformats.org/officeDocument/2006/relationships/image" Target="../media/image14.emf"/></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solidFill>
                  <a:schemeClr val="accent1">
                    <a:lumMod val="75000"/>
                  </a:schemeClr>
                </a:solidFill>
                <a:effectLst>
                  <a:outerShdw blurRad="38100" dist="38100" dir="2700000" algn="tl">
                    <a:srgbClr val="000000">
                      <a:alpha val="43137"/>
                    </a:srgbClr>
                  </a:outerShdw>
                </a:effectLst>
                <a:ea typeface="ＭＳ Ｐゴシック" pitchFamily="34" charset="-128"/>
              </a:rPr>
              <a:t>Chapter 6:</a:t>
            </a:r>
            <a:br>
              <a:rPr lang="en-US" dirty="0">
                <a:solidFill>
                  <a:schemeClr val="accent1">
                    <a:lumMod val="75000"/>
                  </a:schemeClr>
                </a:solidFill>
                <a:ea typeface="ＭＳ Ｐゴシック" pitchFamily="34" charset="-128"/>
              </a:rPr>
            </a:br>
            <a:r>
              <a:rPr lang="en-US" dirty="0">
                <a:solidFill>
                  <a:schemeClr val="accent1">
                    <a:lumMod val="75000"/>
                  </a:schemeClr>
                </a:solidFill>
                <a:ea typeface="ＭＳ Ｐゴシック" pitchFamily="34" charset="-128"/>
              </a:rPr>
              <a:t>Introduction to Inference</a:t>
            </a:r>
            <a:endParaRPr lang="en-US" dirty="0"/>
          </a:p>
        </p:txBody>
      </p:sp>
      <p:pic>
        <p:nvPicPr>
          <p:cNvPr id="4" name="Picture 2" descr="Introduction to the Practice of Statistics, Ninth Edition&#10;Moore/McCabe/Craig"/>
          <p:cNvPicPr>
            <a:picLocks noChangeArrowheads="1"/>
          </p:cNvPicPr>
          <p:nvPr/>
        </p:nvPicPr>
        <p:blipFill rotWithShape="1">
          <a:blip r:embed="rId2">
            <a:extLst>
              <a:ext uri="{28A0092B-C50C-407E-A947-70E740481C1C}">
                <a14:useLocalDpi xmlns:a14="http://schemas.microsoft.com/office/drawing/2010/main" val="0"/>
              </a:ext>
            </a:extLst>
          </a:blip>
          <a:srcRect l="1175" t="28909" b="32979"/>
          <a:stretch/>
        </p:blipFill>
        <p:spPr bwMode="auto">
          <a:xfrm>
            <a:off x="0" y="0"/>
            <a:ext cx="9144000" cy="352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ubtitle 4"/>
          <p:cNvSpPr txBox="1">
            <a:spLocks/>
          </p:cNvSpPr>
          <p:nvPr/>
        </p:nvSpPr>
        <p:spPr bwMode="auto">
          <a:xfrm>
            <a:off x="3474720" y="6035040"/>
            <a:ext cx="545782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algn="r" defTabSz="914400" eaLnBrk="1" hangingPunct="1">
              <a:buClr>
                <a:schemeClr val="accent1"/>
              </a:buClr>
              <a:buSzPct val="100000"/>
              <a:buFont typeface="Wingdings 2" pitchFamily="-65" charset="2"/>
              <a:buNone/>
              <a:defRPr/>
            </a:pPr>
            <a:r>
              <a:rPr lang="en-US" altLang="en-US" b="1" dirty="0">
                <a:solidFill>
                  <a:srgbClr val="073779"/>
                </a:solidFill>
              </a:rPr>
              <a:t>Lecture Presentation Slides</a:t>
            </a:r>
          </a:p>
          <a:p>
            <a:pPr algn="r" defTabSz="914400" eaLnBrk="1" hangingPunct="1">
              <a:buClr>
                <a:schemeClr val="accent1"/>
              </a:buClr>
              <a:buSzPct val="100000"/>
              <a:buFont typeface="Wingdings 2" pitchFamily="-65" charset="2"/>
              <a:buNone/>
              <a:defRPr/>
            </a:pPr>
            <a:r>
              <a:rPr lang="en-US" sz="1100" b="1" kern="1200" dirty="0">
                <a:solidFill>
                  <a:schemeClr val="accent1"/>
                </a:solidFill>
                <a:effectLst/>
                <a:latin typeface="Arial" charset="0"/>
                <a:ea typeface="ＭＳ Ｐゴシック" pitchFamily="-65" charset="-128"/>
                <a:cs typeface="+mn-cs"/>
              </a:rPr>
              <a:t>Macmillan Learning ©</a:t>
            </a:r>
            <a:r>
              <a:rPr lang="en-US" altLang="en-US" sz="1100" b="1" baseline="0" dirty="0">
                <a:solidFill>
                  <a:schemeClr val="accent1"/>
                </a:solidFill>
              </a:rPr>
              <a:t> 2017</a:t>
            </a:r>
            <a:endParaRPr lang="en-US" altLang="en-US" sz="1100" b="1"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Chapter 6</a:t>
            </a:r>
            <a:br>
              <a:rPr lang="en-US" altLang="en-US" b="1" dirty="0"/>
            </a:br>
            <a:r>
              <a:rPr lang="en-US" altLang="en-US" b="1" dirty="0"/>
              <a:t>Introduction to Inference</a:t>
            </a:r>
            <a:endParaRPr lang="en-US" b="1" dirty="0"/>
          </a:p>
        </p:txBody>
      </p:sp>
      <p:sp>
        <p:nvSpPr>
          <p:cNvPr id="3" name="Content Placeholder 2"/>
          <p:cNvSpPr>
            <a:spLocks noGrp="1"/>
          </p:cNvSpPr>
          <p:nvPr>
            <p:ph idx="1"/>
          </p:nvPr>
        </p:nvSpPr>
        <p:spPr>
          <a:xfrm>
            <a:off x="457199" y="2209800"/>
            <a:ext cx="7216219" cy="3916363"/>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6.1 Confidence Intervals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6.2 Hypothesis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6.3 Use and Abuse of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6.4 Power</a:t>
            </a:r>
          </a:p>
        </p:txBody>
      </p:sp>
      <p:sp>
        <p:nvSpPr>
          <p:cNvPr id="27650"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ABC235E-B941-4949-A661-604E66E2E9FF}" type="slidenum">
              <a:rPr lang="en-US" altLang="en-US" sz="1400">
                <a:solidFill>
                  <a:schemeClr val="accent1"/>
                </a:solidFill>
              </a:rPr>
              <a:pPr/>
              <a:t>2</a:t>
            </a:fld>
            <a:endParaRPr lang="en-US" altLang="en-US" sz="1400"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p:txBody>
          <a:bodyPr anchor="t"/>
          <a:lstStyle/>
          <a:p>
            <a:pPr eaLnBrk="1" hangingPunct="1"/>
            <a:r>
              <a:rPr lang="en-US" altLang="en-US" b="1" dirty="0">
                <a:ea typeface="ＭＳ Ｐゴシック" pitchFamily="34" charset="-128"/>
              </a:rPr>
              <a:t>6.1 Estimating with Confidence</a:t>
            </a:r>
          </a:p>
        </p:txBody>
      </p:sp>
      <p:sp>
        <p:nvSpPr>
          <p:cNvPr id="28675" name="Text Placeholder 3"/>
          <p:cNvSpPr>
            <a:spLocks noGrp="1"/>
          </p:cNvSpPr>
          <p:nvPr>
            <p:ph idx="1"/>
          </p:nvPr>
        </p:nvSpPr>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Overview of Inference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 for a population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How confidence intervals behave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Choosing the sample size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Some Cautions</a:t>
            </a:r>
          </a:p>
        </p:txBody>
      </p:sp>
      <p:sp>
        <p:nvSpPr>
          <p:cNvPr id="2867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B4B47C1-7812-450B-8ABE-058B568BE3DB}" type="slidenum">
              <a:rPr lang="en-US" altLang="en-US" sz="1400">
                <a:solidFill>
                  <a:schemeClr val="accent1"/>
                </a:solidFill>
              </a:rPr>
              <a:pPr/>
              <a:t>3</a:t>
            </a:fld>
            <a:endParaRPr lang="en-US" altLang="en-US" sz="1400"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dirty="0">
                <a:ea typeface="ＭＳ Ｐゴシック" pitchFamily="34" charset="-128"/>
              </a:rPr>
              <a:t>Statistical Inference</a:t>
            </a:r>
          </a:p>
        </p:txBody>
      </p:sp>
      <p:sp>
        <p:nvSpPr>
          <p:cNvPr id="296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F808813-36DC-4FA1-AFAB-41B786BAE12E}" type="slidenum">
              <a:rPr lang="en-US" altLang="en-US" sz="1200">
                <a:solidFill>
                  <a:schemeClr val="accent1"/>
                </a:solidFill>
              </a:rPr>
              <a:pPr>
                <a:lnSpc>
                  <a:spcPct val="80000"/>
                </a:lnSpc>
              </a:pPr>
              <a:t>4</a:t>
            </a:fld>
            <a:endParaRPr lang="en-US" altLang="en-US" sz="1200" dirty="0">
              <a:solidFill>
                <a:schemeClr val="accent1"/>
              </a:solidFill>
            </a:endParaRPr>
          </a:p>
        </p:txBody>
      </p:sp>
      <p:pic>
        <p:nvPicPr>
          <p:cNvPr id="2" name="Picture 1" descr="The animation shows a figure illustrating &quot;statistical inference,&quot; an inference which provides methods for drawing conclusions about a population from sample data. A sample is a part of the population from which the data is collected to make an inference or conclusions about the population."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664" y="409575"/>
            <a:ext cx="638175" cy="276225"/>
          </a:xfrm>
          <a:prstGeom prst="rect">
            <a:avLst/>
          </a:prstGeom>
        </p:spPr>
      </p:pic>
      <p:pic>
        <p:nvPicPr>
          <p:cNvPr id="3" name="Picture 2"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1944" y="443215"/>
            <a:ext cx="638175" cy="276225"/>
          </a:xfrm>
          <a:prstGeom prst="rect">
            <a:avLst/>
          </a:prstGeom>
        </p:spPr>
      </p:pic>
      <p:sp>
        <p:nvSpPr>
          <p:cNvPr id="29698" name="Rectangle 3"/>
          <p:cNvSpPr txBox="1">
            <a:spLocks noChangeArrowheads="1"/>
          </p:cNvSpPr>
          <p:nvPr/>
        </p:nvSpPr>
        <p:spPr bwMode="auto">
          <a:xfrm>
            <a:off x="457200" y="1084779"/>
            <a:ext cx="8124825" cy="131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chemeClr val="tx1"/>
                </a:solidFill>
              </a:rPr>
              <a:t>After we have selected a sample, we know the responses of the individuals in the sample. However, the reason for taking the sample is to infer from that data some conclusion about the wider population represented by the sample.</a:t>
            </a:r>
          </a:p>
        </p:txBody>
      </p:sp>
      <p:sp>
        <p:nvSpPr>
          <p:cNvPr id="5" name="TextBox 4"/>
          <p:cNvSpPr txBox="1">
            <a:spLocks noChangeArrowheads="1"/>
          </p:cNvSpPr>
          <p:nvPr/>
        </p:nvSpPr>
        <p:spPr bwMode="auto">
          <a:xfrm>
            <a:off x="353333" y="2690892"/>
            <a:ext cx="8334375" cy="70788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buNone/>
            </a:pPr>
            <a:r>
              <a:rPr lang="en-US" sz="2000" b="1" dirty="0"/>
              <a:t>Statistical inference</a:t>
            </a:r>
            <a:r>
              <a:rPr lang="en-US" sz="2000" dirty="0"/>
              <a:t> uses a sample to draw conclusions about a population.</a:t>
            </a:r>
          </a:p>
        </p:txBody>
      </p:sp>
      <p:sp>
        <p:nvSpPr>
          <p:cNvPr id="15" name="Rounded Rectangle 14"/>
          <p:cNvSpPr>
            <a:spLocks noChangeArrowheads="1"/>
          </p:cNvSpPr>
          <p:nvPr/>
        </p:nvSpPr>
        <p:spPr bwMode="auto">
          <a:xfrm>
            <a:off x="457200" y="3897313"/>
            <a:ext cx="3954463" cy="1860550"/>
          </a:xfrm>
          <a:prstGeom prst="roundRect">
            <a:avLst>
              <a:gd name="adj" fmla="val 16667"/>
            </a:avLst>
          </a:prstGeom>
          <a:solidFill>
            <a:schemeClr val="accent1"/>
          </a:solidFill>
          <a:ln w="10000">
            <a:solidFill>
              <a:schemeClr val="accent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800" b="1" dirty="0">
                <a:solidFill>
                  <a:schemeClr val="lt1"/>
                </a:solidFill>
                <a:latin typeface="+mn-lt"/>
                <a:ea typeface="+mn-ea"/>
                <a:cs typeface="Arial"/>
              </a:rPr>
              <a:t>Population</a:t>
            </a:r>
          </a:p>
        </p:txBody>
      </p:sp>
      <p:sp>
        <p:nvSpPr>
          <p:cNvPr id="16" name="Oval 15"/>
          <p:cNvSpPr>
            <a:spLocks noChangeArrowheads="1"/>
          </p:cNvSpPr>
          <p:nvPr/>
        </p:nvSpPr>
        <p:spPr bwMode="auto">
          <a:xfrm>
            <a:off x="2195513" y="4297363"/>
            <a:ext cx="2114550" cy="1284287"/>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p>
            <a:pPr algn="ctr" eaLnBrk="1" fontAlgn="auto" hangingPunct="1">
              <a:spcBef>
                <a:spcPts val="0"/>
              </a:spcBef>
              <a:spcAft>
                <a:spcPts val="0"/>
              </a:spcAft>
              <a:defRPr/>
            </a:pPr>
            <a:r>
              <a:rPr lang="en-US" sz="2800" b="1" dirty="0">
                <a:latin typeface="+mn-lt"/>
                <a:ea typeface="+mn-ea"/>
                <a:cs typeface="Arial"/>
              </a:rPr>
              <a:t>Sample</a:t>
            </a:r>
          </a:p>
        </p:txBody>
      </p:sp>
      <p:sp>
        <p:nvSpPr>
          <p:cNvPr id="17" name="Curved Down Arrow 16" descr="already described"/>
          <p:cNvSpPr/>
          <p:nvPr/>
        </p:nvSpPr>
        <p:spPr>
          <a:xfrm rot="21041449">
            <a:off x="3961287" y="3947093"/>
            <a:ext cx="3314313" cy="715007"/>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
        <p:nvSpPr>
          <p:cNvPr id="18" name="TextBox 17"/>
          <p:cNvSpPr txBox="1">
            <a:spLocks noChangeArrowheads="1"/>
          </p:cNvSpPr>
          <p:nvPr/>
        </p:nvSpPr>
        <p:spPr bwMode="auto">
          <a:xfrm>
            <a:off x="6003925" y="4368800"/>
            <a:ext cx="3086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b="1" dirty="0">
                <a:solidFill>
                  <a:schemeClr val="tx1"/>
                </a:solidFill>
              </a:rPr>
              <a:t>Collect data </a:t>
            </a:r>
            <a:r>
              <a:rPr lang="en-US" altLang="en-US" dirty="0">
                <a:solidFill>
                  <a:schemeClr val="tx1"/>
                </a:solidFill>
              </a:rPr>
              <a:t>from a representative </a:t>
            </a:r>
            <a:r>
              <a:rPr lang="en-US" altLang="en-US" b="1" dirty="0">
                <a:solidFill>
                  <a:schemeClr val="tx1"/>
                </a:solidFill>
              </a:rPr>
              <a:t>sample</a:t>
            </a:r>
            <a:r>
              <a:rPr lang="en-US" altLang="en-US" dirty="0">
                <a:solidFill>
                  <a:schemeClr val="tx1"/>
                </a:solidFill>
              </a:rPr>
              <a:t>...</a:t>
            </a:r>
          </a:p>
        </p:txBody>
      </p:sp>
      <p:sp>
        <p:nvSpPr>
          <p:cNvPr id="20" name="TextBox 19"/>
          <p:cNvSpPr txBox="1">
            <a:spLocks noChangeArrowheads="1"/>
          </p:cNvSpPr>
          <p:nvPr/>
        </p:nvSpPr>
        <p:spPr bwMode="auto">
          <a:xfrm>
            <a:off x="4741863" y="5502275"/>
            <a:ext cx="29257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Make an </a:t>
            </a:r>
            <a:r>
              <a:rPr lang="en-US" altLang="en-US" b="1" dirty="0">
                <a:solidFill>
                  <a:schemeClr val="tx1"/>
                </a:solidFill>
              </a:rPr>
              <a:t>inference </a:t>
            </a:r>
            <a:r>
              <a:rPr lang="en-US" altLang="en-US" dirty="0">
                <a:solidFill>
                  <a:schemeClr val="tx1"/>
                </a:solidFill>
              </a:rPr>
              <a:t>about the </a:t>
            </a:r>
            <a:r>
              <a:rPr lang="en-US" altLang="en-US" b="1" dirty="0">
                <a:solidFill>
                  <a:schemeClr val="tx1"/>
                </a:solidFill>
              </a:rPr>
              <a:t>population.</a:t>
            </a:r>
          </a:p>
        </p:txBody>
      </p:sp>
      <p:sp>
        <p:nvSpPr>
          <p:cNvPr id="21" name="Curved Down Arrow 20" descr="already described"/>
          <p:cNvSpPr/>
          <p:nvPr/>
        </p:nvSpPr>
        <p:spPr>
          <a:xfrm rot="7411148">
            <a:off x="7181898" y="5546328"/>
            <a:ext cx="1545323" cy="860063"/>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
        <p:nvSpPr>
          <p:cNvPr id="23" name="Curved Down Arrow 22" descr="already described"/>
          <p:cNvSpPr/>
          <p:nvPr/>
        </p:nvSpPr>
        <p:spPr>
          <a:xfrm rot="11573746">
            <a:off x="1051831" y="5776298"/>
            <a:ext cx="4031668" cy="690109"/>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Tree>
    <p:extLst>
      <p:ext uri="{BB962C8B-B14F-4D97-AF65-F5344CB8AC3E}">
        <p14:creationId xmlns:p14="http://schemas.microsoft.com/office/powerpoint/2010/main" val="3342431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childTnLst>
                          </p:cTn>
                        </p:par>
                        <p:par>
                          <p:cTn id="21" fill="hold" nodeType="afterGroup">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000"/>
                                        <p:tgtEl>
                                          <p:spTgt spid="18"/>
                                        </p:tgtEl>
                                      </p:cBhvr>
                                    </p:animEffect>
                                  </p:childTnLst>
                                </p:cTn>
                              </p:par>
                            </p:childTnLst>
                          </p:cTn>
                        </p:par>
                        <p:par>
                          <p:cTn id="25" fill="hold" nodeType="afterGroup">
                            <p:stCondLst>
                              <p:cond delay="4000"/>
                            </p:stCondLst>
                            <p:childTnLst>
                              <p:par>
                                <p:cTn id="26" presetID="10" presetClass="entr" presetSubtype="0"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childTnLst>
                                </p:cTn>
                              </p:par>
                            </p:childTnLst>
                          </p:cTn>
                        </p:par>
                        <p:par>
                          <p:cTn id="29" fill="hold" nodeType="afterGroup">
                            <p:stCondLst>
                              <p:cond delay="5000"/>
                            </p:stCondLst>
                            <p:childTnLst>
                              <p:par>
                                <p:cTn id="30" presetID="10"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childTnLst>
                                </p:cTn>
                              </p:par>
                            </p:childTnLst>
                          </p:cTn>
                        </p:par>
                        <p:par>
                          <p:cTn id="33" fill="hold" nodeType="afterGroup">
                            <p:stCondLst>
                              <p:cond delay="6000"/>
                            </p:stCondLst>
                            <p:childTnLst>
                              <p:par>
                                <p:cTn id="34" presetID="10" presetClass="entr" presetSubtype="0" fill="hold"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8"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dirty="0">
                <a:ea typeface="ＭＳ Ｐゴシック" pitchFamily="34" charset="-128"/>
              </a:rPr>
              <a:t>Overview of Inference</a:t>
            </a:r>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573BA0A-3786-449A-B40D-2F3EBC4C86EB}" type="slidenum">
              <a:rPr lang="en-US" altLang="en-US" sz="1200">
                <a:solidFill>
                  <a:schemeClr val="accent1"/>
                </a:solidFill>
              </a:rPr>
              <a:pPr>
                <a:lnSpc>
                  <a:spcPct val="80000"/>
                </a:lnSpc>
              </a:pPr>
              <a:t>5</a:t>
            </a:fld>
            <a:endParaRPr lang="en-US" altLang="en-US" sz="1200" dirty="0">
              <a:solidFill>
                <a:schemeClr val="accent1"/>
              </a:solidFill>
            </a:endParaRPr>
          </a:p>
        </p:txBody>
      </p:sp>
      <p:sp>
        <p:nvSpPr>
          <p:cNvPr id="2" name="TextBox 1"/>
          <p:cNvSpPr txBox="1"/>
          <p:nvPr/>
        </p:nvSpPr>
        <p:spPr>
          <a:xfrm>
            <a:off x="768350" y="2350611"/>
            <a:ext cx="7178675" cy="1754326"/>
          </a:xfrm>
          <a:prstGeom prst="rect">
            <a:avLst/>
          </a:prstGeom>
          <a:solidFill>
            <a:schemeClr val="accent3">
              <a:lumMod val="40000"/>
              <a:lumOff val="60000"/>
            </a:schemeClr>
          </a:solidFill>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FF0000"/>
                </a:solidFill>
              </a:rPr>
              <a:t>Confidence intervals </a:t>
            </a:r>
            <a:r>
              <a:rPr lang="en-US" altLang="en-US" sz="1800" dirty="0"/>
              <a:t>and </a:t>
            </a:r>
            <a:r>
              <a:rPr lang="en-US" altLang="en-US" sz="1800" dirty="0">
                <a:solidFill>
                  <a:srgbClr val="FF0000"/>
                </a:solidFill>
              </a:rPr>
              <a:t>hypothesis tests </a:t>
            </a:r>
            <a:r>
              <a:rPr lang="en-US" altLang="en-US" sz="1800" dirty="0"/>
              <a:t>are two closely related methods of statistical inference.</a:t>
            </a:r>
          </a:p>
          <a:p>
            <a:pPr marL="285750" indent="-285750" eaLnBrk="1" hangingPunct="1">
              <a:buFont typeface="Arial" panose="020B0604020202020204" pitchFamily="34" charset="0"/>
              <a:buChar char="•"/>
              <a:defRPr/>
            </a:pPr>
            <a:r>
              <a:rPr lang="en-US" altLang="en-US" sz="1800" dirty="0"/>
              <a:t>A confidence interval provides a range of plausible values for a population parameter based on sample data.</a:t>
            </a:r>
          </a:p>
          <a:p>
            <a:pPr marL="285750" indent="-285750" eaLnBrk="1" hangingPunct="1">
              <a:buFont typeface="Arial" panose="020B0604020202020204" pitchFamily="34" charset="0"/>
              <a:buChar char="•"/>
              <a:defRPr/>
            </a:pPr>
            <a:r>
              <a:rPr lang="en-US" altLang="en-US" sz="1800" dirty="0"/>
              <a:t>A hypothesis test evaluates sample data to make a decision between two competing hypotheses.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animEffect transition="in" filter="dissolve">
                                      <p:cBhvr>
                                        <p:cTn id="9" dur="500"/>
                                        <p:tgtEl>
                                          <p:spTgt spid="2">
                                            <p:txEl>
                                              <p:pRg st="0" end="0"/>
                                            </p:txEl>
                                          </p:spTgt>
                                        </p:tgtEl>
                                      </p:cBhvr>
                                    </p:animEffect>
                                  </p:childTnLst>
                                </p:cTn>
                              </p:par>
                              <p:par>
                                <p:cTn id="10" presetID="9"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dissolve">
                                      <p:cBhvr>
                                        <p:cTn id="1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Estimation: a Normal Example</a:t>
            </a:r>
            <a:endParaRPr lang="en-US" dirty="0"/>
          </a:p>
        </p:txBody>
      </p:sp>
      <p:sp>
        <p:nvSpPr>
          <p:cNvPr id="337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CA722766-9CFC-40DD-820B-59EFE4DFD285}" type="slidenum">
              <a:rPr lang="en-US" altLang="en-US" sz="1200">
                <a:solidFill>
                  <a:schemeClr val="accent1"/>
                </a:solidFill>
              </a:rPr>
              <a:pPr>
                <a:lnSpc>
                  <a:spcPct val="80000"/>
                </a:lnSpc>
              </a:pPr>
              <a:t>6</a:t>
            </a:fld>
            <a:endParaRPr lang="en-US" altLang="en-US" sz="1200">
              <a:solidFill>
                <a:schemeClr val="accent1"/>
              </a:solidFill>
            </a:endParaRPr>
          </a:p>
        </p:txBody>
      </p:sp>
      <p:pic>
        <p:nvPicPr>
          <p:cNvPr id="3" name="Picture 2" descr="The animations explain how close is the population mean &quot;mew&quot; to the sample mean &quot;x bar,&quot; 240.79. The mean of the sampling distribution of 'x bar' is the same as the mean of the population distribution, 'mew' -- since both population and the sampling distribution are Normal. The standard deviation of 'x bar' for an SRS (Simple Random Sample) of 16 observations is equal to standard deviation of population &quot;sigma&quot; divided by square root of 'n,' that is 20 divide by square root of 16, which is equal to 5.&#10;The animations depict these values through two normal distribution graphs, one for the population distribution with sigma value of 20, and another for the sampling distribution of x bar with standard deviation value of 5.  "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890" y="505522"/>
            <a:ext cx="638175" cy="276225"/>
          </a:xfrm>
          <a:prstGeom prst="rect">
            <a:avLst/>
          </a:prstGeom>
        </p:spPr>
      </p:pic>
      <p:pic>
        <p:nvPicPr>
          <p:cNvPr id="4" name="Picture 3"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8225" y="495156"/>
            <a:ext cx="638175" cy="276225"/>
          </a:xfrm>
          <a:prstGeom prst="rect">
            <a:avLst/>
          </a:prstGeom>
        </p:spPr>
      </p:pic>
      <mc:AlternateContent xmlns:mc="http://schemas.openxmlformats.org/markup-compatibility/2006" xmlns:a14="http://schemas.microsoft.com/office/drawing/2010/main">
        <mc:Choice Requires="a14">
          <p:sp>
            <p:nvSpPr>
              <p:cNvPr id="33795" name="TextBox 2"/>
              <p:cNvSpPr txBox="1">
                <a:spLocks noChangeArrowheads="1"/>
              </p:cNvSpPr>
              <p:nvPr/>
            </p:nvSpPr>
            <p:spPr bwMode="auto">
              <a:xfrm>
                <a:off x="314325" y="2320931"/>
                <a:ext cx="8174718"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Because the sample mean is 240.79, we could guess that </a:t>
                </a:r>
                <a:r>
                  <a:rPr lang="en-US" altLang="en-US" i="1" dirty="0">
                    <a:solidFill>
                      <a:srgbClr val="000000"/>
                    </a:solidFill>
                  </a:rPr>
                  <a:t>µ</a:t>
                </a:r>
                <a:r>
                  <a:rPr lang="en-US" altLang="en-US" dirty="0">
                    <a:solidFill>
                      <a:srgbClr val="000000"/>
                    </a:solidFill>
                  </a:rPr>
                  <a:t> is </a:t>
                </a:r>
                <a:r>
                  <a:rPr lang="ja-JP" altLang="en-US" dirty="0">
                    <a:solidFill>
                      <a:srgbClr val="000000"/>
                    </a:solidFill>
                  </a:rPr>
                  <a:t>“</a:t>
                </a:r>
                <a:r>
                  <a:rPr lang="en-US" altLang="ja-JP" dirty="0">
                    <a:solidFill>
                      <a:srgbClr val="000000"/>
                    </a:solidFill>
                  </a:rPr>
                  <a:t>somewhere</a:t>
                </a:r>
                <a:r>
                  <a:rPr lang="ja-JP" altLang="en-US" dirty="0">
                    <a:solidFill>
                      <a:srgbClr val="000000"/>
                    </a:solidFill>
                  </a:rPr>
                  <a:t>”</a:t>
                </a:r>
                <a:r>
                  <a:rPr lang="en-US" altLang="ja-JP" dirty="0">
                    <a:solidFill>
                      <a:srgbClr val="000000"/>
                    </a:solidFill>
                  </a:rPr>
                  <a:t> around 240.79.  </a:t>
                </a:r>
                <a:r>
                  <a:rPr lang="en-US" altLang="ja-JP" b="1" dirty="0">
                    <a:solidFill>
                      <a:srgbClr val="000000"/>
                    </a:solidFill>
                  </a:rPr>
                  <a:t>How close to 240.79 is </a:t>
                </a:r>
                <a14:m>
                  <m:oMath xmlns:m="http://schemas.openxmlformats.org/officeDocument/2006/math">
                    <m:r>
                      <a:rPr lang="en-US" altLang="ja-JP" b="1" i="1" dirty="0" smtClean="0">
                        <a:solidFill>
                          <a:srgbClr val="000000"/>
                        </a:solidFill>
                        <a:latin typeface="Cambria Math" panose="02040503050406030204" pitchFamily="18" charset="0"/>
                      </a:rPr>
                      <m:t>𝝁</m:t>
                    </m:r>
                  </m:oMath>
                </a14:m>
                <a:r>
                  <a:rPr lang="en-US" altLang="ja-JP" b="1" dirty="0">
                    <a:solidFill>
                      <a:srgbClr val="000000"/>
                    </a:solidFill>
                  </a:rPr>
                  <a:t> likely to be?</a:t>
                </a:r>
                <a:endParaRPr lang="en-US" altLang="en-US" b="1" dirty="0">
                  <a:solidFill>
                    <a:srgbClr val="000000"/>
                  </a:solidFill>
                </a:endParaRPr>
              </a:p>
            </p:txBody>
          </p:sp>
        </mc:Choice>
        <mc:Fallback xmlns="">
          <p:sp>
            <p:nvSpPr>
              <p:cNvPr id="33795" name="TextBox 2"/>
              <p:cNvSpPr txBox="1">
                <a:spLocks noRot="1" noChangeAspect="1" noMove="1" noResize="1" noEditPoints="1" noAdjustHandles="1" noChangeArrowheads="1" noChangeShapeType="1" noTextEdit="1"/>
              </p:cNvSpPr>
              <p:nvPr/>
            </p:nvSpPr>
            <p:spPr bwMode="auto">
              <a:xfrm>
                <a:off x="314325" y="2320931"/>
                <a:ext cx="8174718" cy="707886"/>
              </a:xfrm>
              <a:prstGeom prst="rect">
                <a:avLst/>
              </a:prstGeom>
              <a:blipFill>
                <a:blip r:embed="rId4"/>
                <a:stretch>
                  <a:fillRect l="-820" t="-4310" r="-224" b="-155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314325" y="3189925"/>
                <a:ext cx="7842250"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To answer this question, we must ask another: how would </a:t>
                </a:r>
                <a14:m>
                  <m:oMath xmlns:m="http://schemas.openxmlformats.org/officeDocument/2006/math">
                    <m:acc>
                      <m:accPr>
                        <m:chr m:val="̅"/>
                        <m:ctrlPr>
                          <a:rPr lang="en-US" altLang="en-US" i="1">
                            <a:solidFill>
                              <a:srgbClr val="000000"/>
                            </a:solidFill>
                            <a:latin typeface="Cambria Math" panose="02040503050406030204" pitchFamily="18" charset="0"/>
                          </a:rPr>
                        </m:ctrlPr>
                      </m:accPr>
                      <m:e>
                        <m:r>
                          <a:rPr lang="en-US" altLang="en-US" i="1">
                            <a:solidFill>
                              <a:srgbClr val="000000"/>
                            </a:solidFill>
                            <a:latin typeface="Cambria Math" panose="02040503050406030204" pitchFamily="18" charset="0"/>
                          </a:rPr>
                          <m:t>𝑥</m:t>
                        </m:r>
                      </m:e>
                    </m:acc>
                  </m:oMath>
                </a14:m>
                <a:r>
                  <a:rPr lang="en-US" altLang="en-US" dirty="0">
                    <a:solidFill>
                      <a:schemeClr val="tx1"/>
                    </a:solidFill>
                  </a:rPr>
                  <a:t> vary if we took SRSs from this population repeatedly and independently?</a:t>
                </a: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314325" y="3189925"/>
                <a:ext cx="7842250" cy="707886"/>
              </a:xfrm>
              <a:prstGeom prst="rect">
                <a:avLst/>
              </a:prstGeom>
              <a:blipFill>
                <a:blip r:embed="rId5"/>
                <a:stretch>
                  <a:fillRect l="-855" t="-3448" b="-155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5" name="Group 4">
            <a:extLst>
              <a:ext uri="{FF2B5EF4-FFF2-40B4-BE49-F238E27FC236}">
                <a16:creationId xmlns:a16="http://schemas.microsoft.com/office/drawing/2014/main" id="{E68CEFC2-E39E-5E2A-96F8-52A26B9CFBB5}"/>
              </a:ext>
            </a:extLst>
          </p:cNvPr>
          <p:cNvGrpSpPr/>
          <p:nvPr/>
        </p:nvGrpSpPr>
        <p:grpSpPr>
          <a:xfrm>
            <a:off x="400880" y="3905322"/>
            <a:ext cx="8001607" cy="2637999"/>
            <a:chOff x="391761" y="3991573"/>
            <a:chExt cx="8001607" cy="2637999"/>
          </a:xfrm>
        </p:grpSpPr>
        <p:pic>
          <p:nvPicPr>
            <p:cNvPr id="16" name="Picture 15" descr="already described"/>
            <p:cNvPicPr>
              <a:picLocks noChangeAspect="1"/>
            </p:cNvPicPr>
            <p:nvPr/>
          </p:nvPicPr>
          <p:blipFill rotWithShape="1">
            <a:blip r:embed="rId6">
              <a:extLst>
                <a:ext uri="{28A0092B-C50C-407E-A947-70E740481C1C}">
                  <a14:useLocalDpi xmlns:a14="http://schemas.microsoft.com/office/drawing/2010/main" val="0"/>
                </a:ext>
              </a:extLst>
            </a:blip>
            <a:srcRect l="-39" r="61293"/>
            <a:stretch/>
          </p:blipFill>
          <p:spPr bwMode="auto">
            <a:xfrm>
              <a:off x="391761" y="3991573"/>
              <a:ext cx="3091879" cy="263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already described"/>
            <p:cNvPicPr>
              <a:picLocks noChangeAspect="1"/>
            </p:cNvPicPr>
            <p:nvPr/>
          </p:nvPicPr>
          <p:blipFill>
            <a:blip r:embed="rId6">
              <a:extLst>
                <a:ext uri="{28A0092B-C50C-407E-A947-70E740481C1C}">
                  <a14:useLocalDpi xmlns:a14="http://schemas.microsoft.com/office/drawing/2010/main" val="0"/>
                </a:ext>
              </a:extLst>
            </a:blip>
            <a:srcRect l="38515" r="39012"/>
            <a:stretch>
              <a:fillRect/>
            </a:stretch>
          </p:blipFill>
          <p:spPr bwMode="auto">
            <a:xfrm>
              <a:off x="3483640" y="3991573"/>
              <a:ext cx="17907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already described"/>
            <p:cNvPicPr>
              <a:picLocks noChangeAspect="1"/>
            </p:cNvPicPr>
            <p:nvPr/>
          </p:nvPicPr>
          <p:blipFill>
            <a:blip r:embed="rId6">
              <a:extLst>
                <a:ext uri="{28A0092B-C50C-407E-A947-70E740481C1C}">
                  <a14:useLocalDpi xmlns:a14="http://schemas.microsoft.com/office/drawing/2010/main" val="0"/>
                </a:ext>
              </a:extLst>
            </a:blip>
            <a:srcRect l="60875"/>
            <a:stretch>
              <a:fillRect/>
            </a:stretch>
          </p:blipFill>
          <p:spPr bwMode="auto">
            <a:xfrm>
              <a:off x="5273931" y="3999084"/>
              <a:ext cx="3119437"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6" name="Vertical Text Placeholder 2">
                <a:extLst>
                  <a:ext uri="{FF2B5EF4-FFF2-40B4-BE49-F238E27FC236}">
                    <a16:creationId xmlns:a16="http://schemas.microsoft.com/office/drawing/2014/main" id="{413F5988-4049-FAEE-0027-D25673247B6F}"/>
                  </a:ext>
                </a:extLst>
              </p:cNvPr>
              <p:cNvSpPr txBox="1">
                <a:spLocks/>
              </p:cNvSpPr>
              <p:nvPr/>
            </p:nvSpPr>
            <p:spPr bwMode="auto">
              <a:xfrm>
                <a:off x="314325" y="940397"/>
                <a:ext cx="8296275" cy="130431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r>
                  <a:rPr lang="en-US" altLang="en-US" dirty="0">
                    <a:solidFill>
                      <a:srgbClr val="000000"/>
                    </a:solidFill>
                  </a:rPr>
                  <a:t>Suppose there is a population following </a:t>
                </a:r>
                <a14:m>
                  <m:oMath xmlns:m="http://schemas.openxmlformats.org/officeDocument/2006/math">
                    <m:r>
                      <a:rPr lang="en-US" altLang="en-US" b="0" i="1" smtClean="0">
                        <a:solidFill>
                          <a:srgbClr val="000000"/>
                        </a:solidFill>
                        <a:latin typeface="Cambria Math" panose="02040503050406030204" pitchFamily="18" charset="0"/>
                      </a:rPr>
                      <m:t>𝑁</m:t>
                    </m:r>
                    <m:r>
                      <a:rPr lang="en-US" altLang="en-US" b="0" i="1" smtClean="0">
                        <a:solidFill>
                          <a:srgbClr val="000000"/>
                        </a:solidFill>
                        <a:latin typeface="Cambria Math" panose="02040503050406030204" pitchFamily="18" charset="0"/>
                      </a:rPr>
                      <m:t>(</m:t>
                    </m:r>
                    <m:r>
                      <a:rPr lang="en-US" altLang="en-US" b="0" i="1" smtClean="0">
                        <a:solidFill>
                          <a:srgbClr val="000000"/>
                        </a:solidFill>
                        <a:latin typeface="Cambria Math" panose="02040503050406030204" pitchFamily="18" charset="0"/>
                      </a:rPr>
                      <m:t>𝜇</m:t>
                    </m:r>
                    <m:r>
                      <a:rPr lang="en-US" altLang="en-US" b="0" i="1" smtClean="0">
                        <a:solidFill>
                          <a:srgbClr val="000000"/>
                        </a:solidFill>
                        <a:latin typeface="Cambria Math" panose="02040503050406030204" pitchFamily="18" charset="0"/>
                      </a:rPr>
                      <m:t>,20)</m:t>
                    </m:r>
                  </m:oMath>
                </a14:m>
                <a:r>
                  <a:rPr lang="en-US" altLang="en-US" dirty="0">
                    <a:solidFill>
                      <a:srgbClr val="000000"/>
                    </a:solidFill>
                  </a:rPr>
                  <a:t>. From this population, we drew an SRS of size </a:t>
                </a:r>
                <a14:m>
                  <m:oMath xmlns:m="http://schemas.openxmlformats.org/officeDocument/2006/math">
                    <m:r>
                      <a:rPr lang="en-US" altLang="en-US" i="1">
                        <a:solidFill>
                          <a:srgbClr val="000000"/>
                        </a:solidFill>
                        <a:latin typeface="Cambria Math" panose="02040503050406030204" pitchFamily="18" charset="0"/>
                      </a:rPr>
                      <m:t>𝑛</m:t>
                    </m:r>
                    <m:r>
                      <a:rPr lang="en-US" altLang="en-US" i="1">
                        <a:solidFill>
                          <a:srgbClr val="000000"/>
                        </a:solidFill>
                        <a:latin typeface="Cambria Math" panose="02040503050406030204" pitchFamily="18" charset="0"/>
                      </a:rPr>
                      <m:t>=16</m:t>
                    </m:r>
                  </m:oMath>
                </a14:m>
                <a:r>
                  <a:rPr lang="en-US" altLang="en-US" dirty="0">
                    <a:solidFill>
                      <a:srgbClr val="000000"/>
                    </a:solidFill>
                  </a:rPr>
                  <a:t> and observed sample mean </a:t>
                </a:r>
                <a14:m>
                  <m:oMath xmlns:m="http://schemas.openxmlformats.org/officeDocument/2006/math">
                    <m:acc>
                      <m:accPr>
                        <m:chr m:val="̅"/>
                        <m:ctrlPr>
                          <a:rPr lang="en-US" altLang="en-US" b="0" i="1" smtClean="0">
                            <a:solidFill>
                              <a:srgbClr val="000000"/>
                            </a:solidFill>
                            <a:latin typeface="Cambria Math" panose="02040503050406030204" pitchFamily="18" charset="0"/>
                          </a:rPr>
                        </m:ctrlPr>
                      </m:accPr>
                      <m:e>
                        <m:r>
                          <a:rPr lang="en-US" altLang="en-US" b="0" i="1" smtClean="0">
                            <a:solidFill>
                              <a:srgbClr val="000000"/>
                            </a:solidFill>
                            <a:latin typeface="Cambria Math" panose="02040503050406030204" pitchFamily="18" charset="0"/>
                          </a:rPr>
                          <m:t>𝑥</m:t>
                        </m:r>
                      </m:e>
                    </m:acc>
                    <m:r>
                      <a:rPr lang="en-US" altLang="en-US" b="0" i="1" smtClean="0">
                        <a:solidFill>
                          <a:srgbClr val="000000"/>
                        </a:solidFill>
                        <a:latin typeface="Cambria Math" panose="02040503050406030204" pitchFamily="18" charset="0"/>
                      </a:rPr>
                      <m:t>=240.79</m:t>
                    </m:r>
                  </m:oMath>
                </a14:m>
                <a:r>
                  <a:rPr lang="en-US" altLang="en-US" dirty="0">
                    <a:solidFill>
                      <a:srgbClr val="000000"/>
                    </a:solidFill>
                  </a:rPr>
                  <a:t>. We want to determine </a:t>
                </a:r>
                <a:r>
                  <a:rPr lang="en-US" altLang="en-US" dirty="0">
                    <a:solidFill>
                      <a:srgbClr val="FF0000"/>
                    </a:solidFill>
                  </a:rPr>
                  <a:t>an interval (range) of </a:t>
                </a:r>
                <a:r>
                  <a:rPr lang="en-US" altLang="en-US" i="1" dirty="0">
                    <a:solidFill>
                      <a:srgbClr val="FF0000"/>
                    </a:solidFill>
                  </a:rPr>
                  <a:t>reasonable</a:t>
                </a:r>
                <a:r>
                  <a:rPr lang="en-US" altLang="en-US" dirty="0">
                    <a:solidFill>
                      <a:srgbClr val="FF0000"/>
                    </a:solidFill>
                  </a:rPr>
                  <a:t> values for the unknown </a:t>
                </a:r>
                <a14:m>
                  <m:oMath xmlns:m="http://schemas.openxmlformats.org/officeDocument/2006/math">
                    <m:r>
                      <a:rPr lang="en-US" altLang="en-US" b="0" i="1" dirty="0" smtClean="0">
                        <a:solidFill>
                          <a:srgbClr val="FF0000"/>
                        </a:solidFill>
                        <a:latin typeface="Cambria Math" panose="02040503050406030204" pitchFamily="18" charset="0"/>
                      </a:rPr>
                      <m:t>𝜇</m:t>
                    </m:r>
                  </m:oMath>
                </a14:m>
                <a:r>
                  <a:rPr lang="en-US" altLang="en-US" dirty="0">
                    <a:solidFill>
                      <a:srgbClr val="FF0000"/>
                    </a:solidFill>
                  </a:rPr>
                  <a:t>.</a:t>
                </a:r>
                <a:r>
                  <a:rPr lang="en-US" altLang="en-US" dirty="0">
                    <a:solidFill>
                      <a:srgbClr val="000000"/>
                    </a:solidFill>
                  </a:rPr>
                  <a:t> </a:t>
                </a:r>
                <a:endParaRPr lang="en-US" altLang="ja-JP" dirty="0">
                  <a:solidFill>
                    <a:srgbClr val="000000"/>
                  </a:solidFill>
                </a:endParaRPr>
              </a:p>
            </p:txBody>
          </p:sp>
        </mc:Choice>
        <mc:Fallback xmlns="">
          <p:sp>
            <p:nvSpPr>
              <p:cNvPr id="6" name="Vertical Text Placeholder 2">
                <a:extLst>
                  <a:ext uri="{FF2B5EF4-FFF2-40B4-BE49-F238E27FC236}">
                    <a16:creationId xmlns:a16="http://schemas.microsoft.com/office/drawing/2014/main" id="{413F5988-4049-FAEE-0027-D25673247B6F}"/>
                  </a:ext>
                </a:extLst>
              </p:cNvPr>
              <p:cNvSpPr txBox="1">
                <a:spLocks noRot="1" noChangeAspect="1" noMove="1" noResize="1" noEditPoints="1" noAdjustHandles="1" noChangeArrowheads="1" noChangeShapeType="1" noTextEdit="1"/>
              </p:cNvSpPr>
              <p:nvPr/>
            </p:nvSpPr>
            <p:spPr bwMode="auto">
              <a:xfrm>
                <a:off x="314325" y="940397"/>
                <a:ext cx="8296275" cy="1304319"/>
              </a:xfrm>
              <a:prstGeom prst="rect">
                <a:avLst/>
              </a:prstGeom>
              <a:blipFill>
                <a:blip r:embed="rId13"/>
                <a:stretch>
                  <a:fillRect l="-808" t="-1869" r="-1396" b="-93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5967615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Estimation: a Normal Example</a:t>
            </a:r>
            <a:endParaRPr lang="en-US" dirty="0"/>
          </a:p>
        </p:txBody>
      </p:sp>
      <p:sp>
        <p:nvSpPr>
          <p:cNvPr id="358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2B8E3FD-70BF-4F82-B4B9-4FB73BE84813}" type="slidenum">
              <a:rPr lang="en-US" altLang="en-US" sz="1200">
                <a:solidFill>
                  <a:schemeClr val="accent1"/>
                </a:solidFill>
              </a:rPr>
              <a:pPr>
                <a:lnSpc>
                  <a:spcPct val="80000"/>
                </a:lnSpc>
              </a:pPr>
              <a:t>7</a:t>
            </a:fld>
            <a:endParaRPr lang="en-US" altLang="en-US" sz="1200">
              <a:solidFill>
                <a:schemeClr val="accent1"/>
              </a:solidFill>
            </a:endParaRPr>
          </a:p>
        </p:txBody>
      </p:sp>
      <p:pic>
        <p:nvPicPr>
          <p:cNvPr id="21" name="Picture 6" descr="The image shows the sampling distribution of sample means &quot;x bar&quot; in a bell shaped curve. The X-axis represents the population mean in the interval 10 points below to 10 points above the sample mean. The graph shows the probability of 95 percent samples of the same size would be capturing the true population mean &quot;mew&quot; within the interval from 10 points below to 10 points above the sample mean &quot;x bar&quo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5763" y="1516063"/>
            <a:ext cx="3582987"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p:cNvSpPr txBox="1">
                <a:spLocks noChangeArrowheads="1"/>
              </p:cNvSpPr>
              <p:nvPr/>
            </p:nvSpPr>
            <p:spPr bwMode="auto">
              <a:xfrm>
                <a:off x="4019550" y="1584695"/>
                <a:ext cx="4716463" cy="9469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buFont typeface="Wingdings" pitchFamily="2" charset="2"/>
                  <a:buChar char="ü"/>
                </a:pPr>
                <a:r>
                  <a:rPr lang="en-US" altLang="en-US" sz="1800" dirty="0">
                    <a:solidFill>
                      <a:schemeClr val="tx1"/>
                    </a:solidFill>
                  </a:rPr>
                  <a:t>In repeated samples, the values of </a:t>
                </a:r>
                <a14:m>
                  <m:oMath xmlns:m="http://schemas.openxmlformats.org/officeDocument/2006/math">
                    <m:acc>
                      <m:accPr>
                        <m:chr m:val="̅"/>
                        <m:ctrlPr>
                          <a:rPr lang="en-US" altLang="en-US" sz="1800" i="1">
                            <a:solidFill>
                              <a:srgbClr val="000000"/>
                            </a:solidFill>
                            <a:latin typeface="Cambria Math" panose="02040503050406030204" pitchFamily="18" charset="0"/>
                          </a:rPr>
                        </m:ctrlPr>
                      </m:accPr>
                      <m:e>
                        <m:r>
                          <a:rPr lang="en-US" altLang="en-US" sz="1800" i="1">
                            <a:solidFill>
                              <a:srgbClr val="000000"/>
                            </a:solidFill>
                            <a:latin typeface="Cambria Math" panose="02040503050406030204" pitchFamily="18" charset="0"/>
                          </a:rPr>
                          <m:t>𝑥</m:t>
                        </m:r>
                      </m:e>
                    </m:acc>
                  </m:oMath>
                </a14:m>
                <a:r>
                  <a:rPr lang="en-US" altLang="en-US" sz="1800" dirty="0">
                    <a:solidFill>
                      <a:schemeClr val="tx1"/>
                    </a:solidFill>
                  </a:rPr>
                  <a:t> will follow a normal distribution with mean </a:t>
                </a:r>
                <a:r>
                  <a:rPr lang="en-US" altLang="en-US" sz="1800" i="1" dirty="0">
                    <a:solidFill>
                      <a:schemeClr val="tx1"/>
                    </a:solidFill>
                  </a:rPr>
                  <a:t>µ</a:t>
                </a:r>
                <a:r>
                  <a:rPr lang="en-US" altLang="en-US" sz="1800" dirty="0">
                    <a:solidFill>
                      <a:schemeClr val="tx1"/>
                    </a:solidFill>
                  </a:rPr>
                  <a:t> and standard deviation 5.</a:t>
                </a:r>
              </a:p>
            </p:txBody>
          </p:sp>
        </mc:Choice>
        <mc:Fallback xmlns="">
          <p:sp>
            <p:nvSpPr>
              <p:cNvPr id="2" name="TextBox 1"/>
              <p:cNvSpPr txBox="1">
                <a:spLocks noRot="1" noChangeAspect="1" noMove="1" noResize="1" noEditPoints="1" noAdjustHandles="1" noChangeArrowheads="1" noChangeShapeType="1" noTextEdit="1"/>
              </p:cNvSpPr>
              <p:nvPr/>
            </p:nvSpPr>
            <p:spPr bwMode="auto">
              <a:xfrm>
                <a:off x="4019550" y="1584695"/>
                <a:ext cx="4716463" cy="946991"/>
              </a:xfrm>
              <a:prstGeom prst="rect">
                <a:avLst/>
              </a:prstGeom>
              <a:blipFill>
                <a:blip r:embed="rId4"/>
                <a:stretch>
                  <a:fillRect l="-775" t="-3871" b="-70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a:spLocks noChangeArrowheads="1"/>
              </p:cNvSpPr>
              <p:nvPr/>
            </p:nvSpPr>
            <p:spPr bwMode="auto">
              <a:xfrm>
                <a:off x="4019550" y="2494020"/>
                <a:ext cx="4716463" cy="12209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buFont typeface="Wingdings" pitchFamily="2" charset="2"/>
                  <a:buChar char="ü"/>
                </a:pPr>
                <a:r>
                  <a:rPr lang="en-US" altLang="en-US" sz="1800" dirty="0">
                    <a:solidFill>
                      <a:schemeClr val="tx1"/>
                    </a:solidFill>
                  </a:rPr>
                  <a:t>The 68-95-99.7 rule tells us that in around 95% of all SRSs of size 16 from this population, </a:t>
                </a:r>
                <a14:m>
                  <m:oMath xmlns:m="http://schemas.openxmlformats.org/officeDocument/2006/math">
                    <m:acc>
                      <m:accPr>
                        <m:chr m:val="̅"/>
                        <m:ctrlPr>
                          <a:rPr lang="en-US" altLang="en-US" sz="1800" i="1" smtClean="0">
                            <a:solidFill>
                              <a:srgbClr val="000000"/>
                            </a:solidFill>
                            <a:latin typeface="Cambria Math" panose="02040503050406030204" pitchFamily="18" charset="0"/>
                          </a:rPr>
                        </m:ctrlPr>
                      </m:accPr>
                      <m:e>
                        <m:r>
                          <a:rPr lang="en-US" altLang="en-US" sz="1800" i="1" smtClean="0">
                            <a:solidFill>
                              <a:srgbClr val="000000"/>
                            </a:solidFill>
                            <a:latin typeface="Cambria Math" panose="02040503050406030204" pitchFamily="18" charset="0"/>
                          </a:rPr>
                          <m:t>𝑥</m:t>
                        </m:r>
                      </m:e>
                    </m:acc>
                  </m:oMath>
                </a14:m>
                <a:r>
                  <a:rPr lang="en-US" altLang="en-US" sz="1800" dirty="0">
                    <a:solidFill>
                      <a:schemeClr val="tx1"/>
                    </a:solidFill>
                  </a:rPr>
                  <a:t> will be within around 10 (</a:t>
                </a:r>
                <a14:m>
                  <m:oMath xmlns:m="http://schemas.openxmlformats.org/officeDocument/2006/math">
                    <m:r>
                      <a:rPr lang="en-US" altLang="en-US" sz="1800" b="0" i="1" dirty="0" smtClean="0">
                        <a:solidFill>
                          <a:schemeClr val="tx1"/>
                        </a:solidFill>
                        <a:latin typeface="Cambria Math" panose="02040503050406030204" pitchFamily="18" charset="0"/>
                      </a:rPr>
                      <m:t>=2</m:t>
                    </m:r>
                    <m:r>
                      <a:rPr lang="en-US" altLang="en-US" sz="1800" b="0" i="1" dirty="0" smtClean="0">
                        <a:solidFill>
                          <a:schemeClr val="tx1"/>
                        </a:solidFill>
                        <a:latin typeface="Cambria Math" panose="02040503050406030204" pitchFamily="18" charset="0"/>
                      </a:rPr>
                      <m:t>𝜎</m:t>
                    </m:r>
                    <m:r>
                      <a:rPr lang="en-US" altLang="en-US" sz="1800" b="0" i="1" dirty="0" smtClean="0">
                        <a:solidFill>
                          <a:schemeClr val="tx1"/>
                        </a:solidFill>
                        <a:latin typeface="Cambria Math" panose="02040503050406030204" pitchFamily="18" charset="0"/>
                      </a:rPr>
                      <m:t>/√</m:t>
                    </m:r>
                    <m:r>
                      <a:rPr lang="en-US" altLang="en-US" sz="1800" b="0" i="1" dirty="0" smtClean="0">
                        <a:solidFill>
                          <a:schemeClr val="tx1"/>
                        </a:solidFill>
                        <a:latin typeface="Cambria Math" panose="02040503050406030204" pitchFamily="18" charset="0"/>
                      </a:rPr>
                      <m:t>𝑛</m:t>
                    </m:r>
                  </m:oMath>
                </a14:m>
                <a:r>
                  <a:rPr lang="en-US" altLang="en-US" sz="1800" dirty="0">
                    <a:solidFill>
                      <a:schemeClr val="tx1"/>
                    </a:solidFill>
                  </a:rPr>
                  <a:t>) of </a:t>
                </a:r>
                <a14:m>
                  <m:oMath xmlns:m="http://schemas.openxmlformats.org/officeDocument/2006/math">
                    <m:r>
                      <a:rPr lang="en-US" altLang="en-US" sz="1800" b="0" i="1" dirty="0" smtClean="0">
                        <a:solidFill>
                          <a:schemeClr val="tx1"/>
                        </a:solidFill>
                        <a:latin typeface="Cambria Math" panose="02040503050406030204" pitchFamily="18" charset="0"/>
                      </a:rPr>
                      <m:t>𝜇</m:t>
                    </m:r>
                  </m:oMath>
                </a14:m>
                <a:r>
                  <a:rPr lang="en-US" altLang="en-US" sz="1800" dirty="0">
                    <a:solidFill>
                      <a:schemeClr val="tx1"/>
                    </a:solidFill>
                  </a:rPr>
                  <a:t>.</a:t>
                </a:r>
              </a:p>
            </p:txBody>
          </p:sp>
        </mc:Choice>
        <mc:Fallback>
          <p:sp>
            <p:nvSpPr>
              <p:cNvPr id="11" name="TextBox 10"/>
              <p:cNvSpPr txBox="1">
                <a:spLocks noRot="1" noChangeAspect="1" noMove="1" noResize="1" noEditPoints="1" noAdjustHandles="1" noChangeArrowheads="1" noChangeShapeType="1" noTextEdit="1"/>
              </p:cNvSpPr>
              <p:nvPr/>
            </p:nvSpPr>
            <p:spPr bwMode="auto">
              <a:xfrm>
                <a:off x="4019550" y="2494020"/>
                <a:ext cx="4716463" cy="1220975"/>
              </a:xfrm>
              <a:prstGeom prst="rect">
                <a:avLst/>
              </a:prstGeom>
              <a:blipFill>
                <a:blip r:embed="rId5"/>
                <a:stretch>
                  <a:fillRect l="-775" t="-2500" r="-2196" b="-7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a:spLocks noChangeArrowheads="1"/>
              </p:cNvSpPr>
              <p:nvPr/>
            </p:nvSpPr>
            <p:spPr bwMode="auto">
              <a:xfrm>
                <a:off x="4019550" y="3654210"/>
                <a:ext cx="4926487"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buFont typeface="Wingdings" pitchFamily="2" charset="2"/>
                  <a:buChar char="ü"/>
                </a:pPr>
                <a:r>
                  <a:rPr lang="en-US" altLang="en-US" sz="1800" dirty="0">
                    <a:solidFill>
                      <a:srgbClr val="FF0000"/>
                    </a:solidFill>
                  </a:rPr>
                  <a:t>If </a:t>
                </a:r>
                <a14:m>
                  <m:oMath xmlns:m="http://schemas.openxmlformats.org/officeDocument/2006/math">
                    <m:acc>
                      <m:accPr>
                        <m:chr m:val="̅"/>
                        <m:ctrlPr>
                          <a:rPr lang="en-US" altLang="en-US" sz="1800" i="1">
                            <a:solidFill>
                              <a:srgbClr val="FF0000"/>
                            </a:solidFill>
                            <a:latin typeface="Cambria Math" panose="02040503050406030204" pitchFamily="18" charset="0"/>
                          </a:rPr>
                        </m:ctrlPr>
                      </m:accPr>
                      <m:e>
                        <m:r>
                          <a:rPr lang="en-US" altLang="en-US" sz="1800" i="1">
                            <a:solidFill>
                              <a:srgbClr val="FF0000"/>
                            </a:solidFill>
                            <a:latin typeface="Cambria Math" panose="02040503050406030204" pitchFamily="18" charset="0"/>
                          </a:rPr>
                          <m:t>𝑥</m:t>
                        </m:r>
                      </m:e>
                    </m:acc>
                  </m:oMath>
                </a14:m>
                <a:r>
                  <a:rPr lang="en-US" altLang="en-US" sz="1800" dirty="0">
                    <a:solidFill>
                      <a:srgbClr val="FF0000"/>
                    </a:solidFill>
                  </a:rPr>
                  <a:t> is within 10 of </a:t>
                </a:r>
                <a:r>
                  <a:rPr lang="en-US" altLang="en-US" sz="1800" i="1" dirty="0">
                    <a:solidFill>
                      <a:srgbClr val="FF0000"/>
                    </a:solidFill>
                  </a:rPr>
                  <a:t>µ</a:t>
                </a:r>
                <a:r>
                  <a:rPr lang="en-US" altLang="en-US" sz="1800" dirty="0">
                    <a:solidFill>
                      <a:srgbClr val="FF0000"/>
                    </a:solidFill>
                  </a:rPr>
                  <a:t>, then </a:t>
                </a:r>
                <a:r>
                  <a:rPr lang="en-US" altLang="en-US" sz="1800" i="1" dirty="0">
                    <a:solidFill>
                      <a:srgbClr val="FF0000"/>
                    </a:solidFill>
                  </a:rPr>
                  <a:t>µ</a:t>
                </a:r>
                <a:r>
                  <a:rPr lang="en-US" altLang="en-US" sz="1800" dirty="0">
                    <a:solidFill>
                      <a:srgbClr val="FF0000"/>
                    </a:solidFill>
                  </a:rPr>
                  <a:t> is within 10 of </a:t>
                </a:r>
                <a14:m>
                  <m:oMath xmlns:m="http://schemas.openxmlformats.org/officeDocument/2006/math">
                    <m:acc>
                      <m:accPr>
                        <m:chr m:val="̅"/>
                        <m:ctrlPr>
                          <a:rPr lang="en-US" altLang="en-US" sz="1800" i="1">
                            <a:solidFill>
                              <a:srgbClr val="FF0000"/>
                            </a:solidFill>
                            <a:latin typeface="Cambria Math" panose="02040503050406030204" pitchFamily="18" charset="0"/>
                          </a:rPr>
                        </m:ctrlPr>
                      </m:accPr>
                      <m:e>
                        <m:r>
                          <a:rPr lang="en-US" altLang="en-US" sz="1800" i="1">
                            <a:solidFill>
                              <a:srgbClr val="FF0000"/>
                            </a:solidFill>
                            <a:latin typeface="Cambria Math" panose="02040503050406030204" pitchFamily="18" charset="0"/>
                          </a:rPr>
                          <m:t>𝑥</m:t>
                        </m:r>
                      </m:e>
                    </m:acc>
                  </m:oMath>
                </a14:m>
                <a:r>
                  <a:rPr lang="en-US" altLang="en-US" sz="1800" dirty="0">
                    <a:solidFill>
                      <a:srgbClr val="FF0000"/>
                    </a:solidFill>
                  </a:rPr>
                  <a:t>.</a:t>
                </a:r>
              </a:p>
            </p:txBody>
          </p:sp>
        </mc:Choice>
        <mc:Fallback xmlns="">
          <p:sp>
            <p:nvSpPr>
              <p:cNvPr id="12" name="TextBox 11"/>
              <p:cNvSpPr txBox="1">
                <a:spLocks noRot="1" noChangeAspect="1" noMove="1" noResize="1" noEditPoints="1" noAdjustHandles="1" noChangeArrowheads="1" noChangeShapeType="1" noTextEdit="1"/>
              </p:cNvSpPr>
              <p:nvPr/>
            </p:nvSpPr>
            <p:spPr bwMode="auto">
              <a:xfrm>
                <a:off x="4019550" y="3654210"/>
                <a:ext cx="4926487" cy="369332"/>
              </a:xfrm>
              <a:prstGeom prst="rect">
                <a:avLst/>
              </a:prstGeom>
              <a:blipFill>
                <a:blip r:embed="rId6"/>
                <a:stretch>
                  <a:fillRect l="-742" t="-8197" r="-3461" b="-245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a:spLocks noChangeArrowheads="1"/>
              </p:cNvSpPr>
              <p:nvPr/>
            </p:nvSpPr>
            <p:spPr bwMode="auto">
              <a:xfrm>
                <a:off x="406400" y="4326315"/>
                <a:ext cx="8229600" cy="23083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marL="0" indent="0" eaLnBrk="1" hangingPunct="1"/>
                <a:r>
                  <a:rPr lang="en-US" altLang="en-US" sz="1800" i="1" dirty="0">
                    <a:solidFill>
                      <a:srgbClr val="FF0000"/>
                    </a:solidFill>
                  </a:rPr>
                  <a:t>Therefore, in this case, the interval </a:t>
                </a:r>
                <a14:m>
                  <m:oMath xmlns:m="http://schemas.openxmlformats.org/officeDocument/2006/math">
                    <m:r>
                      <a:rPr lang="en-US" altLang="en-US" sz="1800" i="1" dirty="0">
                        <a:solidFill>
                          <a:srgbClr val="FF0000"/>
                        </a:solidFill>
                        <a:latin typeface="Cambria Math" panose="02040503050406030204" pitchFamily="18" charset="0"/>
                      </a:rPr>
                      <m:t>[</m:t>
                    </m:r>
                    <m:acc>
                      <m:accPr>
                        <m:chr m:val="̅"/>
                        <m:ctrlPr>
                          <a:rPr lang="en-US" altLang="en-US" sz="1800" i="1">
                            <a:solidFill>
                              <a:srgbClr val="FF0000"/>
                            </a:solidFill>
                            <a:latin typeface="Cambria Math" panose="02040503050406030204" pitchFamily="18" charset="0"/>
                          </a:rPr>
                        </m:ctrlPr>
                      </m:accPr>
                      <m:e>
                        <m:r>
                          <a:rPr lang="en-US" altLang="en-US" sz="1800" i="1">
                            <a:solidFill>
                              <a:srgbClr val="FF0000"/>
                            </a:solidFill>
                            <a:latin typeface="Cambria Math" panose="02040503050406030204" pitchFamily="18" charset="0"/>
                          </a:rPr>
                          <m:t>𝑥</m:t>
                        </m:r>
                      </m:e>
                    </m:acc>
                    <m:r>
                      <a:rPr lang="en-US" altLang="en-US" sz="1800" b="0" i="1" smtClean="0">
                        <a:solidFill>
                          <a:srgbClr val="FF0000"/>
                        </a:solidFill>
                        <a:latin typeface="Cambria Math" panose="02040503050406030204" pitchFamily="18" charset="0"/>
                      </a:rPr>
                      <m:t>−10,</m:t>
                    </m:r>
                    <m:acc>
                      <m:accPr>
                        <m:chr m:val="̅"/>
                        <m:ctrlPr>
                          <a:rPr lang="en-US" altLang="en-US" sz="1800" i="1">
                            <a:solidFill>
                              <a:srgbClr val="FF0000"/>
                            </a:solidFill>
                            <a:latin typeface="Cambria Math" panose="02040503050406030204" pitchFamily="18" charset="0"/>
                          </a:rPr>
                        </m:ctrlPr>
                      </m:accPr>
                      <m:e>
                        <m:r>
                          <a:rPr lang="en-US" altLang="en-US" sz="1800" i="1">
                            <a:solidFill>
                              <a:srgbClr val="FF0000"/>
                            </a:solidFill>
                            <a:latin typeface="Cambria Math" panose="02040503050406030204" pitchFamily="18" charset="0"/>
                          </a:rPr>
                          <m:t>𝑥</m:t>
                        </m:r>
                      </m:e>
                    </m:acc>
                    <m:r>
                      <a:rPr lang="en-US" altLang="en-US" sz="1800" b="0" i="1" smtClean="0">
                        <a:solidFill>
                          <a:srgbClr val="FF0000"/>
                        </a:solidFill>
                        <a:latin typeface="Cambria Math" panose="02040503050406030204" pitchFamily="18" charset="0"/>
                      </a:rPr>
                      <m:t>+</m:t>
                    </m:r>
                    <m:r>
                      <a:rPr lang="en-US" altLang="en-US" sz="1800" i="1">
                        <a:solidFill>
                          <a:srgbClr val="FF0000"/>
                        </a:solidFill>
                        <a:latin typeface="Cambria Math" panose="02040503050406030204" pitchFamily="18" charset="0"/>
                      </a:rPr>
                      <m:t>10</m:t>
                    </m:r>
                    <m:r>
                      <a:rPr lang="en-US" altLang="en-US" sz="1800" b="0" i="1" smtClean="0">
                        <a:solidFill>
                          <a:srgbClr val="FF0000"/>
                        </a:solidFill>
                        <a:latin typeface="Cambria Math" panose="02040503050406030204" pitchFamily="18" charset="0"/>
                      </a:rPr>
                      <m:t>]</m:t>
                    </m:r>
                  </m:oMath>
                </a14:m>
                <a:r>
                  <a:rPr lang="en-US" altLang="en-US" sz="1800" i="1" dirty="0">
                    <a:solidFill>
                      <a:srgbClr val="FF0000"/>
                    </a:solidFill>
                  </a:rPr>
                  <a:t> or </a:t>
                </a:r>
                <a14:m>
                  <m:oMath xmlns:m="http://schemas.openxmlformats.org/officeDocument/2006/math">
                    <m:acc>
                      <m:accPr>
                        <m:chr m:val="̅"/>
                        <m:ctrlPr>
                          <a:rPr lang="en-US" altLang="en-US" sz="1800" i="1">
                            <a:solidFill>
                              <a:srgbClr val="FF0000"/>
                            </a:solidFill>
                            <a:latin typeface="Cambria Math" panose="02040503050406030204" pitchFamily="18" charset="0"/>
                          </a:rPr>
                        </m:ctrlPr>
                      </m:accPr>
                      <m:e>
                        <m:r>
                          <a:rPr lang="en-US" altLang="en-US" sz="1800" i="1">
                            <a:solidFill>
                              <a:srgbClr val="FF0000"/>
                            </a:solidFill>
                            <a:latin typeface="Cambria Math" panose="02040503050406030204" pitchFamily="18" charset="0"/>
                          </a:rPr>
                          <m:t>𝑥</m:t>
                        </m:r>
                      </m:e>
                    </m:acc>
                    <m:r>
                      <a:rPr lang="en-US" altLang="en-US" sz="1800" b="0" i="1" smtClean="0">
                        <a:solidFill>
                          <a:srgbClr val="FF0000"/>
                        </a:solidFill>
                        <a:latin typeface="Cambria Math" panose="02040503050406030204" pitchFamily="18" charset="0"/>
                      </a:rPr>
                      <m:t>±</m:t>
                    </m:r>
                    <m:r>
                      <a:rPr lang="en-US" altLang="en-US" sz="1800" i="1">
                        <a:solidFill>
                          <a:srgbClr val="FF0000"/>
                        </a:solidFill>
                        <a:latin typeface="Cambria Math" panose="02040503050406030204" pitchFamily="18" charset="0"/>
                      </a:rPr>
                      <m:t>10</m:t>
                    </m:r>
                  </m:oMath>
                </a14:m>
                <a:r>
                  <a:rPr lang="en-US" altLang="en-US" sz="1800" i="1" dirty="0">
                    <a:solidFill>
                      <a:srgbClr val="FF0000"/>
                    </a:solidFill>
                  </a:rPr>
                  <a:t> will COVER </a:t>
                </a:r>
                <a14:m>
                  <m:oMath xmlns:m="http://schemas.openxmlformats.org/officeDocument/2006/math">
                    <m:r>
                      <a:rPr lang="en-US" altLang="en-US" sz="1800" b="0" i="1" dirty="0" smtClean="0">
                        <a:solidFill>
                          <a:srgbClr val="FF0000"/>
                        </a:solidFill>
                        <a:latin typeface="Cambria Math" panose="02040503050406030204" pitchFamily="18" charset="0"/>
                      </a:rPr>
                      <m:t>𝜇</m:t>
                    </m:r>
                  </m:oMath>
                </a14:m>
                <a:r>
                  <a:rPr lang="en-US" altLang="en-US" sz="1800" i="1" dirty="0">
                    <a:solidFill>
                      <a:srgbClr val="FF0000"/>
                    </a:solidFill>
                  </a:rPr>
                  <a:t> in about </a:t>
                </a:r>
                <a:r>
                  <a:rPr lang="en-US" altLang="en-US" sz="1800" i="1" u="sng" dirty="0">
                    <a:solidFill>
                      <a:srgbClr val="FF0000"/>
                    </a:solidFill>
                  </a:rPr>
                  <a:t>95% of all SRS of size 16</a:t>
                </a:r>
                <a:r>
                  <a:rPr lang="en-US" altLang="en-US" sz="1800" i="1" dirty="0">
                    <a:solidFill>
                      <a:srgbClr val="FF0000"/>
                    </a:solidFill>
                  </a:rPr>
                  <a:t>. It is hence called an (approximately) 95% confidence interval (CI) for </a:t>
                </a:r>
                <a14:m>
                  <m:oMath xmlns:m="http://schemas.openxmlformats.org/officeDocument/2006/math">
                    <m:r>
                      <a:rPr lang="en-US" altLang="en-US" sz="1800" i="1" dirty="0">
                        <a:solidFill>
                          <a:srgbClr val="FF0000"/>
                        </a:solidFill>
                        <a:latin typeface="Cambria Math" panose="02040503050406030204" pitchFamily="18" charset="0"/>
                      </a:rPr>
                      <m:t>𝜇</m:t>
                    </m:r>
                  </m:oMath>
                </a14:m>
                <a:r>
                  <a:rPr lang="en-US" altLang="en-US" sz="1800" i="1" dirty="0">
                    <a:solidFill>
                      <a:srgbClr val="FF0000"/>
                    </a:solidFill>
                  </a:rPr>
                  <a:t>.</a:t>
                </a:r>
              </a:p>
              <a:p>
                <a:pPr eaLnBrk="1" hangingPunct="1">
                  <a:buFont typeface="Arial" panose="020B0604020202020204" pitchFamily="34" charset="0"/>
                  <a:buChar char="•"/>
                </a:pPr>
                <a:r>
                  <a:rPr lang="en-US" altLang="en-US" sz="1800" dirty="0">
                    <a:solidFill>
                      <a:srgbClr val="000000"/>
                    </a:solidFill>
                  </a:rPr>
                  <a:t>The “95%” </a:t>
                </a:r>
                <a:r>
                  <a:rPr lang="en-US" altLang="zh-CN" sz="1800" dirty="0">
                    <a:solidFill>
                      <a:srgbClr val="000000"/>
                    </a:solidFill>
                  </a:rPr>
                  <a:t>here is called </a:t>
                </a:r>
                <a:r>
                  <a:rPr lang="en-US" altLang="en-US" sz="1800" dirty="0">
                    <a:solidFill>
                      <a:srgbClr val="000000"/>
                    </a:solidFill>
                  </a:rPr>
                  <a:t>the </a:t>
                </a:r>
                <a:r>
                  <a:rPr lang="en-US" altLang="en-US" sz="1800" dirty="0">
                    <a:solidFill>
                      <a:srgbClr val="FF0000"/>
                    </a:solidFill>
                  </a:rPr>
                  <a:t>confidence level</a:t>
                </a:r>
                <a:r>
                  <a:rPr lang="en-US" altLang="en-US" sz="1800" dirty="0">
                    <a:solidFill>
                      <a:srgbClr val="000000"/>
                    </a:solidFill>
                  </a:rPr>
                  <a:t>. It reflects the </a:t>
                </a:r>
                <a:r>
                  <a:rPr lang="en-US" altLang="en-US" sz="1800" dirty="0"/>
                  <a:t>coverage rate </a:t>
                </a:r>
                <a:r>
                  <a:rPr lang="en-US" altLang="en-US" sz="1800" dirty="0">
                    <a:solidFill>
                      <a:srgbClr val="000000"/>
                    </a:solidFill>
                  </a:rPr>
                  <a:t>if this CI is used many times. Specifically, </a:t>
                </a:r>
                <a:r>
                  <a:rPr lang="zh-CN" altLang="en-US" sz="1800" dirty="0">
                    <a:solidFill>
                      <a:srgbClr val="000000"/>
                    </a:solidFill>
                  </a:rPr>
                  <a:t>“</a:t>
                </a:r>
                <a:r>
                  <a:rPr lang="en-US" altLang="en-US" sz="1800" dirty="0">
                    <a:solidFill>
                      <a:srgbClr val="000000"/>
                    </a:solidFill>
                  </a:rPr>
                  <a:t>95%</a:t>
                </a:r>
                <a:r>
                  <a:rPr lang="zh-CN" altLang="en-US" sz="1800" dirty="0">
                    <a:solidFill>
                      <a:srgbClr val="000000"/>
                    </a:solidFill>
                  </a:rPr>
                  <a:t>”</a:t>
                </a:r>
                <a:r>
                  <a:rPr lang="en-US" altLang="en-US" sz="1800" dirty="0">
                    <a:solidFill>
                      <a:srgbClr val="000000"/>
                    </a:solidFill>
                  </a:rPr>
                  <a:t> means the coverage rate is </a:t>
                </a:r>
                <a:r>
                  <a:rPr lang="en-US" altLang="en-US" sz="1800" dirty="0">
                    <a:solidFill>
                      <a:srgbClr val="FF0000"/>
                    </a:solidFill>
                  </a:rPr>
                  <a:t>AT LEAST </a:t>
                </a:r>
                <a:r>
                  <a:rPr lang="en-US" altLang="en-US" sz="1800" dirty="0">
                    <a:solidFill>
                      <a:srgbClr val="000000"/>
                    </a:solidFill>
                  </a:rPr>
                  <a:t>95%. </a:t>
                </a:r>
              </a:p>
              <a:p>
                <a:pPr eaLnBrk="1" hangingPunct="1">
                  <a:buFont typeface="Arial" panose="020B0604020202020204" pitchFamily="34" charset="0"/>
                  <a:buChar char="•"/>
                </a:pPr>
                <a:r>
                  <a:rPr lang="en-US" sz="1800" dirty="0">
                    <a:solidFill>
                      <a:srgbClr val="000000"/>
                    </a:solidFill>
                  </a:rPr>
                  <a:t>The values of CI vary with sample data, while parameters are fixed. That is why CIs are said to “cover” parameters.</a:t>
                </a:r>
                <a:endParaRPr lang="en-US" sz="1800" dirty="0"/>
              </a:p>
            </p:txBody>
          </p:sp>
        </mc:Choice>
        <mc:Fallback>
          <p:sp>
            <p:nvSpPr>
              <p:cNvPr id="13" name="TextBox 12"/>
              <p:cNvSpPr txBox="1">
                <a:spLocks noRot="1" noChangeAspect="1" noMove="1" noResize="1" noEditPoints="1" noAdjustHandles="1" noChangeArrowheads="1" noChangeShapeType="1" noTextEdit="1"/>
              </p:cNvSpPr>
              <p:nvPr/>
            </p:nvSpPr>
            <p:spPr bwMode="auto">
              <a:xfrm>
                <a:off x="406400" y="4326315"/>
                <a:ext cx="8229600" cy="2308324"/>
              </a:xfrm>
              <a:prstGeom prst="rect">
                <a:avLst/>
              </a:prstGeom>
              <a:blipFill>
                <a:blip r:embed="rId7"/>
                <a:stretch>
                  <a:fillRect l="-667" t="-1587" b="-34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2"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Scale>
                                      <p:cBhvr>
                                        <p:cTn id="22" dur="1000" decel="50000" fill="hold">
                                          <p:stCondLst>
                                            <p:cond delay="0"/>
                                          </p:stCondLst>
                                        </p:cTn>
                                        <p:tgtEl>
                                          <p:spTgt spid="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1"/>
                                        </p:tgtEl>
                                        <p:attrNameLst>
                                          <p:attrName>ppt_x</p:attrName>
                                          <p:attrName>ppt_y</p:attrName>
                                        </p:attrNameLst>
                                      </p:cBhvr>
                                    </p:animMotion>
                                    <p:animEffect transition="in" filter="fade">
                                      <p:cBhvr>
                                        <p:cTn id="24" dur="10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74625" y="156605"/>
            <a:ext cx="7772400" cy="772639"/>
          </a:xfrm>
        </p:spPr>
        <p:txBody>
          <a:bodyPr/>
          <a:lstStyle/>
          <a:p>
            <a:r>
              <a:rPr lang="en-US" altLang="en-US" dirty="0">
                <a:ea typeface="ＭＳ Ｐゴシック" pitchFamily="34" charset="-128"/>
              </a:rPr>
              <a:t>(Wald) </a:t>
            </a:r>
            <a:r>
              <a:rPr lang="en-US" altLang="en-US" dirty="0"/>
              <a:t>Confidence Interval</a:t>
            </a:r>
          </a:p>
        </p:txBody>
      </p:sp>
      <p:sp>
        <p:nvSpPr>
          <p:cNvPr id="36873"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6F7C9524-FDD9-4CE8-A7F2-D36E7BE70DAD}" type="slidenum">
              <a:rPr lang="en-US" altLang="en-US"/>
              <a:pPr/>
              <a:t>8</a:t>
            </a:fld>
            <a:endParaRPr lang="en-US" altLang="en-US"/>
          </a:p>
        </p:txBody>
      </p:sp>
      <p:pic>
        <p:nvPicPr>
          <p:cNvPr id="2" name="Picture 1" descr="The animations illustrate the method of &quot;Statistical Confidence&quot; through two graphs, one is the population distribution graph depicting standard deviation &quot;sigma&quot; equals 20, and another graph shows the sampling distribution of sample mean &quot;x bar.&quot; The confidence level, or C, is the overall capture rate if the method is used many times. The sample mean vary from sample to sample, and the method &quot;estimate plus minus margin of error&quot; is used to get each interval. C times 100 percent of al intervals capture the unknown population mean. C value is expressed as a decimal, always between 0 and 1. Many SRSs (Simple Random Samples) show many confidence intervals, and 95 percent of these intervals capture the unknown mean &quot;mew&quot; of the population."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438" y="307181"/>
            <a:ext cx="638175" cy="276225"/>
          </a:xfrm>
          <a:prstGeom prst="rect">
            <a:avLst/>
          </a:prstGeom>
        </p:spPr>
      </p:pic>
      <p:pic>
        <p:nvPicPr>
          <p:cNvPr id="3" name="Picture 2"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6793" y="373062"/>
            <a:ext cx="638175" cy="276225"/>
          </a:xfrm>
          <a:prstGeom prst="rect">
            <a:avLst/>
          </a:prstGeom>
        </p:spPr>
      </p:pic>
      <p:sp>
        <p:nvSpPr>
          <p:cNvPr id="36867" name="TextBox 1"/>
          <p:cNvSpPr txBox="1">
            <a:spLocks noChangeArrowheads="1"/>
          </p:cNvSpPr>
          <p:nvPr/>
        </p:nvSpPr>
        <p:spPr bwMode="auto">
          <a:xfrm>
            <a:off x="175507" y="982821"/>
            <a:ext cx="8382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r>
              <a:rPr lang="en-US" altLang="zh-CN" sz="1600" dirty="0">
                <a:solidFill>
                  <a:srgbClr val="000000"/>
                </a:solidFill>
              </a:rPr>
              <a:t>Fixing the sample size and the construction method, a 95% CI means that </a:t>
            </a:r>
            <a:r>
              <a:rPr lang="en-US" altLang="zh-CN" sz="1600" dirty="0">
                <a:solidFill>
                  <a:srgbClr val="FF0000"/>
                </a:solidFill>
              </a:rPr>
              <a:t>at least </a:t>
            </a:r>
            <a:r>
              <a:rPr lang="en-US" altLang="zh-CN" sz="1600" dirty="0">
                <a:solidFill>
                  <a:srgbClr val="000000"/>
                </a:solidFill>
              </a:rPr>
              <a:t>95% of CIs constructed from repeated SRSs of that size will </a:t>
            </a:r>
            <a:r>
              <a:rPr lang="en-US" altLang="zh-CN" sz="1600" dirty="0">
                <a:solidFill>
                  <a:srgbClr val="FF0000"/>
                </a:solidFill>
              </a:rPr>
              <a:t>cover</a:t>
            </a:r>
            <a:r>
              <a:rPr lang="en-US" altLang="zh-CN" sz="1600" dirty="0">
                <a:solidFill>
                  <a:srgbClr val="000000"/>
                </a:solidFill>
              </a:rPr>
              <a:t> the true parameter.</a:t>
            </a:r>
            <a:endParaRPr lang="en-US" altLang="en-US" sz="1600" dirty="0">
              <a:solidFill>
                <a:srgbClr val="000000"/>
              </a:solidFill>
            </a:endParaRPr>
          </a:p>
        </p:txBody>
      </p:sp>
      <p:pic>
        <p:nvPicPr>
          <p:cNvPr id="13" name="Picture 12" descr="already describ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25661" y="2425972"/>
            <a:ext cx="3086531" cy="311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38EDD22C-DAC3-D456-7AC2-FEF190ABBC6F}"/>
              </a:ext>
            </a:extLst>
          </p:cNvPr>
          <p:cNvSpPr txBox="1"/>
          <p:nvPr/>
        </p:nvSpPr>
        <p:spPr>
          <a:xfrm>
            <a:off x="355862" y="1501609"/>
            <a:ext cx="4150150" cy="5424562"/>
          </a:xfrm>
          <a:prstGeom prst="rect">
            <a:avLst/>
          </a:prstGeom>
          <a:noFill/>
        </p:spPr>
        <p:txBody>
          <a:bodyPr wrap="square">
            <a:spAutoFit/>
          </a:bodyPr>
          <a:lstStyle/>
          <a:p>
            <a:pPr>
              <a:buNone/>
            </a:pPr>
            <a:r>
              <a:rPr lang="en-US" sz="1050" dirty="0">
                <a:effectLst/>
                <a:latin typeface="Arial" pitchFamily="34" charset="0"/>
              </a:rPr>
              <a:t>/* Monte Carlo coverage of a 95% confidence interval */</a:t>
            </a:r>
            <a:br>
              <a:rPr lang="en-US" sz="1050" dirty="0">
                <a:effectLst/>
                <a:latin typeface="Arial" pitchFamily="34" charset="0"/>
              </a:rPr>
            </a:br>
            <a:r>
              <a:rPr lang="en-US" sz="1050" dirty="0">
                <a:effectLst/>
                <a:latin typeface="Arial" pitchFamily="34" charset="0"/>
              </a:rPr>
              <a:t>/* Normal population, known population SD */</a:t>
            </a:r>
            <a:br>
              <a:rPr lang="en-US" sz="1050" dirty="0">
                <a:effectLst/>
                <a:latin typeface="Arial" pitchFamily="34" charset="0"/>
              </a:rPr>
            </a:br>
            <a:r>
              <a:rPr lang="en-US" sz="1050" dirty="0">
                <a:effectLst/>
                <a:latin typeface="Arial" pitchFamily="34" charset="0"/>
              </a:rPr>
              <a:t>%let mu    = 250;       /* True population mean */</a:t>
            </a:r>
            <a:br>
              <a:rPr lang="en-US" sz="1050" dirty="0">
                <a:effectLst/>
                <a:latin typeface="Arial" pitchFamily="34" charset="0"/>
              </a:rPr>
            </a:br>
            <a:r>
              <a:rPr lang="en-US" sz="1050" dirty="0">
                <a:effectLst/>
                <a:latin typeface="Arial" pitchFamily="34" charset="0"/>
              </a:rPr>
              <a:t>%let sigma = 20;        /* Known population SD */</a:t>
            </a:r>
            <a:br>
              <a:rPr lang="en-US" sz="1050" dirty="0">
                <a:effectLst/>
                <a:latin typeface="Arial" pitchFamily="34" charset="0"/>
              </a:rPr>
            </a:br>
            <a:r>
              <a:rPr lang="en-US" sz="1050" dirty="0">
                <a:effectLst/>
                <a:latin typeface="Arial" pitchFamily="34" charset="0"/>
              </a:rPr>
              <a:t>%let n     = 16;        /* Sample size */</a:t>
            </a:r>
            <a:br>
              <a:rPr lang="en-US" sz="1050" dirty="0">
                <a:effectLst/>
                <a:latin typeface="Arial" pitchFamily="34" charset="0"/>
              </a:rPr>
            </a:br>
            <a:r>
              <a:rPr lang="en-US" sz="1050" dirty="0">
                <a:effectLst/>
                <a:latin typeface="Arial" pitchFamily="34" charset="0"/>
              </a:rPr>
              <a:t>%let B     = 1000;    /* Number of replication */</a:t>
            </a:r>
            <a:br>
              <a:rPr lang="en-US" sz="1050" dirty="0">
                <a:effectLst/>
                <a:latin typeface="Arial" pitchFamily="34" charset="0"/>
              </a:rPr>
            </a:br>
            <a:r>
              <a:rPr lang="en-US" sz="1050" dirty="0">
                <a:effectLst/>
                <a:latin typeface="Arial" pitchFamily="34" charset="0"/>
              </a:rPr>
              <a:t>%let alpha = 0.05;</a:t>
            </a:r>
            <a:br>
              <a:rPr lang="en-US" sz="1050" dirty="0">
                <a:effectLst/>
                <a:latin typeface="Arial" pitchFamily="34" charset="0"/>
              </a:rPr>
            </a:br>
            <a:r>
              <a:rPr lang="en-US" sz="1050" dirty="0">
                <a:effectLst/>
                <a:latin typeface="Arial" pitchFamily="34" charset="0"/>
              </a:rPr>
              <a:t>data simulation;</a:t>
            </a:r>
            <a:br>
              <a:rPr lang="en-US" sz="1050" dirty="0">
                <a:effectLst/>
                <a:latin typeface="Arial" pitchFamily="34" charset="0"/>
              </a:rPr>
            </a:br>
            <a:r>
              <a:rPr lang="en-US" sz="1050" dirty="0">
                <a:effectLst/>
                <a:latin typeface="Arial" pitchFamily="34" charset="0"/>
              </a:rPr>
              <a:t>    call </a:t>
            </a:r>
            <a:r>
              <a:rPr lang="en-US" sz="1050" dirty="0" err="1">
                <a:effectLst/>
                <a:latin typeface="Arial" pitchFamily="34" charset="0"/>
              </a:rPr>
              <a:t>streaminit</a:t>
            </a:r>
            <a:r>
              <a:rPr lang="en-US" sz="1050" dirty="0">
                <a:effectLst/>
                <a:latin typeface="Arial" pitchFamily="34" charset="0"/>
              </a:rPr>
              <a:t>(702);</a:t>
            </a:r>
            <a:br>
              <a:rPr lang="en-US" sz="1050" dirty="0">
                <a:effectLst/>
                <a:latin typeface="Arial" pitchFamily="34" charset="0"/>
              </a:rPr>
            </a:br>
            <a:r>
              <a:rPr lang="en-US" sz="1050" dirty="0">
                <a:effectLst/>
                <a:latin typeface="Arial" pitchFamily="34" charset="0"/>
              </a:rPr>
              <a:t>    </a:t>
            </a:r>
            <a:r>
              <a:rPr lang="en-US" sz="1050" dirty="0" err="1">
                <a:effectLst/>
                <a:latin typeface="Arial" pitchFamily="34" charset="0"/>
              </a:rPr>
              <a:t>zcrit</a:t>
            </a:r>
            <a:r>
              <a:rPr lang="en-US" sz="1050" dirty="0">
                <a:effectLst/>
                <a:latin typeface="Arial" pitchFamily="34" charset="0"/>
              </a:rPr>
              <a:t> = quantile("NORMAL", 1 - &amp;alpha/2);</a:t>
            </a:r>
            <a:br>
              <a:rPr lang="en-US" sz="1050" dirty="0">
                <a:effectLst/>
                <a:latin typeface="Arial" pitchFamily="34" charset="0"/>
              </a:rPr>
            </a:br>
            <a:r>
              <a:rPr lang="en-US" sz="1050" dirty="0">
                <a:effectLst/>
                <a:latin typeface="Arial" pitchFamily="34" charset="0"/>
              </a:rPr>
              <a:t>    se = &amp;sigma / sqrt(&amp;n);</a:t>
            </a:r>
            <a:br>
              <a:rPr lang="en-US" sz="1050" dirty="0">
                <a:effectLst/>
                <a:latin typeface="Arial" pitchFamily="34" charset="0"/>
              </a:rPr>
            </a:br>
            <a:r>
              <a:rPr lang="en-US" sz="1050" dirty="0">
                <a:effectLst/>
                <a:latin typeface="Arial" pitchFamily="34" charset="0"/>
              </a:rPr>
              <a:t>    do replicate = 1 to &amp;B;</a:t>
            </a:r>
            <a:br>
              <a:rPr lang="en-US" sz="1050" dirty="0">
                <a:effectLst/>
                <a:latin typeface="Arial" pitchFamily="34" charset="0"/>
              </a:rPr>
            </a:br>
            <a:r>
              <a:rPr lang="en-US" sz="1050" dirty="0">
                <a:effectLst/>
                <a:latin typeface="Arial" pitchFamily="34" charset="0"/>
              </a:rPr>
              <a:t>        /* Generate one random sample and compute its mean */</a:t>
            </a:r>
            <a:br>
              <a:rPr lang="en-US" sz="1050" dirty="0">
                <a:effectLst/>
                <a:latin typeface="Arial" pitchFamily="34" charset="0"/>
              </a:rPr>
            </a:br>
            <a:r>
              <a:rPr lang="en-US" sz="1050" dirty="0">
                <a:effectLst/>
                <a:latin typeface="Arial" pitchFamily="34" charset="0"/>
              </a:rPr>
              <a:t>        </a:t>
            </a:r>
            <a:r>
              <a:rPr lang="en-US" sz="1050" dirty="0" err="1">
                <a:effectLst/>
                <a:latin typeface="Arial" pitchFamily="34" charset="0"/>
              </a:rPr>
              <a:t>sum_x</a:t>
            </a:r>
            <a:r>
              <a:rPr lang="en-US" sz="1050" dirty="0">
                <a:effectLst/>
                <a:latin typeface="Arial" pitchFamily="34" charset="0"/>
              </a:rPr>
              <a:t> = 0;</a:t>
            </a:r>
            <a:br>
              <a:rPr lang="en-US" sz="1050" dirty="0">
                <a:effectLst/>
                <a:latin typeface="Arial" pitchFamily="34" charset="0"/>
              </a:rPr>
            </a:br>
            <a:r>
              <a:rPr lang="en-US" sz="1050" dirty="0">
                <a:effectLst/>
                <a:latin typeface="Arial" pitchFamily="34" charset="0"/>
              </a:rPr>
              <a:t>        do </a:t>
            </a:r>
            <a:r>
              <a:rPr lang="en-US" sz="1050" dirty="0" err="1">
                <a:effectLst/>
                <a:latin typeface="Arial" pitchFamily="34" charset="0"/>
              </a:rPr>
              <a:t>i</a:t>
            </a:r>
            <a:r>
              <a:rPr lang="en-US" sz="1050" dirty="0">
                <a:effectLst/>
                <a:latin typeface="Arial" pitchFamily="34" charset="0"/>
              </a:rPr>
              <a:t> = 1 to &amp;n;</a:t>
            </a:r>
            <a:br>
              <a:rPr lang="en-US" sz="1050" dirty="0">
                <a:effectLst/>
                <a:latin typeface="Arial" pitchFamily="34" charset="0"/>
              </a:rPr>
            </a:br>
            <a:r>
              <a:rPr lang="en-US" sz="1050" dirty="0">
                <a:effectLst/>
                <a:latin typeface="Arial" pitchFamily="34" charset="0"/>
              </a:rPr>
              <a:t>            x = rand("NORMAL", &amp;mu, &amp;sigma);</a:t>
            </a:r>
            <a:br>
              <a:rPr lang="en-US" sz="1050" dirty="0">
                <a:effectLst/>
                <a:latin typeface="Arial" pitchFamily="34" charset="0"/>
              </a:rPr>
            </a:br>
            <a:r>
              <a:rPr lang="en-US" sz="1050" dirty="0">
                <a:effectLst/>
                <a:latin typeface="Arial" pitchFamily="34" charset="0"/>
              </a:rPr>
              <a:t>            </a:t>
            </a:r>
            <a:r>
              <a:rPr lang="en-US" sz="1050" dirty="0" err="1">
                <a:effectLst/>
                <a:latin typeface="Arial" pitchFamily="34" charset="0"/>
              </a:rPr>
              <a:t>sum_x</a:t>
            </a:r>
            <a:r>
              <a:rPr lang="en-US" sz="1050" dirty="0">
                <a:effectLst/>
                <a:latin typeface="Arial" pitchFamily="34" charset="0"/>
              </a:rPr>
              <a:t> + x;</a:t>
            </a:r>
            <a:br>
              <a:rPr lang="en-US" sz="1050" dirty="0">
                <a:effectLst/>
                <a:latin typeface="Arial" pitchFamily="34" charset="0"/>
              </a:rPr>
            </a:br>
            <a:r>
              <a:rPr lang="en-US" sz="1050" dirty="0">
                <a:effectLst/>
                <a:latin typeface="Arial" pitchFamily="34" charset="0"/>
              </a:rPr>
              <a:t>        end;</a:t>
            </a:r>
            <a:br>
              <a:rPr lang="en-US" sz="1050" dirty="0">
                <a:effectLst/>
                <a:latin typeface="Arial" pitchFamily="34" charset="0"/>
              </a:rPr>
            </a:br>
            <a:r>
              <a:rPr lang="en-US" sz="1050" dirty="0">
                <a:effectLst/>
                <a:latin typeface="Arial" pitchFamily="34" charset="0"/>
              </a:rPr>
              <a:t>        </a:t>
            </a:r>
            <a:r>
              <a:rPr lang="en-US" sz="1050" dirty="0" err="1">
                <a:effectLst/>
                <a:latin typeface="Arial" pitchFamily="34" charset="0"/>
              </a:rPr>
              <a:t>xbar</a:t>
            </a:r>
            <a:r>
              <a:rPr lang="en-US" sz="1050" dirty="0">
                <a:effectLst/>
                <a:latin typeface="Arial" pitchFamily="34" charset="0"/>
              </a:rPr>
              <a:t> = </a:t>
            </a:r>
            <a:r>
              <a:rPr lang="en-US" sz="1050" dirty="0" err="1">
                <a:effectLst/>
                <a:latin typeface="Arial" pitchFamily="34" charset="0"/>
              </a:rPr>
              <a:t>sum_x</a:t>
            </a:r>
            <a:r>
              <a:rPr lang="en-US" sz="1050" dirty="0">
                <a:effectLst/>
                <a:latin typeface="Arial" pitchFamily="34" charset="0"/>
              </a:rPr>
              <a:t> / &amp;n;</a:t>
            </a:r>
            <a:br>
              <a:rPr lang="en-US" sz="1050" dirty="0">
                <a:effectLst/>
                <a:latin typeface="Arial" pitchFamily="34" charset="0"/>
              </a:rPr>
            </a:br>
            <a:r>
              <a:rPr lang="en-US" sz="1050" dirty="0">
                <a:effectLst/>
                <a:latin typeface="Arial" pitchFamily="34" charset="0"/>
              </a:rPr>
              <a:t>        /* Construct the confidence interval */</a:t>
            </a:r>
            <a:br>
              <a:rPr lang="en-US" sz="1050" dirty="0">
                <a:effectLst/>
                <a:latin typeface="Arial" pitchFamily="34" charset="0"/>
              </a:rPr>
            </a:br>
            <a:r>
              <a:rPr lang="en-US" sz="1050" dirty="0">
                <a:effectLst/>
                <a:latin typeface="Arial" pitchFamily="34" charset="0"/>
              </a:rPr>
              <a:t>        lower = </a:t>
            </a:r>
            <a:r>
              <a:rPr lang="en-US" sz="1050" dirty="0" err="1">
                <a:effectLst/>
                <a:latin typeface="Arial" pitchFamily="34" charset="0"/>
              </a:rPr>
              <a:t>xbar</a:t>
            </a:r>
            <a:r>
              <a:rPr lang="en-US" sz="1050" dirty="0">
                <a:effectLst/>
                <a:latin typeface="Arial" pitchFamily="34" charset="0"/>
              </a:rPr>
              <a:t> - </a:t>
            </a:r>
            <a:r>
              <a:rPr lang="en-US" sz="1050" dirty="0" err="1">
                <a:effectLst/>
                <a:latin typeface="Arial" pitchFamily="34" charset="0"/>
              </a:rPr>
              <a:t>zcrit</a:t>
            </a:r>
            <a:r>
              <a:rPr lang="en-US" sz="1050" dirty="0">
                <a:effectLst/>
                <a:latin typeface="Arial" pitchFamily="34" charset="0"/>
              </a:rPr>
              <a:t> * se;</a:t>
            </a:r>
            <a:br>
              <a:rPr lang="en-US" sz="1050" dirty="0">
                <a:effectLst/>
                <a:latin typeface="Arial" pitchFamily="34" charset="0"/>
              </a:rPr>
            </a:br>
            <a:r>
              <a:rPr lang="en-US" sz="1050" dirty="0">
                <a:effectLst/>
                <a:latin typeface="Arial" pitchFamily="34" charset="0"/>
              </a:rPr>
              <a:t>        upper = </a:t>
            </a:r>
            <a:r>
              <a:rPr lang="en-US" sz="1050" dirty="0" err="1">
                <a:effectLst/>
                <a:latin typeface="Arial" pitchFamily="34" charset="0"/>
              </a:rPr>
              <a:t>xbar</a:t>
            </a:r>
            <a:r>
              <a:rPr lang="en-US" sz="1050" dirty="0">
                <a:effectLst/>
                <a:latin typeface="Arial" pitchFamily="34" charset="0"/>
              </a:rPr>
              <a:t> + </a:t>
            </a:r>
            <a:r>
              <a:rPr lang="en-US" sz="1050" dirty="0" err="1">
                <a:effectLst/>
                <a:latin typeface="Arial" pitchFamily="34" charset="0"/>
              </a:rPr>
              <a:t>zcrit</a:t>
            </a:r>
            <a:r>
              <a:rPr lang="en-US" sz="1050" dirty="0">
                <a:effectLst/>
                <a:latin typeface="Arial" pitchFamily="34" charset="0"/>
              </a:rPr>
              <a:t> * se;</a:t>
            </a:r>
            <a:br>
              <a:rPr lang="en-US" sz="1050" dirty="0">
                <a:effectLst/>
                <a:latin typeface="Arial" pitchFamily="34" charset="0"/>
              </a:rPr>
            </a:br>
            <a:r>
              <a:rPr lang="en-US" sz="1050" dirty="0">
                <a:effectLst/>
                <a:latin typeface="Arial" pitchFamily="34" charset="0"/>
              </a:rPr>
              <a:t>        /* Does this interval contain the true mean? */</a:t>
            </a:r>
            <a:br>
              <a:rPr lang="en-US" sz="1050" dirty="0">
                <a:effectLst/>
                <a:latin typeface="Arial" pitchFamily="34" charset="0"/>
              </a:rPr>
            </a:br>
            <a:r>
              <a:rPr lang="en-US" sz="1050" dirty="0">
                <a:effectLst/>
                <a:latin typeface="Arial" pitchFamily="34" charset="0"/>
              </a:rPr>
              <a:t>        covered = (lower &lt;= &amp;mu &lt;= upper);</a:t>
            </a:r>
            <a:br>
              <a:rPr lang="en-US" sz="1050" dirty="0">
                <a:effectLst/>
                <a:latin typeface="Arial" pitchFamily="34" charset="0"/>
              </a:rPr>
            </a:br>
            <a:r>
              <a:rPr lang="en-US" sz="1050" dirty="0">
                <a:effectLst/>
                <a:latin typeface="Arial" pitchFamily="34" charset="0"/>
              </a:rPr>
              <a:t>        output;</a:t>
            </a:r>
            <a:br>
              <a:rPr lang="en-US" sz="1050" dirty="0">
                <a:effectLst/>
                <a:latin typeface="Arial" pitchFamily="34" charset="0"/>
              </a:rPr>
            </a:br>
            <a:r>
              <a:rPr lang="en-US" sz="1050" dirty="0">
                <a:effectLst/>
                <a:latin typeface="Arial" pitchFamily="34" charset="0"/>
              </a:rPr>
              <a:t>    end;</a:t>
            </a:r>
            <a:br>
              <a:rPr lang="en-US" sz="1050" dirty="0">
                <a:effectLst/>
                <a:latin typeface="Arial" pitchFamily="34" charset="0"/>
              </a:rPr>
            </a:br>
            <a:r>
              <a:rPr lang="en-US" sz="1050" dirty="0">
                <a:effectLst/>
                <a:latin typeface="Arial" pitchFamily="34" charset="0"/>
              </a:rPr>
              <a:t>    keep replicate </a:t>
            </a:r>
            <a:r>
              <a:rPr lang="en-US" sz="1050" dirty="0" err="1">
                <a:effectLst/>
                <a:latin typeface="Arial" pitchFamily="34" charset="0"/>
              </a:rPr>
              <a:t>xbar</a:t>
            </a:r>
            <a:r>
              <a:rPr lang="en-US" sz="1050" dirty="0">
                <a:effectLst/>
                <a:latin typeface="Arial" pitchFamily="34" charset="0"/>
              </a:rPr>
              <a:t> lower upper covered;</a:t>
            </a:r>
            <a:br>
              <a:rPr lang="en-US" sz="1050" dirty="0">
                <a:effectLst/>
                <a:latin typeface="Arial" pitchFamily="34" charset="0"/>
              </a:rPr>
            </a:br>
            <a:r>
              <a:rPr lang="en-US" sz="1050" dirty="0">
                <a:effectLst/>
                <a:latin typeface="Arial" pitchFamily="34" charset="0"/>
              </a:rPr>
              <a:t>run;</a:t>
            </a:r>
            <a:br>
              <a:rPr lang="en-US" sz="1050" dirty="0">
                <a:effectLst/>
                <a:latin typeface="Arial" pitchFamily="34" charset="0"/>
              </a:rPr>
            </a:br>
            <a:r>
              <a:rPr lang="en-US" sz="1050" dirty="0">
                <a:effectLst/>
                <a:latin typeface="Arial" pitchFamily="34" charset="0"/>
              </a:rPr>
              <a:t>/* Estimate the coverage probability */</a:t>
            </a:r>
            <a:br>
              <a:rPr lang="en-US" sz="1050" dirty="0">
                <a:effectLst/>
                <a:latin typeface="Arial" pitchFamily="34" charset="0"/>
              </a:rPr>
            </a:br>
            <a:r>
              <a:rPr lang="en-US" sz="1050" dirty="0">
                <a:effectLst/>
                <a:latin typeface="Arial" pitchFamily="34" charset="0"/>
              </a:rPr>
              <a:t>proc means data=simulation n mean stderr;</a:t>
            </a:r>
            <a:br>
              <a:rPr lang="en-US" sz="1050" dirty="0">
                <a:effectLst/>
                <a:latin typeface="Arial" pitchFamily="34" charset="0"/>
              </a:rPr>
            </a:br>
            <a:r>
              <a:rPr lang="en-US" sz="1050" dirty="0">
                <a:effectLst/>
                <a:latin typeface="Arial" pitchFamily="34" charset="0"/>
              </a:rPr>
              <a:t>    var covered;</a:t>
            </a:r>
            <a:br>
              <a:rPr lang="en-US" sz="1050" dirty="0">
                <a:effectLst/>
                <a:latin typeface="Arial" pitchFamily="34" charset="0"/>
              </a:rPr>
            </a:br>
            <a:r>
              <a:rPr lang="en-US" sz="1050" dirty="0">
                <a:effectLst/>
                <a:latin typeface="Arial" pitchFamily="34" charset="0"/>
              </a:rPr>
              <a:t>    title "Coverage of a 95% Confidence Interval";</a:t>
            </a:r>
            <a:br>
              <a:rPr lang="en-US" sz="1050" dirty="0">
                <a:effectLst/>
                <a:latin typeface="Arial" pitchFamily="34" charset="0"/>
              </a:rPr>
            </a:br>
            <a:r>
              <a:rPr lang="en-US" sz="1050" dirty="0">
                <a:effectLst/>
                <a:latin typeface="Arial" pitchFamily="34" charset="0"/>
              </a:rPr>
              <a:t>run;</a:t>
            </a:r>
            <a:endParaRPr lang="en-US" sz="1050" dirty="0">
              <a:effectLst/>
              <a:latin typeface="Courier New" panose="02070309020205020404" pitchFamily="49" charset="0"/>
            </a:endParaRPr>
          </a:p>
        </p:txBody>
      </p:sp>
    </p:spTree>
    <p:extLst>
      <p:ext uri="{BB962C8B-B14F-4D97-AF65-F5344CB8AC3E}">
        <p14:creationId xmlns:p14="http://schemas.microsoft.com/office/powerpoint/2010/main" val="7350521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(Wald) Confidence Interval</a:t>
            </a:r>
            <a:endParaRPr lang="en-US" altLang="en-US" sz="2400" dirty="0">
              <a:solidFill>
                <a:srgbClr val="33CCFF"/>
              </a:solidFill>
              <a:ea typeface="ＭＳ Ｐゴシック" pitchFamily="34" charset="-128"/>
            </a:endParaRPr>
          </a:p>
        </p:txBody>
      </p:sp>
      <p:sp>
        <p:nvSpPr>
          <p:cNvPr id="3789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9089F59-A399-4162-B704-F00BB2591612}" type="slidenum">
              <a:rPr lang="en-US" altLang="en-US" sz="1200">
                <a:solidFill>
                  <a:schemeClr val="accent1"/>
                </a:solidFill>
              </a:rPr>
              <a:pPr>
                <a:lnSpc>
                  <a:spcPct val="80000"/>
                </a:lnSpc>
              </a:pPr>
              <a:t>9</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13" name="TextBox 12"/>
              <p:cNvSpPr txBox="1">
                <a:spLocks noChangeArrowheads="1"/>
              </p:cNvSpPr>
              <p:nvPr/>
            </p:nvSpPr>
            <p:spPr bwMode="auto">
              <a:xfrm>
                <a:off x="571500" y="1086238"/>
                <a:ext cx="7375525" cy="379738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defRPr/>
                </a:pPr>
                <a:r>
                  <a:rPr lang="en-US" altLang="en-US" dirty="0">
                    <a:solidFill>
                      <a:srgbClr val="000000"/>
                    </a:solidFill>
                  </a:rPr>
                  <a:t>A (Wald) CI for a parameter has the form:</a:t>
                </a:r>
              </a:p>
              <a:p>
                <a:pPr algn="ctr" eaLnBrk="1" hangingPunct="1">
                  <a:spcBef>
                    <a:spcPts val="600"/>
                  </a:spcBef>
                  <a:spcAft>
                    <a:spcPts val="600"/>
                  </a:spcAft>
                  <a:buClrTx/>
                  <a:buSzTx/>
                  <a:buNone/>
                  <a:defRPr/>
                </a:pPr>
                <a:r>
                  <a:rPr lang="en-US" altLang="en-US" dirty="0">
                    <a:solidFill>
                      <a:schemeClr val="tx1"/>
                    </a:solidFill>
                  </a:rPr>
                  <a:t>Estimator </a:t>
                </a:r>
                <a14:m>
                  <m:oMath xmlns:m="http://schemas.openxmlformats.org/officeDocument/2006/math">
                    <m:r>
                      <a:rPr lang="en-US" altLang="en-US" b="0" i="1" smtClean="0">
                        <a:solidFill>
                          <a:srgbClr val="000000"/>
                        </a:solidFill>
                        <a:latin typeface="Cambria Math" panose="02040503050406030204" pitchFamily="18" charset="0"/>
                        <a:ea typeface="Cambria Math" panose="02040503050406030204" pitchFamily="18" charset="0"/>
                      </a:rPr>
                      <m:t>±</m:t>
                    </m:r>
                    <m:sSub>
                      <m:sSubPr>
                        <m:ctrlPr>
                          <a:rPr lang="en-US" altLang="en-US" b="0" i="1" smtClean="0">
                            <a:solidFill>
                              <a:srgbClr val="000000"/>
                            </a:solidFill>
                            <a:latin typeface="Cambria Math" panose="02040503050406030204" pitchFamily="18" charset="0"/>
                            <a:ea typeface="Cambria Math" panose="02040503050406030204" pitchFamily="18" charset="0"/>
                          </a:rPr>
                        </m:ctrlPr>
                      </m:sSubPr>
                      <m:e>
                        <m:r>
                          <a:rPr lang="en-US" altLang="en-US" b="0" i="1" smtClean="0">
                            <a:solidFill>
                              <a:srgbClr val="000000"/>
                            </a:solidFill>
                            <a:latin typeface="Cambria Math" panose="02040503050406030204" pitchFamily="18" charset="0"/>
                            <a:ea typeface="Cambria Math" panose="02040503050406030204" pitchFamily="18" charset="0"/>
                          </a:rPr>
                          <m:t> </m:t>
                        </m:r>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r>
                      <a:rPr lang="en-US" altLang="en-US" i="1" dirty="0">
                        <a:solidFill>
                          <a:schemeClr val="tx1"/>
                        </a:solidFill>
                        <a:latin typeface="Cambria Math" panose="02040503050406030204" pitchFamily="18" charset="0"/>
                      </a:rPr>
                      <m:t>×</m:t>
                    </m:r>
                  </m:oMath>
                </a14:m>
                <a:r>
                  <a:rPr lang="en-US" altLang="en-US" dirty="0">
                    <a:solidFill>
                      <a:schemeClr val="tx1"/>
                    </a:solidFill>
                  </a:rPr>
                  <a:t> </a:t>
                </a:r>
                <a:r>
                  <a:rPr lang="en-US" altLang="en-US" dirty="0">
                    <a:solidFill>
                      <a:srgbClr val="FF0000"/>
                    </a:solidFill>
                  </a:rPr>
                  <a:t>standard error</a:t>
                </a:r>
                <a:r>
                  <a:rPr lang="en-US" altLang="en-US" dirty="0">
                    <a:solidFill>
                      <a:schemeClr val="tx1"/>
                    </a:solidFill>
                  </a:rPr>
                  <a:t> of the estimator</a:t>
                </a:r>
                <a:endParaRPr lang="en-US" altLang="en-US" dirty="0">
                  <a:solidFill>
                    <a:srgbClr val="000000"/>
                  </a:solidFill>
                </a:endParaRPr>
              </a:p>
              <a:p>
                <a:pPr marL="342900" indent="-342900" eaLnBrk="1" hangingPunct="1">
                  <a:spcBef>
                    <a:spcPct val="0"/>
                  </a:spcBef>
                  <a:buSzTx/>
                  <a:defRPr/>
                </a:pPr>
                <a:r>
                  <a:rPr lang="en-US" altLang="en-US" dirty="0">
                    <a:solidFill>
                      <a:srgbClr val="000000"/>
                    </a:solidFill>
                  </a:rPr>
                  <a:t>Its </a:t>
                </a:r>
                <a:r>
                  <a:rPr lang="en-US" altLang="en-US" b="1" dirty="0">
                    <a:solidFill>
                      <a:srgbClr val="800000"/>
                    </a:solidFill>
                  </a:rPr>
                  <a:t>confidence level, denoted by </a:t>
                </a:r>
                <a:r>
                  <a:rPr lang="en-US" altLang="en-US" b="1" i="1" dirty="0">
                    <a:solidFill>
                      <a:srgbClr val="800000"/>
                    </a:solidFill>
                  </a:rPr>
                  <a:t>C</a:t>
                </a:r>
                <a:r>
                  <a:rPr lang="en-US" altLang="en-US" b="1" dirty="0">
                    <a:solidFill>
                      <a:srgbClr val="800000"/>
                    </a:solidFill>
                  </a:rPr>
                  <a:t>, </a:t>
                </a:r>
                <a:r>
                  <a:rPr lang="en-US" altLang="en-US" dirty="0">
                    <a:solidFill>
                      <a:srgbClr val="000000"/>
                    </a:solidFill>
                  </a:rPr>
                  <a:t>is the probability that the interval will cover the true parameter value </a:t>
                </a:r>
                <a:r>
                  <a:rPr lang="en-US" altLang="en-US" i="1" dirty="0">
                    <a:solidFill>
                      <a:srgbClr val="FF0000"/>
                    </a:solidFill>
                  </a:rPr>
                  <a:t>in repeated samples</a:t>
                </a:r>
                <a:r>
                  <a:rPr lang="en-US" altLang="en-US" dirty="0">
                    <a:solidFill>
                      <a:srgbClr val="000000"/>
                    </a:solidFill>
                  </a:rPr>
                  <a:t>. We usually choose a confidence level of 90% or higher because we want to be quite sure of our conclusions. The most common confidence level is 95%. </a:t>
                </a:r>
              </a:p>
              <a:p>
                <a:pPr marL="342900" indent="-342900" eaLnBrk="1" hangingPunct="1">
                  <a:spcBef>
                    <a:spcPct val="0"/>
                  </a:spcBef>
                  <a:buSzTx/>
                  <a:defRPr/>
                </a:pPr>
                <a14:m>
                  <m:oMath xmlns:m="http://schemas.openxmlformats.org/officeDocument/2006/math">
                    <m:sSub>
                      <m:sSubPr>
                        <m:ctrlPr>
                          <a:rPr lang="en-US" altLang="en-US" i="1">
                            <a:solidFill>
                              <a:srgbClr val="FF0000"/>
                            </a:solidFill>
                            <a:latin typeface="Cambria Math" panose="02040503050406030204" pitchFamily="18" charset="0"/>
                            <a:ea typeface="Cambria Math" panose="02040503050406030204" pitchFamily="18" charset="0"/>
                          </a:rPr>
                        </m:ctrlPr>
                      </m:sSubPr>
                      <m:e>
                        <m:r>
                          <a:rPr lang="en-US" altLang="en-US" i="1">
                            <a:solidFill>
                              <a:srgbClr val="FF0000"/>
                            </a:solidFill>
                            <a:latin typeface="Cambria Math" panose="02040503050406030204" pitchFamily="18" charset="0"/>
                            <a:ea typeface="Cambria Math" panose="02040503050406030204" pitchFamily="18" charset="0"/>
                          </a:rPr>
                          <m:t>𝑧</m:t>
                        </m:r>
                      </m:e>
                      <m:sub>
                        <m:r>
                          <a:rPr lang="en-US" altLang="en-US" i="1">
                            <a:solidFill>
                              <a:srgbClr val="FF0000"/>
                            </a:solidFill>
                            <a:latin typeface="Cambria Math" panose="02040503050406030204" pitchFamily="18" charset="0"/>
                            <a:ea typeface="Cambria Math" panose="02040503050406030204" pitchFamily="18" charset="0"/>
                          </a:rPr>
                          <m:t>(1+</m:t>
                        </m:r>
                        <m:r>
                          <a:rPr lang="en-US" altLang="en-US" i="1">
                            <a:solidFill>
                              <a:srgbClr val="FF0000"/>
                            </a:solidFill>
                            <a:latin typeface="Cambria Math" panose="02040503050406030204" pitchFamily="18" charset="0"/>
                            <a:ea typeface="Cambria Math" panose="02040503050406030204" pitchFamily="18" charset="0"/>
                          </a:rPr>
                          <m:t>𝑐</m:t>
                        </m:r>
                        <m:r>
                          <a:rPr lang="en-US" altLang="en-US" i="1">
                            <a:solidFill>
                              <a:srgbClr val="FF0000"/>
                            </a:solidFill>
                            <a:latin typeface="Cambria Math" panose="02040503050406030204" pitchFamily="18" charset="0"/>
                            <a:ea typeface="Cambria Math" panose="02040503050406030204" pitchFamily="18" charset="0"/>
                          </a:rPr>
                          <m:t>)/2</m:t>
                        </m:r>
                      </m:sub>
                    </m:sSub>
                  </m:oMath>
                </a14:m>
                <a:r>
                  <a:rPr lang="en-US" altLang="en-US" dirty="0">
                    <a:solidFill>
                      <a:srgbClr val="FF0000"/>
                    </a:solidFill>
                  </a:rPr>
                  <a:t> is the </a:t>
                </a:r>
                <a14:m>
                  <m:oMath xmlns:m="http://schemas.openxmlformats.org/officeDocument/2006/math">
                    <m:r>
                      <a:rPr lang="en-US" altLang="en-US">
                        <a:solidFill>
                          <a:srgbClr val="FF0000"/>
                        </a:solidFill>
                        <a:latin typeface="Cambria Math" panose="02040503050406030204" pitchFamily="18" charset="0"/>
                        <a:ea typeface="Cambria Math" panose="02040503050406030204" pitchFamily="18" charset="0"/>
                      </a:rPr>
                      <m:t>(</m:t>
                    </m:r>
                    <m:r>
                      <a:rPr lang="en-US" altLang="en-US" i="1">
                        <a:solidFill>
                          <a:srgbClr val="FF0000"/>
                        </a:solidFill>
                        <a:latin typeface="Cambria Math" panose="02040503050406030204" pitchFamily="18" charset="0"/>
                        <a:ea typeface="Cambria Math" panose="02040503050406030204" pitchFamily="18" charset="0"/>
                      </a:rPr>
                      <m:t>1+</m:t>
                    </m:r>
                    <m:r>
                      <a:rPr lang="en-US" altLang="en-US" i="1">
                        <a:solidFill>
                          <a:srgbClr val="FF0000"/>
                        </a:solidFill>
                        <a:latin typeface="Cambria Math" panose="02040503050406030204" pitchFamily="18" charset="0"/>
                        <a:ea typeface="Cambria Math" panose="02040503050406030204" pitchFamily="18" charset="0"/>
                      </a:rPr>
                      <m:t>𝐶</m:t>
                    </m:r>
                    <m:r>
                      <a:rPr lang="en-US" altLang="en-US" i="1">
                        <a:solidFill>
                          <a:srgbClr val="FF0000"/>
                        </a:solidFill>
                        <a:latin typeface="Cambria Math" panose="02040503050406030204" pitchFamily="18" charset="0"/>
                        <a:ea typeface="Cambria Math" panose="02040503050406030204" pitchFamily="18" charset="0"/>
                      </a:rPr>
                      <m:t>)/2</m:t>
                    </m:r>
                  </m:oMath>
                </a14:m>
                <a:r>
                  <a:rPr lang="en-US" altLang="en-US" dirty="0">
                    <a:solidFill>
                      <a:srgbClr val="FF0000"/>
                    </a:solidFill>
                  </a:rPr>
                  <a:t> quantile of the standard normal distribution</a:t>
                </a:r>
                <a:r>
                  <a:rPr lang="en-US" altLang="en-US" dirty="0">
                    <a:solidFill>
                      <a:srgbClr val="000000"/>
                    </a:solidFill>
                  </a:rPr>
                  <a:t>. If </a:t>
                </a:r>
                <a14:m>
                  <m:oMath xmlns:m="http://schemas.openxmlformats.org/officeDocument/2006/math">
                    <m:r>
                      <a:rPr lang="en-US" altLang="en-US" i="1" dirty="0">
                        <a:solidFill>
                          <a:srgbClr val="000000"/>
                        </a:solidFill>
                        <a:latin typeface="Cambria Math" panose="02040503050406030204" pitchFamily="18" charset="0"/>
                      </a:rPr>
                      <m:t>𝐶</m:t>
                    </m:r>
                  </m:oMath>
                </a14:m>
                <a:r>
                  <a:rPr lang="en-US" altLang="en-US" dirty="0">
                    <a:solidFill>
                      <a:srgbClr val="000000"/>
                    </a:solidFill>
                  </a:rPr>
                  <a:t> are 90%, 95%, and 99%, </a:t>
                </a:r>
                <a:r>
                  <a:rPr lang="en-US" altLang="zh-CN" dirty="0">
                    <a:solidFill>
                      <a:srgbClr val="000000"/>
                    </a:solidFill>
                  </a:rPr>
                  <a:t>corresponding values of </a:t>
                </a:r>
                <a14:m>
                  <m:oMath xmlns:m="http://schemas.openxmlformats.org/officeDocument/2006/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oMath>
                </a14:m>
                <a:r>
                  <a:rPr lang="en-US" altLang="en-US" dirty="0">
                    <a:solidFill>
                      <a:srgbClr val="000000"/>
                    </a:solidFill>
                  </a:rPr>
                  <a:t> are about 1.64, 1.96, and 2.58, respectively.</a:t>
                </a:r>
              </a:p>
            </p:txBody>
          </p:sp>
        </mc:Choice>
        <mc:Fallback xmlns="">
          <p:sp>
            <p:nvSpPr>
              <p:cNvPr id="13" name="TextBox 12"/>
              <p:cNvSpPr txBox="1">
                <a:spLocks noRot="1" noChangeAspect="1" noMove="1" noResize="1" noEditPoints="1" noAdjustHandles="1" noChangeArrowheads="1" noChangeShapeType="1" noTextEdit="1"/>
              </p:cNvSpPr>
              <p:nvPr/>
            </p:nvSpPr>
            <p:spPr bwMode="auto">
              <a:xfrm>
                <a:off x="571500" y="1086238"/>
                <a:ext cx="7375525" cy="3797386"/>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a:spLocks noChangeArrowheads="1"/>
              </p:cNvSpPr>
              <p:nvPr/>
            </p:nvSpPr>
            <p:spPr bwMode="auto">
              <a:xfrm>
                <a:off x="309955" y="5037897"/>
                <a:ext cx="8321675" cy="135299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rgbClr val="FF0000"/>
                    </a:solidFill>
                  </a:rPr>
                  <a:t>Standard error</a:t>
                </a:r>
                <a:r>
                  <a:rPr lang="en-US" altLang="en-US" dirty="0">
                    <a:solidFill>
                      <a:schemeClr val="tx1"/>
                    </a:solidFill>
                  </a:rPr>
                  <a:t>: The standard deviation of the sampling distribution of an estimator.</a:t>
                </a:r>
              </a:p>
              <a:p>
                <a:pPr eaLnBrk="1" hangingPunct="1"/>
                <a:r>
                  <a:rPr lang="en-US" altLang="en-US" dirty="0">
                    <a:solidFill>
                      <a:srgbClr val="FF0000"/>
                    </a:solidFill>
                  </a:rPr>
                  <a:t>Margin of error</a:t>
                </a:r>
                <a:r>
                  <a:rPr lang="en-US" altLang="en-US" dirty="0">
                    <a:solidFill>
                      <a:schemeClr val="tx1"/>
                    </a:solidFill>
                  </a:rPr>
                  <a:t>: For Wald CI, the margin of error is </a:t>
                </a:r>
              </a:p>
              <a:p>
                <a:pPr algn="ctr" eaLnBrk="1" hangingPunct="1"/>
                <a14:m>
                  <m:oMath xmlns:m="http://schemas.openxmlformats.org/officeDocument/2006/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r>
                      <a:rPr lang="en-US" altLang="en-US" i="1" dirty="0">
                        <a:solidFill>
                          <a:schemeClr val="tx1"/>
                        </a:solidFill>
                        <a:latin typeface="Cambria Math" panose="02040503050406030204" pitchFamily="18" charset="0"/>
                      </a:rPr>
                      <m:t>×</m:t>
                    </m:r>
                  </m:oMath>
                </a14:m>
                <a:r>
                  <a:rPr lang="en-US" altLang="en-US" dirty="0">
                    <a:solidFill>
                      <a:schemeClr val="tx1"/>
                    </a:solidFill>
                  </a:rPr>
                  <a:t> standard error of the estimator</a:t>
                </a:r>
                <a:endParaRPr lang="en-US" altLang="en-US" dirty="0">
                  <a:solidFill>
                    <a:srgbClr val="00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bwMode="auto">
              <a:xfrm>
                <a:off x="309955" y="5037897"/>
                <a:ext cx="8321675" cy="1352999"/>
              </a:xfrm>
              <a:prstGeom prst="rect">
                <a:avLst/>
              </a:prstGeom>
              <a:blipFill>
                <a:blip r:embed="rId4"/>
                <a:stretch>
                  <a:fillRect l="-806" t="-1802" r="-806" b="-49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915" name="Rectangle 2"/>
              <p:cNvSpPr>
                <a:spLocks noGrp="1" noChangeArrowheads="1"/>
              </p:cNvSpPr>
              <p:nvPr>
                <p:ph type="title"/>
              </p:nvPr>
            </p:nvSpPr>
            <p:spPr>
              <a:xfrm>
                <a:off x="174624" y="156604"/>
                <a:ext cx="8081963" cy="731044"/>
              </a:xfrm>
            </p:spPr>
            <p:txBody>
              <a:bodyPr/>
              <a:lstStyle/>
              <a:p>
                <a:pPr eaLnBrk="1" hangingPunct="1">
                  <a:lnSpc>
                    <a:spcPct val="90000"/>
                  </a:lnSpc>
                </a:pPr>
                <a:r>
                  <a:rPr lang="en-US" altLang="en-US" dirty="0">
                    <a:ea typeface="ＭＳ Ｐゴシック" pitchFamily="34" charset="-128"/>
                  </a:rPr>
                  <a:t>Confidence Interval for </a:t>
                </a:r>
                <a14:m>
                  <m:oMath xmlns:m="http://schemas.openxmlformats.org/officeDocument/2006/math">
                    <m:r>
                      <a:rPr lang="en-US" altLang="en-US" b="0" i="1" smtClean="0">
                        <a:latin typeface="Cambria Math" panose="02040503050406030204" pitchFamily="18" charset="0"/>
                        <a:ea typeface="ＭＳ Ｐゴシック" pitchFamily="34" charset="-128"/>
                      </a:rPr>
                      <m:t>𝜇</m:t>
                    </m:r>
                  </m:oMath>
                </a14:m>
                <a:r>
                  <a:rPr lang="en-US" altLang="en-US" sz="2400" dirty="0">
                    <a:solidFill>
                      <a:srgbClr val="33CCFF"/>
                    </a:solidFill>
                    <a:ea typeface="ＭＳ Ｐゴシック" pitchFamily="34" charset="-128"/>
                  </a:rPr>
                  <a:t> </a:t>
                </a:r>
                <a:r>
                  <a:rPr lang="en-US" altLang="en-US" dirty="0">
                    <a:ea typeface="ＭＳ Ｐゴシック" pitchFamily="34" charset="-128"/>
                  </a:rPr>
                  <a:t>with Known </a:t>
                </a:r>
                <a14:m>
                  <m:oMath xmlns:m="http://schemas.openxmlformats.org/officeDocument/2006/math">
                    <m:r>
                      <a:rPr lang="en-US" altLang="en-US" b="0" i="1" smtClean="0">
                        <a:latin typeface="Cambria Math" panose="02040503050406030204" pitchFamily="18" charset="0"/>
                        <a:ea typeface="ＭＳ Ｐゴシック" pitchFamily="34" charset="-128"/>
                      </a:rPr>
                      <m:t>𝜎</m:t>
                    </m:r>
                  </m:oMath>
                </a14:m>
                <a:endParaRPr lang="en-US" altLang="en-US" dirty="0">
                  <a:ea typeface="ＭＳ Ｐゴシック" pitchFamily="34" charset="-128"/>
                </a:endParaRPr>
              </a:p>
            </p:txBody>
          </p:sp>
        </mc:Choice>
        <mc:Fallback xmlns="">
          <p:sp>
            <p:nvSpPr>
              <p:cNvPr id="38915" name="Rectangle 2"/>
              <p:cNvSpPr>
                <a:spLocks noGrp="1" noRot="1" noChangeAspect="1" noMove="1" noResize="1" noEditPoints="1" noAdjustHandles="1" noChangeArrowheads="1" noChangeShapeType="1" noTextEdit="1"/>
              </p:cNvSpPr>
              <p:nvPr>
                <p:ph type="title"/>
              </p:nvPr>
            </p:nvSpPr>
            <p:spPr>
              <a:xfrm>
                <a:off x="174624" y="156604"/>
                <a:ext cx="8081963" cy="731044"/>
              </a:xfrm>
              <a:blipFill>
                <a:blip r:embed="rId3"/>
                <a:stretch>
                  <a:fillRect l="-2340" t="-833" b="-31667"/>
                </a:stretch>
              </a:blipFill>
            </p:spPr>
            <p:txBody>
              <a:bodyPr/>
              <a:lstStyle/>
              <a:p>
                <a:r>
                  <a:rPr lang="en-US">
                    <a:noFill/>
                  </a:rPr>
                  <a:t> </a:t>
                </a:r>
              </a:p>
            </p:txBody>
          </p:sp>
        </mc:Fallback>
      </mc:AlternateContent>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F626F404-530C-49F4-B6EE-113BBF8D89B4}" type="slidenum">
              <a:rPr lang="en-US" altLang="en-US" sz="1200">
                <a:solidFill>
                  <a:schemeClr val="accent1"/>
                </a:solidFill>
              </a:rPr>
              <a:pPr>
                <a:lnSpc>
                  <a:spcPct val="80000"/>
                </a:lnSpc>
              </a:pPr>
              <a:t>10</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5" name="TextBox 5"/>
              <p:cNvSpPr txBox="1">
                <a:spLocks noChangeArrowheads="1"/>
              </p:cNvSpPr>
              <p:nvPr/>
            </p:nvSpPr>
            <p:spPr bwMode="auto">
              <a:xfrm>
                <a:off x="427831" y="1270910"/>
                <a:ext cx="8081963" cy="923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Recall the normal example. A 95% CI for </a:t>
                </a:r>
                <a14:m>
                  <m:oMath xmlns:m="http://schemas.openxmlformats.org/officeDocument/2006/math">
                    <m:r>
                      <a:rPr lang="en-US" altLang="en-US" sz="1800" b="0" i="1" dirty="0" smtClean="0">
                        <a:solidFill>
                          <a:schemeClr val="tx1"/>
                        </a:solidFill>
                        <a:latin typeface="Cambria Math" panose="02040503050406030204" pitchFamily="18" charset="0"/>
                      </a:rPr>
                      <m:t>𝜇</m:t>
                    </m:r>
                  </m:oMath>
                </a14:m>
                <a:r>
                  <a:rPr lang="en-US" altLang="en-US" sz="1800" dirty="0">
                    <a:solidFill>
                      <a:schemeClr val="tx1"/>
                    </a:solidFill>
                  </a:rPr>
                  <a:t> is given by:</a:t>
                </a:r>
              </a:p>
              <a:p>
                <a:pPr algn="ctr" eaLnBrk="1" hangingPunct="1"/>
                <a14:m>
                  <m:oMath xmlns:m="http://schemas.openxmlformats.org/officeDocument/2006/math">
                    <m:acc>
                      <m:accPr>
                        <m:chr m:val="̅"/>
                        <m:ctrlPr>
                          <a:rPr lang="en-US" altLang="en-US" sz="1800" i="1" dirty="0">
                            <a:solidFill>
                              <a:schemeClr val="tx1"/>
                            </a:solidFill>
                            <a:latin typeface="Cambria Math" panose="02040503050406030204" pitchFamily="18" charset="0"/>
                          </a:rPr>
                        </m:ctrlPr>
                      </m:accPr>
                      <m:e>
                        <m:r>
                          <a:rPr lang="en-US" altLang="en-US" sz="1800" i="1" dirty="0">
                            <a:solidFill>
                              <a:schemeClr val="tx1"/>
                            </a:solidFill>
                            <a:latin typeface="Cambria Math" panose="02040503050406030204" pitchFamily="18" charset="0"/>
                          </a:rPr>
                          <m:t>𝑥</m:t>
                        </m:r>
                      </m:e>
                    </m:acc>
                    <m:r>
                      <a:rPr lang="en-US" altLang="en-US" sz="1800" b="0" i="1" dirty="0" smtClean="0">
                        <a:solidFill>
                          <a:schemeClr val="tx1"/>
                        </a:solidFill>
                        <a:latin typeface="Cambria Math" panose="02040503050406030204" pitchFamily="18" charset="0"/>
                      </a:rPr>
                      <m:t>±2×</m:t>
                    </m:r>
                  </m:oMath>
                </a14:m>
                <a:r>
                  <a:rPr lang="en-US" altLang="en-US" sz="1800" dirty="0">
                    <a:solidFill>
                      <a:schemeClr val="tx1"/>
                    </a:solidFill>
                  </a:rPr>
                  <a:t> (standard error of </a:t>
                </a:r>
                <a14:m>
                  <m:oMath xmlns:m="http://schemas.openxmlformats.org/officeDocument/2006/math">
                    <m:acc>
                      <m:accPr>
                        <m:chr m:val="̅"/>
                        <m:ctrlPr>
                          <a:rPr lang="en-US" altLang="en-US" sz="1800" i="1" dirty="0">
                            <a:solidFill>
                              <a:schemeClr val="tx1"/>
                            </a:solidFill>
                            <a:latin typeface="Cambria Math" panose="02040503050406030204" pitchFamily="18" charset="0"/>
                          </a:rPr>
                        </m:ctrlPr>
                      </m:accPr>
                      <m:e>
                        <m:r>
                          <a:rPr lang="en-US" altLang="en-US" sz="1800" i="1" dirty="0">
                            <a:solidFill>
                              <a:schemeClr val="tx1"/>
                            </a:solidFill>
                            <a:latin typeface="Cambria Math" panose="02040503050406030204" pitchFamily="18" charset="0"/>
                          </a:rPr>
                          <m:t>𝑥</m:t>
                        </m:r>
                      </m:e>
                    </m:acc>
                  </m:oMath>
                </a14:m>
                <a:r>
                  <a:rPr lang="en-US" altLang="en-US" sz="1800" dirty="0">
                    <a:solidFill>
                      <a:schemeClr val="tx1"/>
                    </a:solidFill>
                  </a:rPr>
                  <a:t>)</a:t>
                </a:r>
              </a:p>
              <a:p>
                <a:pPr eaLnBrk="1" hangingPunct="1"/>
                <a:r>
                  <a:rPr lang="en-US" altLang="en-US" sz="1800" dirty="0">
                    <a:solidFill>
                      <a:schemeClr val="tx1"/>
                    </a:solidFill>
                  </a:rPr>
                  <a:t>which may be further genderized.</a:t>
                </a:r>
              </a:p>
            </p:txBody>
          </p:sp>
        </mc:Choice>
        <mc:Fallback xmlns="">
          <p:sp>
            <p:nvSpPr>
              <p:cNvPr id="5" name="TextBox 5"/>
              <p:cNvSpPr txBox="1">
                <a:spLocks noRot="1" noChangeAspect="1" noMove="1" noResize="1" noEditPoints="1" noAdjustHandles="1" noChangeArrowheads="1" noChangeShapeType="1" noTextEdit="1"/>
              </p:cNvSpPr>
              <p:nvPr/>
            </p:nvSpPr>
            <p:spPr bwMode="auto">
              <a:xfrm>
                <a:off x="427831" y="1270910"/>
                <a:ext cx="8081963" cy="923330"/>
              </a:xfrm>
              <a:prstGeom prst="rect">
                <a:avLst/>
              </a:prstGeom>
              <a:blipFill>
                <a:blip r:embed="rId4"/>
                <a:stretch>
                  <a:fillRect l="-603" t="-3289" b="-92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Group 9" descr="Confidence Interval for the Mean of a Normal Population"/>
          <p:cNvGrpSpPr>
            <a:grpSpLocks/>
          </p:cNvGrpSpPr>
          <p:nvPr/>
        </p:nvGrpSpPr>
        <p:grpSpPr bwMode="auto">
          <a:xfrm>
            <a:off x="637968" y="2413695"/>
            <a:ext cx="7754938" cy="2073135"/>
            <a:chOff x="460104" y="2761541"/>
            <a:chExt cx="7754947" cy="1896021"/>
          </a:xfrm>
        </p:grpSpPr>
        <p:sp>
          <p:nvSpPr>
            <p:cNvPr id="10" name="TextBox 9"/>
            <p:cNvSpPr txBox="1">
              <a:spLocks noChangeArrowheads="1"/>
            </p:cNvSpPr>
            <p:nvPr/>
          </p:nvSpPr>
          <p:spPr bwMode="auto">
            <a:xfrm>
              <a:off x="1123034" y="2761541"/>
              <a:ext cx="6429088" cy="281483"/>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wrap="square">
              <a:spAutoFit/>
            </a:bodyPr>
            <a:lstStyle/>
            <a:p>
              <a:pPr algn="ctr" eaLnBrk="1" hangingPunct="1">
                <a:defRPr/>
              </a:pPr>
              <a:r>
                <a:rPr lang="en-US" sz="1400" b="1" dirty="0">
                  <a:latin typeface="+mn-lt"/>
                  <a:ea typeface="ＭＳ Ｐゴシック" charset="-128"/>
                  <a:cs typeface="ＭＳ Ｐゴシック" charset="-128"/>
                </a:rPr>
                <a:t>CI for the Mean of a Normal Population with Known Standard Deviation</a:t>
              </a:r>
            </a:p>
          </p:txBody>
        </p:sp>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460104" y="3052115"/>
                  <a:ext cx="7754947" cy="160544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800" dirty="0">
                      <a:solidFill>
                        <a:srgbClr val="000000"/>
                      </a:solidFill>
                    </a:rPr>
                    <a:t>Choose an SRS of size </a:t>
                  </a:r>
                  <a:r>
                    <a:rPr lang="en-US" altLang="en-US" sz="1800" i="1" dirty="0">
                      <a:solidFill>
                        <a:srgbClr val="000000"/>
                      </a:solidFill>
                    </a:rPr>
                    <a:t>n</a:t>
                  </a:r>
                  <a:r>
                    <a:rPr lang="en-US" altLang="en-US" sz="1800" dirty="0">
                      <a:solidFill>
                        <a:srgbClr val="000000"/>
                      </a:solidFill>
                    </a:rPr>
                    <a:t> from a population having unknown population mean </a:t>
                  </a:r>
                  <a:r>
                    <a:rPr lang="en-US" altLang="en-US" sz="1800" i="1" dirty="0">
                      <a:solidFill>
                        <a:srgbClr val="000000"/>
                      </a:solidFill>
                    </a:rPr>
                    <a:t>µ</a:t>
                  </a:r>
                  <a:r>
                    <a:rPr lang="en-US" altLang="en-US" sz="1800" dirty="0">
                      <a:solidFill>
                        <a:srgbClr val="000000"/>
                      </a:solidFill>
                    </a:rPr>
                    <a:t> and </a:t>
                  </a:r>
                  <a:r>
                    <a:rPr lang="en-US" altLang="en-US" sz="1800" dirty="0">
                      <a:solidFill>
                        <a:srgbClr val="FF0000"/>
                      </a:solidFill>
                    </a:rPr>
                    <a:t>known population standard deviation </a:t>
                  </a:r>
                  <a:r>
                    <a:rPr lang="en-US" altLang="en-US" sz="1800" i="1" dirty="0">
                      <a:solidFill>
                        <a:srgbClr val="FF0000"/>
                      </a:solidFill>
                    </a:rPr>
                    <a:t>σ</a:t>
                  </a:r>
                  <a:r>
                    <a:rPr lang="en-US" altLang="en-US" sz="1800" dirty="0">
                      <a:solidFill>
                        <a:srgbClr val="000000"/>
                      </a:solidFill>
                    </a:rPr>
                    <a:t>. With confidence level </a:t>
                  </a:r>
                  <a:r>
                    <a:rPr lang="en-US" altLang="en-US" sz="1800" i="1" dirty="0">
                      <a:solidFill>
                        <a:srgbClr val="000000"/>
                      </a:solidFill>
                    </a:rPr>
                    <a:t>C</a:t>
                  </a:r>
                  <a:r>
                    <a:rPr lang="en-US" altLang="en-US" sz="1800" dirty="0">
                      <a:solidFill>
                        <a:srgbClr val="000000"/>
                      </a:solidFill>
                    </a:rPr>
                    <a:t>, a CI</a:t>
                  </a:r>
                  <a:r>
                    <a:rPr lang="en-US" altLang="en-US" sz="1800" b="1" dirty="0">
                      <a:solidFill>
                        <a:srgbClr val="800000"/>
                      </a:solidFill>
                    </a:rPr>
                    <a:t> </a:t>
                  </a:r>
                  <a:r>
                    <a:rPr lang="en-US" altLang="en-US" sz="1800" dirty="0">
                      <a:solidFill>
                        <a:schemeClr val="tx1"/>
                      </a:solidFill>
                    </a:rPr>
                    <a:t>for </a:t>
                  </a:r>
                  <a14:m>
                    <m:oMath xmlns:m="http://schemas.openxmlformats.org/officeDocument/2006/math">
                      <m:r>
                        <a:rPr lang="en-US" altLang="en-US" sz="1800" i="1" dirty="0">
                          <a:solidFill>
                            <a:schemeClr val="tx1"/>
                          </a:solidFill>
                          <a:latin typeface="Cambria Math" panose="02040503050406030204" pitchFamily="18" charset="0"/>
                        </a:rPr>
                        <m:t>𝜇</m:t>
                      </m:r>
                    </m:oMath>
                  </a14:m>
                  <a:r>
                    <a:rPr lang="en-US" altLang="en-US" sz="1800" dirty="0">
                      <a:solidFill>
                        <a:schemeClr val="tx1"/>
                      </a:solidFill>
                    </a:rPr>
                    <a:t> </a:t>
                  </a:r>
                  <a:r>
                    <a:rPr lang="en-US" altLang="en-US" sz="1800" dirty="0">
                      <a:solidFill>
                        <a:srgbClr val="000000"/>
                      </a:solidFill>
                    </a:rPr>
                    <a:t>is </a:t>
                  </a:r>
                </a:p>
                <a:p>
                  <a:pPr eaLnBrk="1" hangingPunct="1">
                    <a:spcBef>
                      <a:spcPct val="0"/>
                    </a:spcBef>
                    <a:spcAft>
                      <a:spcPts val="1200"/>
                    </a:spcAft>
                    <a:buClrTx/>
                    <a:buSzTx/>
                    <a:buFontTx/>
                    <a:buNone/>
                    <a:defRPr/>
                  </a:pPr>
                  <a14:m>
                    <m:oMathPara xmlns:m="http://schemas.openxmlformats.org/officeDocument/2006/math">
                      <m:oMath>
                        <m:acc>
                          <m:accPr>
                            <m:chr m:val="̅"/>
                            <m:ctrlPr>
                              <a:rPr lang="en-US" altLang="en-US" sz="1800" b="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𝑥</m:t>
                            </m:r>
                          </m:e>
                        </m:acc>
                        <m:r>
                          <a:rPr lang="en-US" altLang="en-US" sz="1800" i="1" smtClean="0">
                            <a:solidFill>
                              <a:srgbClr val="000000"/>
                            </a:solidFill>
                            <a:latin typeface="Cambria Math" panose="02040503050406030204" pitchFamily="18" charset="0"/>
                            <a:ea typeface="Cambria Math" panose="02040503050406030204" pitchFamily="18" charset="0"/>
                          </a:rPr>
                          <m:t>±</m:t>
                        </m:r>
                        <m:sSub>
                          <m:sSubPr>
                            <m:ctrlPr>
                              <a:rPr lang="en-US" altLang="en-US" sz="1800" b="0" i="1" smtClean="0">
                                <a:solidFill>
                                  <a:srgbClr val="000000"/>
                                </a:solidFill>
                                <a:latin typeface="Cambria Math" panose="02040503050406030204" pitchFamily="18" charset="0"/>
                                <a:ea typeface="Cambria Math" panose="02040503050406030204" pitchFamily="18" charset="0"/>
                              </a:rPr>
                            </m:ctrlPr>
                          </m:sSubPr>
                          <m:e>
                            <m:r>
                              <a:rPr lang="en-US" altLang="en-US" sz="1800" b="0" i="1" smtClean="0">
                                <a:solidFill>
                                  <a:srgbClr val="000000"/>
                                </a:solidFill>
                                <a:latin typeface="Cambria Math" panose="02040503050406030204" pitchFamily="18" charset="0"/>
                                <a:ea typeface="Cambria Math" panose="02040503050406030204" pitchFamily="18" charset="0"/>
                              </a:rPr>
                              <m:t>𝑧</m:t>
                            </m:r>
                          </m:e>
                          <m:sub>
                            <m:r>
                              <a:rPr lang="en-US" altLang="en-US" sz="1800" b="0" i="1" smtClean="0">
                                <a:solidFill>
                                  <a:srgbClr val="000000"/>
                                </a:solidFill>
                                <a:latin typeface="Cambria Math" panose="02040503050406030204" pitchFamily="18" charset="0"/>
                                <a:ea typeface="Cambria Math" panose="02040503050406030204" pitchFamily="18" charset="0"/>
                              </a:rPr>
                              <m:t>(1+</m:t>
                            </m:r>
                            <m:r>
                              <a:rPr lang="en-US" altLang="en-US" sz="1800" b="0" i="1" smtClean="0">
                                <a:solidFill>
                                  <a:srgbClr val="000000"/>
                                </a:solidFill>
                                <a:latin typeface="Cambria Math" panose="02040503050406030204" pitchFamily="18" charset="0"/>
                                <a:ea typeface="Cambria Math" panose="02040503050406030204" pitchFamily="18" charset="0"/>
                              </a:rPr>
                              <m:t>𝑐</m:t>
                            </m:r>
                            <m:r>
                              <a:rPr lang="en-US" altLang="en-US" sz="1800" b="0" i="1" smtClean="0">
                                <a:solidFill>
                                  <a:srgbClr val="000000"/>
                                </a:solidFill>
                                <a:latin typeface="Cambria Math" panose="02040503050406030204" pitchFamily="18" charset="0"/>
                                <a:ea typeface="Cambria Math" panose="02040503050406030204" pitchFamily="18" charset="0"/>
                              </a:rPr>
                              <m:t>)/2</m:t>
                            </m:r>
                          </m:sub>
                        </m:sSub>
                        <m:r>
                          <a:rPr lang="en-US" altLang="en-US" sz="1800" b="0" i="1" smtClean="0">
                            <a:solidFill>
                              <a:srgbClr val="000000"/>
                            </a:solidFill>
                            <a:latin typeface="Cambria Math" panose="02040503050406030204" pitchFamily="18" charset="0"/>
                            <a:ea typeface="Cambria Math" panose="02040503050406030204" pitchFamily="18" charset="0"/>
                          </a:rPr>
                          <m:t>×</m:t>
                        </m:r>
                        <m:f>
                          <m:fPr>
                            <m:ctrlPr>
                              <a:rPr lang="en-US" altLang="en-US" sz="1800" i="1" smtClean="0">
                                <a:solidFill>
                                  <a:srgbClr val="000000"/>
                                </a:solidFill>
                                <a:latin typeface="Cambria Math" panose="02040503050406030204" pitchFamily="18" charset="0"/>
                                <a:ea typeface="Cambria Math" panose="02040503050406030204" pitchFamily="18" charset="0"/>
                              </a:rPr>
                            </m:ctrlPr>
                          </m:fPr>
                          <m:num>
                            <m:r>
                              <a:rPr lang="en-US" altLang="en-US" sz="1800"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altLang="en-US" sz="1800" i="1" smtClean="0">
                                    <a:solidFill>
                                      <a:srgbClr val="000000"/>
                                    </a:solidFill>
                                    <a:latin typeface="Cambria Math" panose="02040503050406030204" pitchFamily="18" charset="0"/>
                                    <a:ea typeface="Cambria Math" panose="02040503050406030204" pitchFamily="18" charset="0"/>
                                  </a:rPr>
                                </m:ctrlPr>
                              </m:radPr>
                              <m:deg/>
                              <m:e>
                                <m:r>
                                  <a:rPr lang="en-US" altLang="en-US" sz="1800" b="0" i="1" smtClean="0">
                                    <a:solidFill>
                                      <a:srgbClr val="000000"/>
                                    </a:solidFill>
                                    <a:latin typeface="Cambria Math" panose="02040503050406030204" pitchFamily="18" charset="0"/>
                                    <a:ea typeface="Cambria Math" panose="02040503050406030204" pitchFamily="18" charset="0"/>
                                  </a:rPr>
                                  <m:t>𝑛</m:t>
                                </m:r>
                              </m:e>
                            </m:rad>
                          </m:den>
                        </m:f>
                      </m:oMath>
                    </m:oMathPara>
                  </a14:m>
                  <a:endParaRPr lang="en-US" altLang="en-US" sz="1800" dirty="0">
                    <a:solidFill>
                      <a:srgbClr val="00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460104" y="3052115"/>
                  <a:ext cx="7754947" cy="1605447"/>
                </a:xfrm>
                <a:prstGeom prst="rect">
                  <a:avLst/>
                </a:prstGeom>
                <a:blipFill>
                  <a:blip r:embed="rId5"/>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DFA77AF-6638-DF84-03E0-A305EC1A2B32}"/>
                  </a:ext>
                </a:extLst>
              </p:cNvPr>
              <p:cNvSpPr txBox="1">
                <a:spLocks noChangeArrowheads="1"/>
              </p:cNvSpPr>
              <p:nvPr/>
            </p:nvSpPr>
            <p:spPr bwMode="auto">
              <a:xfrm>
                <a:off x="427831" y="4767247"/>
                <a:ext cx="7754938" cy="12808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zh-CN" dirty="0">
                    <a:solidFill>
                      <a:schemeClr val="tx1"/>
                    </a:solidFill>
                  </a:rPr>
                  <a:t>For this setting, </a:t>
                </a:r>
              </a:p>
              <a:p>
                <a:pPr eaLnBrk="1" hangingPunct="1"/>
                <a:r>
                  <a:rPr lang="en-US" altLang="en-US" dirty="0">
                    <a:solidFill>
                      <a:schemeClr val="tx1"/>
                    </a:solidFill>
                  </a:rPr>
                  <a:t>standard error of </a:t>
                </a:r>
                <a14:m>
                  <m:oMath xmlns:m="http://schemas.openxmlformats.org/officeDocument/2006/math">
                    <m:acc>
                      <m:accPr>
                        <m:chr m:val="̅"/>
                        <m:ctrlPr>
                          <a:rPr lang="en-US" altLang="en-US" i="1" dirty="0">
                            <a:solidFill>
                              <a:schemeClr val="tx1"/>
                            </a:solidFill>
                            <a:latin typeface="Cambria Math" panose="02040503050406030204" pitchFamily="18" charset="0"/>
                          </a:rPr>
                        </m:ctrlPr>
                      </m:accPr>
                      <m:e>
                        <m:r>
                          <a:rPr lang="en-US" altLang="en-US" i="1" dirty="0">
                            <a:solidFill>
                              <a:schemeClr val="tx1"/>
                            </a:solidFill>
                            <a:latin typeface="Cambria Math" panose="02040503050406030204" pitchFamily="18" charset="0"/>
                          </a:rPr>
                          <m:t>𝑥</m:t>
                        </m:r>
                      </m:e>
                    </m:acc>
                  </m:oMath>
                </a14:m>
                <a:r>
                  <a:rPr lang="en-US" altLang="en-US" dirty="0">
                    <a:solidFill>
                      <a:schemeClr val="tx1"/>
                    </a:solidFill>
                  </a:rPr>
                  <a:t> is </a:t>
                </a:r>
                <a14:m>
                  <m:oMath xmlns:m="http://schemas.openxmlformats.org/officeDocument/2006/math">
                    <m:f>
                      <m:fPr>
                        <m:ctrlPr>
                          <a:rPr lang="en-US" altLang="en-US" b="0" i="1" smtClean="0">
                            <a:solidFill>
                              <a:schemeClr val="tx1"/>
                            </a:solidFill>
                            <a:latin typeface="Cambria Math" panose="02040503050406030204" pitchFamily="18" charset="0"/>
                          </a:rPr>
                        </m:ctrlPr>
                      </m:fPr>
                      <m:num>
                        <m:r>
                          <a:rPr lang="en-US" altLang="en-US" b="0" i="1" smtClean="0">
                            <a:solidFill>
                              <a:schemeClr val="tx1"/>
                            </a:solidFill>
                            <a:latin typeface="Cambria Math" panose="02040503050406030204" pitchFamily="18" charset="0"/>
                          </a:rPr>
                          <m:t>𝜎</m:t>
                        </m:r>
                      </m:num>
                      <m:den>
                        <m:rad>
                          <m:radPr>
                            <m:degHide m:val="on"/>
                            <m:ctrlPr>
                              <a:rPr lang="en-US" altLang="en-US" b="0" i="1" smtClean="0">
                                <a:solidFill>
                                  <a:schemeClr val="tx1"/>
                                </a:solidFill>
                                <a:latin typeface="Cambria Math" panose="02040503050406030204" pitchFamily="18" charset="0"/>
                              </a:rPr>
                            </m:ctrlPr>
                          </m:radPr>
                          <m:deg/>
                          <m:e>
                            <m:r>
                              <a:rPr lang="en-US" altLang="en-US" b="0" i="1" smtClean="0">
                                <a:solidFill>
                                  <a:schemeClr val="tx1"/>
                                </a:solidFill>
                                <a:latin typeface="Cambria Math" panose="02040503050406030204" pitchFamily="18" charset="0"/>
                              </a:rPr>
                              <m:t>𝑛</m:t>
                            </m:r>
                          </m:e>
                        </m:rad>
                      </m:den>
                    </m:f>
                  </m:oMath>
                </a14:m>
                <a:r>
                  <a:rPr lang="en-US" altLang="en-US" dirty="0">
                    <a:solidFill>
                      <a:schemeClr val="tx1"/>
                    </a:solidFill>
                  </a:rPr>
                  <a:t>, and</a:t>
                </a:r>
              </a:p>
              <a:p>
                <a:pPr eaLnBrk="1" hangingPunct="1"/>
                <a:r>
                  <a:rPr lang="en-US" altLang="en-US" dirty="0">
                    <a:solidFill>
                      <a:schemeClr val="tx1"/>
                    </a:solidFill>
                  </a:rPr>
                  <a:t>the margin of error is </a:t>
                </a:r>
                <a14:m>
                  <m:oMath xmlns:m="http://schemas.openxmlformats.org/officeDocument/2006/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r>
                      <a:rPr lang="en-US" altLang="en-US" i="1">
                        <a:solidFill>
                          <a:srgbClr val="000000"/>
                        </a:solidFill>
                        <a:latin typeface="Cambria Math" panose="02040503050406030204" pitchFamily="18" charset="0"/>
                        <a:ea typeface="Cambria Math" panose="02040503050406030204" pitchFamily="18" charset="0"/>
                      </a:rPr>
                      <m:t>×</m:t>
                    </m:r>
                    <m:f>
                      <m:fPr>
                        <m:ctrlPr>
                          <a:rPr lang="en-US" altLang="en-US" i="1">
                            <a:solidFill>
                              <a:srgbClr val="000000"/>
                            </a:solidFill>
                            <a:latin typeface="Cambria Math" panose="02040503050406030204" pitchFamily="18" charset="0"/>
                            <a:ea typeface="Cambria Math" panose="02040503050406030204" pitchFamily="18" charset="0"/>
                          </a:rPr>
                        </m:ctrlPr>
                      </m:fPr>
                      <m:num>
                        <m:r>
                          <a:rPr lang="en-US" altLang="en-US" i="1">
                            <a:solidFill>
                              <a:srgbClr val="000000"/>
                            </a:solidFill>
                            <a:latin typeface="Cambria Math" panose="02040503050406030204" pitchFamily="18" charset="0"/>
                            <a:ea typeface="Cambria Math" panose="02040503050406030204" pitchFamily="18" charset="0"/>
                          </a:rPr>
                          <m:t>𝜎</m:t>
                        </m:r>
                      </m:num>
                      <m:den>
                        <m:rad>
                          <m:radPr>
                            <m:degHide m:val="on"/>
                            <m:ctrlPr>
                              <a:rPr lang="en-US" altLang="en-US" i="1">
                                <a:solidFill>
                                  <a:srgbClr val="000000"/>
                                </a:solidFill>
                                <a:latin typeface="Cambria Math" panose="02040503050406030204" pitchFamily="18" charset="0"/>
                                <a:ea typeface="Cambria Math" panose="02040503050406030204" pitchFamily="18" charset="0"/>
                              </a:rPr>
                            </m:ctrlPr>
                          </m:radPr>
                          <m:deg/>
                          <m:e>
                            <m:r>
                              <a:rPr lang="en-US" altLang="en-US" i="1">
                                <a:solidFill>
                                  <a:srgbClr val="000000"/>
                                </a:solidFill>
                                <a:latin typeface="Cambria Math" panose="02040503050406030204" pitchFamily="18" charset="0"/>
                                <a:ea typeface="Cambria Math" panose="02040503050406030204" pitchFamily="18" charset="0"/>
                              </a:rPr>
                              <m:t>𝑛</m:t>
                            </m:r>
                          </m:e>
                        </m:rad>
                      </m:den>
                    </m:f>
                  </m:oMath>
                </a14:m>
                <a:r>
                  <a:rPr lang="en-US" altLang="en-US" dirty="0">
                    <a:solidFill>
                      <a:schemeClr val="tx1"/>
                    </a:solidFill>
                  </a:rPr>
                  <a:t>.</a:t>
                </a:r>
              </a:p>
            </p:txBody>
          </p:sp>
        </mc:Choice>
        <mc:Fallback xmlns="">
          <p:sp>
            <p:nvSpPr>
              <p:cNvPr id="3" name="TextBox 2">
                <a:extLst>
                  <a:ext uri="{FF2B5EF4-FFF2-40B4-BE49-F238E27FC236}">
                    <a16:creationId xmlns:a16="http://schemas.microsoft.com/office/drawing/2014/main" id="{7DFA77AF-6638-DF84-03E0-A305EC1A2B32}"/>
                  </a:ext>
                </a:extLst>
              </p:cNvPr>
              <p:cNvSpPr txBox="1">
                <a:spLocks noRot="1" noChangeAspect="1" noMove="1" noResize="1" noEditPoints="1" noAdjustHandles="1" noChangeArrowheads="1" noChangeShapeType="1" noTextEdit="1"/>
              </p:cNvSpPr>
              <p:nvPr/>
            </p:nvSpPr>
            <p:spPr bwMode="auto">
              <a:xfrm>
                <a:off x="427831" y="4767247"/>
                <a:ext cx="7754938" cy="1280863"/>
              </a:xfrm>
              <a:prstGeom prst="rect">
                <a:avLst/>
              </a:prstGeom>
              <a:blipFill>
                <a:blip r:embed="rId6"/>
                <a:stretch>
                  <a:fillRect l="-786" t="-19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How Confidence Intervals Behave</a:t>
            </a:r>
            <a:endParaRPr lang="en-US" altLang="en-US" sz="2400">
              <a:solidFill>
                <a:srgbClr val="33CCFF"/>
              </a:solidFill>
              <a:ea typeface="ＭＳ Ｐゴシック" pitchFamily="34" charset="-128"/>
            </a:endParaRP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81B3C9A-CB2E-42A6-A5F5-C1C1FE1374B8}" type="slidenum">
              <a:rPr lang="en-US" altLang="en-US" sz="1200">
                <a:solidFill>
                  <a:schemeClr val="accent1"/>
                </a:solidFill>
              </a:rPr>
              <a:pPr>
                <a:lnSpc>
                  <a:spcPct val="80000"/>
                </a:lnSpc>
              </a:pPr>
              <a:t>11</a:t>
            </a:fld>
            <a:endParaRPr lang="en-US" altLang="en-US" sz="1200">
              <a:solidFill>
                <a:schemeClr val="accent1"/>
              </a:solidFill>
            </a:endParaRPr>
          </a:p>
        </p:txBody>
      </p:sp>
      <p:sp>
        <p:nvSpPr>
          <p:cNvPr id="2" name="TextBox 1"/>
          <p:cNvSpPr txBox="1"/>
          <p:nvPr/>
        </p:nvSpPr>
        <p:spPr>
          <a:xfrm>
            <a:off x="173038" y="1147844"/>
            <a:ext cx="8589962" cy="1815882"/>
          </a:xfrm>
          <a:prstGeom prst="rect">
            <a:avLst/>
          </a:prstGeom>
          <a:noFill/>
        </p:spPr>
        <p:txBody>
          <a:bodyPr>
            <a:spAutoFit/>
          </a:bodyPr>
          <a:lstStyle/>
          <a:p>
            <a:pPr marL="285750" indent="-285750" eaLnBrk="1" hangingPunct="1">
              <a:buClr>
                <a:schemeClr val="accent1"/>
              </a:buClr>
              <a:buFont typeface="Wingdings" charset="2"/>
              <a:buChar char="§"/>
              <a:defRPr/>
            </a:pPr>
            <a:r>
              <a:rPr lang="en-US" altLang="zh-CN" sz="2000" dirty="0">
                <a:latin typeface="Arial" charset="0"/>
                <a:ea typeface="ＭＳ Ｐゴシック" charset="0"/>
                <a:cs typeface="ＭＳ Ｐゴシック" charset="0"/>
              </a:rPr>
              <a:t>U</a:t>
            </a:r>
            <a:r>
              <a:rPr lang="en-US" sz="2000" dirty="0">
                <a:latin typeface="Arial" charset="0"/>
                <a:ea typeface="ＭＳ Ｐゴシック" charset="0"/>
                <a:cs typeface="ＭＳ Ｐゴシック" charset="0"/>
              </a:rPr>
              <a:t>sers may choose the confidence level and the margin of error follows.</a:t>
            </a:r>
          </a:p>
          <a:p>
            <a:pPr marL="285750" indent="-285750" eaLnBrk="1" hangingPunct="1">
              <a:buClr>
                <a:schemeClr val="accent1"/>
              </a:buClr>
              <a:buFont typeface="Wingdings" charset="2"/>
              <a:buChar char="§"/>
              <a:defRPr/>
            </a:pPr>
            <a:r>
              <a:rPr lang="en-US" sz="2000" dirty="0">
                <a:latin typeface="Arial" charset="0"/>
                <a:ea typeface="ＭＳ Ｐゴシック" charset="0"/>
                <a:cs typeface="ＭＳ Ｐゴシック" charset="0"/>
              </a:rPr>
              <a:t>Would like</a:t>
            </a:r>
            <a:r>
              <a:rPr lang="en-US" sz="2000" dirty="0">
                <a:solidFill>
                  <a:srgbClr val="FF0000"/>
                </a:solidFill>
                <a:latin typeface="Arial" charset="0"/>
                <a:ea typeface="ＭＳ Ｐゴシック" charset="0"/>
                <a:cs typeface="ＭＳ Ｐゴシック" charset="0"/>
              </a:rPr>
              <a:t> high confidence level </a:t>
            </a:r>
            <a:r>
              <a:rPr lang="en-US" sz="2000" dirty="0">
                <a:latin typeface="Arial" charset="0"/>
                <a:ea typeface="ＭＳ Ｐゴシック" charset="0"/>
                <a:cs typeface="ＭＳ Ｐゴシック" charset="0"/>
              </a:rPr>
              <a:t>and a </a:t>
            </a:r>
            <a:r>
              <a:rPr lang="en-US" sz="2000" dirty="0">
                <a:solidFill>
                  <a:srgbClr val="FF0000"/>
                </a:solidFill>
                <a:latin typeface="Arial" charset="0"/>
                <a:ea typeface="ＭＳ Ｐゴシック" charset="0"/>
                <a:cs typeface="ＭＳ Ｐゴシック" charset="0"/>
              </a:rPr>
              <a:t>small margin of error</a:t>
            </a:r>
            <a:r>
              <a:rPr lang="en-US" sz="2000" dirty="0">
                <a:latin typeface="Arial" charset="0"/>
                <a:ea typeface="ＭＳ Ｐゴシック" charset="0"/>
                <a:cs typeface="ＭＳ Ｐゴシック" charset="0"/>
              </a:rPr>
              <a:t>.</a:t>
            </a:r>
          </a:p>
          <a:p>
            <a:pPr marL="742950" lvl="1" indent="-285750" eaLnBrk="1" hangingPunct="1">
              <a:buClr>
                <a:schemeClr val="accent1"/>
              </a:buClr>
              <a:buFont typeface="Wingdings" charset="2"/>
              <a:buChar char="§"/>
              <a:defRPr/>
            </a:pPr>
            <a:r>
              <a:rPr lang="en-US" dirty="0">
                <a:latin typeface="Arial" charset="0"/>
                <a:ea typeface="ＭＳ Ｐゴシック" charset="0"/>
                <a:cs typeface="ＭＳ Ｐゴシック" charset="0"/>
              </a:rPr>
              <a:t>High confidence suggests our method almost always gives correct answers.</a:t>
            </a:r>
          </a:p>
          <a:p>
            <a:pPr marL="742950" lvl="1" indent="-285750" eaLnBrk="1" hangingPunct="1">
              <a:buClr>
                <a:schemeClr val="accent1"/>
              </a:buClr>
              <a:buFont typeface="Wingdings" charset="2"/>
              <a:buChar char="§"/>
              <a:defRPr/>
            </a:pPr>
            <a:r>
              <a:rPr lang="en-US" dirty="0">
                <a:latin typeface="Arial" charset="0"/>
                <a:ea typeface="ＭＳ Ｐゴシック" charset="0"/>
                <a:cs typeface="ＭＳ Ｐゴシック" charset="0"/>
              </a:rPr>
              <a:t>A small margin of error suggests we have pinned down the parameter precisely.</a:t>
            </a:r>
          </a:p>
        </p:txBody>
      </p:sp>
      <mc:AlternateContent xmlns:mc="http://schemas.openxmlformats.org/markup-compatibility/2006" xmlns:a14="http://schemas.microsoft.com/office/drawing/2010/main">
        <mc:Choice Requires="a14">
          <p:sp>
            <p:nvSpPr>
              <p:cNvPr id="7" name="TextBox 6"/>
              <p:cNvSpPr txBox="1">
                <a:spLocks noChangeArrowheads="1"/>
              </p:cNvSpPr>
              <p:nvPr/>
            </p:nvSpPr>
            <p:spPr bwMode="auto">
              <a:xfrm>
                <a:off x="271054" y="3301239"/>
                <a:ext cx="8167688" cy="3012748"/>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defRPr/>
                </a:pPr>
                <a:r>
                  <a:rPr lang="en-US" altLang="en-US" dirty="0">
                    <a:solidFill>
                      <a:srgbClr val="000000"/>
                    </a:solidFill>
                  </a:rPr>
                  <a:t>Recall the </a:t>
                </a:r>
                <a:r>
                  <a:rPr lang="en-US" altLang="en-US" dirty="0">
                    <a:solidFill>
                      <a:schemeClr val="tx1"/>
                    </a:solidFill>
                  </a:rPr>
                  <a:t>margin of error </a:t>
                </a:r>
                <a:r>
                  <a:rPr lang="en-US" altLang="en-US" dirty="0">
                    <a:solidFill>
                      <a:srgbClr val="000000"/>
                    </a:solidFill>
                  </a:rPr>
                  <a:t>for CI for the mean of a normal population with known standard deviation</a:t>
                </a:r>
              </a:p>
              <a:p>
                <a:pPr eaLnBrk="1" hangingPunct="1">
                  <a:spcBef>
                    <a:spcPct val="0"/>
                  </a:spcBef>
                  <a:spcAft>
                    <a:spcPts val="600"/>
                  </a:spcAft>
                  <a:buClrTx/>
                  <a:buSzTx/>
                  <a:buFontTx/>
                  <a:buNone/>
                  <a:defRPr/>
                </a:pPr>
                <a14:m>
                  <m:oMathPara xmlns:m="http://schemas.openxmlformats.org/officeDocument/2006/math">
                    <m:o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r>
                        <a:rPr lang="en-US" altLang="en-US" b="0" i="1" smtClean="0">
                          <a:solidFill>
                            <a:srgbClr val="000000"/>
                          </a:solidFill>
                          <a:latin typeface="Cambria Math" panose="02040503050406030204" pitchFamily="18" charset="0"/>
                          <a:ea typeface="Cambria Math" panose="02040503050406030204" pitchFamily="18" charset="0"/>
                        </a:rPr>
                        <m:t>×</m:t>
                      </m:r>
                      <m:f>
                        <m:fPr>
                          <m:ctrlPr>
                            <a:rPr lang="en-US" altLang="en-US" i="1" smtClean="0">
                              <a:solidFill>
                                <a:srgbClr val="000000"/>
                              </a:solidFill>
                              <a:latin typeface="Cambria Math" panose="02040503050406030204" pitchFamily="18" charset="0"/>
                              <a:ea typeface="Cambria Math" panose="02040503050406030204" pitchFamily="18" charset="0"/>
                            </a:rPr>
                          </m:ctrlPr>
                        </m:fPr>
                        <m:num>
                          <m:r>
                            <a:rPr lang="en-US" altLang="en-US"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altLang="en-US" i="1" smtClean="0">
                                  <a:solidFill>
                                    <a:srgbClr val="000000"/>
                                  </a:solidFill>
                                  <a:latin typeface="Cambria Math" panose="02040503050406030204" pitchFamily="18" charset="0"/>
                                </a:rPr>
                              </m:ctrlPr>
                            </m:radPr>
                            <m:deg/>
                            <m:e>
                              <m:r>
                                <a:rPr lang="en-US" altLang="en-US" b="0" i="1" smtClean="0">
                                  <a:solidFill>
                                    <a:srgbClr val="000000"/>
                                  </a:solidFill>
                                  <a:latin typeface="Cambria Math" panose="02040503050406030204" pitchFamily="18" charset="0"/>
                                </a:rPr>
                                <m:t>𝑛</m:t>
                              </m:r>
                            </m:e>
                          </m:rad>
                        </m:den>
                      </m:f>
                    </m:oMath>
                  </m:oMathPara>
                </a14:m>
                <a:endParaRPr lang="en-US" altLang="en-US" dirty="0">
                  <a:solidFill>
                    <a:srgbClr val="000000"/>
                  </a:solidFill>
                </a:endParaRPr>
              </a:p>
              <a:p>
                <a:pPr eaLnBrk="1" hangingPunct="1">
                  <a:spcBef>
                    <a:spcPct val="0"/>
                  </a:spcBef>
                  <a:buClrTx/>
                  <a:buSzTx/>
                  <a:buFontTx/>
                  <a:buNone/>
                  <a:defRPr/>
                </a:pPr>
                <a:r>
                  <a:rPr lang="en-US" altLang="en-US" dirty="0">
                    <a:solidFill>
                      <a:srgbClr val="000000"/>
                    </a:solidFill>
                  </a:rPr>
                  <a:t>The margin of error gets smaller when</a:t>
                </a:r>
              </a:p>
              <a:p>
                <a:pPr eaLnBrk="1" hangingPunct="1">
                  <a:spcBef>
                    <a:spcPct val="0"/>
                  </a:spcBef>
                  <a:buSzTx/>
                  <a:buFont typeface="Wingdings" panose="05000000000000000000" pitchFamily="2" charset="2"/>
                  <a:buChar char="§"/>
                  <a:defRPr/>
                </a:pPr>
                <a14:m>
                  <m:oMath xmlns:m="http://schemas.openxmlformats.org/officeDocument/2006/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oMath>
                </a14:m>
                <a:r>
                  <a:rPr lang="en-US" altLang="en-US" dirty="0">
                    <a:solidFill>
                      <a:srgbClr val="000000"/>
                    </a:solidFill>
                  </a:rPr>
                  <a:t> gets smaller (i.e., a lower confidence level).</a:t>
                </a:r>
              </a:p>
              <a:p>
                <a:pPr eaLnBrk="1" hangingPunct="1">
                  <a:spcBef>
                    <a:spcPct val="0"/>
                  </a:spcBef>
                  <a:buSzTx/>
                  <a:buFont typeface="Wingdings" panose="05000000000000000000" pitchFamily="2" charset="2"/>
                  <a:buChar char="§"/>
                  <a:defRPr/>
                </a:pPr>
                <a:r>
                  <a:rPr lang="en-US" altLang="en-US" i="1" dirty="0">
                    <a:solidFill>
                      <a:srgbClr val="000000"/>
                    </a:solidFill>
                  </a:rPr>
                  <a:t>σ</a:t>
                </a:r>
                <a:r>
                  <a:rPr lang="en-US" altLang="en-US" dirty="0">
                    <a:solidFill>
                      <a:srgbClr val="000000"/>
                    </a:solidFill>
                  </a:rPr>
                  <a:t> is smaller.</a:t>
                </a:r>
              </a:p>
              <a:p>
                <a:pPr eaLnBrk="1" hangingPunct="1">
                  <a:spcBef>
                    <a:spcPct val="0"/>
                  </a:spcBef>
                  <a:buSzTx/>
                  <a:buFont typeface="Wingdings" panose="05000000000000000000" pitchFamily="2" charset="2"/>
                  <a:buChar char="§"/>
                  <a:defRPr/>
                </a:pPr>
                <a:r>
                  <a:rPr lang="en-US" altLang="en-US" i="1" dirty="0">
                    <a:solidFill>
                      <a:srgbClr val="000000"/>
                    </a:solidFill>
                  </a:rPr>
                  <a:t>n</a:t>
                </a:r>
                <a:r>
                  <a:rPr lang="en-US" altLang="en-US" dirty="0">
                    <a:solidFill>
                      <a:srgbClr val="000000"/>
                    </a:solidFill>
                  </a:rPr>
                  <a:t> gets larger. Since </a:t>
                </a:r>
                <a:r>
                  <a:rPr lang="en-US" altLang="en-US" i="1" dirty="0">
                    <a:solidFill>
                      <a:srgbClr val="000000"/>
                    </a:solidFill>
                  </a:rPr>
                  <a:t>n</a:t>
                </a:r>
                <a:r>
                  <a:rPr lang="en-US" altLang="en-US" dirty="0">
                    <a:solidFill>
                      <a:srgbClr val="000000"/>
                    </a:solidFill>
                  </a:rPr>
                  <a:t> is under the square root sign, we must take four times as many observations to cut the margin of error in half.</a:t>
                </a:r>
                <a:endParaRPr lang="en-US" altLang="en-US" i="1" dirty="0">
                  <a:solidFill>
                    <a:srgbClr val="0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bwMode="auto">
              <a:xfrm>
                <a:off x="271054" y="3301239"/>
                <a:ext cx="8167688" cy="3012748"/>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lnSpc>
                <a:spcPct val="120000"/>
              </a:lnSpc>
            </a:pPr>
            <a:r>
              <a:rPr lang="en-US" altLang="en-US" dirty="0">
                <a:ea typeface="ＭＳ Ｐゴシック" pitchFamily="34" charset="-128"/>
              </a:rPr>
              <a:t>Sample Size</a:t>
            </a:r>
          </a:p>
        </p:txBody>
      </p:sp>
      <p:sp>
        <p:nvSpPr>
          <p:cNvPr id="481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66DF882-B521-4206-AC5B-BDDCB44CA5D7}" type="slidenum">
              <a:rPr lang="en-US" altLang="en-US" sz="1200">
                <a:solidFill>
                  <a:schemeClr val="accent1"/>
                </a:solidFill>
              </a:rPr>
              <a:pPr>
                <a:lnSpc>
                  <a:spcPct val="80000"/>
                </a:lnSpc>
              </a:pPr>
              <a:t>12</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48131" name="Rectangle 3"/>
              <p:cNvSpPr>
                <a:spLocks noGrp="1" noChangeArrowheads="1"/>
              </p:cNvSpPr>
              <p:nvPr>
                <p:ph type="body" idx="4294967295"/>
              </p:nvPr>
            </p:nvSpPr>
            <p:spPr>
              <a:xfrm>
                <a:off x="174625" y="1423321"/>
                <a:ext cx="8588375" cy="2005680"/>
              </a:xfrm>
            </p:spPr>
            <p:txBody>
              <a:bodyPr/>
              <a:lstStyle/>
              <a:p>
                <a:pPr marL="0" indent="0" eaLnBrk="1" hangingPunct="1">
                  <a:spcBef>
                    <a:spcPct val="0"/>
                  </a:spcBef>
                  <a:buFont typeface="Wingdings" pitchFamily="2" charset="2"/>
                  <a:buNone/>
                </a:pPr>
                <a:r>
                  <a:rPr lang="en-US" altLang="en-US" dirty="0">
                    <a:solidFill>
                      <a:srgbClr val="0D0D0D"/>
                    </a:solidFill>
                    <a:ea typeface="ＭＳ Ｐゴシック" pitchFamily="34" charset="-128"/>
                  </a:rPr>
                  <a:t>You may need a certain margin of error (e.g., in drug trials or manufacturing specs). In most cases, we have no control over the population variability </a:t>
                </a:r>
                <a14:m>
                  <m:oMath xmlns:m="http://schemas.openxmlformats.org/officeDocument/2006/math">
                    <m:r>
                      <a:rPr lang="en-US" altLang="en-US" b="0" i="1" smtClean="0">
                        <a:solidFill>
                          <a:srgbClr val="0D0D0D"/>
                        </a:solidFill>
                        <a:latin typeface="Cambria Math" panose="02040503050406030204" pitchFamily="18" charset="0"/>
                        <a:ea typeface="ＭＳ Ｐゴシック" pitchFamily="34" charset="-128"/>
                      </a:rPr>
                      <m:t>𝜎</m:t>
                    </m:r>
                  </m:oMath>
                </a14:m>
                <a:r>
                  <a:rPr lang="en-US" altLang="en-US" dirty="0">
                    <a:solidFill>
                      <a:srgbClr val="0D0D0D"/>
                    </a:solidFill>
                    <a:ea typeface="ＭＳ Ｐゴシック" pitchFamily="34" charset="-128"/>
                  </a:rPr>
                  <a:t>, but we can choose the sample size </a:t>
                </a:r>
                <a14:m>
                  <m:oMath xmlns:m="http://schemas.openxmlformats.org/officeDocument/2006/math">
                    <m:r>
                      <a:rPr lang="en-US" altLang="en-US" i="1" dirty="0" smtClean="0">
                        <a:solidFill>
                          <a:srgbClr val="0D0D0D"/>
                        </a:solidFill>
                        <a:latin typeface="Cambria Math" panose="02040503050406030204" pitchFamily="18" charset="0"/>
                        <a:ea typeface="ＭＳ Ｐゴシック" pitchFamily="34" charset="-128"/>
                      </a:rPr>
                      <m:t>𝑛</m:t>
                    </m:r>
                  </m:oMath>
                </a14:m>
                <a:r>
                  <a:rPr lang="en-US" altLang="en-US" dirty="0">
                    <a:solidFill>
                      <a:srgbClr val="0D0D0D"/>
                    </a:solidFill>
                    <a:ea typeface="ＭＳ Ｐゴシック" pitchFamily="34" charset="-128"/>
                  </a:rPr>
                  <a:t>. </a:t>
                </a:r>
              </a:p>
              <a:p>
                <a:pPr marL="0" indent="0" eaLnBrk="1" hangingPunct="1">
                  <a:spcBef>
                    <a:spcPct val="0"/>
                  </a:spcBef>
                  <a:buFont typeface="Wingdings" pitchFamily="2" charset="2"/>
                  <a:buNone/>
                </a:pPr>
                <a:endParaRPr lang="en-US" altLang="en-US" dirty="0">
                  <a:solidFill>
                    <a:srgbClr val="0D0D0D"/>
                  </a:solidFill>
                  <a:ea typeface="ＭＳ Ｐゴシック" pitchFamily="34" charset="-128"/>
                </a:endParaRPr>
              </a:p>
              <a:p>
                <a:pPr marL="0" indent="0" eaLnBrk="1" hangingPunct="1">
                  <a:spcBef>
                    <a:spcPct val="0"/>
                  </a:spcBef>
                  <a:spcAft>
                    <a:spcPct val="50000"/>
                  </a:spcAft>
                  <a:buFont typeface="Wingdings" pitchFamily="2" charset="2"/>
                  <a:buNone/>
                </a:pPr>
                <a:r>
                  <a:rPr lang="en-US" altLang="en-US" dirty="0">
                    <a:solidFill>
                      <a:srgbClr val="0D0D0D"/>
                    </a:solidFill>
                    <a:ea typeface="ＭＳ Ｐゴシック" pitchFamily="34" charset="-128"/>
                  </a:rPr>
                  <a:t>The CI for a population mean will have a specified margin of error </a:t>
                </a:r>
                <a14:m>
                  <m:oMath xmlns:m="http://schemas.openxmlformats.org/officeDocument/2006/math">
                    <m:r>
                      <a:rPr lang="en-US" altLang="en-US" i="1" dirty="0" smtClean="0">
                        <a:solidFill>
                          <a:srgbClr val="0D0D0D"/>
                        </a:solidFill>
                        <a:latin typeface="Cambria Math" panose="02040503050406030204" pitchFamily="18" charset="0"/>
                        <a:ea typeface="ＭＳ Ｐゴシック" pitchFamily="34" charset="-128"/>
                      </a:rPr>
                      <m:t>𝑚</m:t>
                    </m:r>
                  </m:oMath>
                </a14:m>
                <a:r>
                  <a:rPr lang="en-US" altLang="en-US" dirty="0">
                    <a:solidFill>
                      <a:srgbClr val="0D0D0D"/>
                    </a:solidFill>
                    <a:ea typeface="ＭＳ Ｐゴシック" pitchFamily="34" charset="-128"/>
                  </a:rPr>
                  <a:t> when the sample size is given by</a:t>
                </a:r>
              </a:p>
            </p:txBody>
          </p:sp>
        </mc:Choice>
        <mc:Fallback xmlns="">
          <p:sp>
            <p:nvSpPr>
              <p:cNvPr id="48131" name="Rectangle 3"/>
              <p:cNvSpPr>
                <a:spLocks noGrp="1" noRot="1" noChangeAspect="1" noMove="1" noResize="1" noEditPoints="1" noAdjustHandles="1" noChangeArrowheads="1" noChangeShapeType="1" noTextEdit="1"/>
              </p:cNvSpPr>
              <p:nvPr>
                <p:ph type="body" idx="4294967295"/>
              </p:nvPr>
            </p:nvSpPr>
            <p:spPr>
              <a:xfrm>
                <a:off x="174625" y="1423321"/>
                <a:ext cx="8588375" cy="2005680"/>
              </a:xfrm>
              <a:blipFill>
                <a:blip r:embed="rId3"/>
                <a:stretch>
                  <a:fillRect l="-781" t="-1212" r="-497" b="-1212"/>
                </a:stretch>
              </a:blipFill>
            </p:spPr>
            <p:txBody>
              <a:bodyPr/>
              <a:lstStyle/>
              <a:p>
                <a:r>
                  <a:rPr lang="en-US">
                    <a:noFill/>
                  </a:rPr>
                  <a:t> </a:t>
                </a:r>
              </a:p>
            </p:txBody>
          </p:sp>
        </mc:Fallback>
      </mc:AlternateContent>
      <p:sp>
        <p:nvSpPr>
          <p:cNvPr id="1260549" name="Rectangle 5"/>
          <p:cNvSpPr>
            <a:spLocks noChangeArrowheads="1"/>
          </p:cNvSpPr>
          <p:nvPr/>
        </p:nvSpPr>
        <p:spPr bwMode="auto">
          <a:xfrm>
            <a:off x="280194" y="4536753"/>
            <a:ext cx="8229600" cy="942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spcAft>
                <a:spcPct val="50000"/>
              </a:spcAft>
              <a:buClr>
                <a:srgbClr val="00CC99"/>
              </a:buClr>
              <a:buSzPct val="65000"/>
              <a:buFont typeface="Wingdings" pitchFamily="2" charset="2"/>
              <a:buNone/>
            </a:pPr>
            <a:r>
              <a:rPr lang="en-US" altLang="en-US" i="1" dirty="0"/>
              <a:t>A larger sample size is better, but there are typically costs and constraints associated with large samples. </a:t>
            </a:r>
            <a:r>
              <a:rPr lang="en-US" altLang="en-US" i="1" dirty="0">
                <a:solidFill>
                  <a:srgbClr val="FF0000"/>
                </a:solidFill>
              </a:rPr>
              <a:t>The best approach is to use the smallest sample size that can give you useful results</a:t>
            </a:r>
            <a:r>
              <a:rPr lang="en-US" altLang="en-US" i="1" dirty="0"/>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A81A68-C459-DC5B-0276-BA8861F72C9C}"/>
                  </a:ext>
                </a:extLst>
              </p:cNvPr>
              <p:cNvSpPr txBox="1"/>
              <p:nvPr/>
            </p:nvSpPr>
            <p:spPr>
              <a:xfrm>
                <a:off x="1854724" y="3500195"/>
                <a:ext cx="4576712" cy="657681"/>
              </a:xfrm>
              <a:prstGeom prst="rect">
                <a:avLst/>
              </a:prstGeom>
              <a:noFill/>
            </p:spPr>
            <p:txBody>
              <a:bodyPr wrap="square">
                <a:spAutoFit/>
              </a:bodyPr>
              <a:lstStyle/>
              <a:p>
                <a:pPr/>
                <a14:m>
                  <m:oMathPara xmlns:m="http://schemas.openxmlformats.org/officeDocument/2006/math">
                    <m:oMath>
                      <m:r>
                        <a:rPr lang="en-US" altLang="en-US" b="0" i="1" smtClean="0">
                          <a:solidFill>
                            <a:srgbClr val="000000"/>
                          </a:solidFill>
                          <a:latin typeface="Cambria Math" panose="02040503050406030204" pitchFamily="18" charset="0"/>
                          <a:ea typeface="Cambria Math" panose="02040503050406030204" pitchFamily="18" charset="0"/>
                        </a:rPr>
                        <m:t>𝑛</m:t>
                      </m:r>
                      <m:r>
                        <a:rPr lang="en-US" altLang="en-US" b="0" i="1" smtClean="0">
                          <a:solidFill>
                            <a:srgbClr val="000000"/>
                          </a:solidFill>
                          <a:latin typeface="Cambria Math" panose="02040503050406030204" pitchFamily="18" charset="0"/>
                          <a:ea typeface="Cambria Math" panose="02040503050406030204" pitchFamily="18" charset="0"/>
                        </a:rPr>
                        <m:t>=</m:t>
                      </m:r>
                      <m:sSup>
                        <m:sSupPr>
                          <m:ctrlPr>
                            <a:rPr lang="en-US" altLang="en-US" i="1">
                              <a:solidFill>
                                <a:srgbClr val="000000"/>
                              </a:solidFill>
                              <a:latin typeface="Cambria Math" panose="02040503050406030204" pitchFamily="18" charset="0"/>
                              <a:ea typeface="Cambria Math" panose="02040503050406030204" pitchFamily="18" charset="0"/>
                            </a:rPr>
                          </m:ctrlPr>
                        </m:sSupPr>
                        <m:e>
                          <m:d>
                            <m:dPr>
                              <m:ctrlPr>
                                <a:rPr lang="en-US" altLang="en-US" i="1">
                                  <a:solidFill>
                                    <a:srgbClr val="000000"/>
                                  </a:solidFill>
                                  <a:latin typeface="Cambria Math" panose="02040503050406030204" pitchFamily="18" charset="0"/>
                                  <a:ea typeface="Cambria Math" panose="02040503050406030204" pitchFamily="18" charset="0"/>
                                </a:rPr>
                              </m:ctrlPr>
                            </m:dPr>
                            <m:e>
                              <m:f>
                                <m:fPr>
                                  <m:ctrlPr>
                                    <a:rPr lang="en-US" altLang="en-US" i="1">
                                      <a:solidFill>
                                        <a:srgbClr val="000000"/>
                                      </a:solidFill>
                                      <a:latin typeface="Cambria Math" panose="02040503050406030204" pitchFamily="18" charset="0"/>
                                      <a:ea typeface="Cambria Math" panose="02040503050406030204" pitchFamily="18" charset="0"/>
                                    </a:rPr>
                                  </m:ctrlPr>
                                </m:fPr>
                                <m:num>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b="0" i="1" smtClean="0">
                                          <a:solidFill>
                                            <a:srgbClr val="000000"/>
                                          </a:solidFill>
                                          <a:latin typeface="Cambria Math" panose="02040503050406030204" pitchFamily="18" charset="0"/>
                                          <a:ea typeface="Cambria Math" panose="02040503050406030204" pitchFamily="18" charset="0"/>
                                        </a:rPr>
                                        <m:t>(</m:t>
                                      </m:r>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b="0" i="1" smtClean="0">
                                          <a:solidFill>
                                            <a:srgbClr val="000000"/>
                                          </a:solidFill>
                                          <a:latin typeface="Cambria Math" panose="02040503050406030204" pitchFamily="18" charset="0"/>
                                          <a:ea typeface="Cambria Math" panose="02040503050406030204" pitchFamily="18" charset="0"/>
                                        </a:rPr>
                                        <m:t>)/2</m:t>
                                      </m:r>
                                    </m:sub>
                                  </m:sSub>
                                  <m:r>
                                    <a:rPr lang="en-US" altLang="en-US" i="1">
                                      <a:solidFill>
                                        <a:srgbClr val="000000"/>
                                      </a:solidFill>
                                      <a:latin typeface="Cambria Math" panose="02040503050406030204" pitchFamily="18" charset="0"/>
                                      <a:ea typeface="Cambria Math" panose="02040503050406030204" pitchFamily="18" charset="0"/>
                                    </a:rPr>
                                    <m:t>×</m:t>
                                  </m:r>
                                  <m:r>
                                    <a:rPr lang="en-US" altLang="en-US" i="1">
                                      <a:solidFill>
                                        <a:srgbClr val="000000"/>
                                      </a:solidFill>
                                      <a:latin typeface="Cambria Math" panose="02040503050406030204" pitchFamily="18" charset="0"/>
                                      <a:ea typeface="Cambria Math" panose="02040503050406030204" pitchFamily="18" charset="0"/>
                                    </a:rPr>
                                    <m:t>𝜎</m:t>
                                  </m:r>
                                </m:num>
                                <m:den>
                                  <m:r>
                                    <a:rPr lang="en-US" altLang="en-US" i="1">
                                      <a:solidFill>
                                        <a:srgbClr val="000000"/>
                                      </a:solidFill>
                                      <a:latin typeface="Cambria Math" panose="02040503050406030204" pitchFamily="18" charset="0"/>
                                      <a:ea typeface="Cambria Math" panose="02040503050406030204" pitchFamily="18" charset="0"/>
                                    </a:rPr>
                                    <m:t>𝑚</m:t>
                                  </m:r>
                                </m:den>
                              </m:f>
                            </m:e>
                          </m:d>
                        </m:e>
                        <m:sup>
                          <m:r>
                            <a:rPr lang="en-US" altLang="en-US" b="0" i="1" smtClean="0">
                              <a:solidFill>
                                <a:srgbClr val="000000"/>
                              </a:solidFill>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3" name="TextBox 2">
                <a:extLst>
                  <a:ext uri="{FF2B5EF4-FFF2-40B4-BE49-F238E27FC236}">
                    <a16:creationId xmlns:a16="http://schemas.microsoft.com/office/drawing/2014/main" id="{2DA81A68-C459-DC5B-0276-BA8861F72C9C}"/>
                  </a:ext>
                </a:extLst>
              </p:cNvPr>
              <p:cNvSpPr txBox="1">
                <a:spLocks noRot="1" noChangeAspect="1" noMove="1" noResize="1" noEditPoints="1" noAdjustHandles="1" noChangeArrowheads="1" noChangeShapeType="1" noTextEdit="1"/>
              </p:cNvSpPr>
              <p:nvPr/>
            </p:nvSpPr>
            <p:spPr>
              <a:xfrm>
                <a:off x="1854724" y="3500195"/>
                <a:ext cx="4576712" cy="657681"/>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0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54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en-US" dirty="0">
                <a:ea typeface="ＭＳ Ｐゴシック" pitchFamily="34" charset="-128"/>
              </a:rPr>
              <a:t>Sample Size: an Example</a:t>
            </a:r>
          </a:p>
        </p:txBody>
      </p:sp>
      <p:sp>
        <p:nvSpPr>
          <p:cNvPr id="50183"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81B6D97-7F41-4467-8612-1FC6E42FA1DB}" type="slidenum">
              <a:rPr lang="en-US" altLang="en-US" sz="1400">
                <a:solidFill>
                  <a:schemeClr val="accent1"/>
                </a:solidFill>
              </a:rPr>
              <a:pPr/>
              <a:t>13</a:t>
            </a:fld>
            <a:endParaRPr lang="en-US" altLang="en-US" sz="1400">
              <a:solidFill>
                <a:schemeClr val="accent1"/>
              </a:solidFill>
            </a:endParaRPr>
          </a:p>
        </p:txBody>
      </p:sp>
      <mc:AlternateContent xmlns:mc="http://schemas.openxmlformats.org/markup-compatibility/2006" xmlns:a14="http://schemas.microsoft.com/office/drawing/2010/main">
        <mc:Choice Requires="a14">
          <p:sp>
            <p:nvSpPr>
              <p:cNvPr id="50180" name="Text Box 5"/>
              <p:cNvSpPr txBox="1">
                <a:spLocks noChangeArrowheads="1"/>
              </p:cNvSpPr>
              <p:nvPr/>
            </p:nvSpPr>
            <p:spPr bwMode="auto">
              <a:xfrm>
                <a:off x="563563" y="1120775"/>
                <a:ext cx="8199437" cy="22147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lnSpc>
                    <a:spcPct val="130000"/>
                  </a:lnSpc>
                  <a:spcBef>
                    <a:spcPct val="50000"/>
                  </a:spcBef>
                </a:pPr>
                <a:r>
                  <a:rPr lang="en-US" altLang="en-US" b="1" dirty="0">
                    <a:solidFill>
                      <a:srgbClr val="000000"/>
                    </a:solidFill>
                  </a:rPr>
                  <a:t>How many undergraduates should we survey?</a:t>
                </a:r>
                <a:r>
                  <a:rPr lang="en-US" altLang="en-US" dirty="0">
                    <a:solidFill>
                      <a:srgbClr val="000000"/>
                    </a:solidFill>
                  </a:rPr>
                  <a:t> </a:t>
                </a:r>
              </a:p>
              <a:p>
                <a:pPr eaLnBrk="1" hangingPunct="1">
                  <a:spcBef>
                    <a:spcPct val="50000"/>
                  </a:spcBef>
                </a:pPr>
                <a:r>
                  <a:rPr lang="en-US" altLang="en-US" dirty="0">
                    <a:solidFill>
                      <a:srgbClr val="000000"/>
                    </a:solidFill>
                  </a:rPr>
                  <a:t>Suppose we are planning a survey about college savings programs. We want the margin of error to be $30 with 95% confidence. Let us assume the population standard deviation, </a:t>
                </a:r>
                <a14:m>
                  <m:oMath xmlns:m="http://schemas.openxmlformats.org/officeDocument/2006/math">
                    <m:r>
                      <a:rPr lang="en-US" altLang="en-US" b="0" i="1" dirty="0" smtClean="0">
                        <a:solidFill>
                          <a:srgbClr val="000000"/>
                        </a:solidFill>
                        <a:latin typeface="Cambria Math" panose="02040503050406030204" pitchFamily="18" charset="0"/>
                      </a:rPr>
                      <m:t>𝜎</m:t>
                    </m:r>
                  </m:oMath>
                </a14:m>
                <a:r>
                  <a:rPr lang="en-US" altLang="en-US" dirty="0">
                    <a:solidFill>
                      <a:srgbClr val="000000"/>
                    </a:solidFill>
                  </a:rPr>
                  <a:t>, is $1483.</a:t>
                </a:r>
                <a:r>
                  <a:rPr lang="en-US" altLang="en-US" i="1" dirty="0">
                    <a:solidFill>
                      <a:srgbClr val="000000"/>
                    </a:solidFill>
                  </a:rPr>
                  <a:t> </a:t>
                </a:r>
                <a:r>
                  <a:rPr lang="en-US" altLang="en-US" dirty="0">
                    <a:solidFill>
                      <a:srgbClr val="000000"/>
                    </a:solidFill>
                  </a:rPr>
                  <a:t>How many measurements should you take? For a 95% confidence interval, take </a:t>
                </a:r>
                <a14:m>
                  <m:oMath xmlns:m="http://schemas.openxmlformats.org/officeDocument/2006/math">
                    <m:sSub>
                      <m:sSubPr>
                        <m:ctrlPr>
                          <a:rPr lang="en-US" altLang="en-US" i="1">
                            <a:solidFill>
                              <a:srgbClr val="000000"/>
                            </a:solidFill>
                            <a:latin typeface="Cambria Math" panose="02040503050406030204" pitchFamily="18" charset="0"/>
                            <a:ea typeface="Cambria Math" panose="02040503050406030204" pitchFamily="18" charset="0"/>
                          </a:rPr>
                        </m:ctrlPr>
                      </m:sSubPr>
                      <m:e>
                        <m:r>
                          <a:rPr lang="en-US" altLang="en-US" i="1">
                            <a:solidFill>
                              <a:srgbClr val="000000"/>
                            </a:solidFill>
                            <a:latin typeface="Cambria Math" panose="02040503050406030204" pitchFamily="18" charset="0"/>
                            <a:ea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(1+</m:t>
                        </m:r>
                        <m:r>
                          <a:rPr lang="en-US" altLang="en-US" i="1">
                            <a:solidFill>
                              <a:srgbClr val="000000"/>
                            </a:solidFill>
                            <a:latin typeface="Cambria Math" panose="02040503050406030204" pitchFamily="18" charset="0"/>
                            <a:ea typeface="Cambria Math" panose="02040503050406030204" pitchFamily="18" charset="0"/>
                          </a:rPr>
                          <m:t>𝑐</m:t>
                        </m:r>
                        <m:r>
                          <a:rPr lang="en-US" altLang="en-US" i="1">
                            <a:solidFill>
                              <a:srgbClr val="000000"/>
                            </a:solidFill>
                            <a:latin typeface="Cambria Math" panose="02040503050406030204" pitchFamily="18" charset="0"/>
                            <a:ea typeface="Cambria Math" panose="02040503050406030204" pitchFamily="18" charset="0"/>
                          </a:rPr>
                          <m:t>)/2</m:t>
                        </m:r>
                      </m:sub>
                    </m:sSub>
                    <m:r>
                      <a:rPr lang="en-US" altLang="en-US" b="0" i="1" smtClean="0">
                        <a:solidFill>
                          <a:srgbClr val="000000"/>
                        </a:solidFill>
                        <a:latin typeface="Cambria Math" panose="02040503050406030204" pitchFamily="18" charset="0"/>
                        <a:ea typeface="Cambria Math" panose="02040503050406030204" pitchFamily="18" charset="0"/>
                      </a:rPr>
                      <m:t>=1.96</m:t>
                    </m:r>
                  </m:oMath>
                </a14:m>
                <a:r>
                  <a:rPr lang="en-US" altLang="en-US" dirty="0">
                    <a:solidFill>
                      <a:srgbClr val="000000"/>
                    </a:solidFill>
                  </a:rPr>
                  <a:t>.</a:t>
                </a:r>
              </a:p>
            </p:txBody>
          </p:sp>
        </mc:Choice>
        <mc:Fallback xmlns="">
          <p:sp>
            <p:nvSpPr>
              <p:cNvPr id="50180" name="Text Box 5"/>
              <p:cNvSpPr txBox="1">
                <a:spLocks noRot="1" noChangeAspect="1" noMove="1" noResize="1" noEditPoints="1" noAdjustHandles="1" noChangeArrowheads="1" noChangeShapeType="1" noTextEdit="1"/>
              </p:cNvSpPr>
              <p:nvPr/>
            </p:nvSpPr>
            <p:spPr bwMode="auto">
              <a:xfrm>
                <a:off x="563563" y="1120775"/>
                <a:ext cx="8199437" cy="2214773"/>
              </a:xfrm>
              <a:prstGeom prst="rect">
                <a:avLst/>
              </a:prstGeom>
              <a:blipFill>
                <a:blip r:embed="rId3"/>
                <a:stretch>
                  <a:fillRect l="-743" b="-27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259535" name="Text Box 15"/>
          <p:cNvSpPr txBox="1">
            <a:spLocks noChangeArrowheads="1"/>
          </p:cNvSpPr>
          <p:nvPr/>
        </p:nvSpPr>
        <p:spPr bwMode="auto">
          <a:xfrm>
            <a:off x="563562" y="4373021"/>
            <a:ext cx="8194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rgbClr val="000000"/>
                </a:solidFill>
              </a:rPr>
              <a:t>Therefore, we need at least 9388 measurements.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8DC6D9-0649-00C0-56DF-0B0E278D5E41}"/>
                  </a:ext>
                </a:extLst>
              </p:cNvPr>
              <p:cNvSpPr txBox="1"/>
              <p:nvPr/>
            </p:nvSpPr>
            <p:spPr>
              <a:xfrm>
                <a:off x="1854724" y="3314244"/>
                <a:ext cx="4576712" cy="769378"/>
              </a:xfrm>
              <a:prstGeom prst="rect">
                <a:avLst/>
              </a:prstGeom>
              <a:noFill/>
            </p:spPr>
            <p:txBody>
              <a:bodyPr wrap="square">
                <a:spAutoFit/>
              </a:bodyPr>
              <a:lstStyle/>
              <a:p>
                <a:pPr/>
                <a14:m>
                  <m:oMathPara xmlns:m="http://schemas.openxmlformats.org/officeDocument/2006/math">
                    <m:oMath>
                      <m:r>
                        <a:rPr lang="en-US" altLang="en-US" b="0" i="1" smtClean="0">
                          <a:solidFill>
                            <a:srgbClr val="000000"/>
                          </a:solidFill>
                          <a:latin typeface="Cambria Math" panose="02040503050406030204" pitchFamily="18" charset="0"/>
                          <a:ea typeface="Cambria Math" panose="02040503050406030204" pitchFamily="18" charset="0"/>
                        </a:rPr>
                        <m:t>𝑛</m:t>
                      </m:r>
                      <m:r>
                        <a:rPr lang="en-US" altLang="en-US" b="0" i="1" smtClean="0">
                          <a:solidFill>
                            <a:srgbClr val="000000"/>
                          </a:solidFill>
                          <a:latin typeface="Cambria Math" panose="02040503050406030204" pitchFamily="18" charset="0"/>
                          <a:ea typeface="Cambria Math" panose="02040503050406030204" pitchFamily="18" charset="0"/>
                        </a:rPr>
                        <m:t>=</m:t>
                      </m:r>
                      <m:sSup>
                        <m:sSupPr>
                          <m:ctrlPr>
                            <a:rPr lang="en-US" altLang="en-US" i="1" smtClean="0">
                              <a:solidFill>
                                <a:srgbClr val="000000"/>
                              </a:solidFill>
                              <a:latin typeface="Cambria Math" panose="02040503050406030204" pitchFamily="18" charset="0"/>
                              <a:ea typeface="Cambria Math" panose="02040503050406030204" pitchFamily="18" charset="0"/>
                            </a:rPr>
                          </m:ctrlPr>
                        </m:sSupPr>
                        <m:e>
                          <m:d>
                            <m:dPr>
                              <m:ctrlPr>
                                <a:rPr lang="en-US" altLang="en-US" i="1" smtClean="0">
                                  <a:solidFill>
                                    <a:srgbClr val="000000"/>
                                  </a:solidFill>
                                  <a:latin typeface="Cambria Math" panose="02040503050406030204" pitchFamily="18" charset="0"/>
                                  <a:ea typeface="Cambria Math" panose="02040503050406030204" pitchFamily="18" charset="0"/>
                                </a:rPr>
                              </m:ctrlPr>
                            </m:dPr>
                            <m:e>
                              <m:f>
                                <m:fPr>
                                  <m:ctrlPr>
                                    <a:rPr lang="en-US" altLang="en-US" i="1" smtClean="0">
                                      <a:solidFill>
                                        <a:srgbClr val="000000"/>
                                      </a:solidFill>
                                      <a:latin typeface="Cambria Math" panose="02040503050406030204" pitchFamily="18" charset="0"/>
                                      <a:ea typeface="Cambria Math" panose="02040503050406030204" pitchFamily="18" charset="0"/>
                                    </a:rPr>
                                  </m:ctrlPr>
                                </m:fPr>
                                <m:num>
                                  <m:r>
                                    <a:rPr lang="en-US" altLang="en-US" i="1" smtClean="0">
                                      <a:solidFill>
                                        <a:srgbClr val="000000"/>
                                      </a:solidFill>
                                      <a:latin typeface="Cambria Math" panose="02040503050406030204" pitchFamily="18" charset="0"/>
                                      <a:ea typeface="Cambria Math" panose="02040503050406030204" pitchFamily="18" charset="0"/>
                                    </a:rPr>
                                    <m:t>1</m:t>
                                  </m:r>
                                  <m:r>
                                    <a:rPr lang="en-US" altLang="en-US" b="0" i="1" smtClean="0">
                                      <a:solidFill>
                                        <a:srgbClr val="000000"/>
                                      </a:solidFill>
                                      <a:latin typeface="Cambria Math" panose="02040503050406030204" pitchFamily="18" charset="0"/>
                                      <a:ea typeface="Cambria Math" panose="02040503050406030204" pitchFamily="18" charset="0"/>
                                    </a:rPr>
                                    <m:t>.96</m:t>
                                  </m:r>
                                  <m:r>
                                    <a:rPr lang="en-US" altLang="en-US" i="1">
                                      <a:solidFill>
                                        <a:srgbClr val="000000"/>
                                      </a:solidFill>
                                      <a:latin typeface="Cambria Math" panose="02040503050406030204" pitchFamily="18" charset="0"/>
                                      <a:ea typeface="Cambria Math" panose="02040503050406030204" pitchFamily="18" charset="0"/>
                                    </a:rPr>
                                    <m:t>×</m:t>
                                  </m:r>
                                  <m:r>
                                    <a:rPr lang="en-US" altLang="en-US" b="0" i="1" smtClean="0">
                                      <a:solidFill>
                                        <a:srgbClr val="000000"/>
                                      </a:solidFill>
                                      <a:latin typeface="Cambria Math" panose="02040503050406030204" pitchFamily="18" charset="0"/>
                                      <a:ea typeface="Cambria Math" panose="02040503050406030204" pitchFamily="18" charset="0"/>
                                    </a:rPr>
                                    <m:t>1483</m:t>
                                  </m:r>
                                </m:num>
                                <m:den>
                                  <m:r>
                                    <a:rPr lang="en-US" altLang="en-US" b="0" i="1" smtClean="0">
                                      <a:solidFill>
                                        <a:srgbClr val="000000"/>
                                      </a:solidFill>
                                      <a:latin typeface="Cambria Math" panose="02040503050406030204" pitchFamily="18" charset="0"/>
                                      <a:ea typeface="Cambria Math" panose="02040503050406030204" pitchFamily="18" charset="0"/>
                                    </a:rPr>
                                    <m:t>30</m:t>
                                  </m:r>
                                </m:den>
                              </m:f>
                            </m:e>
                          </m:d>
                        </m:e>
                        <m:sup>
                          <m:r>
                            <a:rPr lang="en-US" altLang="en-US" b="0" i="1" smtClean="0">
                              <a:solidFill>
                                <a:srgbClr val="000000"/>
                              </a:solidFill>
                              <a:latin typeface="Cambria Math" panose="02040503050406030204" pitchFamily="18" charset="0"/>
                              <a:ea typeface="Cambria Math" panose="02040503050406030204" pitchFamily="18" charset="0"/>
                            </a:rPr>
                            <m:t>2</m:t>
                          </m:r>
                        </m:sup>
                      </m:sSup>
                      <m:r>
                        <a:rPr lang="en-US" altLang="en-US" b="0" i="1" smtClean="0">
                          <a:solidFill>
                            <a:srgbClr val="000000"/>
                          </a:solidFill>
                          <a:latin typeface="Cambria Math" panose="02040503050406030204" pitchFamily="18" charset="0"/>
                          <a:ea typeface="Cambria Math" panose="02040503050406030204" pitchFamily="18" charset="0"/>
                        </a:rPr>
                        <m:t>=9387.54</m:t>
                      </m:r>
                    </m:oMath>
                  </m:oMathPara>
                </a14:m>
                <a:endParaRPr lang="en-US" dirty="0"/>
              </a:p>
            </p:txBody>
          </p:sp>
        </mc:Choice>
        <mc:Fallback xmlns="">
          <p:sp>
            <p:nvSpPr>
              <p:cNvPr id="3" name="TextBox 2">
                <a:extLst>
                  <a:ext uri="{FF2B5EF4-FFF2-40B4-BE49-F238E27FC236}">
                    <a16:creationId xmlns:a16="http://schemas.microsoft.com/office/drawing/2014/main" id="{A78DC6D9-0649-00C0-56DF-0B0E278D5E41}"/>
                  </a:ext>
                </a:extLst>
              </p:cNvPr>
              <p:cNvSpPr txBox="1">
                <a:spLocks noRot="1" noChangeAspect="1" noMove="1" noResize="1" noEditPoints="1" noAdjustHandles="1" noChangeArrowheads="1" noChangeShapeType="1" noTextEdit="1"/>
              </p:cNvSpPr>
              <p:nvPr/>
            </p:nvSpPr>
            <p:spPr>
              <a:xfrm>
                <a:off x="1854724" y="3314244"/>
                <a:ext cx="4576712" cy="769378"/>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9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lnSpc>
                <a:spcPct val="110000"/>
              </a:lnSpc>
            </a:pPr>
            <a:r>
              <a:rPr lang="en-US" altLang="en-US" dirty="0">
                <a:solidFill>
                  <a:srgbClr val="073779"/>
                </a:solidFill>
                <a:ea typeface="ＭＳ Ｐゴシック" pitchFamily="34" charset="-128"/>
              </a:rPr>
              <a:t>Some Cautions</a:t>
            </a:r>
          </a:p>
        </p:txBody>
      </p:sp>
      <p:sp>
        <p:nvSpPr>
          <p:cNvPr id="52228"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DB6C659-D3ED-4A4A-86F3-164BC2E2FDE5}" type="slidenum">
              <a:rPr lang="en-US" altLang="en-US" sz="1400">
                <a:solidFill>
                  <a:schemeClr val="accent1"/>
                </a:solidFill>
              </a:rPr>
              <a:pPr/>
              <a:t>14</a:t>
            </a:fld>
            <a:endParaRPr lang="en-US" altLang="en-US" sz="1400">
              <a:solidFill>
                <a:schemeClr val="accent1"/>
              </a:solidFill>
            </a:endParaRPr>
          </a:p>
        </p:txBody>
      </p:sp>
      <mc:AlternateContent xmlns:mc="http://schemas.openxmlformats.org/markup-compatibility/2006" xmlns:a14="http://schemas.microsoft.com/office/drawing/2010/main">
        <mc:Choice Requires="a14">
          <p:sp>
            <p:nvSpPr>
              <p:cNvPr id="41987" name="Rectangle 3"/>
              <p:cNvSpPr>
                <a:spLocks noGrp="1" noChangeArrowheads="1"/>
              </p:cNvSpPr>
              <p:nvPr>
                <p:ph type="body" idx="4294967295"/>
              </p:nvPr>
            </p:nvSpPr>
            <p:spPr>
              <a:xfrm>
                <a:off x="430283" y="1431925"/>
                <a:ext cx="8145463" cy="4802188"/>
              </a:xfrm>
              <a:solidFill>
                <a:schemeClr val="accent2">
                  <a:lumMod val="20000"/>
                  <a:lumOff val="80000"/>
                </a:schemeClr>
              </a:solidFill>
            </p:spPr>
            <p:txBody>
              <a:bodyPr/>
              <a:lstStyle/>
              <a:p>
                <a:pPr eaLnBrk="1" hangingPunct="1">
                  <a:lnSpc>
                    <a:spcPct val="120000"/>
                  </a:lnSpc>
                  <a:buFont typeface="Wingdings 2" charset="0"/>
                  <a:buChar char="¡"/>
                  <a:defRPr/>
                </a:pPr>
                <a:r>
                  <a:rPr lang="en-US" altLang="en-US" dirty="0">
                    <a:solidFill>
                      <a:schemeClr val="tx1"/>
                    </a:solidFill>
                    <a:ea typeface="ＭＳ Ｐゴシック" pitchFamily="-65" charset="-128"/>
                  </a:rPr>
                  <a:t>The discussion in this chapter requires an </a:t>
                </a:r>
                <a:r>
                  <a:rPr lang="en-US" altLang="en-US" b="1" dirty="0">
                    <a:solidFill>
                      <a:schemeClr val="tx1"/>
                    </a:solidFill>
                    <a:ea typeface="ＭＳ Ｐゴシック" pitchFamily="-65" charset="-128"/>
                  </a:rPr>
                  <a:t>SRS</a:t>
                </a:r>
                <a:r>
                  <a:rPr lang="en-US" altLang="en-US" dirty="0">
                    <a:solidFill>
                      <a:schemeClr val="tx1"/>
                    </a:solidFill>
                    <a:ea typeface="ＭＳ Ｐゴシック" pitchFamily="-65" charset="-128"/>
                  </a:rPr>
                  <a:t> from the population. The CI and sample size formulas are </a:t>
                </a:r>
                <a:r>
                  <a:rPr lang="en-US" altLang="en-US" b="1" dirty="0">
                    <a:solidFill>
                      <a:schemeClr val="tx1"/>
                    </a:solidFill>
                    <a:ea typeface="ＭＳ Ｐゴシック" pitchFamily="-65" charset="-128"/>
                  </a:rPr>
                  <a:t>not</a:t>
                </a:r>
                <a:r>
                  <a:rPr lang="en-US" altLang="en-US" dirty="0">
                    <a:solidFill>
                      <a:schemeClr val="tx1"/>
                    </a:solidFill>
                    <a:ea typeface="ＭＳ Ｐゴシック" pitchFamily="-65" charset="-128"/>
                  </a:rPr>
                  <a:t> correct for </a:t>
                </a:r>
                <a:r>
                  <a:rPr lang="en-US" altLang="en-US" dirty="0">
                    <a:solidFill>
                      <a:srgbClr val="FF0000"/>
                    </a:solidFill>
                    <a:ea typeface="ＭＳ Ｐゴシック" pitchFamily="-65" charset="-128"/>
                  </a:rPr>
                  <a:t>not SRS</a:t>
                </a:r>
                <a:r>
                  <a:rPr lang="en-US" altLang="en-US" dirty="0">
                    <a:solidFill>
                      <a:schemeClr val="tx1"/>
                    </a:solidFill>
                    <a:ea typeface="ＭＳ Ｐゴシック" pitchFamily="-65" charset="-128"/>
                  </a:rPr>
                  <a:t>.</a:t>
                </a:r>
              </a:p>
              <a:p>
                <a:pPr>
                  <a:buFont typeface="Wingdings 2" pitchFamily="-65" charset="2"/>
                  <a:buChar char="¡"/>
                  <a:defRPr/>
                </a:pPr>
                <a:r>
                  <a:rPr lang="en-US" altLang="en-US" dirty="0">
                    <a:solidFill>
                      <a:schemeClr val="tx1"/>
                    </a:solidFill>
                    <a:ea typeface="ＭＳ Ｐゴシック" pitchFamily="-65" charset="-128"/>
                  </a:rPr>
                  <a:t>Inference </a:t>
                </a:r>
                <a:r>
                  <a:rPr lang="en-US" altLang="en-US" b="1" dirty="0">
                    <a:solidFill>
                      <a:schemeClr val="tx1"/>
                    </a:solidFill>
                    <a:ea typeface="ＭＳ Ｐゴシック" pitchFamily="-65" charset="-128"/>
                  </a:rPr>
                  <a:t>cannot</a:t>
                </a:r>
                <a:r>
                  <a:rPr lang="en-US" altLang="en-US" dirty="0">
                    <a:solidFill>
                      <a:schemeClr val="tx1"/>
                    </a:solidFill>
                    <a:ea typeface="ＭＳ Ｐゴシック" pitchFamily="-65" charset="-128"/>
                  </a:rPr>
                  <a:t> rescue badly produced data (i.e. sampling bias, measurement error).</a:t>
                </a:r>
              </a:p>
              <a:p>
                <a:pPr>
                  <a:buFont typeface="Wingdings 2" pitchFamily="-65" charset="2"/>
                  <a:buChar char="¡"/>
                  <a:defRPr/>
                </a:pPr>
                <a:r>
                  <a:rPr lang="en-US" altLang="en-US" dirty="0">
                    <a:solidFill>
                      <a:schemeClr val="tx1"/>
                    </a:solidFill>
                    <a:ea typeface="ＭＳ Ｐゴシック" pitchFamily="-65" charset="-128"/>
                  </a:rPr>
                  <a:t>CIs are </a:t>
                </a:r>
                <a:r>
                  <a:rPr lang="en-US" altLang="en-US" b="1" dirty="0">
                    <a:solidFill>
                      <a:schemeClr val="tx1"/>
                    </a:solidFill>
                    <a:ea typeface="ＭＳ Ｐゴシック" pitchFamily="-65" charset="-128"/>
                  </a:rPr>
                  <a:t>not resistant </a:t>
                </a:r>
                <a:r>
                  <a:rPr lang="en-US" altLang="en-US" dirty="0">
                    <a:solidFill>
                      <a:schemeClr val="tx1"/>
                    </a:solidFill>
                    <a:ea typeface="ＭＳ Ｐゴシック" pitchFamily="-65" charset="-128"/>
                  </a:rPr>
                  <a:t>to outliers (because the standard deviation is not resistant to outliers).</a:t>
                </a:r>
              </a:p>
              <a:p>
                <a:pPr>
                  <a:buFont typeface="Wingdings 2" pitchFamily="-65" charset="2"/>
                  <a:buChar char="¡"/>
                  <a:defRPr/>
                </a:pPr>
                <a:r>
                  <a:rPr lang="en-US" altLang="en-US" dirty="0">
                    <a:solidFill>
                      <a:schemeClr val="tx1"/>
                    </a:solidFill>
                    <a:ea typeface="ＭＳ Ｐゴシック" pitchFamily="-65" charset="-128"/>
                  </a:rPr>
                  <a:t>If </a:t>
                </a:r>
                <a14:m>
                  <m:oMath xmlns:m="http://schemas.openxmlformats.org/officeDocument/2006/math">
                    <m:r>
                      <a:rPr lang="en-US" altLang="en-US" b="1" i="1" dirty="0" smtClean="0">
                        <a:solidFill>
                          <a:schemeClr val="tx1"/>
                        </a:solidFill>
                        <a:latin typeface="Cambria Math" panose="02040503050406030204" pitchFamily="18" charset="0"/>
                        <a:ea typeface="ＭＳ Ｐゴシック" pitchFamily="-65" charset="-128"/>
                      </a:rPr>
                      <m:t>𝒏</m:t>
                    </m:r>
                  </m:oMath>
                </a14:m>
                <a:r>
                  <a:rPr lang="en-US" altLang="en-US" dirty="0">
                    <a:solidFill>
                      <a:schemeClr val="tx1"/>
                    </a:solidFill>
                    <a:ea typeface="ＭＳ Ｐゴシック" pitchFamily="-65" charset="-128"/>
                  </a:rPr>
                  <a:t> is small </a:t>
                </a:r>
                <a:r>
                  <a:rPr lang="en-US" altLang="en-US" b="1" dirty="0">
                    <a:solidFill>
                      <a:schemeClr val="tx1"/>
                    </a:solidFill>
                    <a:ea typeface="ＭＳ Ｐゴシック" pitchFamily="-65" charset="-128"/>
                  </a:rPr>
                  <a:t>(&lt;15)</a:t>
                </a:r>
                <a:r>
                  <a:rPr lang="en-US" altLang="en-US" dirty="0">
                    <a:solidFill>
                      <a:schemeClr val="tx1"/>
                    </a:solidFill>
                    <a:ea typeface="ＭＳ Ｐゴシック" pitchFamily="-65" charset="-128"/>
                  </a:rPr>
                  <a:t> and the population is not normal, the true confidence level will be </a:t>
                </a:r>
                <a:r>
                  <a:rPr lang="en-US" altLang="en-US" b="1" dirty="0">
                    <a:solidFill>
                      <a:schemeClr val="tx1"/>
                    </a:solidFill>
                    <a:ea typeface="ＭＳ Ｐゴシック" pitchFamily="-65" charset="-128"/>
                  </a:rPr>
                  <a:t>different </a:t>
                </a:r>
                <a:r>
                  <a:rPr lang="en-US" altLang="en-US" dirty="0">
                    <a:solidFill>
                      <a:schemeClr val="tx1"/>
                    </a:solidFill>
                    <a:ea typeface="ＭＳ Ｐゴシック" pitchFamily="-65" charset="-128"/>
                  </a:rPr>
                  <a:t>from </a:t>
                </a:r>
                <a:r>
                  <a:rPr lang="en-US" altLang="en-US" b="1" i="1" dirty="0">
                    <a:solidFill>
                      <a:schemeClr val="tx1"/>
                    </a:solidFill>
                    <a:ea typeface="ＭＳ Ｐゴシック" pitchFamily="-65" charset="-128"/>
                  </a:rPr>
                  <a:t>C</a:t>
                </a:r>
                <a:r>
                  <a:rPr lang="en-US" altLang="en-US" b="1" dirty="0">
                    <a:solidFill>
                      <a:schemeClr val="tx1"/>
                    </a:solidFill>
                    <a:ea typeface="ＭＳ Ｐゴシック" pitchFamily="-65" charset="-128"/>
                  </a:rPr>
                  <a:t> </a:t>
                </a:r>
                <a:r>
                  <a:rPr lang="en-US" altLang="en-US" dirty="0">
                    <a:solidFill>
                      <a:schemeClr val="tx1"/>
                    </a:solidFill>
                    <a:ea typeface="ＭＳ Ｐゴシック" pitchFamily="-65" charset="-128"/>
                  </a:rPr>
                  <a:t>(because </a:t>
                </a:r>
                <a:r>
                  <a:rPr lang="en-US" altLang="en-US" dirty="0">
                    <a:solidFill>
                      <a:srgbClr val="FF0000"/>
                    </a:solidFill>
                    <a:ea typeface="ＭＳ Ｐゴシック" pitchFamily="-65" charset="-128"/>
                  </a:rPr>
                  <a:t>CTL is not applicable</a:t>
                </a:r>
                <a:r>
                  <a:rPr lang="en-US" altLang="en-US" dirty="0">
                    <a:solidFill>
                      <a:schemeClr val="tx1"/>
                    </a:solidFill>
                    <a:ea typeface="ＭＳ Ｐゴシック" pitchFamily="-65" charset="-128"/>
                  </a:rPr>
                  <a:t>).</a:t>
                </a:r>
              </a:p>
              <a:p>
                <a:pPr>
                  <a:buFont typeface="Wingdings 2" pitchFamily="-65" charset="2"/>
                  <a:buChar char="¡"/>
                  <a:defRPr/>
                </a:pPr>
                <a:r>
                  <a:rPr lang="en-US" altLang="en-US" dirty="0">
                    <a:solidFill>
                      <a:schemeClr val="tx1"/>
                    </a:solidFill>
                    <a:ea typeface="ＭＳ Ｐゴシック" pitchFamily="-65" charset="-128"/>
                  </a:rPr>
                  <a:t>The formulas for now requires known </a:t>
                </a:r>
                <a14:m>
                  <m:oMath xmlns:m="http://schemas.openxmlformats.org/officeDocument/2006/math">
                    <m:r>
                      <a:rPr lang="en-US" altLang="en-US" b="1" i="1" dirty="0" smtClean="0">
                        <a:solidFill>
                          <a:schemeClr val="tx1"/>
                        </a:solidFill>
                        <a:latin typeface="Cambria Math" panose="02040503050406030204" pitchFamily="18" charset="0"/>
                        <a:ea typeface="ＭＳ Ｐゴシック" pitchFamily="-65" charset="-128"/>
                        <a:sym typeface="Symbol" pitchFamily="-65" charset="2"/>
                      </a:rPr>
                      <m:t>𝝈</m:t>
                    </m:r>
                  </m:oMath>
                </a14:m>
                <a:r>
                  <a:rPr lang="en-US" altLang="en-US" dirty="0">
                    <a:solidFill>
                      <a:schemeClr val="tx1"/>
                    </a:solidFill>
                    <a:ea typeface="ＭＳ Ｐゴシック" pitchFamily="-65" charset="-128"/>
                  </a:rPr>
                  <a:t>.</a:t>
                </a:r>
              </a:p>
              <a:p>
                <a:pPr>
                  <a:buFont typeface="Wingdings 2" pitchFamily="-65" charset="2"/>
                  <a:buChar char="¡"/>
                  <a:defRPr/>
                </a:pPr>
                <a:r>
                  <a:rPr lang="en-US" altLang="en-US" dirty="0">
                    <a:solidFill>
                      <a:schemeClr val="tx1"/>
                    </a:solidFill>
                    <a:ea typeface="ＭＳ Ｐゴシック" pitchFamily="-65" charset="-128"/>
                  </a:rPr>
                  <a:t>The margin of error of a CI covers only </a:t>
                </a:r>
                <a:r>
                  <a:rPr lang="en-US" altLang="en-US" dirty="0">
                    <a:solidFill>
                      <a:srgbClr val="FF0000"/>
                    </a:solidFill>
                    <a:ea typeface="ＭＳ Ｐゴシック" pitchFamily="-65" charset="-128"/>
                  </a:rPr>
                  <a:t>random sampling errors</a:t>
                </a:r>
                <a:r>
                  <a:rPr lang="en-US" altLang="en-US" dirty="0">
                    <a:solidFill>
                      <a:schemeClr val="tx1"/>
                    </a:solidFill>
                    <a:ea typeface="ＭＳ Ｐゴシック" pitchFamily="-65" charset="-128"/>
                  </a:rPr>
                  <a:t>.</a:t>
                </a:r>
              </a:p>
              <a:p>
                <a:pPr>
                  <a:spcAft>
                    <a:spcPts val="1200"/>
                  </a:spcAft>
                  <a:buFont typeface="Wingdings 2" pitchFamily="-65" charset="2"/>
                  <a:buChar char="¡"/>
                  <a:defRPr/>
                </a:pPr>
                <a:endParaRPr lang="en-US" altLang="en-US" dirty="0">
                  <a:solidFill>
                    <a:schemeClr val="tx1"/>
                  </a:solidFill>
                  <a:ea typeface="ＭＳ Ｐゴシック" pitchFamily="-65" charset="-128"/>
                </a:endParaRPr>
              </a:p>
            </p:txBody>
          </p:sp>
        </mc:Choice>
        <mc:Fallback xmlns="">
          <p:sp>
            <p:nvSpPr>
              <p:cNvPr id="41987" name="Rectangle 3"/>
              <p:cNvSpPr>
                <a:spLocks noGrp="1" noRot="1" noChangeAspect="1" noMove="1" noResize="1" noEditPoints="1" noAdjustHandles="1" noChangeArrowheads="1" noChangeShapeType="1" noTextEdit="1"/>
              </p:cNvSpPr>
              <p:nvPr>
                <p:ph type="body" idx="4294967295"/>
              </p:nvPr>
            </p:nvSpPr>
            <p:spPr>
              <a:xfrm>
                <a:off x="430283" y="1431925"/>
                <a:ext cx="8145463" cy="4802188"/>
              </a:xfrm>
              <a:blipFill>
                <a:blip r:embed="rId3"/>
                <a:stretch>
                  <a:fillRect l="-599" t="-127" b="-381"/>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2"/>
          <p:cNvSpPr>
            <a:spLocks noGrp="1"/>
          </p:cNvSpPr>
          <p:nvPr>
            <p:ph type="title"/>
          </p:nvPr>
        </p:nvSpPr>
        <p:spPr>
          <a:xfrm>
            <a:off x="457200" y="914400"/>
            <a:ext cx="6508750" cy="707010"/>
          </a:xfrm>
        </p:spPr>
        <p:txBody>
          <a:bodyPr anchor="t"/>
          <a:lstStyle/>
          <a:p>
            <a:pPr eaLnBrk="1" hangingPunct="1"/>
            <a:r>
              <a:rPr lang="en-US" altLang="en-US" b="1" dirty="0">
                <a:ea typeface="ＭＳ Ｐゴシック" pitchFamily="34" charset="-128"/>
              </a:rPr>
              <a:t>6.2 Hypothesis Test</a:t>
            </a:r>
          </a:p>
        </p:txBody>
      </p:sp>
      <p:sp>
        <p:nvSpPr>
          <p:cNvPr id="54275" name="Text Placeholder 3"/>
          <p:cNvSpPr>
            <a:spLocks noGrp="1"/>
          </p:cNvSpPr>
          <p:nvPr>
            <p:ph idx="1"/>
          </p:nvPr>
        </p:nvSpPr>
        <p:spPr>
          <a:xfrm>
            <a:off x="457200" y="1936424"/>
            <a:ext cx="6508750" cy="4219280"/>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Reasoning of tests of significance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Stating hypotheses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Test statistics and P-values</a:t>
            </a:r>
          </a:p>
          <a:p>
            <a:pPr eaLnBrk="1" hangingPunct="1">
              <a:buSzPct val="110000"/>
              <a:buFont typeface="Wingdings" pitchFamily="2" charset="2"/>
              <a:buChar char="§"/>
            </a:pPr>
            <a:r>
              <a:rPr lang="en-US" altLang="zh-CN" sz="2400" dirty="0">
                <a:solidFill>
                  <a:schemeClr val="accent1"/>
                </a:solidFill>
                <a:ea typeface="ＭＳ Ｐゴシック" pitchFamily="34" charset="-128"/>
              </a:rPr>
              <a:t>S</a:t>
            </a:r>
            <a:r>
              <a:rPr lang="en-US" altLang="en-US" sz="2400" dirty="0">
                <a:solidFill>
                  <a:schemeClr val="accent1"/>
                </a:solidFill>
                <a:ea typeface="ＭＳ Ｐゴシック" pitchFamily="34" charset="-128"/>
              </a:rPr>
              <a:t>ignificance levels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Tests for a population mean</a:t>
            </a:r>
          </a:p>
        </p:txBody>
      </p:sp>
      <p:sp>
        <p:nvSpPr>
          <p:cNvPr id="5427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AE1C8DF-DA78-4BAA-8A13-81EBAAF52C0B}" type="slidenum">
              <a:rPr lang="en-US" altLang="en-US" sz="1400">
                <a:solidFill>
                  <a:schemeClr val="accent1"/>
                </a:solidFill>
              </a:rPr>
              <a:pPr/>
              <a:t>15</a:t>
            </a:fld>
            <a:endParaRPr lang="en-US" altLang="en-US" sz="140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pPr eaLnBrk="1" hangingPunct="1"/>
            <a:r>
              <a:rPr lang="en-US" altLang="en-US" dirty="0">
                <a:solidFill>
                  <a:srgbClr val="000000"/>
                </a:solidFill>
              </a:rPr>
              <a:t>Hypothesis Tests</a:t>
            </a:r>
            <a:endParaRPr lang="en-US" altLang="en-US" dirty="0">
              <a:ea typeface="ＭＳ Ｐゴシック" pitchFamily="34" charset="-128"/>
            </a:endParaRPr>
          </a:p>
        </p:txBody>
      </p:sp>
      <p:sp>
        <p:nvSpPr>
          <p:cNvPr id="552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97E5B23-E68C-4FC0-B03C-29EB8A094E25}" type="slidenum">
              <a:rPr lang="en-US" altLang="en-US" sz="1200">
                <a:solidFill>
                  <a:schemeClr val="accent1"/>
                </a:solidFill>
              </a:rPr>
              <a:pPr>
                <a:lnSpc>
                  <a:spcPct val="80000"/>
                </a:lnSpc>
              </a:pPr>
              <a:t>16</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2" name="Rectangle 1"/>
              <p:cNvSpPr>
                <a:spLocks noChangeArrowheads="1"/>
              </p:cNvSpPr>
              <p:nvPr/>
            </p:nvSpPr>
            <p:spPr bwMode="auto">
              <a:xfrm>
                <a:off x="539750" y="2434816"/>
                <a:ext cx="8066088" cy="255454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buFont typeface="Wingdings" charset="2"/>
                  <a:buNone/>
                  <a:defRPr/>
                </a:pPr>
                <a:r>
                  <a:rPr lang="en-US" altLang="en-US" sz="2000" dirty="0">
                    <a:solidFill>
                      <a:srgbClr val="000000"/>
                    </a:solidFill>
                  </a:rPr>
                  <a:t>A hypothesis test is a statistical procedure for making a decision between two competing hypotheses based on sample data.</a:t>
                </a:r>
              </a:p>
              <a:p>
                <a:pPr marL="342900" indent="-342900" eaLnBrk="1" hangingPunct="1">
                  <a:buFont typeface="Arial" panose="020B0604020202020204" pitchFamily="34" charset="0"/>
                  <a:buChar char="•"/>
                  <a:defRPr/>
                </a:pPr>
                <a:r>
                  <a:rPr lang="en-US" altLang="en-US" sz="2000" dirty="0">
                    <a:solidFill>
                      <a:srgbClr val="000000"/>
                    </a:solidFill>
                  </a:rPr>
                  <a:t>The </a:t>
                </a:r>
                <a:r>
                  <a:rPr lang="en-US" altLang="en-US" sz="2000" dirty="0">
                    <a:solidFill>
                      <a:srgbClr val="FF0000"/>
                    </a:solidFill>
                  </a:rPr>
                  <a:t>null hypothesis </a:t>
                </a:r>
                <a:r>
                  <a:rPr lang="en-US" altLang="en-US" sz="2000" dirty="0">
                    <a:solidFill>
                      <a:srgbClr val="000000"/>
                    </a:solidFill>
                  </a:rPr>
                  <a:t>(</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i="1" dirty="0" smtClean="0">
                            <a:solidFill>
                              <a:srgbClr val="000000"/>
                            </a:solidFill>
                            <a:latin typeface="Cambria Math" panose="02040503050406030204" pitchFamily="18" charset="0"/>
                          </a:rPr>
                          <m:t>0</m:t>
                        </m:r>
                      </m:sub>
                    </m:sSub>
                  </m:oMath>
                </a14:m>
                <a:r>
                  <a:rPr lang="en-US" altLang="en-US" sz="2000" dirty="0">
                    <a:solidFill>
                      <a:srgbClr val="000000"/>
                    </a:solidFill>
                  </a:rPr>
                  <a:t>) specifies the claim being tested.</a:t>
                </a:r>
              </a:p>
              <a:p>
                <a:pPr marL="342900" indent="-342900" eaLnBrk="1" hangingPunct="1">
                  <a:buFont typeface="Arial" panose="020B0604020202020204" pitchFamily="34" charset="0"/>
                  <a:buChar char="•"/>
                  <a:defRPr/>
                </a:pPr>
                <a:r>
                  <a:rPr lang="en-US" altLang="en-US" sz="2000" dirty="0">
                    <a:solidFill>
                      <a:srgbClr val="000000"/>
                    </a:solidFill>
                  </a:rPr>
                  <a:t>The </a:t>
                </a:r>
                <a:r>
                  <a:rPr lang="en-US" altLang="en-US" sz="2000" dirty="0">
                    <a:solidFill>
                      <a:srgbClr val="FF0000"/>
                    </a:solidFill>
                  </a:rPr>
                  <a:t>alternative hypothesis </a:t>
                </a:r>
                <a:r>
                  <a:rPr lang="en-US" altLang="en-US" sz="2000" dirty="0">
                    <a:solidFill>
                      <a:srgbClr val="000000"/>
                    </a:solidFill>
                  </a:rPr>
                  <a:t>(</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b="0" i="1" dirty="0" smtClean="0">
                            <a:solidFill>
                              <a:srgbClr val="000000"/>
                            </a:solidFill>
                            <a:latin typeface="Cambria Math" panose="02040503050406030204" pitchFamily="18" charset="0"/>
                          </a:rPr>
                          <m:t>𝑎</m:t>
                        </m:r>
                      </m:sub>
                    </m:sSub>
                  </m:oMath>
                </a14:m>
                <a:r>
                  <a:rPr lang="en-US" altLang="en-US" sz="2000" dirty="0">
                    <a:solidFill>
                      <a:srgbClr val="000000"/>
                    </a:solidFill>
                  </a:rPr>
                  <a:t>) specifies the competing claim we support if we reject </a:t>
                </a:r>
                <a14:m>
                  <m:oMath xmlns:m="http://schemas.openxmlformats.org/officeDocument/2006/math">
                    <m:sSub>
                      <m:sSubPr>
                        <m:ctrlPr>
                          <a:rPr lang="en-US" altLang="en-US" sz="2000" i="1" dirty="0">
                            <a:solidFill>
                              <a:srgbClr val="000000"/>
                            </a:solidFill>
                            <a:latin typeface="Cambria Math" panose="02040503050406030204" pitchFamily="18" charset="0"/>
                          </a:rPr>
                        </m:ctrlPr>
                      </m:sSubPr>
                      <m:e>
                        <m:r>
                          <a:rPr lang="en-US" altLang="en-US" sz="2000" i="1" dirty="0">
                            <a:solidFill>
                              <a:srgbClr val="000000"/>
                            </a:solidFill>
                            <a:latin typeface="Cambria Math" panose="02040503050406030204" pitchFamily="18" charset="0"/>
                          </a:rPr>
                          <m:t>𝐻</m:t>
                        </m:r>
                      </m:e>
                      <m:sub>
                        <m:r>
                          <a:rPr lang="en-US" altLang="en-US" sz="2000" i="1" dirty="0">
                            <a:solidFill>
                              <a:srgbClr val="000000"/>
                            </a:solidFill>
                            <a:latin typeface="Cambria Math" panose="02040503050406030204" pitchFamily="18" charset="0"/>
                          </a:rPr>
                          <m:t>0</m:t>
                        </m:r>
                      </m:sub>
                    </m:sSub>
                  </m:oMath>
                </a14:m>
                <a:r>
                  <a:rPr lang="en-US" altLang="en-US" sz="2000" dirty="0">
                    <a:solidFill>
                      <a:srgbClr val="000000"/>
                    </a:solidFill>
                  </a:rPr>
                  <a:t>.</a:t>
                </a:r>
              </a:p>
              <a:p>
                <a:pPr marL="342900" indent="-342900" eaLnBrk="1" hangingPunct="1">
                  <a:buFont typeface="Arial" panose="020B0604020202020204" pitchFamily="34" charset="0"/>
                  <a:buChar char="•"/>
                  <a:defRPr/>
                </a:pPr>
                <a:r>
                  <a:rPr lang="en-US" altLang="en-US" sz="2000" dirty="0">
                    <a:solidFill>
                      <a:srgbClr val="000000"/>
                    </a:solidFill>
                  </a:rPr>
                  <a:t>The P-value is the probability, assuming </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i="1" dirty="0" smtClean="0">
                            <a:solidFill>
                              <a:srgbClr val="000000"/>
                            </a:solidFill>
                            <a:latin typeface="Cambria Math" panose="02040503050406030204" pitchFamily="18" charset="0"/>
                          </a:rPr>
                          <m:t>0</m:t>
                        </m:r>
                      </m:sub>
                    </m:sSub>
                  </m:oMath>
                </a14:m>
                <a:r>
                  <a:rPr lang="en-US" altLang="en-US" sz="2000" dirty="0">
                    <a:solidFill>
                      <a:srgbClr val="000000"/>
                    </a:solidFill>
                  </a:rPr>
                  <a:t> is true, of obtaining a test statistic </a:t>
                </a:r>
                <a:r>
                  <a:rPr lang="en-US" altLang="en-US" sz="2000" dirty="0">
                    <a:solidFill>
                      <a:srgbClr val="FF0000"/>
                    </a:solidFill>
                  </a:rPr>
                  <a:t>at least as extreme as </a:t>
                </a:r>
                <a:r>
                  <a:rPr lang="en-US" altLang="en-US" sz="2000" dirty="0">
                    <a:solidFill>
                      <a:srgbClr val="000000"/>
                    </a:solidFill>
                  </a:rPr>
                  <a:t>the observed value, in the direction specified by </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i="1" dirty="0" smtClean="0">
                            <a:solidFill>
                              <a:srgbClr val="000000"/>
                            </a:solidFill>
                            <a:latin typeface="Cambria Math" panose="02040503050406030204" pitchFamily="18" charset="0"/>
                          </a:rPr>
                          <m:t>𝑎</m:t>
                        </m:r>
                      </m:sub>
                    </m:sSub>
                  </m:oMath>
                </a14:m>
                <a:r>
                  <a:rPr lang="en-US" altLang="en-US" sz="2000" dirty="0">
                    <a:solidFill>
                      <a:srgbClr val="000000"/>
                    </a:solidFill>
                  </a:rPr>
                  <a:t>.</a:t>
                </a:r>
              </a:p>
            </p:txBody>
          </p:sp>
        </mc:Choice>
        <mc:Fallback xmlns="">
          <p:sp>
            <p:nvSpPr>
              <p:cNvPr id="2" name="Rectangle 1"/>
              <p:cNvSpPr>
                <a:spLocks noRot="1" noChangeAspect="1" noMove="1" noResize="1" noEditPoints="1" noAdjustHandles="1" noChangeArrowheads="1" noChangeShapeType="1" noTextEdit="1"/>
              </p:cNvSpPr>
              <p:nvPr/>
            </p:nvSpPr>
            <p:spPr bwMode="auto">
              <a:xfrm>
                <a:off x="539750" y="2434816"/>
                <a:ext cx="8066088" cy="2554545"/>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74625" y="156604"/>
            <a:ext cx="7772400" cy="701235"/>
          </a:xfrm>
        </p:spPr>
        <p:txBody>
          <a:bodyPr/>
          <a:lstStyle/>
          <a:p>
            <a:pPr eaLnBrk="1" hangingPunct="1"/>
            <a:r>
              <a:rPr lang="en-US" altLang="en-US" dirty="0"/>
              <a:t>Free-throw Shooter Example</a:t>
            </a:r>
            <a:endParaRPr lang="en-US" altLang="en-US" dirty="0">
              <a:ea typeface="ＭＳ Ｐゴシック" pitchFamily="34" charset="-128"/>
            </a:endParaRPr>
          </a:p>
        </p:txBody>
      </p:sp>
      <p:sp>
        <p:nvSpPr>
          <p:cNvPr id="563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0E02844-12B3-42DF-B094-ED043B18C190}" type="slidenum">
              <a:rPr lang="en-US" altLang="en-US" sz="1200">
                <a:solidFill>
                  <a:schemeClr val="accent1"/>
                </a:solidFill>
              </a:rPr>
              <a:pPr>
                <a:lnSpc>
                  <a:spcPct val="80000"/>
                </a:lnSpc>
              </a:pPr>
              <a:t>17</a:t>
            </a:fld>
            <a:endParaRPr lang="en-US" altLang="en-US" sz="1200">
              <a:solidFill>
                <a:schemeClr val="accent1"/>
              </a:solidFill>
            </a:endParaRPr>
          </a:p>
        </p:txBody>
      </p:sp>
      <p:pic>
        <p:nvPicPr>
          <p:cNvPr id="7" name="Picture 6" descr="The image tries to explain the Reasoning of Statistical Tests of Significance by simulating the data to test the claim. The X-axis represents the sample proportion &quot;p&quot; which range from 0.48 to 0.96 in intervals of 0.02. It shows the stimulation of 400 sets of 50 shots on the assumption that the player is 80 percent free-throw shooter. It shows that on 400 sets of 50 shots there were only 3 times when our shooter made as few as the observed sample proportion &quot;p&quot; equals to &quot;0.64&quot;. Based on the evidence, we might conclude the player’s claim is incorrec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97425" y="2729908"/>
            <a:ext cx="421957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p:nvPr/>
        </p:nvSpPr>
        <p:spPr>
          <a:xfrm>
            <a:off x="347663" y="974267"/>
            <a:ext cx="8399462" cy="1354138"/>
          </a:xfrm>
          <a:prstGeom prst="rect">
            <a:avLst/>
          </a:prstGeom>
          <a:solidFill>
            <a:srgbClr val="EEEFD6"/>
          </a:solidFill>
          <a:ln>
            <a:noFill/>
          </a:ln>
        </p:spPr>
        <p:style>
          <a:lnRef idx="2">
            <a:schemeClr val="accent2">
              <a:shade val="50000"/>
            </a:schemeClr>
          </a:lnRef>
          <a:fillRef idx="1">
            <a:schemeClr val="accent2"/>
          </a:fillRef>
          <a:effectRef idx="0">
            <a:schemeClr val="accent2"/>
          </a:effectRef>
          <a:fontRef idx="minor">
            <a:schemeClr val="lt1"/>
          </a:fontRef>
        </p:style>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defRPr/>
            </a:pPr>
            <a:r>
              <a:rPr lang="en-US" altLang="en-US" sz="1800" dirty="0">
                <a:solidFill>
                  <a:srgbClr val="000000"/>
                </a:solidFill>
                <a:cs typeface="Arial" charset="0"/>
              </a:rPr>
              <a:t>Suppose a basketball player claimed to be an 80% free-throw shooter. To test this claim, we have him attempt 50 free throws. He makes 32 of them. His sample proportion of making shots is 32/50 = 0.64.</a:t>
            </a:r>
          </a:p>
          <a:p>
            <a:pPr eaLnBrk="1" hangingPunct="1">
              <a:defRPr/>
            </a:pPr>
            <a:r>
              <a:rPr lang="en-US" altLang="en-US" sz="1800" dirty="0">
                <a:solidFill>
                  <a:srgbClr val="000000"/>
                </a:solidFill>
                <a:cs typeface="Arial" charset="0"/>
              </a:rPr>
              <a:t>What can we conclude about the claim based on this sample data?</a:t>
            </a:r>
          </a:p>
        </p:txBody>
      </p:sp>
      <p:sp>
        <p:nvSpPr>
          <p:cNvPr id="8" name="Rectangle 7"/>
          <p:cNvSpPr/>
          <p:nvPr/>
        </p:nvSpPr>
        <p:spPr>
          <a:xfrm>
            <a:off x="347663" y="2445049"/>
            <a:ext cx="4337459" cy="1200329"/>
          </a:xfrm>
          <a:prstGeom prst="rect">
            <a:avLst/>
          </a:prstGeom>
          <a:solidFill>
            <a:srgbClr val="EEEFD6"/>
          </a:solid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eaLnBrk="1" hangingPunct="1">
              <a:defRPr/>
            </a:pPr>
            <a:r>
              <a:rPr lang="en-US" dirty="0">
                <a:solidFill>
                  <a:srgbClr val="000000"/>
                </a:solidFill>
                <a:cs typeface="Arial"/>
              </a:rPr>
              <a:t>The plot on the right is from a simulation of </a:t>
            </a:r>
            <a:r>
              <a:rPr lang="en-US" dirty="0">
                <a:solidFill>
                  <a:srgbClr val="FF0000"/>
                </a:solidFill>
                <a:cs typeface="Arial"/>
              </a:rPr>
              <a:t>400 sets of 50 shots, </a:t>
            </a:r>
            <a:r>
              <a:rPr lang="en-US" dirty="0">
                <a:solidFill>
                  <a:srgbClr val="000000"/>
                </a:solidFill>
                <a:cs typeface="Arial"/>
              </a:rPr>
              <a:t>each </a:t>
            </a:r>
            <a:r>
              <a:rPr lang="en-US" i="1" dirty="0">
                <a:solidFill>
                  <a:srgbClr val="000000"/>
                </a:solidFill>
                <a:cs typeface="Arial"/>
              </a:rPr>
              <a:t>on the assumption that the player is an 80% free-throw shooter.</a:t>
            </a:r>
            <a:r>
              <a:rPr lang="en-US" dirty="0">
                <a:solidFill>
                  <a:srgbClr val="000000"/>
                </a:solidFill>
                <a:cs typeface="Arial"/>
              </a:rPr>
              <a:t> </a:t>
            </a:r>
          </a:p>
        </p:txBody>
      </p:sp>
      <p:sp>
        <p:nvSpPr>
          <p:cNvPr id="10" name="TextBox 9"/>
          <p:cNvSpPr txBox="1"/>
          <p:nvPr/>
        </p:nvSpPr>
        <p:spPr>
          <a:xfrm>
            <a:off x="347663" y="3691975"/>
            <a:ext cx="4337459" cy="1477963"/>
          </a:xfrm>
          <a:prstGeom prst="rect">
            <a:avLst/>
          </a:prstGeom>
          <a:solidFill>
            <a:srgbClr val="EEEFD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000000"/>
                </a:solidFill>
              </a:rPr>
              <a:t>You can say how strong the evidence against the player’s claim is by giving the probability that he would make as few as 32 out of 50 free throws if he really makes 80% in the long run.</a:t>
            </a:r>
          </a:p>
        </p:txBody>
      </p:sp>
      <p:sp>
        <p:nvSpPr>
          <p:cNvPr id="9" name="Rectangle 8"/>
          <p:cNvSpPr/>
          <p:nvPr/>
        </p:nvSpPr>
        <p:spPr>
          <a:xfrm>
            <a:off x="347663" y="5210900"/>
            <a:ext cx="4337459" cy="1477328"/>
          </a:xfrm>
          <a:prstGeom prst="rect">
            <a:avLst/>
          </a:prstGeom>
          <a:solidFill>
            <a:srgbClr val="EEEF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i="1" dirty="0">
                <a:solidFill>
                  <a:srgbClr val="000000"/>
                </a:solidFill>
              </a:rPr>
              <a:t>Assuming that the actual parameter value is p = 0.80, </a:t>
            </a:r>
            <a:r>
              <a:rPr lang="en-US" altLang="en-US" sz="1800" dirty="0">
                <a:solidFill>
                  <a:srgbClr val="000000"/>
                </a:solidFill>
              </a:rPr>
              <a:t>the observed statistic is so unlikely that it gives convincing evidence that the player’s claim is not true.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ea typeface="ＭＳ Ｐゴシック" pitchFamily="34" charset="-128"/>
              </a:rPr>
              <a:t>Hypotheses</a:t>
            </a: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A37B42CE-9146-4182-80FF-0F0EE1956340}" type="slidenum">
              <a:rPr lang="en-US" altLang="en-US" sz="1200">
                <a:solidFill>
                  <a:schemeClr val="accent1"/>
                </a:solidFill>
              </a:rPr>
              <a:pPr>
                <a:lnSpc>
                  <a:spcPct val="80000"/>
                </a:lnSpc>
              </a:pPr>
              <a:t>18</a:t>
            </a:fld>
            <a:endParaRPr lang="en-US" altLang="en-US" sz="1200">
              <a:solidFill>
                <a:schemeClr val="accent1"/>
              </a:solidFill>
            </a:endParaRPr>
          </a:p>
        </p:txBody>
      </p:sp>
      <p:sp>
        <p:nvSpPr>
          <p:cNvPr id="57348" name="Rectangle 2"/>
          <p:cNvSpPr>
            <a:spLocks noChangeArrowheads="1"/>
          </p:cNvSpPr>
          <p:nvPr/>
        </p:nvSpPr>
        <p:spPr bwMode="auto">
          <a:xfrm>
            <a:off x="449263" y="1128713"/>
            <a:ext cx="82819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A hypothesis test starts with a careful statement of the hypotheses we want to compare. </a:t>
            </a:r>
          </a:p>
        </p:txBody>
      </p:sp>
      <mc:AlternateContent xmlns:mc="http://schemas.openxmlformats.org/markup-compatibility/2006" xmlns:a14="http://schemas.microsoft.com/office/drawing/2010/main">
        <mc:Choice Requires="a14">
          <p:sp>
            <p:nvSpPr>
              <p:cNvPr id="18" name="TextBox 17"/>
              <p:cNvSpPr txBox="1">
                <a:spLocks noChangeArrowheads="1"/>
              </p:cNvSpPr>
              <p:nvPr/>
            </p:nvSpPr>
            <p:spPr bwMode="auto">
              <a:xfrm>
                <a:off x="519112" y="1939925"/>
                <a:ext cx="8142287" cy="216982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buNone/>
                  <a:defRPr/>
                </a:pPr>
                <a:r>
                  <a:rPr lang="en-US" altLang="en-US" dirty="0">
                    <a:solidFill>
                      <a:srgbClr val="000000"/>
                    </a:solidFill>
                  </a:rPr>
                  <a:t>The </a:t>
                </a:r>
                <a:r>
                  <a:rPr lang="en-US" altLang="en-US" dirty="0">
                    <a:solidFill>
                      <a:srgbClr val="FF0000"/>
                    </a:solidFill>
                  </a:rPr>
                  <a:t>null hypothesis </a:t>
                </a:r>
                <a:r>
                  <a:rPr lang="en-US" altLang="en-US" dirty="0">
                    <a:solidFill>
                      <a:srgbClr val="000000"/>
                    </a:solidFill>
                  </a:rPr>
                  <a:t>(</a:t>
                </a:r>
                <a14:m>
                  <m:oMath xmlns:m="http://schemas.openxmlformats.org/officeDocument/2006/math">
                    <m:sSub>
                      <m:sSubPr>
                        <m:ctrlPr>
                          <a:rPr lang="en-US" altLang="en-US" i="1" dirty="0">
                            <a:solidFill>
                              <a:srgbClr val="000000"/>
                            </a:solidFill>
                            <a:latin typeface="Cambria Math" panose="02040503050406030204" pitchFamily="18" charset="0"/>
                          </a:rPr>
                        </m:ctrlPr>
                      </m:sSubPr>
                      <m:e>
                        <m:r>
                          <a:rPr lang="en-US" altLang="en-US" i="1" dirty="0">
                            <a:solidFill>
                              <a:srgbClr val="000000"/>
                            </a:solidFill>
                            <a:latin typeface="Cambria Math" panose="02040503050406030204" pitchFamily="18" charset="0"/>
                          </a:rPr>
                          <m:t>𝐻</m:t>
                        </m:r>
                      </m:e>
                      <m:sub>
                        <m:r>
                          <a:rPr lang="en-US" altLang="en-US" i="1" dirty="0">
                            <a:solidFill>
                              <a:srgbClr val="000000"/>
                            </a:solidFill>
                            <a:latin typeface="Cambria Math" panose="02040503050406030204" pitchFamily="18" charset="0"/>
                          </a:rPr>
                          <m:t>0</m:t>
                        </m:r>
                      </m:sub>
                    </m:sSub>
                  </m:oMath>
                </a14:m>
                <a:r>
                  <a:rPr lang="en-US" altLang="en-US" dirty="0">
                    <a:solidFill>
                      <a:srgbClr val="000000"/>
                    </a:solidFill>
                  </a:rPr>
                  <a:t>) specifies the claim being tested.</a:t>
                </a:r>
              </a:p>
              <a:p>
                <a:pPr eaLnBrk="1" hangingPunct="1">
                  <a:buNone/>
                  <a:defRPr/>
                </a:pPr>
                <a:r>
                  <a:rPr lang="en-US" altLang="en-US" dirty="0">
                    <a:solidFill>
                      <a:srgbClr val="000000"/>
                    </a:solidFill>
                  </a:rPr>
                  <a:t>The </a:t>
                </a:r>
                <a:r>
                  <a:rPr lang="en-US" altLang="en-US" dirty="0">
                    <a:solidFill>
                      <a:srgbClr val="FF0000"/>
                    </a:solidFill>
                  </a:rPr>
                  <a:t>alternative hypothesis </a:t>
                </a:r>
                <a:r>
                  <a:rPr lang="en-US" altLang="en-US" dirty="0">
                    <a:solidFill>
                      <a:srgbClr val="000000"/>
                    </a:solidFill>
                  </a:rPr>
                  <a:t>(</a:t>
                </a:r>
                <a14:m>
                  <m:oMath xmlns:m="http://schemas.openxmlformats.org/officeDocument/2006/math">
                    <m:sSub>
                      <m:sSubPr>
                        <m:ctrlPr>
                          <a:rPr lang="en-US" altLang="en-US" i="1" dirty="0">
                            <a:solidFill>
                              <a:srgbClr val="000000"/>
                            </a:solidFill>
                            <a:latin typeface="Cambria Math" panose="02040503050406030204" pitchFamily="18" charset="0"/>
                          </a:rPr>
                        </m:ctrlPr>
                      </m:sSubPr>
                      <m:e>
                        <m:r>
                          <a:rPr lang="en-US" altLang="en-US" i="1" dirty="0">
                            <a:solidFill>
                              <a:srgbClr val="000000"/>
                            </a:solidFill>
                            <a:latin typeface="Cambria Math" panose="02040503050406030204" pitchFamily="18" charset="0"/>
                          </a:rPr>
                          <m:t>𝐻</m:t>
                        </m:r>
                      </m:e>
                      <m:sub>
                        <m:r>
                          <a:rPr lang="en-US" altLang="en-US" i="1" dirty="0">
                            <a:solidFill>
                              <a:srgbClr val="000000"/>
                            </a:solidFill>
                            <a:latin typeface="Cambria Math" panose="02040503050406030204" pitchFamily="18" charset="0"/>
                          </a:rPr>
                          <m:t>𝑎</m:t>
                        </m:r>
                      </m:sub>
                    </m:sSub>
                  </m:oMath>
                </a14:m>
                <a:r>
                  <a:rPr lang="en-US" altLang="en-US" dirty="0">
                    <a:solidFill>
                      <a:srgbClr val="000000"/>
                    </a:solidFill>
                  </a:rPr>
                  <a:t>) specifies the competing claim we support if we reject </a:t>
                </a:r>
                <a14:m>
                  <m:oMath xmlns:m="http://schemas.openxmlformats.org/officeDocument/2006/math">
                    <m:sSub>
                      <m:sSubPr>
                        <m:ctrlPr>
                          <a:rPr lang="en-US" altLang="en-US" i="1" dirty="0">
                            <a:solidFill>
                              <a:srgbClr val="000000"/>
                            </a:solidFill>
                            <a:latin typeface="Cambria Math" panose="02040503050406030204" pitchFamily="18" charset="0"/>
                          </a:rPr>
                        </m:ctrlPr>
                      </m:sSubPr>
                      <m:e>
                        <m:r>
                          <a:rPr lang="en-US" altLang="en-US" i="1" dirty="0">
                            <a:solidFill>
                              <a:srgbClr val="000000"/>
                            </a:solidFill>
                            <a:latin typeface="Cambria Math" panose="02040503050406030204" pitchFamily="18" charset="0"/>
                          </a:rPr>
                          <m:t>𝐻</m:t>
                        </m:r>
                      </m:e>
                      <m:sub>
                        <m:r>
                          <a:rPr lang="en-US" altLang="en-US" i="1" dirty="0">
                            <a:solidFill>
                              <a:srgbClr val="000000"/>
                            </a:solidFill>
                            <a:latin typeface="Cambria Math" panose="02040503050406030204" pitchFamily="18" charset="0"/>
                          </a:rPr>
                          <m:t>0</m:t>
                        </m:r>
                      </m:sub>
                    </m:sSub>
                  </m:oMath>
                </a14:m>
                <a:r>
                  <a:rPr lang="en-US" altLang="en-US" dirty="0">
                    <a:solidFill>
                      <a:srgbClr val="000000"/>
                    </a:solidFill>
                  </a:rPr>
                  <a:t>. </a:t>
                </a:r>
                <a14:m>
                  <m:oMath xmlns:m="http://schemas.openxmlformats.org/officeDocument/2006/math">
                    <m:sSub>
                      <m:sSubPr>
                        <m:ctrlPr>
                          <a:rPr lang="en-US" altLang="en-US" i="1" dirty="0">
                            <a:solidFill>
                              <a:srgbClr val="000000"/>
                            </a:solidFill>
                            <a:latin typeface="Cambria Math" panose="02040503050406030204" pitchFamily="18" charset="0"/>
                          </a:rPr>
                        </m:ctrlPr>
                      </m:sSubPr>
                      <m:e>
                        <m:r>
                          <a:rPr lang="en-US" altLang="en-US" i="1" dirty="0">
                            <a:solidFill>
                              <a:srgbClr val="000000"/>
                            </a:solidFill>
                            <a:latin typeface="Cambria Math" panose="02040503050406030204" pitchFamily="18" charset="0"/>
                          </a:rPr>
                          <m:t>𝐻</m:t>
                        </m:r>
                      </m:e>
                      <m:sub>
                        <m:r>
                          <a:rPr lang="en-US" altLang="en-US" i="1" dirty="0">
                            <a:solidFill>
                              <a:srgbClr val="000000"/>
                            </a:solidFill>
                            <a:latin typeface="Cambria Math" panose="02040503050406030204" pitchFamily="18" charset="0"/>
                          </a:rPr>
                          <m:t>𝑎</m:t>
                        </m:r>
                      </m:sub>
                    </m:sSub>
                  </m:oMath>
                </a14:m>
                <a:r>
                  <a:rPr lang="en-US" altLang="en-US" dirty="0">
                    <a:solidFill>
                      <a:srgbClr val="000000"/>
                    </a:solidFill>
                  </a:rPr>
                  <a:t> is </a:t>
                </a:r>
                <a:r>
                  <a:rPr lang="en-US" altLang="en-US" b="1" dirty="0">
                    <a:solidFill>
                      <a:srgbClr val="800000"/>
                    </a:solidFill>
                  </a:rPr>
                  <a:t>one-sided</a:t>
                </a:r>
                <a:r>
                  <a:rPr lang="en-US" altLang="en-US" dirty="0">
                    <a:solidFill>
                      <a:srgbClr val="800000"/>
                    </a:solidFill>
                  </a:rPr>
                  <a:t> </a:t>
                </a:r>
                <a:r>
                  <a:rPr lang="en-US" altLang="en-US" dirty="0">
                    <a:solidFill>
                      <a:srgbClr val="000000"/>
                    </a:solidFill>
                  </a:rPr>
                  <a:t>if it states either that a parameter is (1) </a:t>
                </a:r>
                <a:r>
                  <a:rPr lang="en-US" altLang="en-US" i="1" dirty="0">
                    <a:solidFill>
                      <a:srgbClr val="000000"/>
                    </a:solidFill>
                  </a:rPr>
                  <a:t>larger </a:t>
                </a:r>
                <a:r>
                  <a:rPr lang="en-US" altLang="en-US" dirty="0">
                    <a:solidFill>
                      <a:srgbClr val="000000"/>
                    </a:solidFill>
                  </a:rPr>
                  <a:t>than certain value, or (2) </a:t>
                </a:r>
                <a:r>
                  <a:rPr lang="en-US" altLang="en-US" i="1" dirty="0">
                    <a:solidFill>
                      <a:srgbClr val="000000"/>
                    </a:solidFill>
                  </a:rPr>
                  <a:t>smaller than</a:t>
                </a:r>
                <a:r>
                  <a:rPr lang="en-US" altLang="en-US" dirty="0">
                    <a:solidFill>
                      <a:srgbClr val="000000"/>
                    </a:solidFill>
                  </a:rPr>
                  <a:t> certain value. It is </a:t>
                </a:r>
                <a:r>
                  <a:rPr lang="en-US" altLang="en-US" b="1" dirty="0">
                    <a:solidFill>
                      <a:srgbClr val="800000"/>
                    </a:solidFill>
                  </a:rPr>
                  <a:t>two-sided</a:t>
                </a:r>
                <a:r>
                  <a:rPr lang="en-US" altLang="en-US" dirty="0">
                    <a:solidFill>
                      <a:srgbClr val="800000"/>
                    </a:solidFill>
                  </a:rPr>
                  <a:t> </a:t>
                </a:r>
                <a:r>
                  <a:rPr lang="en-US" altLang="en-US" dirty="0">
                    <a:solidFill>
                      <a:srgbClr val="000000"/>
                    </a:solidFill>
                  </a:rPr>
                  <a:t>if it states that the parameter is </a:t>
                </a:r>
                <a:r>
                  <a:rPr lang="en-US" altLang="en-US" i="1" dirty="0">
                    <a:solidFill>
                      <a:srgbClr val="000000"/>
                    </a:solidFill>
                  </a:rPr>
                  <a:t>different</a:t>
                </a:r>
                <a:r>
                  <a:rPr lang="en-US" altLang="en-US" dirty="0">
                    <a:solidFill>
                      <a:srgbClr val="000000"/>
                    </a:solidFill>
                  </a:rPr>
                  <a:t> </a:t>
                </a:r>
                <a:r>
                  <a:rPr lang="en-US" altLang="en-US" i="1" dirty="0">
                    <a:solidFill>
                      <a:srgbClr val="000000"/>
                    </a:solidFill>
                  </a:rPr>
                  <a:t>from</a:t>
                </a:r>
                <a:r>
                  <a:rPr lang="en-US" altLang="en-US" dirty="0">
                    <a:solidFill>
                      <a:srgbClr val="000000"/>
                    </a:solidFill>
                  </a:rPr>
                  <a:t> the certain value.</a:t>
                </a:r>
                <a:endParaRPr lang="en-US" altLang="en-US" sz="2400" i="1" dirty="0">
                  <a:solidFill>
                    <a:srgbClr val="000000"/>
                  </a:solidFill>
                  <a:latin typeface="Palatino" charset="0"/>
                </a:endParaRPr>
              </a:p>
            </p:txBody>
          </p:sp>
        </mc:Choice>
        <mc:Fallback xmlns="">
          <p:sp>
            <p:nvSpPr>
              <p:cNvPr id="18" name="TextBox 17"/>
              <p:cNvSpPr txBox="1">
                <a:spLocks noRot="1" noChangeAspect="1" noMove="1" noResize="1" noEditPoints="1" noAdjustHandles="1" noChangeArrowheads="1" noChangeShapeType="1" noTextEdit="1"/>
              </p:cNvSpPr>
              <p:nvPr/>
            </p:nvSpPr>
            <p:spPr bwMode="auto">
              <a:xfrm>
                <a:off x="519112" y="1939925"/>
                <a:ext cx="8142287" cy="2169825"/>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a:spLocks noChangeArrowheads="1"/>
              </p:cNvSpPr>
              <p:nvPr/>
            </p:nvSpPr>
            <p:spPr bwMode="auto">
              <a:xfrm>
                <a:off x="449262" y="4630771"/>
                <a:ext cx="8281987" cy="14001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eaLnBrk="1" hangingPunct="1">
                  <a:spcAft>
                    <a:spcPts val="600"/>
                  </a:spcAft>
                </a:pPr>
                <a:r>
                  <a:rPr lang="en-US" altLang="en-US" sz="2000" dirty="0"/>
                  <a:t>In the free-throw shooter example, let </a:t>
                </a:r>
                <a:r>
                  <a:rPr lang="en-US" altLang="en-US" i="1" dirty="0">
                    <a:solidFill>
                      <a:srgbClr val="000000"/>
                    </a:solidFill>
                  </a:rPr>
                  <a:t>p</a:t>
                </a:r>
                <a:r>
                  <a:rPr lang="en-US" altLang="en-US" dirty="0">
                    <a:solidFill>
                      <a:srgbClr val="000000"/>
                    </a:solidFill>
                  </a:rPr>
                  <a:t> be the true long-run proportion of making free throws, and suppose </a:t>
                </a:r>
                <a:r>
                  <a:rPr lang="en-US" altLang="en-US" sz="2000" dirty="0"/>
                  <a:t>our hypotheses are </a:t>
                </a:r>
              </a:p>
              <a:p>
                <a:pPr algn="ctr" eaLnBrk="1" hangingPunct="1"/>
                <a14:m>
                  <m:oMath xmlns:m="http://schemas.openxmlformats.org/officeDocument/2006/math">
                    <m:sSub>
                      <m:sSubPr>
                        <m:ctrlPr>
                          <a:rPr lang="en-US" altLang="en-US" sz="2000" i="1" dirty="0">
                            <a:solidFill>
                              <a:srgbClr val="000000"/>
                            </a:solidFill>
                            <a:latin typeface="Cambria Math" panose="02040503050406030204" pitchFamily="18" charset="0"/>
                          </a:rPr>
                        </m:ctrlPr>
                      </m:sSubPr>
                      <m:e>
                        <m:r>
                          <a:rPr lang="en-US" altLang="en-US" sz="2000" i="1" dirty="0">
                            <a:solidFill>
                              <a:srgbClr val="000000"/>
                            </a:solidFill>
                            <a:latin typeface="Cambria Math" panose="02040503050406030204" pitchFamily="18" charset="0"/>
                          </a:rPr>
                          <m:t>𝐻</m:t>
                        </m:r>
                      </m:e>
                      <m:sub>
                        <m:r>
                          <a:rPr lang="en-US" altLang="en-US" sz="2000" b="0" i="1" dirty="0" smtClean="0">
                            <a:solidFill>
                              <a:srgbClr val="000000"/>
                            </a:solidFill>
                            <a:latin typeface="Cambria Math" panose="02040503050406030204" pitchFamily="18" charset="0"/>
                          </a:rPr>
                          <m:t>0</m:t>
                        </m:r>
                      </m:sub>
                    </m:sSub>
                    <m:r>
                      <a:rPr lang="en-US" altLang="en-US" sz="2000" i="1" dirty="0">
                        <a:solidFill>
                          <a:srgbClr val="000000"/>
                        </a:solidFill>
                        <a:latin typeface="Cambria Math" panose="02040503050406030204" pitchFamily="18" charset="0"/>
                      </a:rPr>
                      <m:t>:</m:t>
                    </m:r>
                    <m:r>
                      <a:rPr lang="en-US" altLang="en-US" sz="2000" b="0" i="1" dirty="0" smtClean="0">
                        <a:solidFill>
                          <a:srgbClr val="000000"/>
                        </a:solidFill>
                        <a:latin typeface="Cambria Math" panose="02040503050406030204" pitchFamily="18" charset="0"/>
                      </a:rPr>
                      <m:t> </m:t>
                    </m:r>
                    <m:r>
                      <a:rPr lang="en-US" altLang="en-US" sz="2000" i="1" dirty="0">
                        <a:solidFill>
                          <a:srgbClr val="000000"/>
                        </a:solidFill>
                        <a:latin typeface="Cambria Math" panose="02040503050406030204" pitchFamily="18" charset="0"/>
                      </a:rPr>
                      <m:t>𝑝</m:t>
                    </m:r>
                    <m:r>
                      <a:rPr lang="en-US" altLang="en-US" sz="2000" b="0" i="1" dirty="0" smtClean="0">
                        <a:solidFill>
                          <a:srgbClr val="000000"/>
                        </a:solidFill>
                        <a:latin typeface="Cambria Math" panose="02040503050406030204" pitchFamily="18" charset="0"/>
                      </a:rPr>
                      <m:t>=</m:t>
                    </m:r>
                    <m:r>
                      <a:rPr lang="en-US" altLang="en-US" sz="2000" i="1" dirty="0">
                        <a:solidFill>
                          <a:srgbClr val="000000"/>
                        </a:solidFill>
                        <a:latin typeface="Cambria Math" panose="02040503050406030204" pitchFamily="18" charset="0"/>
                      </a:rPr>
                      <m:t>0.8</m:t>
                    </m:r>
                  </m:oMath>
                </a14:m>
                <a:r>
                  <a:rPr lang="en-US" altLang="en-US" sz="2000" dirty="0"/>
                  <a:t> vs </a:t>
                </a:r>
                <a14:m>
                  <m:oMath xmlns:m="http://schemas.openxmlformats.org/officeDocument/2006/math">
                    <m:sSub>
                      <m:sSubPr>
                        <m:ctrlPr>
                          <a:rPr lang="en-US" altLang="en-US" sz="2000" i="1" dirty="0">
                            <a:solidFill>
                              <a:srgbClr val="000000"/>
                            </a:solidFill>
                            <a:latin typeface="Cambria Math" panose="02040503050406030204" pitchFamily="18" charset="0"/>
                          </a:rPr>
                        </m:ctrlPr>
                      </m:sSubPr>
                      <m:e>
                        <m:r>
                          <a:rPr lang="en-US" altLang="en-US" sz="2000" i="1" dirty="0">
                            <a:solidFill>
                              <a:srgbClr val="000000"/>
                            </a:solidFill>
                            <a:latin typeface="Cambria Math" panose="02040503050406030204" pitchFamily="18" charset="0"/>
                          </a:rPr>
                          <m:t>𝐻</m:t>
                        </m:r>
                      </m:e>
                      <m:sub>
                        <m:r>
                          <a:rPr lang="en-US" altLang="en-US" sz="2000" i="1" dirty="0">
                            <a:solidFill>
                              <a:srgbClr val="000000"/>
                            </a:solidFill>
                            <a:latin typeface="Cambria Math" panose="02040503050406030204" pitchFamily="18" charset="0"/>
                          </a:rPr>
                          <m:t>𝑎</m:t>
                        </m:r>
                      </m:sub>
                    </m:sSub>
                    <m:r>
                      <a:rPr lang="en-US" altLang="en-US" sz="2000" b="0" i="1" dirty="0" smtClean="0">
                        <a:solidFill>
                          <a:srgbClr val="000000"/>
                        </a:solidFill>
                        <a:latin typeface="Cambria Math" panose="02040503050406030204" pitchFamily="18" charset="0"/>
                      </a:rPr>
                      <m:t>:</m:t>
                    </m:r>
                    <m:r>
                      <a:rPr lang="en-US" altLang="en-US" sz="2000" b="0" i="1" dirty="0" smtClean="0">
                        <a:solidFill>
                          <a:srgbClr val="000000"/>
                        </a:solidFill>
                        <a:latin typeface="Cambria Math" panose="02040503050406030204" pitchFamily="18" charset="0"/>
                      </a:rPr>
                      <m:t>𝑝</m:t>
                    </m:r>
                    <m:r>
                      <a:rPr lang="en-US" altLang="en-US" sz="2000" b="0" i="1" dirty="0" smtClean="0">
                        <a:solidFill>
                          <a:srgbClr val="000000"/>
                        </a:solidFill>
                        <a:latin typeface="Cambria Math" panose="02040503050406030204" pitchFamily="18" charset="0"/>
                      </a:rPr>
                      <m:t>&lt;0.8</m:t>
                    </m:r>
                  </m:oMath>
                </a14:m>
                <a:r>
                  <a:rPr lang="en-US" altLang="en-US" sz="2000" dirty="0"/>
                  <a:t>.</a:t>
                </a:r>
              </a:p>
              <a:p>
                <a:pPr eaLnBrk="1" hangingPunct="1"/>
                <a:r>
                  <a:rPr lang="en-US" altLang="en-US" sz="2000" dirty="0"/>
                  <a:t>Here, </a:t>
                </a:r>
                <a14:m>
                  <m:oMath xmlns:m="http://schemas.openxmlformats.org/officeDocument/2006/math">
                    <m:sSub>
                      <m:sSubPr>
                        <m:ctrlPr>
                          <a:rPr lang="en-US" altLang="en-US" sz="2000" i="1" dirty="0">
                            <a:solidFill>
                              <a:srgbClr val="000000"/>
                            </a:solidFill>
                            <a:latin typeface="Cambria Math" panose="02040503050406030204" pitchFamily="18" charset="0"/>
                          </a:rPr>
                        </m:ctrlPr>
                      </m:sSubPr>
                      <m:e>
                        <m:r>
                          <a:rPr lang="en-US" altLang="en-US" sz="2000" i="1" dirty="0">
                            <a:solidFill>
                              <a:srgbClr val="000000"/>
                            </a:solidFill>
                            <a:latin typeface="Cambria Math" panose="02040503050406030204" pitchFamily="18" charset="0"/>
                          </a:rPr>
                          <m:t>𝐻</m:t>
                        </m:r>
                      </m:e>
                      <m:sub>
                        <m:r>
                          <a:rPr lang="en-US" altLang="en-US" sz="2000" i="1" dirty="0">
                            <a:solidFill>
                              <a:srgbClr val="000000"/>
                            </a:solidFill>
                            <a:latin typeface="Cambria Math" panose="02040503050406030204" pitchFamily="18" charset="0"/>
                          </a:rPr>
                          <m:t>𝑎</m:t>
                        </m:r>
                      </m:sub>
                    </m:sSub>
                  </m:oMath>
                </a14:m>
                <a:r>
                  <a:rPr lang="en-US" altLang="en-US" sz="2000" dirty="0"/>
                  <a:t> is one-sided.</a:t>
                </a:r>
                <a:endParaRPr lang="en-US" altLang="en-US" sz="2000" i="1" baseline="-25000" dirty="0"/>
              </a:p>
            </p:txBody>
          </p:sp>
        </mc:Choice>
        <mc:Fallback xmlns="">
          <p:sp>
            <p:nvSpPr>
              <p:cNvPr id="19" name="Rectangle 18"/>
              <p:cNvSpPr>
                <a:spLocks noRot="1" noChangeAspect="1" noMove="1" noResize="1" noEditPoints="1" noAdjustHandles="1" noChangeArrowheads="1" noChangeShapeType="1" noTextEdit="1"/>
              </p:cNvSpPr>
              <p:nvPr/>
            </p:nvSpPr>
            <p:spPr bwMode="auto">
              <a:xfrm>
                <a:off x="449262" y="4630771"/>
                <a:ext cx="8281987" cy="1400175"/>
              </a:xfrm>
              <a:prstGeom prst="rect">
                <a:avLst/>
              </a:prstGeom>
              <a:blipFill>
                <a:blip r:embed="rId4"/>
                <a:stretch>
                  <a:fillRect l="-810" t="-2183" b="-74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1000" fill="hold"/>
                                        <p:tgtEl>
                                          <p:spTgt spid="19"/>
                                        </p:tgtEl>
                                        <p:attrNameLst>
                                          <p:attrName>ppt_w</p:attrName>
                                        </p:attrNameLst>
                                      </p:cBhvr>
                                      <p:tavLst>
                                        <p:tav tm="0">
                                          <p:val>
                                            <p:fltVal val="0"/>
                                          </p:val>
                                        </p:tav>
                                        <p:tav tm="100000">
                                          <p:val>
                                            <p:strVal val="#ppt_w"/>
                                          </p:val>
                                        </p:tav>
                                      </p:tavLst>
                                    </p:anim>
                                    <p:anim calcmode="lin" valueType="num">
                                      <p:cBhvr>
                                        <p:cTn id="13" dur="1000" fill="hold"/>
                                        <p:tgtEl>
                                          <p:spTgt spid="19"/>
                                        </p:tgtEl>
                                        <p:attrNameLst>
                                          <p:attrName>ppt_h</p:attrName>
                                        </p:attrNameLst>
                                      </p:cBhvr>
                                      <p:tavLst>
                                        <p:tav tm="0">
                                          <p:val>
                                            <p:fltVal val="0"/>
                                          </p:val>
                                        </p:tav>
                                        <p:tav tm="100000">
                                          <p:val>
                                            <p:strVal val="#ppt_h"/>
                                          </p:val>
                                        </p:tav>
                                      </p:tavLst>
                                    </p:anim>
                                    <p:anim calcmode="lin" valueType="num">
                                      <p:cBhvr>
                                        <p:cTn id="14"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174625" y="156605"/>
            <a:ext cx="7988987" cy="772639"/>
          </a:xfrm>
        </p:spPr>
        <p:txBody>
          <a:bodyPr/>
          <a:lstStyle/>
          <a:p>
            <a:pPr eaLnBrk="1" hangingPunct="1"/>
            <a:r>
              <a:rPr lang="en-US" altLang="en-US" dirty="0">
                <a:ea typeface="ＭＳ Ｐゴシック" pitchFamily="34" charset="-128"/>
              </a:rPr>
              <a:t>Hypotheses: Job Satisfaction Example</a:t>
            </a:r>
          </a:p>
        </p:txBody>
      </p:sp>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7C22A8B-BF25-4C25-ACE2-E3295A582152}" type="slidenum">
              <a:rPr lang="en-US" altLang="en-US" sz="1200">
                <a:solidFill>
                  <a:schemeClr val="accent1"/>
                </a:solidFill>
              </a:rPr>
              <a:pPr>
                <a:lnSpc>
                  <a:spcPct val="80000"/>
                </a:lnSpc>
              </a:pPr>
              <a:t>19</a:t>
            </a:fld>
            <a:endParaRPr lang="en-US" altLang="en-US" sz="1200">
              <a:solidFill>
                <a:schemeClr val="accent1"/>
              </a:solidFill>
            </a:endParaRPr>
          </a:p>
        </p:txBody>
      </p:sp>
      <p:sp>
        <p:nvSpPr>
          <p:cNvPr id="58372" name="Rectangle 1"/>
          <p:cNvSpPr>
            <a:spLocks noChangeArrowheads="1"/>
          </p:cNvSpPr>
          <p:nvPr/>
        </p:nvSpPr>
        <p:spPr bwMode="auto">
          <a:xfrm>
            <a:off x="506413" y="1006475"/>
            <a:ext cx="8256587"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dirty="0">
                <a:solidFill>
                  <a:srgbClr val="000000"/>
                </a:solidFill>
              </a:rPr>
              <a:t>Does the job satisfaction of assembly-line workers </a:t>
            </a:r>
            <a:r>
              <a:rPr lang="en-US" altLang="en-US" dirty="0">
                <a:solidFill>
                  <a:srgbClr val="FF0000"/>
                </a:solidFill>
              </a:rPr>
              <a:t>differ</a:t>
            </a:r>
            <a:r>
              <a:rPr lang="en-US" altLang="en-US" dirty="0">
                <a:solidFill>
                  <a:srgbClr val="000000"/>
                </a:solidFill>
              </a:rPr>
              <a:t> when their work is </a:t>
            </a:r>
            <a:r>
              <a:rPr lang="en-US" altLang="en-US" dirty="0">
                <a:solidFill>
                  <a:srgbClr val="FF0000"/>
                </a:solidFill>
              </a:rPr>
              <a:t>machine-paced</a:t>
            </a:r>
            <a:r>
              <a:rPr lang="en-US" altLang="en-US" dirty="0">
                <a:solidFill>
                  <a:srgbClr val="000000"/>
                </a:solidFill>
              </a:rPr>
              <a:t> rather than </a:t>
            </a:r>
            <a:r>
              <a:rPr lang="en-US" altLang="en-US" dirty="0">
                <a:solidFill>
                  <a:srgbClr val="FF0000"/>
                </a:solidFill>
              </a:rPr>
              <a:t>self-paced</a:t>
            </a:r>
            <a:r>
              <a:rPr lang="en-US" altLang="en-US" dirty="0">
                <a:solidFill>
                  <a:srgbClr val="000000"/>
                </a:solidFill>
              </a:rPr>
              <a:t>? One study chose 18 subjects at random from a company with over 200 workers who assembled electronic devices. Half of the workers were assigned at random to each of two groups. Both groups did similar assembly work, but one group was allowed to pace itself while the other group used an assembly line that moved at a fixed pace. After two weeks, all the workers took a test of job satisfaction. Then, they switched work setups and took the test again after two more weeks. </a:t>
            </a:r>
            <a:r>
              <a:rPr lang="en-US" altLang="en-US" dirty="0">
                <a:solidFill>
                  <a:srgbClr val="FF0000"/>
                </a:solidFill>
              </a:rPr>
              <a:t>The response variable is the difference in satisfaction scores, self-paced minus machine-paced</a:t>
            </a:r>
            <a:r>
              <a:rPr lang="en-US" altLang="en-US" dirty="0">
                <a:solidFill>
                  <a:srgbClr val="000000"/>
                </a:solidFill>
              </a:rPr>
              <a:t>.</a:t>
            </a:r>
            <a:endParaRPr lang="en-US" altLang="en-US" b="1" dirty="0">
              <a:solidFill>
                <a:srgbClr val="000000"/>
              </a:solidFill>
            </a:endParaRPr>
          </a:p>
        </p:txBody>
      </p:sp>
      <mc:AlternateContent xmlns:mc="http://schemas.openxmlformats.org/markup-compatibility/2006" xmlns:a14="http://schemas.microsoft.com/office/drawing/2010/main">
        <mc:Choice Requires="a14">
          <p:sp>
            <p:nvSpPr>
              <p:cNvPr id="12" name="TextBox 11"/>
              <p:cNvSpPr txBox="1">
                <a:spLocks noChangeArrowheads="1"/>
              </p:cNvSpPr>
              <p:nvPr/>
            </p:nvSpPr>
            <p:spPr bwMode="auto">
              <a:xfrm>
                <a:off x="575468" y="3657600"/>
                <a:ext cx="8118475" cy="147732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000000"/>
                    </a:solidFill>
                  </a:rPr>
                  <a:t>The parameter of interest is the mean </a:t>
                </a:r>
                <a14:m>
                  <m:oMath xmlns:m="http://schemas.openxmlformats.org/officeDocument/2006/math">
                    <m:r>
                      <a:rPr lang="en-US" altLang="en-US" sz="1800" b="0" i="1" dirty="0" smtClean="0">
                        <a:solidFill>
                          <a:srgbClr val="000000"/>
                        </a:solidFill>
                        <a:latin typeface="Cambria Math" panose="02040503050406030204" pitchFamily="18" charset="0"/>
                      </a:rPr>
                      <m:t>𝜇</m:t>
                    </m:r>
                  </m:oMath>
                </a14:m>
                <a:r>
                  <a:rPr lang="en-US" altLang="en-US" sz="1800" i="1" dirty="0">
                    <a:solidFill>
                      <a:srgbClr val="000000"/>
                    </a:solidFill>
                  </a:rPr>
                  <a:t> </a:t>
                </a:r>
                <a:r>
                  <a:rPr lang="en-US" altLang="en-US" sz="1800" dirty="0">
                    <a:solidFill>
                      <a:srgbClr val="000000"/>
                    </a:solidFill>
                  </a:rPr>
                  <a:t>of the differences (</a:t>
                </a:r>
                <a:r>
                  <a:rPr lang="en-US" altLang="en-US" sz="1800" i="1" dirty="0">
                    <a:solidFill>
                      <a:srgbClr val="000000"/>
                    </a:solidFill>
                  </a:rPr>
                  <a:t>self-paced </a:t>
                </a:r>
                <a:r>
                  <a:rPr lang="en-US" altLang="en-US" sz="1800" dirty="0">
                    <a:solidFill>
                      <a:srgbClr val="000000"/>
                    </a:solidFill>
                  </a:rPr>
                  <a:t>minus</a:t>
                </a:r>
                <a:r>
                  <a:rPr lang="en-US" altLang="en-US" sz="1800" i="1" dirty="0">
                    <a:solidFill>
                      <a:srgbClr val="000000"/>
                    </a:solidFill>
                  </a:rPr>
                  <a:t> machine-paced</a:t>
                </a:r>
                <a:r>
                  <a:rPr lang="en-US" altLang="en-US" sz="1800" dirty="0">
                    <a:solidFill>
                      <a:srgbClr val="000000"/>
                    </a:solidFill>
                  </a:rPr>
                  <a:t>) in job satisfaction scores in the population of all assembly-line workers at this company. Because the initial question asked whether job satisfaction differs, the alternative hypothesis is two-sided; that is, </a:t>
                </a:r>
              </a:p>
              <a:p>
                <a:pPr algn="ctr" eaLnBrk="1" hangingPunct="1"/>
                <a14:m>
                  <m:oMath xmlns:m="http://schemas.openxmlformats.org/officeDocument/2006/math">
                    <m:sSub>
                      <m:sSubPr>
                        <m:ctrlPr>
                          <a:rPr lang="en-US" altLang="en-US" sz="1800" i="1" dirty="0">
                            <a:solidFill>
                              <a:srgbClr val="000000"/>
                            </a:solidFill>
                            <a:latin typeface="Cambria Math" panose="02040503050406030204" pitchFamily="18" charset="0"/>
                          </a:rPr>
                        </m:ctrlPr>
                      </m:sSubPr>
                      <m:e>
                        <m:r>
                          <a:rPr lang="en-US" altLang="en-US" sz="1800" i="1" dirty="0">
                            <a:solidFill>
                              <a:srgbClr val="000000"/>
                            </a:solidFill>
                            <a:latin typeface="Cambria Math" panose="02040503050406030204" pitchFamily="18" charset="0"/>
                          </a:rPr>
                          <m:t>𝐻</m:t>
                        </m:r>
                      </m:e>
                      <m:sub>
                        <m:r>
                          <a:rPr lang="en-US" altLang="en-US" sz="1800" i="1" dirty="0">
                            <a:solidFill>
                              <a:srgbClr val="000000"/>
                            </a:solidFill>
                            <a:latin typeface="Cambria Math" panose="02040503050406030204" pitchFamily="18" charset="0"/>
                          </a:rPr>
                          <m:t>0</m:t>
                        </m:r>
                      </m:sub>
                    </m:sSub>
                    <m:r>
                      <a:rPr lang="en-US" altLang="en-US" sz="1800" i="1" dirty="0">
                        <a:solidFill>
                          <a:srgbClr val="000000"/>
                        </a:solidFill>
                        <a:latin typeface="Cambria Math" panose="02040503050406030204" pitchFamily="18" charset="0"/>
                      </a:rPr>
                      <m:t>:</m:t>
                    </m:r>
                    <m:r>
                      <a:rPr lang="en-US" altLang="en-US" sz="1800" b="0" i="1" dirty="0" smtClean="0">
                        <a:solidFill>
                          <a:srgbClr val="000000"/>
                        </a:solidFill>
                        <a:latin typeface="Cambria Math" panose="02040503050406030204" pitchFamily="18" charset="0"/>
                      </a:rPr>
                      <m:t>𝜇</m:t>
                    </m:r>
                    <m:r>
                      <a:rPr lang="en-US" altLang="en-US" sz="1800" i="1" dirty="0">
                        <a:solidFill>
                          <a:srgbClr val="000000"/>
                        </a:solidFill>
                        <a:latin typeface="Cambria Math" panose="02040503050406030204" pitchFamily="18" charset="0"/>
                      </a:rPr>
                      <m:t>=0</m:t>
                    </m:r>
                  </m:oMath>
                </a14:m>
                <a:r>
                  <a:rPr lang="en-US" altLang="en-US" sz="1800" dirty="0"/>
                  <a:t> vs </a:t>
                </a:r>
                <a14:m>
                  <m:oMath xmlns:m="http://schemas.openxmlformats.org/officeDocument/2006/math">
                    <m:sSub>
                      <m:sSubPr>
                        <m:ctrlPr>
                          <a:rPr lang="en-US" altLang="en-US" sz="1800" i="1" dirty="0">
                            <a:solidFill>
                              <a:srgbClr val="000000"/>
                            </a:solidFill>
                            <a:latin typeface="Cambria Math" panose="02040503050406030204" pitchFamily="18" charset="0"/>
                          </a:rPr>
                        </m:ctrlPr>
                      </m:sSubPr>
                      <m:e>
                        <m:r>
                          <a:rPr lang="en-US" altLang="en-US" sz="1800" i="1" dirty="0">
                            <a:solidFill>
                              <a:srgbClr val="000000"/>
                            </a:solidFill>
                            <a:latin typeface="Cambria Math" panose="02040503050406030204" pitchFamily="18" charset="0"/>
                          </a:rPr>
                          <m:t>𝐻</m:t>
                        </m:r>
                      </m:e>
                      <m:sub>
                        <m:r>
                          <a:rPr lang="en-US" altLang="en-US" sz="1800" i="1" dirty="0">
                            <a:solidFill>
                              <a:srgbClr val="000000"/>
                            </a:solidFill>
                            <a:latin typeface="Cambria Math" panose="02040503050406030204" pitchFamily="18" charset="0"/>
                          </a:rPr>
                          <m:t>𝑎</m:t>
                        </m:r>
                      </m:sub>
                    </m:sSub>
                    <m:r>
                      <a:rPr lang="en-US" altLang="en-US" sz="1800" i="1" dirty="0">
                        <a:solidFill>
                          <a:srgbClr val="000000"/>
                        </a:solidFill>
                        <a:latin typeface="Cambria Math" panose="02040503050406030204" pitchFamily="18" charset="0"/>
                      </a:rPr>
                      <m:t>:</m:t>
                    </m:r>
                    <m:r>
                      <a:rPr lang="en-US" altLang="en-US" sz="1800" i="1" dirty="0">
                        <a:solidFill>
                          <a:srgbClr val="000000"/>
                        </a:solidFill>
                        <a:latin typeface="Cambria Math" panose="02040503050406030204" pitchFamily="18" charset="0"/>
                      </a:rPr>
                      <m:t>𝜇</m:t>
                    </m:r>
                    <m:r>
                      <a:rPr lang="en-US" altLang="en-US" sz="1800" b="0" i="1" dirty="0" smtClean="0">
                        <a:solidFill>
                          <a:srgbClr val="000000"/>
                        </a:solidFill>
                        <a:latin typeface="Cambria Math" panose="02040503050406030204" pitchFamily="18" charset="0"/>
                      </a:rPr>
                      <m:t>≠</m:t>
                    </m:r>
                    <m:r>
                      <a:rPr lang="en-US" altLang="en-US" sz="1800" i="1" dirty="0">
                        <a:solidFill>
                          <a:srgbClr val="000000"/>
                        </a:solidFill>
                        <a:latin typeface="Cambria Math" panose="02040503050406030204" pitchFamily="18" charset="0"/>
                      </a:rPr>
                      <m:t>0</m:t>
                    </m:r>
                  </m:oMath>
                </a14:m>
                <a:r>
                  <a:rPr lang="en-US" altLang="en-US" sz="1800" dirty="0"/>
                  <a:t>.</a:t>
                </a:r>
              </a:p>
            </p:txBody>
          </p:sp>
        </mc:Choice>
        <mc:Fallback xmlns="">
          <p:sp>
            <p:nvSpPr>
              <p:cNvPr id="12" name="TextBox 11"/>
              <p:cNvSpPr txBox="1">
                <a:spLocks noRot="1" noChangeAspect="1" noMove="1" noResize="1" noEditPoints="1" noAdjustHandles="1" noChangeArrowheads="1" noChangeShapeType="1" noTextEdit="1"/>
              </p:cNvSpPr>
              <p:nvPr/>
            </p:nvSpPr>
            <p:spPr bwMode="auto">
              <a:xfrm>
                <a:off x="575468" y="3657600"/>
                <a:ext cx="8118475" cy="1477328"/>
              </a:xfrm>
              <a:prstGeom prst="rect">
                <a:avLst/>
              </a:prstGeom>
              <a:blipFill>
                <a:blip r:embed="rId3"/>
                <a:stretch>
                  <a:fillRect/>
                </a:stretch>
              </a:blipFill>
              <a:ln w="10000">
                <a:solidFill>
                  <a:schemeClr val="accent1"/>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en-US" altLang="en-US" dirty="0">
                <a:ea typeface="ＭＳ Ｐゴシック" pitchFamily="34" charset="-128"/>
              </a:rPr>
              <a:t>Test Statistics and P</a:t>
            </a:r>
            <a:r>
              <a:rPr lang="en-US" altLang="en-US" i="1" dirty="0">
                <a:ea typeface="ＭＳ Ｐゴシック" pitchFamily="34" charset="-128"/>
              </a:rPr>
              <a:t>-</a:t>
            </a:r>
            <a:r>
              <a:rPr lang="en-US" altLang="en-US" dirty="0">
                <a:ea typeface="ＭＳ Ｐゴシック" pitchFamily="34" charset="-128"/>
              </a:rPr>
              <a:t>Values</a:t>
            </a:r>
            <a:endParaRPr lang="en-US" altLang="en-US" i="1" dirty="0">
              <a:ea typeface="ＭＳ Ｐゴシック" pitchFamily="34" charset="-128"/>
            </a:endParaRPr>
          </a:p>
        </p:txBody>
      </p:sp>
      <p:sp>
        <p:nvSpPr>
          <p:cNvPr id="614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367282D9-927B-4161-AC31-B972A219B2D1}" type="slidenum">
              <a:rPr lang="en-US" altLang="en-US" sz="1200">
                <a:solidFill>
                  <a:schemeClr val="accent1"/>
                </a:solidFill>
              </a:rPr>
              <a:pPr>
                <a:lnSpc>
                  <a:spcPct val="80000"/>
                </a:lnSpc>
              </a:pPr>
              <a:t>20</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61444" name="Rectangle 1"/>
              <p:cNvSpPr>
                <a:spLocks noChangeArrowheads="1"/>
              </p:cNvSpPr>
              <p:nvPr/>
            </p:nvSpPr>
            <p:spPr bwMode="auto">
              <a:xfrm>
                <a:off x="791653" y="1950549"/>
                <a:ext cx="7375525"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altLang="en-US" sz="2000" dirty="0">
                    <a:solidFill>
                      <a:srgbClr val="000000"/>
                    </a:solidFill>
                  </a:rPr>
                  <a:t>The test statistic is used to calculate the P-value, taking into account </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i="1" dirty="0" smtClean="0">
                            <a:solidFill>
                              <a:srgbClr val="000000"/>
                            </a:solidFill>
                            <a:latin typeface="Cambria Math" panose="02040503050406030204" pitchFamily="18" charset="0"/>
                          </a:rPr>
                          <m:t>𝑎</m:t>
                        </m:r>
                      </m:sub>
                    </m:sSub>
                  </m:oMath>
                </a14:m>
                <a:r>
                  <a:rPr lang="en-US" altLang="en-US" sz="2000" b="1" dirty="0">
                    <a:solidFill>
                      <a:srgbClr val="000000"/>
                    </a:solidFill>
                  </a:rPr>
                  <a:t>.</a:t>
                </a:r>
              </a:p>
            </p:txBody>
          </p:sp>
        </mc:Choice>
        <mc:Fallback xmlns="">
          <p:sp>
            <p:nvSpPr>
              <p:cNvPr id="61444" name="Rectangle 1"/>
              <p:cNvSpPr>
                <a:spLocks noRot="1" noChangeAspect="1" noMove="1" noResize="1" noEditPoints="1" noAdjustHandles="1" noChangeArrowheads="1" noChangeShapeType="1" noTextEdit="1"/>
              </p:cNvSpPr>
              <p:nvPr/>
            </p:nvSpPr>
            <p:spPr bwMode="auto">
              <a:xfrm>
                <a:off x="791653" y="1950549"/>
                <a:ext cx="7375525" cy="707886"/>
              </a:xfrm>
              <a:prstGeom prst="rect">
                <a:avLst/>
              </a:prstGeom>
              <a:blipFill>
                <a:blip r:embed="rId3"/>
                <a:stretch>
                  <a:fillRect l="-909" t="-4310" b="-155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a:spLocks noChangeArrowheads="1"/>
              </p:cNvSpPr>
              <p:nvPr/>
            </p:nvSpPr>
            <p:spPr bwMode="auto">
              <a:xfrm>
                <a:off x="791652" y="2952347"/>
                <a:ext cx="7375525" cy="112338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spcAft>
                    <a:spcPts val="600"/>
                  </a:spcAft>
                  <a:buClrTx/>
                  <a:buSzTx/>
                  <a:buFontTx/>
                  <a:buNone/>
                  <a:defRPr/>
                </a:pPr>
                <a:r>
                  <a:rPr lang="en-US" altLang="en-US" dirty="0">
                    <a:solidFill>
                      <a:srgbClr val="000000"/>
                    </a:solidFill>
                  </a:rPr>
                  <a:t>The </a:t>
                </a:r>
                <a:r>
                  <a:rPr lang="en-US" altLang="en-US" dirty="0">
                    <a:solidFill>
                      <a:srgbClr val="C00000"/>
                    </a:solidFill>
                  </a:rPr>
                  <a:t>P-value</a:t>
                </a:r>
                <a:r>
                  <a:rPr lang="en-US" altLang="en-US" dirty="0">
                    <a:solidFill>
                      <a:srgbClr val="000000"/>
                    </a:solidFill>
                  </a:rPr>
                  <a:t> is the probability, assuming </a:t>
                </a:r>
                <a14:m>
                  <m:oMath xmlns:m="http://schemas.openxmlformats.org/officeDocument/2006/math">
                    <m:sSub>
                      <m:sSubPr>
                        <m:ctrlPr>
                          <a:rPr lang="en-US" altLang="en-US" i="1" dirty="0" smtClean="0">
                            <a:solidFill>
                              <a:srgbClr val="000000"/>
                            </a:solidFill>
                            <a:latin typeface="Cambria Math" panose="02040503050406030204" pitchFamily="18" charset="0"/>
                          </a:rPr>
                        </m:ctrlPr>
                      </m:sSubPr>
                      <m:e>
                        <m:r>
                          <a:rPr lang="en-US" altLang="en-US" i="1" dirty="0" smtClean="0">
                            <a:solidFill>
                              <a:srgbClr val="000000"/>
                            </a:solidFill>
                            <a:latin typeface="Cambria Math" panose="02040503050406030204" pitchFamily="18" charset="0"/>
                          </a:rPr>
                          <m:t>𝐻</m:t>
                        </m:r>
                      </m:e>
                      <m:sub>
                        <m:r>
                          <a:rPr lang="en-US" altLang="en-US" i="1" dirty="0" smtClean="0">
                            <a:solidFill>
                              <a:srgbClr val="000000"/>
                            </a:solidFill>
                            <a:latin typeface="Cambria Math" panose="02040503050406030204" pitchFamily="18" charset="0"/>
                          </a:rPr>
                          <m:t>0</m:t>
                        </m:r>
                      </m:sub>
                    </m:sSub>
                  </m:oMath>
                </a14:m>
                <a:r>
                  <a:rPr lang="en-US" altLang="en-US" dirty="0">
                    <a:solidFill>
                      <a:srgbClr val="000000"/>
                    </a:solidFill>
                  </a:rPr>
                  <a:t> is true, of obtaining a test statistic </a:t>
                </a:r>
                <a:r>
                  <a:rPr lang="en-US" altLang="en-US" dirty="0">
                    <a:solidFill>
                      <a:srgbClr val="C00000"/>
                    </a:solidFill>
                  </a:rPr>
                  <a:t>at least as extreme as </a:t>
                </a:r>
                <a:r>
                  <a:rPr lang="en-US" altLang="en-US" dirty="0">
                    <a:solidFill>
                      <a:srgbClr val="000000"/>
                    </a:solidFill>
                  </a:rPr>
                  <a:t>the observed value, in the direction specified by </a:t>
                </a:r>
                <a14:m>
                  <m:oMath xmlns:m="http://schemas.openxmlformats.org/officeDocument/2006/math">
                    <m:sSub>
                      <m:sSubPr>
                        <m:ctrlPr>
                          <a:rPr lang="en-US" altLang="en-US" i="1" dirty="0">
                            <a:solidFill>
                              <a:srgbClr val="000000"/>
                            </a:solidFill>
                            <a:latin typeface="Cambria Math" panose="02040503050406030204" pitchFamily="18" charset="0"/>
                          </a:rPr>
                        </m:ctrlPr>
                      </m:sSubPr>
                      <m:e>
                        <m:r>
                          <a:rPr lang="en-US" altLang="en-US" i="1" dirty="0">
                            <a:solidFill>
                              <a:srgbClr val="000000"/>
                            </a:solidFill>
                            <a:latin typeface="Cambria Math" panose="02040503050406030204" pitchFamily="18" charset="0"/>
                          </a:rPr>
                          <m:t>𝐻</m:t>
                        </m:r>
                      </m:e>
                      <m:sub>
                        <m:r>
                          <a:rPr lang="en-US" altLang="en-US" b="0" i="1" dirty="0" smtClean="0">
                            <a:solidFill>
                              <a:srgbClr val="000000"/>
                            </a:solidFill>
                            <a:latin typeface="Cambria Math" panose="02040503050406030204" pitchFamily="18" charset="0"/>
                          </a:rPr>
                          <m:t>𝑎</m:t>
                        </m:r>
                      </m:sub>
                    </m:sSub>
                  </m:oMath>
                </a14:m>
                <a:r>
                  <a:rPr lang="en-US" altLang="en-US" dirty="0">
                    <a:solidFill>
                      <a:srgbClr val="000000"/>
                    </a:solidFill>
                  </a:rPr>
                  <a:t>.</a:t>
                </a:r>
              </a:p>
            </p:txBody>
          </p:sp>
        </mc:Choice>
        <mc:Fallback xmlns="">
          <p:sp>
            <p:nvSpPr>
              <p:cNvPr id="19" name="TextBox 18"/>
              <p:cNvSpPr txBox="1">
                <a:spLocks noRot="1" noChangeAspect="1" noMove="1" noResize="1" noEditPoints="1" noAdjustHandles="1" noChangeArrowheads="1" noChangeShapeType="1" noTextEdit="1"/>
              </p:cNvSpPr>
              <p:nvPr/>
            </p:nvSpPr>
            <p:spPr bwMode="auto">
              <a:xfrm>
                <a:off x="791652" y="2952347"/>
                <a:ext cx="7375525" cy="1123384"/>
              </a:xfrm>
              <a:prstGeom prst="rect">
                <a:avLst/>
              </a:prstGeom>
              <a:blipFill>
                <a:blip r:embed="rId4"/>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
        <p:nvSpPr>
          <p:cNvPr id="20" name="Rectangle 19"/>
          <p:cNvSpPr>
            <a:spLocks noChangeArrowheads="1"/>
          </p:cNvSpPr>
          <p:nvPr/>
        </p:nvSpPr>
        <p:spPr bwMode="auto">
          <a:xfrm>
            <a:off x="475456" y="4668528"/>
            <a:ext cx="8193087"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31775" indent="-231775" eaLnBrk="1" hangingPunct="1">
              <a:spcAft>
                <a:spcPts val="400"/>
              </a:spcAft>
              <a:buClr>
                <a:schemeClr val="accent1"/>
              </a:buClr>
              <a:buFont typeface="Wingdings" pitchFamily="2" charset="2"/>
              <a:buChar char="§"/>
            </a:pPr>
            <a:r>
              <a:rPr lang="en-US" altLang="en-US" sz="2000" dirty="0"/>
              <a:t>Small P-values are evidence against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t>because they say that </a:t>
            </a:r>
            <a:r>
              <a:rPr lang="en-US" altLang="en-US" sz="2000" dirty="0">
                <a:solidFill>
                  <a:srgbClr val="FF0000"/>
                </a:solidFill>
              </a:rPr>
              <a:t>the observed result is unlikely to occur when </a:t>
            </a:r>
            <a:r>
              <a:rPr lang="en-US" altLang="en-US" sz="2000" i="1" dirty="0">
                <a:solidFill>
                  <a:srgbClr val="FF0000"/>
                </a:solidFill>
              </a:rPr>
              <a:t>H</a:t>
            </a:r>
            <a:r>
              <a:rPr lang="en-US" altLang="en-US" sz="2000" baseline="-25000" dirty="0">
                <a:solidFill>
                  <a:srgbClr val="FF0000"/>
                </a:solidFill>
              </a:rPr>
              <a:t>0</a:t>
            </a:r>
            <a:r>
              <a:rPr lang="en-US" altLang="en-US" sz="2000" i="1" dirty="0">
                <a:solidFill>
                  <a:srgbClr val="FF0000"/>
                </a:solidFill>
              </a:rPr>
              <a:t> </a:t>
            </a:r>
            <a:r>
              <a:rPr lang="en-US" altLang="en-US" sz="2000" dirty="0">
                <a:solidFill>
                  <a:srgbClr val="FF0000"/>
                </a:solidFill>
              </a:rPr>
              <a:t>is true</a:t>
            </a:r>
            <a:r>
              <a:rPr lang="en-US" altLang="en-US" sz="2000" dirty="0"/>
              <a:t>. </a:t>
            </a:r>
          </a:p>
          <a:p>
            <a:pPr marL="231775" indent="-231775" eaLnBrk="1" hangingPunct="1">
              <a:spcAft>
                <a:spcPts val="600"/>
              </a:spcAft>
              <a:buClr>
                <a:schemeClr val="accent1"/>
              </a:buClr>
              <a:buFont typeface="Wingdings" pitchFamily="2" charset="2"/>
              <a:buChar char="§"/>
            </a:pPr>
            <a:r>
              <a:rPr lang="en-US" altLang="en-US" sz="2000" dirty="0"/>
              <a:t>Large P-values </a:t>
            </a:r>
            <a:r>
              <a:rPr lang="en-US" altLang="en-US" sz="2000" dirty="0">
                <a:solidFill>
                  <a:srgbClr val="FF0000"/>
                </a:solidFill>
              </a:rPr>
              <a:t>fail to </a:t>
            </a:r>
            <a:r>
              <a:rPr lang="en-US" altLang="en-US" sz="2000" dirty="0"/>
              <a:t>give convincing evidence against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t>because they say that the observed result is likely to occur by chance when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t>is true.</a:t>
            </a:r>
          </a:p>
        </p:txBody>
      </p:sp>
      <p:sp>
        <p:nvSpPr>
          <p:cNvPr id="3" name="TextBox 2" descr="The image shows the statement &quot;A test statistic calculated from the sample data measures how far the data diverge from what we would expect if the null hypothesis H0 were true.&quot; It also mentions a formula given as: z equals to estimate minus hypothesized value divided by standard deviation of the estimate. &#10;&#10;The statement &quot;Large values of the statistic show that the data are not consistent with H subscript 0&quot; is also mentioned.&#10;">
            <a:extLst>
              <a:ext uri="{FF2B5EF4-FFF2-40B4-BE49-F238E27FC236}">
                <a16:creationId xmlns:a16="http://schemas.microsoft.com/office/drawing/2014/main" id="{39817D08-7A5A-FEC5-F3C4-3E166F70EAC0}"/>
              </a:ext>
            </a:extLst>
          </p:cNvPr>
          <p:cNvSpPr txBox="1">
            <a:spLocks noChangeArrowheads="1"/>
          </p:cNvSpPr>
          <p:nvPr/>
        </p:nvSpPr>
        <p:spPr bwMode="auto">
          <a:xfrm>
            <a:off x="791653" y="1050102"/>
            <a:ext cx="7384952" cy="70788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defRPr/>
            </a:pPr>
            <a:r>
              <a:rPr lang="en-US" altLang="en-US" dirty="0">
                <a:solidFill>
                  <a:srgbClr val="000000"/>
                </a:solidFill>
              </a:rPr>
              <a:t>A </a:t>
            </a:r>
            <a:r>
              <a:rPr lang="en-US" altLang="en-US" b="1" dirty="0">
                <a:solidFill>
                  <a:srgbClr val="800000"/>
                </a:solidFill>
              </a:rPr>
              <a:t>test</a:t>
            </a:r>
            <a:r>
              <a:rPr lang="en-US" altLang="en-US" b="1" dirty="0">
                <a:solidFill>
                  <a:srgbClr val="000000"/>
                </a:solidFill>
              </a:rPr>
              <a:t> </a:t>
            </a:r>
            <a:r>
              <a:rPr lang="en-US" altLang="en-US" b="1" dirty="0">
                <a:solidFill>
                  <a:srgbClr val="800000"/>
                </a:solidFill>
              </a:rPr>
              <a:t>statistic</a:t>
            </a:r>
            <a:r>
              <a:rPr lang="en-US" altLang="en-US" dirty="0">
                <a:solidFill>
                  <a:srgbClr val="800000"/>
                </a:solidFill>
              </a:rPr>
              <a:t> </a:t>
            </a:r>
            <a:r>
              <a:rPr lang="en-US" altLang="en-US" dirty="0">
                <a:solidFill>
                  <a:srgbClr val="000000"/>
                </a:solidFill>
              </a:rPr>
              <a:t>is a quantity calculated from sample data used to conduct a hypothesis test. </a:t>
            </a:r>
            <a:endParaRPr lang="en-US" altLang="en-US" dirty="0">
              <a:solidFill>
                <a:srgbClr val="FF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4" presetClass="entr" presetSubtype="0" accel="10000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ppt_w*0.05"/>
                                          </p:val>
                                        </p:tav>
                                        <p:tav tm="100000">
                                          <p:val>
                                            <p:strVal val="#ppt_w"/>
                                          </p:val>
                                        </p:tav>
                                      </p:tavLst>
                                    </p:anim>
                                    <p:anim calcmode="lin" valueType="num">
                                      <p:cBhvr>
                                        <p:cTn id="13" dur="500" fill="hold"/>
                                        <p:tgtEl>
                                          <p:spTgt spid="20"/>
                                        </p:tgtEl>
                                        <p:attrNameLst>
                                          <p:attrName>ppt_h</p:attrName>
                                        </p:attrNameLst>
                                      </p:cBhvr>
                                      <p:tavLst>
                                        <p:tav tm="0">
                                          <p:val>
                                            <p:strVal val="#ppt_h"/>
                                          </p:val>
                                        </p:tav>
                                        <p:tav tm="100000">
                                          <p:val>
                                            <p:strVal val="#ppt_h"/>
                                          </p:val>
                                        </p:tav>
                                      </p:tavLst>
                                    </p:anim>
                                    <p:anim calcmode="lin" valueType="num">
                                      <p:cBhvr>
                                        <p:cTn id="14" dur="500" fill="hold"/>
                                        <p:tgtEl>
                                          <p:spTgt spid="20"/>
                                        </p:tgtEl>
                                        <p:attrNameLst>
                                          <p:attrName>ppt_x</p:attrName>
                                        </p:attrNameLst>
                                      </p:cBhvr>
                                      <p:tavLst>
                                        <p:tav tm="0">
                                          <p:val>
                                            <p:strVal val="#ppt_x-.2"/>
                                          </p:val>
                                        </p:tav>
                                        <p:tav tm="100000">
                                          <p:val>
                                            <p:strVal val="#ppt_x"/>
                                          </p:val>
                                        </p:tav>
                                      </p:tavLst>
                                    </p:anim>
                                    <p:anim calcmode="lin" valueType="num">
                                      <p:cBhvr>
                                        <p:cTn id="15" dur="500" fill="hold"/>
                                        <p:tgtEl>
                                          <p:spTgt spid="20"/>
                                        </p:tgtEl>
                                        <p:attrNameLst>
                                          <p:attrName>ppt_y</p:attrName>
                                        </p:attrNameLst>
                                      </p:cBhvr>
                                      <p:tavLst>
                                        <p:tav tm="0">
                                          <p:val>
                                            <p:strVal val="#ppt_y"/>
                                          </p:val>
                                        </p:tav>
                                        <p:tav tm="100000">
                                          <p:val>
                                            <p:strVal val="#ppt_y"/>
                                          </p:val>
                                        </p:tav>
                                      </p:tavLst>
                                    </p:anim>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Significance Levels</a:t>
            </a:r>
            <a:endParaRPr lang="en-US" dirty="0"/>
          </a:p>
        </p:txBody>
      </p:sp>
      <p:sp>
        <p:nvSpPr>
          <p:cNvPr id="6451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5DE478E-71A2-425D-A046-3D64BAEE3FE5}" type="slidenum">
              <a:rPr lang="en-US" altLang="en-US" sz="1200">
                <a:solidFill>
                  <a:schemeClr val="accent1"/>
                </a:solidFill>
              </a:rPr>
              <a:pPr>
                <a:lnSpc>
                  <a:spcPct val="80000"/>
                </a:lnSpc>
              </a:pPr>
              <a:t>21</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11" name="Rectangle 10"/>
              <p:cNvSpPr>
                <a:spLocks noChangeArrowheads="1"/>
              </p:cNvSpPr>
              <p:nvPr/>
            </p:nvSpPr>
            <p:spPr bwMode="auto">
              <a:xfrm>
                <a:off x="261938" y="3694796"/>
                <a:ext cx="7994650" cy="2092881"/>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spcAft>
                    <a:spcPts val="600"/>
                  </a:spcAft>
                  <a:defRPr/>
                </a:pPr>
                <a:r>
                  <a:rPr lang="en-US" altLang="en-US" sz="2000" dirty="0">
                    <a:solidFill>
                      <a:srgbClr val="000000"/>
                    </a:solidFill>
                  </a:rPr>
                  <a:t>When we use a fixed level of significance to draw a conclusion in a significance test,</a:t>
                </a:r>
              </a:p>
              <a:p>
                <a:pPr eaLnBrk="1" hangingPunct="1">
                  <a:spcAft>
                    <a:spcPts val="600"/>
                  </a:spcAft>
                  <a:defRPr/>
                </a:pPr>
                <a:r>
                  <a:rPr lang="en-US" altLang="en-US" sz="2000" dirty="0">
                    <a:solidFill>
                      <a:srgbClr val="000000"/>
                    </a:solidFill>
                  </a:rPr>
                  <a:t>P-value </a:t>
                </a:r>
                <a14:m>
                  <m:oMath xmlns:m="http://schemas.openxmlformats.org/officeDocument/2006/math">
                    <m:r>
                      <a:rPr lang="en-US" altLang="ja-JP" sz="2000" b="0" i="1" dirty="0" smtClean="0">
                        <a:solidFill>
                          <a:srgbClr val="000000"/>
                        </a:solidFill>
                        <a:latin typeface="Cambria Math" panose="02040503050406030204" pitchFamily="18" charset="0"/>
                        <a:sym typeface="Symbol" pitchFamily="18" charset="2"/>
                      </a:rPr>
                      <m:t>≤</m:t>
                    </m:r>
                    <m:r>
                      <a:rPr lang="en-US" altLang="ja-JP" sz="2000" i="1" dirty="0">
                        <a:solidFill>
                          <a:srgbClr val="000000"/>
                        </a:solidFill>
                        <a:latin typeface="Cambria Math" panose="02040503050406030204" pitchFamily="18" charset="0"/>
                        <a:sym typeface="Symbol" pitchFamily="18" charset="2"/>
                      </a:rPr>
                      <m:t>𝛼</m:t>
                    </m:r>
                  </m:oMath>
                </a14:m>
                <a:r>
                  <a:rPr lang="en-US" altLang="en-US" sz="2000" dirty="0">
                    <a:solidFill>
                      <a:srgbClr val="000000"/>
                    </a:solidFill>
                  </a:rPr>
                  <a:t> → reject </a:t>
                </a:r>
                <a14:m>
                  <m:oMath xmlns:m="http://schemas.openxmlformats.org/officeDocument/2006/math">
                    <m:sSub>
                      <m:sSubPr>
                        <m:ctrlPr>
                          <a:rPr lang="en-US" altLang="en-US" sz="2000" i="1" dirty="0" smtClean="0">
                            <a:solidFill>
                              <a:srgbClr val="000000"/>
                            </a:solidFill>
                            <a:latin typeface="Cambria Math" panose="02040503050406030204" pitchFamily="18" charset="0"/>
                          </a:rPr>
                        </m:ctrlPr>
                      </m:sSubPr>
                      <m:e>
                        <m:r>
                          <a:rPr lang="en-US" altLang="en-US" sz="2000" i="1" dirty="0" smtClean="0">
                            <a:solidFill>
                              <a:srgbClr val="000000"/>
                            </a:solidFill>
                            <a:latin typeface="Cambria Math" panose="02040503050406030204" pitchFamily="18" charset="0"/>
                          </a:rPr>
                          <m:t>𝐻</m:t>
                        </m:r>
                      </m:e>
                      <m:sub>
                        <m:r>
                          <a:rPr lang="en-US" altLang="en-US" sz="2000" i="1" dirty="0" smtClean="0">
                            <a:solidFill>
                              <a:srgbClr val="000000"/>
                            </a:solidFill>
                            <a:latin typeface="Cambria Math" panose="02040503050406030204" pitchFamily="18" charset="0"/>
                          </a:rPr>
                          <m:t>0</m:t>
                        </m:r>
                      </m:sub>
                    </m:sSub>
                  </m:oMath>
                </a14:m>
                <a:r>
                  <a:rPr lang="en-US" altLang="en-US" sz="2000" dirty="0">
                    <a:solidFill>
                      <a:srgbClr val="000000"/>
                    </a:solidFill>
                  </a:rPr>
                  <a:t> at significance level </a:t>
                </a:r>
                <a14:m>
                  <m:oMath xmlns:m="http://schemas.openxmlformats.org/officeDocument/2006/math">
                    <m:r>
                      <a:rPr lang="en-US" altLang="ja-JP" sz="2000" i="1" dirty="0">
                        <a:solidFill>
                          <a:srgbClr val="000000"/>
                        </a:solidFill>
                        <a:latin typeface="Cambria Math" panose="02040503050406030204" pitchFamily="18" charset="0"/>
                        <a:sym typeface="Symbol" pitchFamily="18" charset="2"/>
                      </a:rPr>
                      <m:t>𝛼</m:t>
                    </m:r>
                  </m:oMath>
                </a14:m>
                <a:r>
                  <a:rPr lang="en-US" altLang="en-US" sz="2000" i="1" dirty="0">
                    <a:solidFill>
                      <a:srgbClr val="000000"/>
                    </a:solidFill>
                  </a:rPr>
                  <a:t> </a:t>
                </a:r>
                <a:r>
                  <a:rPr lang="en-US" altLang="en-US" sz="2000" dirty="0">
                    <a:solidFill>
                      <a:srgbClr val="000000"/>
                    </a:solidFill>
                  </a:rPr>
                  <a:t>→ conclude </a:t>
                </a:r>
                <a:r>
                  <a:rPr lang="en-US" altLang="en-US" sz="2000" i="1" dirty="0">
                    <a:solidFill>
                      <a:srgbClr val="000000"/>
                    </a:solidFill>
                  </a:rPr>
                  <a:t>H</a:t>
                </a:r>
                <a:r>
                  <a:rPr lang="en-US" altLang="en-US" sz="2000" baseline="-25000" dirty="0">
                    <a:solidFill>
                      <a:srgbClr val="000000"/>
                    </a:solidFill>
                  </a:rPr>
                  <a:t>a</a:t>
                </a:r>
                <a:r>
                  <a:rPr lang="en-US" altLang="en-US" sz="2000" i="1" dirty="0">
                    <a:solidFill>
                      <a:srgbClr val="000000"/>
                    </a:solidFill>
                  </a:rPr>
                  <a:t> </a:t>
                </a:r>
                <a:r>
                  <a:rPr lang="en-US" altLang="en-US" sz="2000" dirty="0">
                    <a:solidFill>
                      <a:srgbClr val="000000"/>
                    </a:solidFill>
                  </a:rPr>
                  <a:t>with statistical evidence </a:t>
                </a:r>
              </a:p>
              <a:p>
                <a:pPr eaLnBrk="1" hangingPunct="1">
                  <a:spcAft>
                    <a:spcPts val="600"/>
                  </a:spcAft>
                  <a:defRPr/>
                </a:pPr>
                <a:r>
                  <a:rPr lang="en-US" altLang="en-US" sz="2000" dirty="0">
                    <a:solidFill>
                      <a:srgbClr val="000000"/>
                    </a:solidFill>
                  </a:rPr>
                  <a:t>P-value </a:t>
                </a:r>
                <a14:m>
                  <m:oMath xmlns:m="http://schemas.openxmlformats.org/officeDocument/2006/math">
                    <m:r>
                      <a:rPr lang="en-US" altLang="ja-JP" sz="2000" i="1" dirty="0">
                        <a:solidFill>
                          <a:srgbClr val="000000"/>
                        </a:solidFill>
                        <a:latin typeface="Cambria Math" panose="02040503050406030204" pitchFamily="18" charset="0"/>
                        <a:sym typeface="Symbol" pitchFamily="18" charset="2"/>
                      </a:rPr>
                      <m:t>&gt;</m:t>
                    </m:r>
                    <m:r>
                      <a:rPr lang="en-US" altLang="ja-JP" sz="2000" i="1" dirty="0">
                        <a:solidFill>
                          <a:srgbClr val="000000"/>
                        </a:solidFill>
                        <a:latin typeface="Cambria Math" panose="02040503050406030204" pitchFamily="18" charset="0"/>
                        <a:sym typeface="Symbol" pitchFamily="18" charset="2"/>
                      </a:rPr>
                      <m:t>𝛼</m:t>
                    </m:r>
                  </m:oMath>
                </a14:m>
                <a:r>
                  <a:rPr lang="en-US" altLang="en-US" sz="2000" dirty="0">
                    <a:solidFill>
                      <a:srgbClr val="000000"/>
                    </a:solidFill>
                  </a:rPr>
                  <a:t> → fail to reject </a:t>
                </a:r>
                <a14:m>
                  <m:oMath xmlns:m="http://schemas.openxmlformats.org/officeDocument/2006/math">
                    <m:sSub>
                      <m:sSubPr>
                        <m:ctrlPr>
                          <a:rPr lang="en-US" altLang="en-US" sz="2000" i="1" dirty="0">
                            <a:solidFill>
                              <a:srgbClr val="000000"/>
                            </a:solidFill>
                            <a:latin typeface="Cambria Math" panose="02040503050406030204" pitchFamily="18" charset="0"/>
                          </a:rPr>
                        </m:ctrlPr>
                      </m:sSubPr>
                      <m:e>
                        <m:r>
                          <a:rPr lang="en-US" altLang="en-US" sz="2000" i="1" dirty="0">
                            <a:solidFill>
                              <a:srgbClr val="000000"/>
                            </a:solidFill>
                            <a:latin typeface="Cambria Math" panose="02040503050406030204" pitchFamily="18" charset="0"/>
                          </a:rPr>
                          <m:t>𝐻</m:t>
                        </m:r>
                      </m:e>
                      <m:sub>
                        <m:r>
                          <a:rPr lang="en-US" altLang="en-US" sz="2000" i="1" dirty="0">
                            <a:solidFill>
                              <a:srgbClr val="000000"/>
                            </a:solidFill>
                            <a:latin typeface="Cambria Math" panose="02040503050406030204" pitchFamily="18" charset="0"/>
                          </a:rPr>
                          <m:t>0</m:t>
                        </m:r>
                      </m:sub>
                    </m:sSub>
                  </m:oMath>
                </a14:m>
                <a:r>
                  <a:rPr lang="en-US" altLang="en-US" sz="2000" i="1" dirty="0">
                    <a:solidFill>
                      <a:srgbClr val="000000"/>
                    </a:solidFill>
                  </a:rPr>
                  <a:t> </a:t>
                </a:r>
                <a:r>
                  <a:rPr lang="en-US" altLang="en-US" sz="2000" dirty="0">
                    <a:solidFill>
                      <a:srgbClr val="000000"/>
                    </a:solidFill>
                  </a:rPr>
                  <a:t>at significance level </a:t>
                </a:r>
                <a14:m>
                  <m:oMath xmlns:m="http://schemas.openxmlformats.org/officeDocument/2006/math">
                    <m:r>
                      <a:rPr lang="en-US" altLang="ja-JP" sz="2000" i="1" dirty="0">
                        <a:solidFill>
                          <a:srgbClr val="000000"/>
                        </a:solidFill>
                        <a:latin typeface="Cambria Math" panose="02040503050406030204" pitchFamily="18" charset="0"/>
                        <a:sym typeface="Symbol" pitchFamily="18" charset="2"/>
                      </a:rPr>
                      <m:t>𝛼</m:t>
                    </m:r>
                  </m:oMath>
                </a14:m>
                <a:r>
                  <a:rPr lang="en-US" altLang="en-US" sz="2000" i="1" dirty="0">
                    <a:solidFill>
                      <a:srgbClr val="000000"/>
                    </a:solidFill>
                  </a:rPr>
                  <a:t> </a:t>
                </a:r>
                <a:r>
                  <a:rPr lang="en-US" altLang="en-US" sz="2000" dirty="0">
                    <a:solidFill>
                      <a:srgbClr val="000000"/>
                    </a:solidFill>
                  </a:rPr>
                  <a:t>→ cannot conclude </a:t>
                </a:r>
                <a:r>
                  <a:rPr lang="en-US" altLang="en-US" sz="2000" i="1" dirty="0">
                    <a:solidFill>
                      <a:srgbClr val="000000"/>
                    </a:solidFill>
                  </a:rPr>
                  <a:t>H</a:t>
                </a:r>
                <a:r>
                  <a:rPr lang="en-US" altLang="en-US" sz="2000" baseline="-25000" dirty="0">
                    <a:solidFill>
                      <a:srgbClr val="000000"/>
                    </a:solidFill>
                  </a:rPr>
                  <a:t>a</a:t>
                </a:r>
                <a:r>
                  <a:rPr lang="en-US" altLang="en-US" sz="2000" i="1" dirty="0">
                    <a:solidFill>
                      <a:srgbClr val="000000"/>
                    </a:solidFill>
                  </a:rPr>
                  <a:t> </a:t>
                </a:r>
                <a:r>
                  <a:rPr lang="en-US" altLang="en-US" sz="2000" dirty="0">
                    <a:solidFill>
                      <a:srgbClr val="000000"/>
                    </a:solidFill>
                  </a:rPr>
                  <a:t>with statistical evidence</a:t>
                </a:r>
              </a:p>
            </p:txBody>
          </p:sp>
        </mc:Choice>
        <mc:Fallback xmlns="">
          <p:sp>
            <p:nvSpPr>
              <p:cNvPr id="11" name="Rectangle 10"/>
              <p:cNvSpPr>
                <a:spLocks noRot="1" noChangeAspect="1" noMove="1" noResize="1" noEditPoints="1" noAdjustHandles="1" noChangeArrowheads="1" noChangeShapeType="1" noTextEdit="1"/>
              </p:cNvSpPr>
              <p:nvPr/>
            </p:nvSpPr>
            <p:spPr bwMode="auto">
              <a:xfrm>
                <a:off x="261938" y="3694796"/>
                <a:ext cx="7994650" cy="2092881"/>
              </a:xfrm>
              <a:prstGeom prst="rect">
                <a:avLst/>
              </a:prstGeom>
              <a:blipFill>
                <a:blip r:embed="rId2"/>
                <a:stretch>
                  <a:fillRect/>
                </a:stretch>
              </a:blipFill>
              <a:ln w="10000">
                <a:solidFill>
                  <a:schemeClr val="accent2"/>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28AC7BBB-0DC3-9F5D-2CB7-FE5927A194E0}"/>
                  </a:ext>
                </a:extLst>
              </p:cNvPr>
              <p:cNvSpPr>
                <a:spLocks noChangeArrowheads="1"/>
              </p:cNvSpPr>
              <p:nvPr/>
            </p:nvSpPr>
            <p:spPr bwMode="auto">
              <a:xfrm>
                <a:off x="174625" y="921962"/>
                <a:ext cx="8147050" cy="28623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The final step of </a:t>
                </a:r>
                <a:r>
                  <a:rPr lang="en-US" altLang="zh-CN" sz="2000" dirty="0">
                    <a:solidFill>
                      <a:srgbClr val="000000"/>
                    </a:solidFill>
                  </a:rPr>
                  <a:t>hypothesis</a:t>
                </a:r>
                <a:r>
                  <a:rPr lang="en-US" altLang="en-US" sz="2000" dirty="0">
                    <a:solidFill>
                      <a:srgbClr val="000000"/>
                    </a:solidFill>
                  </a:rPr>
                  <a:t> testing is to </a:t>
                </a:r>
                <a:r>
                  <a:rPr lang="en-US" altLang="en-US" sz="2000" dirty="0">
                    <a:solidFill>
                      <a:srgbClr val="FF0000"/>
                    </a:solidFill>
                  </a:rPr>
                  <a:t>draw a conclusion </a:t>
                </a:r>
                <a:r>
                  <a:rPr lang="en-US" altLang="en-US" sz="2000" dirty="0">
                    <a:solidFill>
                      <a:srgbClr val="000000"/>
                    </a:solidFill>
                  </a:rPr>
                  <a:t>about the competing claims you were testing. We will make one of two decisions based on the strength of the evidence against the null hypothesis: </a:t>
                </a:r>
                <a:r>
                  <a:rPr lang="en-US" altLang="en-US" sz="2000" b="1" dirty="0">
                    <a:solidFill>
                      <a:srgbClr val="800000"/>
                    </a:solidFill>
                  </a:rPr>
                  <a:t>reject </a:t>
                </a:r>
                <a14:m>
                  <m:oMath xmlns:m="http://schemas.openxmlformats.org/officeDocument/2006/math">
                    <m:sSub>
                      <m:sSubPr>
                        <m:ctrlPr>
                          <a:rPr lang="en-US" altLang="en-US" sz="2000" b="1" i="1" dirty="0" smtClean="0">
                            <a:solidFill>
                              <a:srgbClr val="800000"/>
                            </a:solidFill>
                            <a:latin typeface="Cambria Math" panose="02040503050406030204" pitchFamily="18" charset="0"/>
                          </a:rPr>
                        </m:ctrlPr>
                      </m:sSubPr>
                      <m:e>
                        <m:r>
                          <a:rPr lang="en-US" altLang="en-US" sz="2000" b="1" i="1" dirty="0" smtClean="0">
                            <a:solidFill>
                              <a:srgbClr val="800000"/>
                            </a:solidFill>
                            <a:latin typeface="Cambria Math" panose="02040503050406030204" pitchFamily="18" charset="0"/>
                          </a:rPr>
                          <m:t>𝑯</m:t>
                        </m:r>
                      </m:e>
                      <m:sub>
                        <m:r>
                          <a:rPr lang="en-US" altLang="en-US" sz="2000" b="1" i="1" dirty="0" smtClean="0">
                            <a:solidFill>
                              <a:srgbClr val="800000"/>
                            </a:solidFill>
                            <a:latin typeface="Cambria Math" panose="02040503050406030204" pitchFamily="18" charset="0"/>
                          </a:rPr>
                          <m:t>𝟎</m:t>
                        </m:r>
                      </m:sub>
                    </m:sSub>
                  </m:oMath>
                </a14:m>
                <a:r>
                  <a:rPr lang="en-US" altLang="en-US" sz="2000" b="1" dirty="0">
                    <a:solidFill>
                      <a:srgbClr val="800000"/>
                    </a:solidFill>
                  </a:rPr>
                  <a:t> </a:t>
                </a:r>
                <a:r>
                  <a:rPr lang="en-US" altLang="en-US" sz="2000" dirty="0"/>
                  <a:t>or</a:t>
                </a:r>
                <a:r>
                  <a:rPr lang="en-US" altLang="en-US" sz="2000" b="1" dirty="0">
                    <a:solidFill>
                      <a:srgbClr val="800000"/>
                    </a:solidFill>
                  </a:rPr>
                  <a:t> fail to reject </a:t>
                </a:r>
                <a14:m>
                  <m:oMath xmlns:m="http://schemas.openxmlformats.org/officeDocument/2006/math">
                    <m:sSub>
                      <m:sSubPr>
                        <m:ctrlPr>
                          <a:rPr lang="en-US" altLang="en-US" sz="2000" b="1" i="1" dirty="0">
                            <a:solidFill>
                              <a:srgbClr val="800000"/>
                            </a:solidFill>
                            <a:latin typeface="Cambria Math" panose="02040503050406030204" pitchFamily="18" charset="0"/>
                          </a:rPr>
                        </m:ctrlPr>
                      </m:sSubPr>
                      <m:e>
                        <m:r>
                          <a:rPr lang="en-US" altLang="en-US" sz="2000" b="1" i="1" dirty="0">
                            <a:solidFill>
                              <a:srgbClr val="800000"/>
                            </a:solidFill>
                            <a:latin typeface="Cambria Math" panose="02040503050406030204" pitchFamily="18" charset="0"/>
                          </a:rPr>
                          <m:t>𝑯</m:t>
                        </m:r>
                      </m:e>
                      <m:sub>
                        <m:r>
                          <a:rPr lang="en-US" altLang="en-US" sz="2000" b="1" i="1" dirty="0">
                            <a:solidFill>
                              <a:srgbClr val="800000"/>
                            </a:solidFill>
                            <a:latin typeface="Cambria Math" panose="02040503050406030204" pitchFamily="18" charset="0"/>
                          </a:rPr>
                          <m:t>𝟎</m:t>
                        </m:r>
                      </m:sub>
                    </m:sSub>
                  </m:oMath>
                </a14:m>
                <a:r>
                  <a:rPr lang="en-US" altLang="en-US" sz="2000" b="1" dirty="0">
                    <a:solidFill>
                      <a:srgbClr val="000000"/>
                    </a:solidFill>
                  </a:rPr>
                  <a:t>.</a:t>
                </a:r>
                <a:r>
                  <a:rPr lang="en-US" altLang="en-US" sz="2000" dirty="0">
                    <a:solidFill>
                      <a:srgbClr val="000000"/>
                    </a:solidFill>
                  </a:rPr>
                  <a:t> </a:t>
                </a:r>
              </a:p>
              <a:p>
                <a:pPr eaLnBrk="1" hangingPunct="1">
                  <a:buFont typeface="Wingdings" pitchFamily="2" charset="2"/>
                  <a:buNone/>
                </a:pPr>
                <a:endParaRPr lang="en-US" altLang="en-US" sz="2000" dirty="0">
                  <a:solidFill>
                    <a:srgbClr val="000000"/>
                  </a:solidFill>
                </a:endParaRPr>
              </a:p>
              <a:p>
                <a:pPr eaLnBrk="1" hangingPunct="1">
                  <a:buFont typeface="Wingdings" pitchFamily="2" charset="2"/>
                  <a:buNone/>
                </a:pPr>
                <a:r>
                  <a:rPr lang="en-US" altLang="en-US" sz="2000" dirty="0">
                    <a:solidFill>
                      <a:srgbClr val="000000"/>
                    </a:solidFill>
                  </a:rPr>
                  <a:t>Specifically, we </a:t>
                </a:r>
                <a:r>
                  <a:rPr lang="en-US" altLang="ja-JP" sz="2000" dirty="0">
                    <a:solidFill>
                      <a:srgbClr val="000000"/>
                    </a:solidFill>
                  </a:rPr>
                  <a:t>compare the P-value with the </a:t>
                </a:r>
                <a:r>
                  <a:rPr lang="en-US" altLang="ja-JP" sz="2000" b="1" dirty="0">
                    <a:solidFill>
                      <a:srgbClr val="800000"/>
                    </a:solidFill>
                  </a:rPr>
                  <a:t>significance level,</a:t>
                </a:r>
                <a:r>
                  <a:rPr lang="en-US" altLang="ja-JP" sz="2000" dirty="0">
                    <a:solidFill>
                      <a:srgbClr val="000000"/>
                    </a:solidFill>
                  </a:rPr>
                  <a:t> </a:t>
                </a:r>
                <a:r>
                  <a:rPr lang="en-US" altLang="ja-JP" sz="2000" dirty="0"/>
                  <a:t>a fixed value</a:t>
                </a:r>
                <a:r>
                  <a:rPr lang="en-US" altLang="ja-JP" sz="2000" dirty="0">
                    <a:solidFill>
                      <a:srgbClr val="000000"/>
                    </a:solidFill>
                  </a:rPr>
                  <a:t> </a:t>
                </a:r>
                <a14:m>
                  <m:oMath xmlns:m="http://schemas.openxmlformats.org/officeDocument/2006/math">
                    <m:r>
                      <a:rPr lang="en-US" altLang="ja-JP" sz="2000" b="0" i="1" dirty="0" smtClean="0">
                        <a:solidFill>
                          <a:srgbClr val="000000"/>
                        </a:solidFill>
                        <a:latin typeface="Cambria Math" panose="02040503050406030204" pitchFamily="18" charset="0"/>
                        <a:sym typeface="Symbol" pitchFamily="18" charset="2"/>
                      </a:rPr>
                      <m:t>𝛼</m:t>
                    </m:r>
                  </m:oMath>
                </a14:m>
                <a:r>
                  <a:rPr lang="en-US" altLang="ja-JP" sz="2000" dirty="0">
                    <a:solidFill>
                      <a:srgbClr val="000000"/>
                    </a:solidFill>
                  </a:rPr>
                  <a:t> between 0 and 1 (typically 0.01, 0.05, or 0.1). When the P-value </a:t>
                </a:r>
                <a14:m>
                  <m:oMath xmlns:m="http://schemas.openxmlformats.org/officeDocument/2006/math">
                    <m:r>
                      <a:rPr lang="en-US" altLang="ja-JP" sz="2000" b="0" i="1" smtClean="0">
                        <a:solidFill>
                          <a:srgbClr val="000000"/>
                        </a:solidFill>
                        <a:latin typeface="Cambria Math" panose="02040503050406030204" pitchFamily="18" charset="0"/>
                      </a:rPr>
                      <m:t>≤</m:t>
                    </m:r>
                  </m:oMath>
                </a14:m>
                <a:r>
                  <a:rPr lang="en-US" altLang="ja-JP" sz="2000" dirty="0">
                    <a:solidFill>
                      <a:srgbClr val="000000"/>
                    </a:solidFill>
                  </a:rPr>
                  <a:t> the pre-specified </a:t>
                </a:r>
                <a14:m>
                  <m:oMath xmlns:m="http://schemas.openxmlformats.org/officeDocument/2006/math">
                    <m:r>
                      <a:rPr lang="en-US" altLang="ja-JP" sz="2000" i="1" dirty="0">
                        <a:solidFill>
                          <a:srgbClr val="000000"/>
                        </a:solidFill>
                        <a:latin typeface="Cambria Math" panose="02040503050406030204" pitchFamily="18" charset="0"/>
                        <a:sym typeface="Symbol" pitchFamily="18" charset="2"/>
                      </a:rPr>
                      <m:t>𝛼</m:t>
                    </m:r>
                  </m:oMath>
                </a14:m>
                <a:r>
                  <a:rPr lang="en-US" altLang="ja-JP" sz="2000" dirty="0">
                    <a:solidFill>
                      <a:srgbClr val="000000"/>
                    </a:solidFill>
                  </a:rPr>
                  <a:t>, we say that the result is </a:t>
                </a:r>
                <a:r>
                  <a:rPr lang="en-US" altLang="ja-JP" sz="2000" b="1" dirty="0">
                    <a:solidFill>
                      <a:srgbClr val="800000"/>
                    </a:solidFill>
                  </a:rPr>
                  <a:t>statistically significant</a:t>
                </a:r>
                <a:r>
                  <a:rPr lang="en-US" altLang="ja-JP" sz="2000" dirty="0">
                    <a:solidFill>
                      <a:srgbClr val="000000"/>
                    </a:solidFill>
                  </a:rPr>
                  <a:t>.</a:t>
                </a:r>
                <a:r>
                  <a:rPr lang="en-US" altLang="en-US" sz="2000" dirty="0">
                    <a:solidFill>
                      <a:srgbClr val="000000"/>
                    </a:solidFill>
                  </a:rPr>
                  <a:t> </a:t>
                </a:r>
              </a:p>
            </p:txBody>
          </p:sp>
        </mc:Choice>
        <mc:Fallback xmlns="">
          <p:sp>
            <p:nvSpPr>
              <p:cNvPr id="4" name="Rectangle 1">
                <a:extLst>
                  <a:ext uri="{FF2B5EF4-FFF2-40B4-BE49-F238E27FC236}">
                    <a16:creationId xmlns:a16="http://schemas.microsoft.com/office/drawing/2014/main" id="{28AC7BBB-0DC3-9F5D-2CB7-FE5927A194E0}"/>
                  </a:ext>
                </a:extLst>
              </p:cNvPr>
              <p:cNvSpPr>
                <a:spLocks noRot="1" noChangeAspect="1" noMove="1" noResize="1" noEditPoints="1" noAdjustHandles="1" noChangeArrowheads="1" noChangeShapeType="1" noTextEdit="1"/>
              </p:cNvSpPr>
              <p:nvPr/>
            </p:nvSpPr>
            <p:spPr bwMode="auto">
              <a:xfrm>
                <a:off x="174625" y="921962"/>
                <a:ext cx="8147050" cy="2862322"/>
              </a:xfrm>
              <a:prstGeom prst="rect">
                <a:avLst/>
              </a:prstGeom>
              <a:blipFill>
                <a:blip r:embed="rId3"/>
                <a:stretch>
                  <a:fillRect l="-823" t="-851" r="-599" b="-297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Rectangle 4">
            <a:extLst>
              <a:ext uri="{FF2B5EF4-FFF2-40B4-BE49-F238E27FC236}">
                <a16:creationId xmlns:a16="http://schemas.microsoft.com/office/drawing/2014/main" id="{CF3ADDB9-B660-FF0D-E25D-3119DBA38936}"/>
              </a:ext>
            </a:extLst>
          </p:cNvPr>
          <p:cNvSpPr>
            <a:spLocks noChangeArrowheads="1"/>
          </p:cNvSpPr>
          <p:nvPr/>
        </p:nvSpPr>
        <p:spPr bwMode="auto">
          <a:xfrm>
            <a:off x="261938" y="5792075"/>
            <a:ext cx="79216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Aft>
                <a:spcPts val="1800"/>
              </a:spcAft>
              <a:buClr>
                <a:srgbClr val="E81F30"/>
              </a:buClr>
            </a:pPr>
            <a:r>
              <a:rPr lang="en-US" altLang="en-US" sz="2000" b="1" dirty="0">
                <a:solidFill>
                  <a:srgbClr val="05295B"/>
                </a:solidFill>
              </a:rPr>
              <a:t>Note:</a:t>
            </a:r>
            <a:r>
              <a:rPr lang="en-US" altLang="en-US" sz="2000" dirty="0">
                <a:solidFill>
                  <a:srgbClr val="05295B"/>
                </a:solidFill>
              </a:rPr>
              <a:t> </a:t>
            </a:r>
            <a:r>
              <a:rPr lang="en-US" altLang="en-US" sz="2000" dirty="0"/>
              <a:t>A fail-to-reject </a:t>
            </a:r>
            <a:r>
              <a:rPr lang="en-US" altLang="en-US" sz="2000" i="1" dirty="0"/>
              <a:t>H</a:t>
            </a:r>
            <a:r>
              <a:rPr lang="en-US" altLang="en-US" sz="2000" baseline="-25000" dirty="0"/>
              <a:t>0</a:t>
            </a:r>
            <a:r>
              <a:rPr lang="en-US" altLang="en-US" sz="2000" dirty="0"/>
              <a:t> decision </a:t>
            </a:r>
            <a:r>
              <a:rPr lang="en-US" altLang="en-US" sz="2000" dirty="0">
                <a:solidFill>
                  <a:srgbClr val="FF0000"/>
                </a:solidFill>
              </a:rPr>
              <a:t>does not mean that </a:t>
            </a:r>
            <a:r>
              <a:rPr lang="en-US" altLang="en-US" sz="2000" i="1" dirty="0">
                <a:solidFill>
                  <a:srgbClr val="FF0000"/>
                </a:solidFill>
              </a:rPr>
              <a:t>H</a:t>
            </a:r>
            <a:r>
              <a:rPr lang="en-US" altLang="en-US" sz="2000" baseline="-25000" dirty="0">
                <a:solidFill>
                  <a:srgbClr val="FF0000"/>
                </a:solidFill>
              </a:rPr>
              <a:t>0</a:t>
            </a:r>
            <a:r>
              <a:rPr lang="en-US" altLang="en-US" sz="2000" dirty="0">
                <a:solidFill>
                  <a:srgbClr val="FF0000"/>
                </a:solidFill>
              </a:rPr>
              <a:t> is true</a:t>
            </a:r>
            <a:r>
              <a:rPr lang="en-US" altLang="en-US" sz="2000" dirty="0"/>
              <a:t>. For that reason, you </a:t>
            </a:r>
            <a:r>
              <a:rPr lang="en-US" altLang="en-US" sz="2000" dirty="0">
                <a:solidFill>
                  <a:srgbClr val="FF0000"/>
                </a:solidFill>
              </a:rPr>
              <a:t>should never </a:t>
            </a:r>
            <a:r>
              <a:rPr lang="ja-JP" altLang="en-US" sz="2000" dirty="0">
                <a:solidFill>
                  <a:srgbClr val="FF0000"/>
                </a:solidFill>
              </a:rPr>
              <a:t>“</a:t>
            </a:r>
            <a:r>
              <a:rPr lang="en-US" altLang="ja-JP" sz="2000" dirty="0">
                <a:solidFill>
                  <a:srgbClr val="FF0000"/>
                </a:solidFill>
              </a:rPr>
              <a:t>accept”</a:t>
            </a:r>
            <a:r>
              <a:rPr lang="en-US" altLang="ja-JP" sz="2000" dirty="0"/>
              <a:t> or use language implying that you believe </a:t>
            </a:r>
            <a:r>
              <a:rPr lang="en-US" altLang="ja-JP" sz="2000" i="1" dirty="0"/>
              <a:t>H</a:t>
            </a:r>
            <a:r>
              <a:rPr lang="en-US" altLang="ja-JP" sz="2000" baseline="-25000" dirty="0"/>
              <a:t>0</a:t>
            </a:r>
            <a:r>
              <a:rPr lang="en-US" altLang="ja-JP" sz="2000" dirty="0"/>
              <a:t> is true.</a:t>
            </a:r>
            <a:endParaRPr lang="en-US"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from="(-#ppt_w/2)" to="(#ppt_x)" calcmode="lin" valueType="num">
                                      <p:cBhvr>
                                        <p:cTn id="15" dur="600" fill="hold">
                                          <p:stCondLst>
                                            <p:cond delay="0"/>
                                          </p:stCondLst>
                                        </p:cTn>
                                        <p:tgtEl>
                                          <p:spTgt spid="5"/>
                                        </p:tgtEl>
                                        <p:attrNameLst>
                                          <p:attrName>ppt_x</p:attrName>
                                        </p:attrNameLst>
                                      </p:cBhvr>
                                    </p:anim>
                                    <p:anim from="0" to="-1.0" calcmode="lin" valueType="num">
                                      <p:cBhvr>
                                        <p:cTn id="16" dur="200" decel="50000" autoRev="1" fill="hold">
                                          <p:stCondLst>
                                            <p:cond delay="600"/>
                                          </p:stCondLst>
                                        </p:cTn>
                                        <p:tgtEl>
                                          <p:spTgt spid="5"/>
                                        </p:tgtEl>
                                        <p:attrNameLst>
                                          <p:attrName>xshear</p:attrName>
                                        </p:attrNameLst>
                                      </p:cBhvr>
                                    </p:anim>
                                    <p:animScale>
                                      <p:cBhvr>
                                        <p:cTn id="17" dur="200" decel="100000" autoRev="1" fill="hold">
                                          <p:stCondLst>
                                            <p:cond delay="600"/>
                                          </p:stCondLst>
                                        </p:cTn>
                                        <p:tgtEl>
                                          <p:spTgt spid="5"/>
                                        </p:tgtEl>
                                      </p:cBhvr>
                                      <p:from x="100000" y="100000"/>
                                      <p:to x="80000" y="100000"/>
                                    </p:animScale>
                                    <p:anim by="(#ppt_h/3+#ppt_w*0.1)" calcmode="lin" valueType="num">
                                      <p:cBhvr additive="sum">
                                        <p:cTn id="18" dur="200" decel="100000" autoRev="1" fill="hold">
                                          <p:stCondLst>
                                            <p:cond delay="600"/>
                                          </p:stCondLst>
                                        </p:cTn>
                                        <p:tgtEl>
                                          <p:spTgt spid="5"/>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Hypothesis Tests</a:t>
            </a:r>
            <a:endParaRPr lang="en-US" altLang="en-US" sz="2400" dirty="0">
              <a:solidFill>
                <a:srgbClr val="33CCFF"/>
              </a:solidFill>
              <a:ea typeface="ＭＳ Ｐゴシック" pitchFamily="34" charset="-128"/>
            </a:endParaRPr>
          </a:p>
        </p:txBody>
      </p:sp>
      <p:sp>
        <p:nvSpPr>
          <p:cNvPr id="655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E6FE09F-92B8-4A3C-B98E-0BFAE2B64DD4}" type="slidenum">
              <a:rPr lang="en-US" altLang="en-US" sz="1200">
                <a:solidFill>
                  <a:schemeClr val="accent1"/>
                </a:solidFill>
              </a:rPr>
              <a:pPr>
                <a:lnSpc>
                  <a:spcPct val="80000"/>
                </a:lnSpc>
              </a:pPr>
              <a:t>22</a:t>
            </a:fld>
            <a:endParaRPr lang="en-US" altLang="en-US" sz="1200">
              <a:solidFill>
                <a:schemeClr val="accent1"/>
              </a:solidFill>
            </a:endParaRPr>
          </a:p>
        </p:txBody>
      </p:sp>
      <p:sp>
        <p:nvSpPr>
          <p:cNvPr id="17" name="TextBox 16"/>
          <p:cNvSpPr txBox="1">
            <a:spLocks noChangeArrowheads="1"/>
          </p:cNvSpPr>
          <p:nvPr/>
        </p:nvSpPr>
        <p:spPr bwMode="auto">
          <a:xfrm>
            <a:off x="1843087" y="2024063"/>
            <a:ext cx="5422900" cy="40005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sz="2000" b="1" dirty="0"/>
              <a:t>Hypothesis Tests: Four Steps</a:t>
            </a:r>
          </a:p>
        </p:txBody>
      </p:sp>
      <p:sp>
        <p:nvSpPr>
          <p:cNvPr id="16" name="TextBox 15"/>
          <p:cNvSpPr txBox="1">
            <a:spLocks noChangeArrowheads="1"/>
          </p:cNvSpPr>
          <p:nvPr/>
        </p:nvSpPr>
        <p:spPr bwMode="auto">
          <a:xfrm>
            <a:off x="693738" y="2424113"/>
            <a:ext cx="7754937" cy="18462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rgbClr val="000000"/>
                </a:solidFill>
              </a:rPr>
              <a:t>	1. State the null and alternative </a:t>
            </a:r>
            <a:r>
              <a:rPr lang="en-US" altLang="en-US" b="1" dirty="0">
                <a:solidFill>
                  <a:srgbClr val="000000"/>
                </a:solidFill>
              </a:rPr>
              <a:t>hypotheses</a:t>
            </a:r>
            <a:r>
              <a:rPr lang="en-US" altLang="en-US" dirty="0">
                <a:solidFill>
                  <a:schemeClr val="tx1"/>
                </a:solidFill>
              </a:rPr>
              <a:t>.</a:t>
            </a:r>
            <a:endParaRPr lang="en-US" altLang="en-US" b="1" dirty="0">
              <a:solidFill>
                <a:srgbClr val="000000"/>
              </a:solidFill>
            </a:endParaRPr>
          </a:p>
          <a:p>
            <a:pPr eaLnBrk="1" hangingPunct="1">
              <a:spcBef>
                <a:spcPct val="0"/>
              </a:spcBef>
              <a:spcAft>
                <a:spcPts val="1200"/>
              </a:spcAft>
              <a:buClrTx/>
              <a:buSzTx/>
              <a:buFontTx/>
              <a:buNone/>
              <a:defRPr/>
            </a:pPr>
            <a:r>
              <a:rPr lang="en-US" altLang="en-US" dirty="0">
                <a:solidFill>
                  <a:srgbClr val="000000"/>
                </a:solidFill>
              </a:rPr>
              <a:t>	2. Calculate the value of </a:t>
            </a:r>
            <a:r>
              <a:rPr lang="en-US" altLang="en-US" b="1" dirty="0">
                <a:solidFill>
                  <a:srgbClr val="000000"/>
                </a:solidFill>
              </a:rPr>
              <a:t>test statistic</a:t>
            </a:r>
            <a:r>
              <a:rPr lang="en-US" altLang="en-US" dirty="0">
                <a:solidFill>
                  <a:srgbClr val="000000"/>
                </a:solidFill>
              </a:rPr>
              <a:t>.</a:t>
            </a:r>
          </a:p>
          <a:p>
            <a:pPr eaLnBrk="1" hangingPunct="1">
              <a:spcBef>
                <a:spcPct val="0"/>
              </a:spcBef>
              <a:spcAft>
                <a:spcPts val="1200"/>
              </a:spcAft>
              <a:buClrTx/>
              <a:buSzTx/>
              <a:buFontTx/>
              <a:buNone/>
              <a:defRPr/>
            </a:pPr>
            <a:r>
              <a:rPr lang="en-US" altLang="en-US" dirty="0">
                <a:solidFill>
                  <a:srgbClr val="000000"/>
                </a:solidFill>
              </a:rPr>
              <a:t>	3. Calculate the </a:t>
            </a:r>
            <a:r>
              <a:rPr lang="en-US" altLang="en-US" b="1" dirty="0">
                <a:solidFill>
                  <a:srgbClr val="000000"/>
                </a:solidFill>
              </a:rPr>
              <a:t>P-value</a:t>
            </a:r>
            <a:r>
              <a:rPr lang="en-US" altLang="en-US" dirty="0">
                <a:solidFill>
                  <a:srgbClr val="000000"/>
                </a:solidFill>
              </a:rPr>
              <a:t>.</a:t>
            </a:r>
          </a:p>
          <a:p>
            <a:pPr eaLnBrk="1" hangingPunct="1">
              <a:spcBef>
                <a:spcPct val="0"/>
              </a:spcBef>
              <a:spcAft>
                <a:spcPts val="1200"/>
              </a:spcAft>
              <a:buClrTx/>
              <a:buSzTx/>
              <a:buFontTx/>
              <a:buNone/>
              <a:defRPr/>
            </a:pPr>
            <a:r>
              <a:rPr lang="en-US" altLang="en-US" b="1" dirty="0">
                <a:solidFill>
                  <a:srgbClr val="000000"/>
                </a:solidFill>
              </a:rPr>
              <a:t>	</a:t>
            </a:r>
            <a:r>
              <a:rPr lang="en-US" altLang="en-US" dirty="0">
                <a:solidFill>
                  <a:srgbClr val="000000"/>
                </a:solidFill>
              </a:rPr>
              <a:t>4. Draw a </a:t>
            </a:r>
            <a:r>
              <a:rPr lang="en-US" altLang="en-US" b="1" dirty="0">
                <a:solidFill>
                  <a:srgbClr val="000000"/>
                </a:solidFill>
              </a:rPr>
              <a:t>conclusion</a:t>
            </a:r>
            <a:r>
              <a:rPr lang="en-US" altLang="en-US" dirty="0">
                <a:solidFill>
                  <a:srgbClr val="000000"/>
                </a:solidFill>
              </a:rPr>
              <a:t>.</a:t>
            </a:r>
          </a:p>
        </p:txBody>
      </p:sp>
      <p:sp>
        <p:nvSpPr>
          <p:cNvPr id="65542" name="TextBox 5"/>
          <p:cNvSpPr txBox="1">
            <a:spLocks noChangeArrowheads="1"/>
          </p:cNvSpPr>
          <p:nvPr/>
        </p:nvSpPr>
        <p:spPr bwMode="auto">
          <a:xfrm>
            <a:off x="600075" y="4613275"/>
            <a:ext cx="79089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We will learn the details of many hypothesis tests in the following chapters. The appropriate test statistic vary with the hypotheses and how the data were collected.  </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Tests for a Population Mean</a:t>
            </a:r>
            <a:endParaRPr lang="en-US" altLang="en-US" sz="2400" i="1" dirty="0">
              <a:solidFill>
                <a:srgbClr val="33CCFF"/>
              </a:solidFill>
              <a:ea typeface="ＭＳ Ｐゴシック" pitchFamily="34" charset="-128"/>
            </a:endParaRPr>
          </a:p>
        </p:txBody>
      </p:sp>
      <p:sp>
        <p:nvSpPr>
          <p:cNvPr id="665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0B1FB60-DCC2-4C2A-AC4B-F0809DC88499}" type="slidenum">
              <a:rPr lang="en-US" altLang="en-US" sz="1200">
                <a:solidFill>
                  <a:schemeClr val="accent1"/>
                </a:solidFill>
              </a:rPr>
              <a:pPr>
                <a:lnSpc>
                  <a:spcPct val="80000"/>
                </a:lnSpc>
              </a:pPr>
              <a:t>23</a:t>
            </a:fld>
            <a:endParaRPr lang="en-US" altLang="en-US" sz="1200">
              <a:solidFill>
                <a:schemeClr val="accent1"/>
              </a:solidFill>
            </a:endParaRPr>
          </a:p>
        </p:txBody>
      </p:sp>
      <p:pic>
        <p:nvPicPr>
          <p:cNvPr id="66564" name="Picture 2" descr="The image explains the z Test for a population mean. Draw a simple random sample &quot;SRS&quot; of size &quot;n: from a normal population that has unknown mean mew and known standard deviation sigma. To test the null hypothesis H0 that mew is equal to mew subscript 0, the image shows the statistical expression  to calculate the one same z statistic as &quot;z&quot; equals to &quot;x bar&quot; minus &quot; mew 0&quot; divided by &quot;sigma&quot; divided by square root of &quot;n&quot;.&#10;&#10;In terms of a variable Z having the standard Normal distribution, The P-value is a way to test the “believability” of the null hypothesis given the evidence provided by a random sample.&#10;&#10;Alternative Hypothesis &quot;H&quot; subscript &quot;a&quot; as mew is greater than mew 0 is P bracket open Z is greater than or equal to z bracket close. It is supported by an image of normal distribution curve where the value of z comes to extreme right of the curve.&#10;&#10;Alternative Hypothesis &quot;H&quot; subscript &quot;a&quot; as mew is smaller than mew subscript 0 is P bracket open Z is smaller than or equal to z bracket close. It is supported by an image of normal distribution curve where the value of z comes to extreme left of the curve.&#10;&#10;Alternative Hypothesis &quot;H&quot; subscript &quot;a&quot; as mew is not equal to mew subscript 0 is &quot;2P&quot; bracket open Z is smaller than or equal to z bracket close. It is supported by an image of normal distribution curve where the value of z comes to extreme left and right sides of the cur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950" y="1009402"/>
            <a:ext cx="5966469" cy="584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174624" y="156605"/>
            <a:ext cx="7461087" cy="1068880"/>
          </a:xfrm>
        </p:spPr>
        <p:txBody>
          <a:bodyPr/>
          <a:lstStyle/>
          <a:p>
            <a:pPr eaLnBrk="1" hangingPunct="1">
              <a:lnSpc>
                <a:spcPct val="90000"/>
              </a:lnSpc>
            </a:pPr>
            <a:r>
              <a:rPr lang="en-US" altLang="en-US" dirty="0">
                <a:ea typeface="ＭＳ Ｐゴシック" pitchFamily="34" charset="-128"/>
              </a:rPr>
              <a:t>Hypothesis Test: Job Satisfaction Example</a:t>
            </a:r>
            <a:endParaRPr lang="en-US" altLang="en-US" sz="2400" dirty="0">
              <a:solidFill>
                <a:srgbClr val="33CCFF"/>
              </a:solidFill>
              <a:ea typeface="ＭＳ Ｐゴシック" pitchFamily="34" charset="-128"/>
            </a:endParaRPr>
          </a:p>
        </p:txBody>
      </p:sp>
      <p:sp>
        <p:nvSpPr>
          <p:cNvPr id="686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4390865-90FB-4BC0-A3ED-1910E969A611}" type="slidenum">
              <a:rPr lang="en-US" altLang="en-US" sz="1200">
                <a:solidFill>
                  <a:schemeClr val="accent1"/>
                </a:solidFill>
              </a:rPr>
              <a:pPr>
                <a:lnSpc>
                  <a:spcPct val="80000"/>
                </a:lnSpc>
              </a:pPr>
              <a:t>24</a:t>
            </a:fld>
            <a:endParaRPr lang="en-US" altLang="en-US" sz="1200">
              <a:solidFill>
                <a:schemeClr val="accent1"/>
              </a:solidFill>
            </a:endParaRPr>
          </a:p>
        </p:txBody>
      </p:sp>
      <p:sp>
        <p:nvSpPr>
          <p:cNvPr id="4" name="Rectangle 1">
            <a:extLst>
              <a:ext uri="{FF2B5EF4-FFF2-40B4-BE49-F238E27FC236}">
                <a16:creationId xmlns:a16="http://schemas.microsoft.com/office/drawing/2014/main" id="{DBE29049-B510-85A7-2166-AA23981EAABE}"/>
              </a:ext>
            </a:extLst>
          </p:cNvPr>
          <p:cNvSpPr>
            <a:spLocks noChangeArrowheads="1"/>
          </p:cNvSpPr>
          <p:nvPr/>
        </p:nvSpPr>
        <p:spPr bwMode="auto">
          <a:xfrm>
            <a:off x="506413" y="1411827"/>
            <a:ext cx="8256587"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dirty="0">
                <a:solidFill>
                  <a:srgbClr val="000000"/>
                </a:solidFill>
              </a:rPr>
              <a:t>Does the job satisfaction of assembly-line workers </a:t>
            </a:r>
            <a:r>
              <a:rPr lang="en-US" altLang="en-US" dirty="0">
                <a:solidFill>
                  <a:srgbClr val="FF0000"/>
                </a:solidFill>
              </a:rPr>
              <a:t>differ</a:t>
            </a:r>
            <a:r>
              <a:rPr lang="en-US" altLang="en-US" dirty="0">
                <a:solidFill>
                  <a:srgbClr val="000000"/>
                </a:solidFill>
              </a:rPr>
              <a:t> when their work is </a:t>
            </a:r>
            <a:r>
              <a:rPr lang="en-US" altLang="en-US" dirty="0">
                <a:solidFill>
                  <a:srgbClr val="FF0000"/>
                </a:solidFill>
              </a:rPr>
              <a:t>machine-paced</a:t>
            </a:r>
            <a:r>
              <a:rPr lang="en-US" altLang="en-US" dirty="0">
                <a:solidFill>
                  <a:srgbClr val="000000"/>
                </a:solidFill>
              </a:rPr>
              <a:t> rather than </a:t>
            </a:r>
            <a:r>
              <a:rPr lang="en-US" altLang="en-US" dirty="0">
                <a:solidFill>
                  <a:srgbClr val="FF0000"/>
                </a:solidFill>
              </a:rPr>
              <a:t>self-paced</a:t>
            </a:r>
            <a:r>
              <a:rPr lang="en-US" altLang="en-US" dirty="0">
                <a:solidFill>
                  <a:srgbClr val="000000"/>
                </a:solidFill>
              </a:rPr>
              <a:t>? One study chose 18 subjects at random from a company with over 200 workers who assembled electronic devices. Half of the workers were assigned at random to each of two groups. Both groups did similar assembly work, but one group was allowed to pace itself while the other group used an assembly line that moved at a fixed pace. After two weeks, all the workers took a test of job satisfaction. Then, they switched work setups and took the test again after two more weeks. </a:t>
            </a:r>
            <a:r>
              <a:rPr lang="en-US" altLang="en-US" dirty="0">
                <a:solidFill>
                  <a:srgbClr val="FF0000"/>
                </a:solidFill>
              </a:rPr>
              <a:t>The response variable is the difference in satisfaction scores, self-paced minus machine-paced</a:t>
            </a:r>
            <a:r>
              <a:rPr lang="en-US" altLang="en-US" dirty="0">
                <a:solidFill>
                  <a:srgbClr val="000000"/>
                </a:solidFill>
              </a:rPr>
              <a:t>.</a:t>
            </a:r>
            <a:endParaRPr lang="en-US" altLang="en-US" b="1" dirty="0">
              <a:solidFill>
                <a:srgbClr val="00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D28655F-1CF0-E313-F527-6C7ED0A3E2CE}"/>
                  </a:ext>
                </a:extLst>
              </p:cNvPr>
              <p:cNvSpPr txBox="1">
                <a:spLocks noChangeArrowheads="1"/>
              </p:cNvSpPr>
              <p:nvPr/>
            </p:nvSpPr>
            <p:spPr bwMode="auto">
              <a:xfrm>
                <a:off x="575468" y="4128940"/>
                <a:ext cx="8118475" cy="147732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000000"/>
                    </a:solidFill>
                  </a:rPr>
                  <a:t>The parameter of interest is the mean </a:t>
                </a:r>
                <a14:m>
                  <m:oMath xmlns:m="http://schemas.openxmlformats.org/officeDocument/2006/math">
                    <m:r>
                      <a:rPr lang="en-US" altLang="en-US" sz="1800" b="0" i="1" dirty="0" smtClean="0">
                        <a:solidFill>
                          <a:srgbClr val="000000"/>
                        </a:solidFill>
                        <a:latin typeface="Cambria Math" panose="02040503050406030204" pitchFamily="18" charset="0"/>
                      </a:rPr>
                      <m:t>𝜇</m:t>
                    </m:r>
                  </m:oMath>
                </a14:m>
                <a:r>
                  <a:rPr lang="en-US" altLang="en-US" sz="1800" i="1" dirty="0">
                    <a:solidFill>
                      <a:srgbClr val="000000"/>
                    </a:solidFill>
                  </a:rPr>
                  <a:t> </a:t>
                </a:r>
                <a:r>
                  <a:rPr lang="en-US" altLang="en-US" sz="1800" dirty="0">
                    <a:solidFill>
                      <a:srgbClr val="000000"/>
                    </a:solidFill>
                  </a:rPr>
                  <a:t>of the differences (</a:t>
                </a:r>
                <a:r>
                  <a:rPr lang="en-US" altLang="en-US" sz="1800" i="1" dirty="0">
                    <a:solidFill>
                      <a:srgbClr val="000000"/>
                    </a:solidFill>
                  </a:rPr>
                  <a:t>self-paced </a:t>
                </a:r>
                <a:r>
                  <a:rPr lang="en-US" altLang="en-US" sz="1800" dirty="0">
                    <a:solidFill>
                      <a:srgbClr val="000000"/>
                    </a:solidFill>
                  </a:rPr>
                  <a:t>minus</a:t>
                </a:r>
                <a:r>
                  <a:rPr lang="en-US" altLang="en-US" sz="1800" i="1" dirty="0">
                    <a:solidFill>
                      <a:srgbClr val="000000"/>
                    </a:solidFill>
                  </a:rPr>
                  <a:t> machine-paced</a:t>
                </a:r>
                <a:r>
                  <a:rPr lang="en-US" altLang="en-US" sz="1800" dirty="0">
                    <a:solidFill>
                      <a:srgbClr val="000000"/>
                    </a:solidFill>
                  </a:rPr>
                  <a:t>) in job satisfaction scores in the population of all assembly-line workers at this company. Because the initial question asked whether job satisfaction differs, the alternative hypothesis is two-sided; that is, </a:t>
                </a:r>
              </a:p>
              <a:p>
                <a:pPr algn="ctr" eaLnBrk="1" hangingPunct="1"/>
                <a14:m>
                  <m:oMath xmlns:m="http://schemas.openxmlformats.org/officeDocument/2006/math">
                    <m:sSub>
                      <m:sSubPr>
                        <m:ctrlPr>
                          <a:rPr lang="en-US" altLang="en-US" sz="1800" i="1" dirty="0">
                            <a:solidFill>
                              <a:srgbClr val="000000"/>
                            </a:solidFill>
                            <a:latin typeface="Cambria Math" panose="02040503050406030204" pitchFamily="18" charset="0"/>
                          </a:rPr>
                        </m:ctrlPr>
                      </m:sSubPr>
                      <m:e>
                        <m:r>
                          <a:rPr lang="en-US" altLang="en-US" sz="1800" i="1" dirty="0">
                            <a:solidFill>
                              <a:srgbClr val="000000"/>
                            </a:solidFill>
                            <a:latin typeface="Cambria Math" panose="02040503050406030204" pitchFamily="18" charset="0"/>
                          </a:rPr>
                          <m:t>𝐻</m:t>
                        </m:r>
                      </m:e>
                      <m:sub>
                        <m:r>
                          <a:rPr lang="en-US" altLang="en-US" sz="1800" i="1" dirty="0">
                            <a:solidFill>
                              <a:srgbClr val="000000"/>
                            </a:solidFill>
                            <a:latin typeface="Cambria Math" panose="02040503050406030204" pitchFamily="18" charset="0"/>
                          </a:rPr>
                          <m:t>0</m:t>
                        </m:r>
                      </m:sub>
                    </m:sSub>
                    <m:r>
                      <a:rPr lang="en-US" altLang="en-US" sz="1800" i="1" dirty="0">
                        <a:solidFill>
                          <a:srgbClr val="000000"/>
                        </a:solidFill>
                        <a:latin typeface="Cambria Math" panose="02040503050406030204" pitchFamily="18" charset="0"/>
                      </a:rPr>
                      <m:t>:</m:t>
                    </m:r>
                    <m:r>
                      <a:rPr lang="en-US" altLang="en-US" sz="1800" b="0" i="1" dirty="0" smtClean="0">
                        <a:solidFill>
                          <a:srgbClr val="000000"/>
                        </a:solidFill>
                        <a:latin typeface="Cambria Math" panose="02040503050406030204" pitchFamily="18" charset="0"/>
                      </a:rPr>
                      <m:t>𝜇</m:t>
                    </m:r>
                    <m:r>
                      <a:rPr lang="en-US" altLang="en-US" sz="1800" i="1" dirty="0">
                        <a:solidFill>
                          <a:srgbClr val="000000"/>
                        </a:solidFill>
                        <a:latin typeface="Cambria Math" panose="02040503050406030204" pitchFamily="18" charset="0"/>
                      </a:rPr>
                      <m:t>=0</m:t>
                    </m:r>
                  </m:oMath>
                </a14:m>
                <a:r>
                  <a:rPr lang="en-US" altLang="en-US" sz="1800" dirty="0"/>
                  <a:t> vs </a:t>
                </a:r>
                <a14:m>
                  <m:oMath xmlns:m="http://schemas.openxmlformats.org/officeDocument/2006/math">
                    <m:sSub>
                      <m:sSubPr>
                        <m:ctrlPr>
                          <a:rPr lang="en-US" altLang="en-US" sz="1800" i="1" dirty="0">
                            <a:solidFill>
                              <a:srgbClr val="000000"/>
                            </a:solidFill>
                            <a:latin typeface="Cambria Math" panose="02040503050406030204" pitchFamily="18" charset="0"/>
                          </a:rPr>
                        </m:ctrlPr>
                      </m:sSubPr>
                      <m:e>
                        <m:r>
                          <a:rPr lang="en-US" altLang="en-US" sz="1800" i="1" dirty="0">
                            <a:solidFill>
                              <a:srgbClr val="000000"/>
                            </a:solidFill>
                            <a:latin typeface="Cambria Math" panose="02040503050406030204" pitchFamily="18" charset="0"/>
                          </a:rPr>
                          <m:t>𝐻</m:t>
                        </m:r>
                      </m:e>
                      <m:sub>
                        <m:r>
                          <a:rPr lang="en-US" altLang="en-US" sz="1800" i="1" dirty="0">
                            <a:solidFill>
                              <a:srgbClr val="000000"/>
                            </a:solidFill>
                            <a:latin typeface="Cambria Math" panose="02040503050406030204" pitchFamily="18" charset="0"/>
                          </a:rPr>
                          <m:t>𝑎</m:t>
                        </m:r>
                      </m:sub>
                    </m:sSub>
                    <m:r>
                      <a:rPr lang="en-US" altLang="en-US" sz="1800" i="1" dirty="0">
                        <a:solidFill>
                          <a:srgbClr val="000000"/>
                        </a:solidFill>
                        <a:latin typeface="Cambria Math" panose="02040503050406030204" pitchFamily="18" charset="0"/>
                      </a:rPr>
                      <m:t>:</m:t>
                    </m:r>
                    <m:r>
                      <a:rPr lang="en-US" altLang="en-US" sz="1800" i="1" dirty="0">
                        <a:solidFill>
                          <a:srgbClr val="000000"/>
                        </a:solidFill>
                        <a:latin typeface="Cambria Math" panose="02040503050406030204" pitchFamily="18" charset="0"/>
                      </a:rPr>
                      <m:t>𝜇</m:t>
                    </m:r>
                    <m:r>
                      <a:rPr lang="en-US" altLang="en-US" sz="1800" b="0" i="1" dirty="0" smtClean="0">
                        <a:solidFill>
                          <a:srgbClr val="000000"/>
                        </a:solidFill>
                        <a:latin typeface="Cambria Math" panose="02040503050406030204" pitchFamily="18" charset="0"/>
                      </a:rPr>
                      <m:t>≠</m:t>
                    </m:r>
                    <m:r>
                      <a:rPr lang="en-US" altLang="en-US" sz="1800" i="1" dirty="0">
                        <a:solidFill>
                          <a:srgbClr val="000000"/>
                        </a:solidFill>
                        <a:latin typeface="Cambria Math" panose="02040503050406030204" pitchFamily="18" charset="0"/>
                      </a:rPr>
                      <m:t>0</m:t>
                    </m:r>
                  </m:oMath>
                </a14:m>
                <a:r>
                  <a:rPr lang="en-US" altLang="en-US" sz="1800" dirty="0"/>
                  <a:t>.</a:t>
                </a:r>
              </a:p>
            </p:txBody>
          </p:sp>
        </mc:Choice>
        <mc:Fallback xmlns="">
          <p:sp>
            <p:nvSpPr>
              <p:cNvPr id="5" name="TextBox 4">
                <a:extLst>
                  <a:ext uri="{FF2B5EF4-FFF2-40B4-BE49-F238E27FC236}">
                    <a16:creationId xmlns:a16="http://schemas.microsoft.com/office/drawing/2014/main" id="{9D28655F-1CF0-E313-F527-6C7ED0A3E2CE}"/>
                  </a:ext>
                </a:extLst>
              </p:cNvPr>
              <p:cNvSpPr txBox="1">
                <a:spLocks noRot="1" noChangeAspect="1" noMove="1" noResize="1" noEditPoints="1" noAdjustHandles="1" noChangeArrowheads="1" noChangeShapeType="1" noTextEdit="1"/>
              </p:cNvSpPr>
              <p:nvPr/>
            </p:nvSpPr>
            <p:spPr bwMode="auto">
              <a:xfrm>
                <a:off x="575468" y="4128940"/>
                <a:ext cx="8118475" cy="1477328"/>
              </a:xfrm>
              <a:prstGeom prst="rect">
                <a:avLst/>
              </a:prstGeom>
              <a:blipFill>
                <a:blip r:embed="rId2"/>
                <a:stretch>
                  <a:fillRect/>
                </a:stretch>
              </a:blipFill>
              <a:ln w="10000">
                <a:solidFill>
                  <a:schemeClr val="accent1"/>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7772400" cy="1159433"/>
          </a:xfrm>
        </p:spPr>
        <p:txBody>
          <a:bodyPr/>
          <a:lstStyle/>
          <a:p>
            <a:r>
              <a:rPr lang="en-US" altLang="en-US" dirty="0">
                <a:ea typeface="ＭＳ Ｐゴシック" pitchFamily="34" charset="-128"/>
              </a:rPr>
              <a:t>Hypothesis Test: Job Satisfaction Example</a:t>
            </a:r>
            <a:endParaRPr lang="en-US" dirty="0"/>
          </a:p>
        </p:txBody>
      </p:sp>
      <p:sp>
        <p:nvSpPr>
          <p:cNvPr id="696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11A1DE4-FB35-43F5-A4F7-3128C5432EF1}" type="slidenum">
              <a:rPr lang="en-US" altLang="en-US" sz="1200">
                <a:solidFill>
                  <a:schemeClr val="accent1"/>
                </a:solidFill>
              </a:rPr>
              <a:pPr>
                <a:lnSpc>
                  <a:spcPct val="80000"/>
                </a:lnSpc>
              </a:pPr>
              <a:t>25</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6" name="Rectangle 5"/>
              <p:cNvSpPr>
                <a:spLocks noChangeArrowheads="1"/>
              </p:cNvSpPr>
              <p:nvPr/>
            </p:nvSpPr>
            <p:spPr bwMode="auto">
              <a:xfrm>
                <a:off x="174626" y="1779588"/>
                <a:ext cx="8588374" cy="1016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2075" tIns="46038" rIns="92075" bIns="46038" anchor="ctr">
                <a:spAutoFit/>
              </a:bodyPr>
              <a:lstStyle/>
              <a:p>
                <a:pPr indent="-338138" eaLnBrk="1" hangingPunct="1">
                  <a:spcBef>
                    <a:spcPts val="0"/>
                  </a:spcBef>
                  <a:buClr>
                    <a:schemeClr val="tx2"/>
                  </a:buClr>
                  <a:buSzPct val="75000"/>
                  <a:buFont typeface="Monotype Sorts" charset="2"/>
                  <a:buNone/>
                </a:pPr>
                <a:r>
                  <a:rPr lang="en-US" altLang="en-US" sz="2000" dirty="0"/>
                  <a:t>Suppose job satisfaction scores follow a normal distribution with standard deviation </a:t>
                </a:r>
                <a14:m>
                  <m:oMath xmlns:m="http://schemas.openxmlformats.org/officeDocument/2006/math">
                    <m:r>
                      <a:rPr lang="en-US" altLang="en-US" sz="2000" b="0" i="1" dirty="0" smtClean="0">
                        <a:latin typeface="Cambria Math" panose="02040503050406030204" pitchFamily="18" charset="0"/>
                      </a:rPr>
                      <m:t>𝜎</m:t>
                    </m:r>
                    <m:r>
                      <a:rPr lang="en-US" altLang="en-US" sz="2000" i="1" dirty="0" smtClean="0">
                        <a:latin typeface="Cambria Math" panose="02040503050406030204" pitchFamily="18" charset="0"/>
                      </a:rPr>
                      <m:t>=60</m:t>
                    </m:r>
                  </m:oMath>
                </a14:m>
                <a:r>
                  <a:rPr lang="en-US" altLang="en-US" sz="2000" dirty="0"/>
                  <a:t>. Data from 18 workers gave a sample mean score of 17. The test statistic is</a:t>
                </a:r>
                <a:endParaRPr lang="en-US" altLang="en-US" sz="2000" b="1" dirty="0">
                  <a:solidFill>
                    <a:schemeClr val="tx2"/>
                  </a:solidFill>
                </a:endParaRPr>
              </a:p>
            </p:txBody>
          </p:sp>
        </mc:Choice>
        <mc:Fallback xmlns="">
          <p:sp>
            <p:nvSpPr>
              <p:cNvPr id="6" name="Rectangle 5"/>
              <p:cNvSpPr>
                <a:spLocks noRot="1" noChangeAspect="1" noMove="1" noResize="1" noEditPoints="1" noAdjustHandles="1" noChangeArrowheads="1" noChangeShapeType="1" noTextEdit="1"/>
              </p:cNvSpPr>
              <p:nvPr/>
            </p:nvSpPr>
            <p:spPr bwMode="auto">
              <a:xfrm>
                <a:off x="174626" y="1779588"/>
                <a:ext cx="8588374" cy="1016000"/>
              </a:xfrm>
              <a:prstGeom prst="rect">
                <a:avLst/>
              </a:prstGeom>
              <a:blipFill>
                <a:blip r:embed="rId2"/>
                <a:stretch>
                  <a:fillRect l="-781" t="-2395" b="-107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7" name="Object 6" descr="The image shows a statistical expression using the formula: &quot;z&quot; equals to &quot;x bar&quot; minus &quot;mew subscript 0&quot; divided by &quot;sigma&quot; divided by square root of &quot;n&quot;. Showing the Calculation as 17 minus 0 divided by 60 divided by square root of 18 giving the results as 1.20."/>
          <p:cNvGraphicFramePr>
            <a:graphicFrameLocks noChangeAspect="1"/>
          </p:cNvGraphicFramePr>
          <p:nvPr>
            <p:extLst>
              <p:ext uri="{D42A27DB-BD31-4B8C-83A1-F6EECF244321}">
                <p14:modId xmlns:p14="http://schemas.microsoft.com/office/powerpoint/2010/main" val="3038670400"/>
              </p:ext>
            </p:extLst>
          </p:nvPr>
        </p:nvGraphicFramePr>
        <p:xfrm>
          <a:off x="2355850" y="3259138"/>
          <a:ext cx="4225925" cy="1454150"/>
        </p:xfrm>
        <a:graphic>
          <a:graphicData uri="http://schemas.openxmlformats.org/presentationml/2006/ole">
            <mc:AlternateContent xmlns:mc="http://schemas.openxmlformats.org/markup-compatibility/2006">
              <mc:Choice xmlns:v="urn:schemas-microsoft-com:vml" Requires="v">
                <p:oleObj name="Equation" r:id="rId3" imgW="1543232" imgH="523904" progId="Equation.3">
                  <p:embed/>
                </p:oleObj>
              </mc:Choice>
              <mc:Fallback>
                <p:oleObj name="Equation" r:id="rId3" imgW="1543232" imgH="523904" progId="Equation.3">
                  <p:embed/>
                  <p:pic>
                    <p:nvPicPr>
                      <p:cNvPr id="7" name="Object 6" descr="The image shows a statistical expression using the formula: &quot;z&quot; equals to &quot;x bar&quot; minus &quot;mew subscript 0&quot; divided by &quot;sigma&quot; divided by square root of &quot;n&quot;. Showing the Calculation as 17 minus 0 divided by 60 divided by square root of 18 giving the results as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355850" y="3259138"/>
                        <a:ext cx="4225925" cy="145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7772400" cy="1177503"/>
          </a:xfrm>
        </p:spPr>
        <p:txBody>
          <a:bodyPr/>
          <a:lstStyle/>
          <a:p>
            <a:r>
              <a:rPr lang="en-US" altLang="en-US" dirty="0">
                <a:ea typeface="ＭＳ Ｐゴシック" pitchFamily="34" charset="-128"/>
              </a:rPr>
              <a:t>Hypothesis Test: Job Satisfaction Example</a:t>
            </a:r>
            <a:endParaRPr lang="en-US" dirty="0"/>
          </a:p>
        </p:txBody>
      </p:sp>
      <p:sp>
        <p:nvSpPr>
          <p:cNvPr id="7065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B232109-DCE0-484A-A2B8-43E511EDDA3A}" type="slidenum">
              <a:rPr lang="en-US" altLang="en-US" sz="1200">
                <a:solidFill>
                  <a:schemeClr val="accent1"/>
                </a:solidFill>
              </a:rPr>
              <a:pPr>
                <a:lnSpc>
                  <a:spcPct val="80000"/>
                </a:lnSpc>
              </a:pPr>
              <a:t>26</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8" name="Rectangle 5" descr="The image shows the statement &quot;For the test statistic z = 1.20 and alternative hypothesis Ha: m ≠ 0, the P-value would be,&quot; which is followed by probability expression given as:&#10;&#10;P-value equals to P bracket open Z less than minus 1.20 or Z greater than 1.20 bracket close. This expression is further equals to 2 P bracket open Z less than minus 1.20 bracket close, equals to 2 P bracket open Z greater than 1.20. The expression given in the third line is: 2 multiplied by 0.1151 is equal to 0.2302. &#10;&#10;The image also mentions the statement &quot;If H0 is true, there is a chance of 0.2302 (23.02%) that we would see results at least as extreme as those in the sample. A probability of 0.2302 is not particularly small, and so the observed results are not unlikely if H0 is true. This means there is not strong evidence in favor of Ha.&quot;"/>
              <p:cNvSpPr>
                <a:spLocks noChangeArrowheads="1"/>
              </p:cNvSpPr>
              <p:nvPr/>
            </p:nvSpPr>
            <p:spPr bwMode="auto">
              <a:xfrm>
                <a:off x="288303" y="1627168"/>
                <a:ext cx="8153400" cy="10163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nchor="ctr">
                <a:spAutoFit/>
              </a:bodyPr>
              <a:lstStyle/>
              <a:p>
                <a:pPr eaLnBrk="1" hangingPunct="1">
                  <a:spcBef>
                    <a:spcPct val="20000"/>
                  </a:spcBef>
                  <a:buClr>
                    <a:schemeClr val="tx2"/>
                  </a:buClr>
                  <a:buSzPct val="75000"/>
                  <a:buFont typeface="Monotype Sorts" charset="2"/>
                  <a:buNone/>
                  <a:tabLst>
                    <a:tab pos="2057400" algn="l"/>
                  </a:tabLst>
                </a:pPr>
                <a:r>
                  <a:rPr lang="en-US" altLang="en-US" sz="2000" dirty="0"/>
                  <a:t>For the test statistic </a:t>
                </a:r>
                <a:r>
                  <a:rPr lang="en-US" altLang="en-US" sz="2000" i="1" dirty="0"/>
                  <a:t>z</a:t>
                </a:r>
                <a:r>
                  <a:rPr lang="en-US" altLang="en-US" sz="2000" dirty="0"/>
                  <a:t> = 1.20 and alternative hypothesis </a:t>
                </a:r>
                <a:r>
                  <a:rPr lang="en-US" altLang="en-US" sz="2000" i="1" dirty="0"/>
                  <a:t>H</a:t>
                </a:r>
                <a:r>
                  <a:rPr lang="en-US" altLang="en-US" sz="2000" baseline="-25000" dirty="0"/>
                  <a:t>a</a:t>
                </a:r>
                <a:r>
                  <a:rPr lang="en-US" altLang="en-US" sz="2000" dirty="0"/>
                  <a:t>: </a:t>
                </a:r>
                <a:r>
                  <a:rPr lang="en-US" altLang="en-US" sz="2000" i="1" dirty="0">
                    <a:latin typeface="Symbol" pitchFamily="18" charset="2"/>
                  </a:rPr>
                  <a:t>m</a:t>
                </a:r>
                <a:r>
                  <a:rPr lang="en-US" altLang="en-US" sz="2000" dirty="0"/>
                  <a:t> ≠ 0, the P-value would be </a:t>
                </a:r>
                <a14:m>
                  <m:oMath xmlns:m="http://schemas.openxmlformats.org/officeDocument/2006/math">
                    <m:r>
                      <a:rPr lang="en-US" altLang="en-US" sz="2000" i="1" dirty="0" smtClean="0">
                        <a:latin typeface="Cambria Math" panose="02040503050406030204" pitchFamily="18" charset="0"/>
                      </a:rPr>
                      <m:t>𝑃</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𝑍</m:t>
                        </m:r>
                        <m:r>
                          <a:rPr lang="en-US" altLang="en-US" sz="2000" i="1" dirty="0">
                            <a:latin typeface="Cambria Math" panose="02040503050406030204" pitchFamily="18" charset="0"/>
                          </a:rPr>
                          <m:t>&lt;–1.2 </m:t>
                        </m:r>
                        <m:r>
                          <m:rPr>
                            <m:sty m:val="p"/>
                          </m:rPr>
                          <a:rPr lang="en-US" altLang="en-US" sz="2000" i="0" dirty="0">
                            <a:latin typeface="Cambria Math" panose="02040503050406030204" pitchFamily="18" charset="0"/>
                          </a:rPr>
                          <m:t>or</m:t>
                        </m:r>
                        <m:r>
                          <a:rPr lang="en-US" altLang="en-US" sz="2000" i="1" dirty="0">
                            <a:latin typeface="Cambria Math" panose="02040503050406030204" pitchFamily="18" charset="0"/>
                          </a:rPr>
                          <m:t> </m:t>
                        </m:r>
                        <m:r>
                          <a:rPr lang="en-US" altLang="en-US" sz="2000" i="1" dirty="0">
                            <a:latin typeface="Cambria Math" panose="02040503050406030204" pitchFamily="18" charset="0"/>
                          </a:rPr>
                          <m:t>𝑍</m:t>
                        </m:r>
                        <m:r>
                          <a:rPr lang="en-US" altLang="en-US" sz="2000" i="1" dirty="0">
                            <a:latin typeface="Cambria Math" panose="02040503050406030204" pitchFamily="18" charset="0"/>
                          </a:rPr>
                          <m:t>&gt;1.2</m:t>
                        </m:r>
                      </m:e>
                    </m:d>
                    <m:r>
                      <a:rPr lang="en-US" altLang="en-US" sz="2000" b="0" i="1" dirty="0" smtClean="0">
                        <a:latin typeface="Cambria Math" panose="02040503050406030204" pitchFamily="18" charset="0"/>
                      </a:rPr>
                      <m:t>≈</m:t>
                    </m:r>
                    <m:r>
                      <a:rPr lang="en-US" altLang="en-US" sz="2000" i="1" dirty="0">
                        <a:latin typeface="Cambria Math" panose="02040503050406030204" pitchFamily="18" charset="0"/>
                      </a:rPr>
                      <m:t>0.2302</m:t>
                    </m:r>
                  </m:oMath>
                </a14:m>
                <a:r>
                  <a:rPr lang="en-US" altLang="en-US" sz="2000" dirty="0"/>
                  <a:t>, where </a:t>
                </a:r>
                <a:r>
                  <a:rPr lang="en-US" altLang="en-US" sz="2000" i="1" dirty="0"/>
                  <a:t>Z </a:t>
                </a:r>
                <a:r>
                  <a:rPr lang="en-US" altLang="en-US" sz="2000" dirty="0"/>
                  <a:t>follows the standard normal distribution.</a:t>
                </a:r>
              </a:p>
            </p:txBody>
          </p:sp>
        </mc:Choice>
        <mc:Fallback xmlns="">
          <p:sp>
            <p:nvSpPr>
              <p:cNvPr id="8" name="Rectangle 5" descr="The image shows the statement &quot;For the test statistic z = 1.20 and alternative hypothesis Ha: m ≠ 0, the P-value would be,&quot; which is followed by probability expression given as:&#10;&#10;P-value equals to P bracket open Z less than minus 1.20 or Z greater than 1.20 bracket close. This expression is further equals to 2 P bracket open Z less than minus 1.20 bracket close, equals to 2 P bracket open Z greater than 1.20. The expression given in the third line is: 2 multiplied by 0.1151 is equal to 0.2302. &#10;&#10;The image also mentions the statement &quot;If H0 is true, there is a chance of 0.2302 (23.02%) that we would see results at least as extreme as those in the sample. A probability of 0.2302 is not particularly small, and so the observed results are not unlikely if H0 is true. This means there is not strong evidence in favor of Ha.&quot;"/>
              <p:cNvSpPr>
                <a:spLocks noRot="1" noChangeAspect="1" noMove="1" noResize="1" noEditPoints="1" noAdjustHandles="1" noChangeArrowheads="1" noChangeShapeType="1" noTextEdit="1"/>
              </p:cNvSpPr>
              <p:nvPr/>
            </p:nvSpPr>
            <p:spPr bwMode="auto">
              <a:xfrm>
                <a:off x="288303" y="1627168"/>
                <a:ext cx="8153400" cy="1016305"/>
              </a:xfrm>
              <a:prstGeom prst="rect">
                <a:avLst/>
              </a:prstGeom>
              <a:blipFill>
                <a:blip r:embed="rId2"/>
                <a:stretch>
                  <a:fillRect l="-747" t="-2994" r="-822" b="-107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 name="Picture 5" descr="The image shows a distribution bell curve, where the two sided P-value for Z equal to 1.20 is the area at least 1.2 away from 0 in either direction. The Area is equal to 0.1151 in either direction from the edges. The P value is mentioned as 0.2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5497" y="2720995"/>
            <a:ext cx="3903662"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CCB14EB5-F683-26FF-80E3-05DC84F67626}"/>
              </a:ext>
            </a:extLst>
          </p:cNvPr>
          <p:cNvSpPr txBox="1">
            <a:spLocks noChangeArrowheads="1"/>
          </p:cNvSpPr>
          <p:nvPr/>
        </p:nvSpPr>
        <p:spPr bwMode="auto">
          <a:xfrm>
            <a:off x="288303" y="2782669"/>
            <a:ext cx="4691407" cy="12926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200" dirty="0">
                <a:solidFill>
                  <a:srgbClr val="000000"/>
                </a:solidFill>
              </a:rPr>
              <a:t>data normal;</a:t>
            </a:r>
          </a:p>
          <a:p>
            <a:pPr eaLnBrk="1" hangingPunct="1">
              <a:spcBef>
                <a:spcPct val="0"/>
              </a:spcBef>
              <a:spcAft>
                <a:spcPts val="1200"/>
              </a:spcAft>
              <a:buClrTx/>
              <a:buSzTx/>
              <a:buFontTx/>
              <a:buNone/>
              <a:defRPr/>
            </a:pPr>
            <a:r>
              <a:rPr lang="en-US" altLang="en-US" sz="1200" dirty="0">
                <a:solidFill>
                  <a:srgbClr val="000000"/>
                </a:solidFill>
              </a:rPr>
              <a:t>    prob = </a:t>
            </a:r>
            <a:r>
              <a:rPr lang="en-US" altLang="en-US" sz="1200" dirty="0" err="1">
                <a:solidFill>
                  <a:srgbClr val="000000"/>
                </a:solidFill>
              </a:rPr>
              <a:t>cdf</a:t>
            </a:r>
            <a:r>
              <a:rPr lang="en-US" altLang="en-US" sz="1200" dirty="0">
                <a:solidFill>
                  <a:srgbClr val="000000"/>
                </a:solidFill>
              </a:rPr>
              <a:t>('NORMAL’, -1.2, 0, 1) + 1 - </a:t>
            </a:r>
            <a:r>
              <a:rPr lang="en-US" altLang="en-US" sz="1200" dirty="0" err="1">
                <a:solidFill>
                  <a:srgbClr val="000000"/>
                </a:solidFill>
              </a:rPr>
              <a:t>cdf</a:t>
            </a:r>
            <a:r>
              <a:rPr lang="en-US" altLang="en-US" sz="1200" dirty="0">
                <a:solidFill>
                  <a:srgbClr val="000000"/>
                </a:solidFill>
              </a:rPr>
              <a:t>('NORMAL’, 1.2, 0, 1);</a:t>
            </a:r>
          </a:p>
          <a:p>
            <a:pPr eaLnBrk="1" hangingPunct="1">
              <a:spcBef>
                <a:spcPct val="0"/>
              </a:spcBef>
              <a:spcAft>
                <a:spcPts val="1200"/>
              </a:spcAft>
              <a:buClrTx/>
              <a:buSzTx/>
              <a:buFontTx/>
              <a:buNone/>
              <a:defRPr/>
            </a:pPr>
            <a:r>
              <a:rPr lang="en-US" altLang="en-US" sz="1200" dirty="0">
                <a:solidFill>
                  <a:srgbClr val="000000"/>
                </a:solidFill>
              </a:rPr>
              <a:t>    proc print;</a:t>
            </a:r>
          </a:p>
          <a:p>
            <a:pPr eaLnBrk="1" hangingPunct="1">
              <a:spcBef>
                <a:spcPct val="0"/>
              </a:spcBef>
              <a:spcAft>
                <a:spcPts val="1200"/>
              </a:spcAft>
              <a:buClrTx/>
              <a:buSzTx/>
              <a:buFontTx/>
              <a:buNone/>
              <a:defRPr/>
            </a:pPr>
            <a:r>
              <a:rPr lang="en-US" altLang="en-US" sz="1200" dirty="0">
                <a:solidFill>
                  <a:srgbClr val="000000"/>
                </a:solidFill>
              </a:rPr>
              <a:t>run;</a:t>
            </a:r>
          </a:p>
        </p:txBody>
      </p:sp>
      <p:sp>
        <p:nvSpPr>
          <p:cNvPr id="5" name="TextBox 4">
            <a:extLst>
              <a:ext uri="{FF2B5EF4-FFF2-40B4-BE49-F238E27FC236}">
                <a16:creationId xmlns:a16="http://schemas.microsoft.com/office/drawing/2014/main" id="{18B474D8-BD1D-1EF3-4A49-528AECCB753C}"/>
              </a:ext>
            </a:extLst>
          </p:cNvPr>
          <p:cNvSpPr txBox="1"/>
          <p:nvPr/>
        </p:nvSpPr>
        <p:spPr>
          <a:xfrm>
            <a:off x="288303" y="4269960"/>
            <a:ext cx="4576712" cy="1846659"/>
          </a:xfrm>
          <a:prstGeom prst="rect">
            <a:avLst/>
          </a:prstGeom>
          <a:noFill/>
        </p:spPr>
        <p:txBody>
          <a:bodyPr wrap="square">
            <a:spAutoFit/>
          </a:bodyPr>
          <a:lstStyle/>
          <a:p>
            <a:pPr eaLnBrk="1" hangingPunct="1">
              <a:lnSpc>
                <a:spcPct val="95000"/>
              </a:lnSpc>
              <a:buClr>
                <a:schemeClr val="tx2"/>
              </a:buClr>
              <a:buSzPct val="75000"/>
              <a:buFont typeface="Monotype Sorts" charset="2"/>
              <a:buNone/>
              <a:tabLst>
                <a:tab pos="2057400" algn="l"/>
              </a:tabLst>
            </a:pPr>
            <a:r>
              <a:rPr lang="en-US" altLang="en-US" sz="2000" dirty="0"/>
              <a:t>The P-value is 0.2302. At the significance level 0.05, we cannot reject </a:t>
            </a:r>
            <a:r>
              <a:rPr lang="en-US" altLang="en-US" sz="2000" i="1" dirty="0"/>
              <a:t>H</a:t>
            </a:r>
            <a:r>
              <a:rPr lang="en-US" altLang="en-US" sz="2000" baseline="-25000" dirty="0"/>
              <a:t>0</a:t>
            </a:r>
            <a:r>
              <a:rPr lang="en-US" altLang="en-US" sz="2000" dirty="0"/>
              <a:t>. That is, there is no strong statistical evidence against that the job satisfaction is identical across the two groups </a:t>
            </a:r>
            <a:r>
              <a:rPr lang="en-US" altLang="zh-CN" sz="2000" dirty="0"/>
              <a:t>of workers</a:t>
            </a:r>
            <a:r>
              <a:rPr lang="en-US" altLang="en-US" sz="2000" dirty="0"/>
              <a:t>.</a:t>
            </a:r>
            <a:endParaRPr lang="en-US" altLang="en-US" sz="2000" dirty="0">
              <a:solidFill>
                <a:srgbClr val="FF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dissolv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More About P-Values</a:t>
            </a:r>
            <a:endParaRPr lang="en-US" altLang="en-US" sz="2400" i="1" dirty="0">
              <a:solidFill>
                <a:srgbClr val="33CCFF"/>
              </a:solidFill>
              <a:latin typeface="Symbol" pitchFamily="18" charset="2"/>
              <a:ea typeface="ＭＳ Ｐゴシック" pitchFamily="34" charset="-128"/>
            </a:endParaRPr>
          </a:p>
        </p:txBody>
      </p:sp>
      <p:sp>
        <p:nvSpPr>
          <p:cNvPr id="737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9B39980-FD76-4C6D-8E9B-199A5160D095}" type="slidenum">
              <a:rPr lang="en-US" altLang="en-US" sz="1200">
                <a:solidFill>
                  <a:schemeClr val="accent1"/>
                </a:solidFill>
              </a:rPr>
              <a:pPr>
                <a:lnSpc>
                  <a:spcPct val="80000"/>
                </a:lnSpc>
              </a:pPr>
              <a:t>27</a:t>
            </a:fld>
            <a:endParaRPr lang="en-US" altLang="en-US" sz="1200">
              <a:solidFill>
                <a:schemeClr val="accent1"/>
              </a:solidFill>
            </a:endParaRPr>
          </a:p>
        </p:txBody>
      </p:sp>
      <p:sp>
        <p:nvSpPr>
          <p:cNvPr id="8" name="Rectangle 14"/>
          <p:cNvSpPr>
            <a:spLocks noChangeArrowheads="1"/>
          </p:cNvSpPr>
          <p:nvPr/>
        </p:nvSpPr>
        <p:spPr bwMode="auto">
          <a:xfrm>
            <a:off x="544513" y="1212850"/>
            <a:ext cx="82296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70000"/>
              </a:spcBef>
              <a:buClr>
                <a:schemeClr val="accent1"/>
              </a:buClr>
              <a:buSzPct val="65000"/>
              <a:buFont typeface="Wingdings" pitchFamily="2" charset="2"/>
              <a:buChar char="q"/>
            </a:pPr>
            <a:r>
              <a:rPr lang="en-US" altLang="en-US" sz="2000" dirty="0"/>
              <a:t>P-value is summary of a test. When reporting the result of a test, better to also include the hypotheses, testing method, significance level, and conclusions.</a:t>
            </a:r>
            <a:endParaRPr lang="en-US" altLang="en-US" dirty="0">
              <a:solidFill>
                <a:srgbClr val="000000"/>
              </a:solidFill>
            </a:endParaRPr>
          </a:p>
          <a:p>
            <a:pPr marL="342900" indent="-342900" eaLnBrk="1" hangingPunct="1">
              <a:spcBef>
                <a:spcPct val="70000"/>
              </a:spcBef>
              <a:buClr>
                <a:schemeClr val="accent1"/>
              </a:buClr>
              <a:buSzPct val="65000"/>
              <a:buFont typeface="Wingdings" pitchFamily="2" charset="2"/>
              <a:buChar char="q"/>
            </a:pPr>
            <a:r>
              <a:rPr lang="en-US" altLang="en-US" sz="2000" dirty="0"/>
              <a:t>P-values do not provide specific information about the magnitude of estimates. </a:t>
            </a:r>
            <a:r>
              <a:rPr lang="en-US" altLang="en-US" sz="2000" b="1" dirty="0">
                <a:solidFill>
                  <a:schemeClr val="accent1"/>
                </a:solidFill>
              </a:rPr>
              <a:t>In many case, CIs are also expected to reflect a likely range of values for the parameter</a:t>
            </a:r>
            <a:r>
              <a:rPr lang="en-US" altLang="en-US" sz="2000" dirty="0">
                <a:solidFill>
                  <a:schemeClr val="accent1"/>
                </a:solidFill>
              </a:rPr>
              <a: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2"/>
          <p:cNvSpPr>
            <a:spLocks noGrp="1"/>
          </p:cNvSpPr>
          <p:nvPr>
            <p:ph type="title"/>
          </p:nvPr>
        </p:nvSpPr>
        <p:spPr/>
        <p:txBody>
          <a:bodyPr anchor="t"/>
          <a:lstStyle/>
          <a:p>
            <a:pPr eaLnBrk="1" hangingPunct="1"/>
            <a:r>
              <a:rPr lang="en-US" altLang="en-US" b="1" dirty="0">
                <a:ea typeface="ＭＳ Ｐゴシック" pitchFamily="34" charset="-128"/>
              </a:rPr>
              <a:t>6.3 Use and Abuse of Tests</a:t>
            </a:r>
          </a:p>
        </p:txBody>
      </p:sp>
      <p:sp>
        <p:nvSpPr>
          <p:cNvPr id="76803" name="Text Placeholder 3"/>
          <p:cNvSpPr>
            <a:spLocks noGrp="1"/>
          </p:cNvSpPr>
          <p:nvPr>
            <p:ph idx="1"/>
          </p:nvPr>
        </p:nvSpPr>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What statistical significance does not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Do not ignore lack of significance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Beware of searching for significance</a:t>
            </a:r>
          </a:p>
        </p:txBody>
      </p:sp>
      <p:sp>
        <p:nvSpPr>
          <p:cNvPr id="7680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738E208-9C22-4A97-8DE6-98283AF19473}" type="slidenum">
              <a:rPr lang="en-US" altLang="en-US" sz="1400">
                <a:solidFill>
                  <a:schemeClr val="accent1"/>
                </a:solidFill>
              </a:rPr>
              <a:pPr/>
              <a:t>28</a:t>
            </a:fld>
            <a:endParaRPr lang="en-US" altLang="en-US" sz="1400">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Hypothesis Tests</a:t>
            </a:r>
            <a:endParaRPr lang="en-US" dirty="0"/>
          </a:p>
        </p:txBody>
      </p:sp>
      <p:sp>
        <p:nvSpPr>
          <p:cNvPr id="8090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70CE98A-CEE8-4807-A83E-6D182CFFA7BD}" type="slidenum">
              <a:rPr lang="en-US" altLang="en-US" sz="1400">
                <a:solidFill>
                  <a:schemeClr val="accent1"/>
                </a:solidFill>
              </a:rPr>
              <a:pPr/>
              <a:t>29</a:t>
            </a:fld>
            <a:endParaRPr lang="en-US" altLang="en-US" sz="1400">
              <a:solidFill>
                <a:schemeClr val="accent1"/>
              </a:solidFill>
            </a:endParaRPr>
          </a:p>
        </p:txBody>
      </p:sp>
      <p:sp>
        <p:nvSpPr>
          <p:cNvPr id="1307652" name="Rectangle 4"/>
          <p:cNvSpPr>
            <a:spLocks noGrp="1" noChangeArrowheads="1"/>
          </p:cNvSpPr>
          <p:nvPr>
            <p:ph type="body" idx="4294967295"/>
          </p:nvPr>
        </p:nvSpPr>
        <p:spPr>
          <a:xfrm>
            <a:off x="435429" y="1528627"/>
            <a:ext cx="8174038" cy="3759810"/>
          </a:xfrm>
        </p:spPr>
        <p:txBody>
          <a:bodyPr/>
          <a:lstStyle/>
          <a:p>
            <a:pPr marL="0" indent="0" eaLnBrk="1" hangingPunct="1">
              <a:lnSpc>
                <a:spcPct val="130000"/>
              </a:lnSpc>
              <a:buFont typeface="Wingdings 2" pitchFamily="18" charset="2"/>
              <a:buNone/>
            </a:pPr>
            <a:r>
              <a:rPr lang="en-US" altLang="en-US" b="1" dirty="0">
                <a:solidFill>
                  <a:srgbClr val="800000"/>
                </a:solidFill>
                <a:ea typeface="ＭＳ Ｐゴシック" pitchFamily="34" charset="-128"/>
              </a:rPr>
              <a:t>What statistical significance does not mean:</a:t>
            </a:r>
            <a:endParaRPr lang="en-US" altLang="en-US" dirty="0">
              <a:solidFill>
                <a:schemeClr val="tx1"/>
              </a:solidFill>
              <a:ea typeface="ＭＳ Ｐゴシック" pitchFamily="34" charset="-128"/>
            </a:endParaRPr>
          </a:p>
          <a:p>
            <a:pPr marL="0" indent="0" eaLnBrk="1" hangingPunct="1">
              <a:buFont typeface="Wingdings" pitchFamily="2" charset="2"/>
              <a:buNone/>
            </a:pPr>
            <a:r>
              <a:rPr lang="en-US" altLang="en-US" dirty="0">
                <a:solidFill>
                  <a:schemeClr val="tx1"/>
                </a:solidFill>
                <a:ea typeface="ＭＳ Ｐゴシック" pitchFamily="34" charset="-128"/>
              </a:rPr>
              <a:t>Statistical significance is not synonymous with clinical importance. That’</a:t>
            </a:r>
            <a:r>
              <a:rPr lang="en-US" altLang="ja-JP" dirty="0">
                <a:solidFill>
                  <a:schemeClr val="tx1"/>
                </a:solidFill>
                <a:ea typeface="ＭＳ Ｐゴシック" pitchFamily="34" charset="-128"/>
              </a:rPr>
              <a:t>s because statistical significance does not tell you about the </a:t>
            </a:r>
            <a:r>
              <a:rPr lang="en-US" altLang="ja-JP" b="1" dirty="0">
                <a:solidFill>
                  <a:srgbClr val="800000"/>
                </a:solidFill>
                <a:ea typeface="ＭＳ Ｐゴシック" pitchFamily="34" charset="-128"/>
              </a:rPr>
              <a:t>magnitude</a:t>
            </a:r>
            <a:r>
              <a:rPr lang="en-US" altLang="ja-JP" dirty="0">
                <a:solidFill>
                  <a:srgbClr val="800000"/>
                </a:solidFill>
                <a:ea typeface="ＭＳ Ｐゴシック" pitchFamily="34" charset="-128"/>
              </a:rPr>
              <a:t> </a:t>
            </a:r>
            <a:r>
              <a:rPr lang="en-US" altLang="ja-JP" dirty="0">
                <a:solidFill>
                  <a:schemeClr val="tx1"/>
                </a:solidFill>
                <a:ea typeface="ＭＳ Ｐゴシック" pitchFamily="34" charset="-128"/>
              </a:rPr>
              <a:t>of the effect. </a:t>
            </a:r>
          </a:p>
          <a:p>
            <a:pPr marL="0" indent="0" eaLnBrk="1" hangingPunct="1">
              <a:buFont typeface="Wingdings" pitchFamily="2" charset="2"/>
              <a:buNone/>
            </a:pPr>
            <a:r>
              <a:rPr lang="en-US" altLang="en-US" dirty="0">
                <a:solidFill>
                  <a:srgbClr val="FF0000"/>
                </a:solidFill>
                <a:ea typeface="ＭＳ Ｐゴシック" pitchFamily="34" charset="-128"/>
              </a:rPr>
              <a:t>An effect could be too small to be relevant. And, with a large enough sample size, a significant result can be reached even for the tiniest effect</a:t>
            </a:r>
            <a:r>
              <a:rPr lang="en-US" altLang="en-US" dirty="0">
                <a:solidFill>
                  <a:schemeClr val="tx1"/>
                </a:solidFill>
                <a:ea typeface="ＭＳ Ｐゴシック" pitchFamily="34" charset="-128"/>
              </a:rPr>
              <a:t>.</a:t>
            </a:r>
            <a:endParaRPr lang="en-US" altLang="en-US" sz="1400" dirty="0">
              <a:solidFill>
                <a:schemeClr val="tx1"/>
              </a:solidFill>
              <a:ea typeface="ＭＳ Ｐゴシック" pitchFamily="34" charset="-128"/>
            </a:endParaRPr>
          </a:p>
          <a:p>
            <a:pPr marL="731838" lvl="1" eaLnBrk="1" hangingPunct="1"/>
            <a:r>
              <a:rPr lang="en-US" altLang="en-US" dirty="0">
                <a:solidFill>
                  <a:schemeClr val="tx1"/>
                </a:solidFill>
                <a:ea typeface="ＭＳ Ｐゴシック" pitchFamily="34" charset="-128"/>
              </a:rPr>
              <a:t>A drug is found to lower patient temperature an average of 0.4 Celsius (P-value &lt; 0.01). But clinical benefits of temperature reduction only appear for a 1 Celsius or larger decrease. </a:t>
            </a:r>
          </a:p>
          <a:p>
            <a:pPr marL="731838" lvl="1" eaLnBrk="1" hangingPunct="1">
              <a:lnSpc>
                <a:spcPct val="130000"/>
              </a:lnSpc>
            </a:pPr>
            <a:endParaRPr lang="en-US" altLang="en-US" dirty="0">
              <a:solidFill>
                <a:schemeClr val="tx1"/>
              </a:solidFill>
              <a:ea typeface="ＭＳ Ｐゴシック"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0765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307652">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30765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7652" grpId="0" build="p" bldLvl="2"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Hypothesis Tests</a:t>
            </a:r>
            <a:endParaRPr lang="en-US" dirty="0"/>
          </a:p>
        </p:txBody>
      </p:sp>
      <p:sp>
        <p:nvSpPr>
          <p:cNvPr id="82948"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A0F964E-7539-4BFD-B76C-9258CA0EBFB6}" type="slidenum">
              <a:rPr lang="en-US" altLang="en-US" sz="1400">
                <a:solidFill>
                  <a:schemeClr val="accent1"/>
                </a:solidFill>
              </a:rPr>
              <a:pPr/>
              <a:t>30</a:t>
            </a:fld>
            <a:endParaRPr lang="en-US" altLang="en-US" sz="1400">
              <a:solidFill>
                <a:schemeClr val="accent1"/>
              </a:solidFill>
            </a:endParaRPr>
          </a:p>
        </p:txBody>
      </p:sp>
      <p:sp>
        <p:nvSpPr>
          <p:cNvPr id="1308674" name="Rectangle 2"/>
          <p:cNvSpPr>
            <a:spLocks noChangeArrowheads="1"/>
          </p:cNvSpPr>
          <p:nvPr/>
        </p:nvSpPr>
        <p:spPr bwMode="auto">
          <a:xfrm>
            <a:off x="487363" y="1524000"/>
            <a:ext cx="8229600" cy="4959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20000"/>
              </a:spcBef>
              <a:buClr>
                <a:srgbClr val="00CC99"/>
              </a:buClr>
              <a:buSzPct val="65000"/>
              <a:buFont typeface="Wingdings" pitchFamily="2" charset="2"/>
              <a:buNone/>
            </a:pPr>
            <a:r>
              <a:rPr lang="en-US" altLang="en-US" sz="2000" b="1" dirty="0">
                <a:solidFill>
                  <a:srgbClr val="800000"/>
                </a:solidFill>
              </a:rPr>
              <a:t>Do not ignore lack of significance</a:t>
            </a:r>
          </a:p>
          <a:p>
            <a:pPr eaLnBrk="1" hangingPunct="1">
              <a:lnSpc>
                <a:spcPct val="130000"/>
              </a:lnSpc>
              <a:spcBef>
                <a:spcPct val="20000"/>
              </a:spcBef>
              <a:buClr>
                <a:srgbClr val="00CC99"/>
              </a:buClr>
              <a:buSzPct val="65000"/>
              <a:buFont typeface="Wingdings" pitchFamily="2" charset="2"/>
              <a:buNone/>
            </a:pPr>
            <a:endParaRPr lang="en-US" altLang="en-US" sz="1000" b="1" dirty="0">
              <a:solidFill>
                <a:srgbClr val="333399"/>
              </a:solidFill>
            </a:endParaRPr>
          </a:p>
          <a:p>
            <a:pPr marL="571500" lvl="1" indent="-228600" eaLnBrk="1" hangingPunct="1">
              <a:spcBef>
                <a:spcPct val="20000"/>
              </a:spcBef>
              <a:buClr>
                <a:schemeClr val="accent1"/>
              </a:buClr>
              <a:buSzPct val="100000"/>
              <a:buFont typeface="Wingdings" pitchFamily="2" charset="2"/>
              <a:buChar char="§"/>
            </a:pPr>
            <a:r>
              <a:rPr lang="en-US" altLang="en-US" dirty="0"/>
              <a:t>Consider this provocative title from the </a:t>
            </a:r>
            <a:r>
              <a:rPr lang="en-US" altLang="en-US" i="1" dirty="0"/>
              <a:t>British Medical Journal</a:t>
            </a:r>
            <a:r>
              <a:rPr lang="en-US" altLang="en-US" dirty="0"/>
              <a:t>: “Absence of evidence is not evidence of absence.”</a:t>
            </a:r>
          </a:p>
          <a:p>
            <a:pPr marL="571500" lvl="1" indent="-228600" eaLnBrk="1" hangingPunct="1">
              <a:spcBef>
                <a:spcPct val="20000"/>
              </a:spcBef>
              <a:buClr>
                <a:schemeClr val="accent1"/>
              </a:buClr>
              <a:buSzPct val="100000"/>
              <a:buFont typeface="Wingdings" pitchFamily="2" charset="2"/>
              <a:buChar char="§"/>
            </a:pPr>
            <a:r>
              <a:rPr lang="en-US" altLang="en-US" dirty="0"/>
              <a:t>Having no proof that a particular suspect committed a murder does not imply that the suspect did not commit the murder. </a:t>
            </a:r>
          </a:p>
          <a:p>
            <a:pPr eaLnBrk="1" hangingPunct="1">
              <a:lnSpc>
                <a:spcPct val="130000"/>
              </a:lnSpc>
              <a:spcBef>
                <a:spcPct val="20000"/>
              </a:spcBef>
              <a:buClr>
                <a:srgbClr val="00CC99"/>
              </a:buClr>
              <a:buSzPct val="65000"/>
              <a:buFont typeface="Wingdings" pitchFamily="2" charset="2"/>
              <a:buNone/>
            </a:pPr>
            <a:endParaRPr lang="en-US" altLang="en-US" sz="1000" dirty="0"/>
          </a:p>
          <a:p>
            <a:pPr eaLnBrk="1" hangingPunct="1">
              <a:spcBef>
                <a:spcPct val="20000"/>
              </a:spcBef>
              <a:buClr>
                <a:srgbClr val="00CC99"/>
              </a:buClr>
              <a:buSzPct val="65000"/>
              <a:buFont typeface="Wingdings" pitchFamily="2" charset="2"/>
              <a:buNone/>
            </a:pPr>
            <a:r>
              <a:rPr lang="en-US" altLang="en-US" sz="2000" dirty="0"/>
              <a:t>Indeed, failing to find statistical significance in results means that “the null hypothesis is not rejected.” This is very different from actually </a:t>
            </a:r>
            <a:r>
              <a:rPr lang="en-US" altLang="en-US" sz="2000" i="1" dirty="0">
                <a:solidFill>
                  <a:srgbClr val="FF0000"/>
                </a:solidFill>
              </a:rPr>
              <a:t>accepting</a:t>
            </a:r>
            <a:r>
              <a:rPr lang="en-US" altLang="en-US" sz="2000" dirty="0"/>
              <a:t> the null hypothesis. The </a:t>
            </a:r>
            <a:r>
              <a:rPr lang="en-US" altLang="en-US" sz="2000" dirty="0">
                <a:solidFill>
                  <a:srgbClr val="FF0000"/>
                </a:solidFill>
              </a:rPr>
              <a:t>sample size</a:t>
            </a:r>
            <a:r>
              <a:rPr lang="en-US" altLang="en-US" sz="2000" dirty="0"/>
              <a:t>, for instance, could be too small to overcome large variability in the population.</a:t>
            </a:r>
          </a:p>
          <a:p>
            <a:pPr eaLnBrk="1" hangingPunct="1">
              <a:spcBef>
                <a:spcPct val="20000"/>
              </a:spcBef>
              <a:buClr>
                <a:srgbClr val="00CC99"/>
              </a:buClr>
              <a:buSzPct val="65000"/>
              <a:buFont typeface="Wingdings" pitchFamily="2" charset="2"/>
              <a:buNone/>
            </a:pPr>
            <a:endParaRPr lang="en-US" altLang="en-US" sz="1400" dirty="0"/>
          </a:p>
          <a:p>
            <a:pPr eaLnBrk="1" hangingPunct="1">
              <a:spcBef>
                <a:spcPct val="20000"/>
              </a:spcBef>
              <a:buClr>
                <a:srgbClr val="00CC99"/>
              </a:buClr>
              <a:buSzPct val="65000"/>
              <a:buFont typeface="Wingdings" pitchFamily="2" charset="2"/>
              <a:buNone/>
            </a:pPr>
            <a:r>
              <a:rPr lang="en-US" altLang="en-US" sz="2000" dirty="0"/>
              <a:t>When comparing two populations, lack of significance does not imply that the two populations are the same. </a:t>
            </a:r>
            <a:r>
              <a:rPr lang="en-US" altLang="en-US" sz="2000" dirty="0">
                <a:solidFill>
                  <a:srgbClr val="FF0000"/>
                </a:solidFill>
              </a:rPr>
              <a:t>The populations might be different but have similar statistical properties – same mean/</a:t>
            </a:r>
            <a:r>
              <a:rPr lang="en-US" altLang="en-US" sz="2000" dirty="0" err="1">
                <a:solidFill>
                  <a:srgbClr val="FF0000"/>
                </a:solidFill>
              </a:rPr>
              <a:t>sd</a:t>
            </a:r>
            <a:r>
              <a:rPr lang="en-US" altLang="en-US" sz="2000" dirty="0">
                <a:solidFill>
                  <a:srgbClr val="FF0000"/>
                </a:solidFill>
              </a:rPr>
              <a:t>, but different distribution.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8674">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0867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Hypothesis Tests</a:t>
            </a:r>
            <a:endParaRPr lang="en-US" dirty="0"/>
          </a:p>
        </p:txBody>
      </p:sp>
      <p:sp>
        <p:nvSpPr>
          <p:cNvPr id="8602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6A7F1B8-499F-4AC0-A4CA-6C0835252372}" type="slidenum">
              <a:rPr lang="en-US" altLang="en-US" sz="1400">
                <a:solidFill>
                  <a:schemeClr val="accent1"/>
                </a:solidFill>
              </a:rPr>
              <a:pPr/>
              <a:t>31</a:t>
            </a:fld>
            <a:endParaRPr lang="en-US" altLang="en-US" sz="1400">
              <a:solidFill>
                <a:schemeClr val="accent1"/>
              </a:solidFill>
            </a:endParaRPr>
          </a:p>
        </p:txBody>
      </p:sp>
      <p:sp>
        <p:nvSpPr>
          <p:cNvPr id="1309700" name="Rectangle 4"/>
          <p:cNvSpPr>
            <a:spLocks noGrp="1" noChangeArrowheads="1"/>
          </p:cNvSpPr>
          <p:nvPr>
            <p:ph type="body" sz="half" idx="4294967295"/>
          </p:nvPr>
        </p:nvSpPr>
        <p:spPr>
          <a:xfrm>
            <a:off x="419100" y="1333500"/>
            <a:ext cx="8305800" cy="5410200"/>
          </a:xfrm>
        </p:spPr>
        <p:txBody>
          <a:bodyPr/>
          <a:lstStyle/>
          <a:p>
            <a:pPr marL="0" indent="0" eaLnBrk="1" hangingPunct="1">
              <a:lnSpc>
                <a:spcPct val="130000"/>
              </a:lnSpc>
              <a:spcAft>
                <a:spcPct val="25000"/>
              </a:spcAft>
              <a:buFont typeface="Wingdings" pitchFamily="-65" charset="2"/>
              <a:buNone/>
              <a:defRPr/>
            </a:pPr>
            <a:r>
              <a:rPr lang="en-US" altLang="en-US" b="1" dirty="0">
                <a:solidFill>
                  <a:srgbClr val="800000"/>
                </a:solidFill>
                <a:ea typeface="ＭＳ Ｐゴシック" pitchFamily="-65" charset="-128"/>
              </a:rPr>
              <a:t>Beware of searching for significance</a:t>
            </a:r>
          </a:p>
          <a:p>
            <a:pPr eaLnBrk="1" hangingPunct="1">
              <a:spcAft>
                <a:spcPts val="0"/>
              </a:spcAft>
              <a:buFont typeface="Wingdings" panose="05000000000000000000" pitchFamily="2" charset="2"/>
              <a:buChar char="ü"/>
              <a:defRPr/>
            </a:pPr>
            <a:r>
              <a:rPr lang="en-US" altLang="en-US" dirty="0">
                <a:solidFill>
                  <a:schemeClr val="tx1"/>
                </a:solidFill>
                <a:ea typeface="ＭＳ Ｐゴシック" pitchFamily="-65" charset="-128"/>
              </a:rPr>
              <a:t>If a hypothesis is developed after examining the data, testing it on the same data may produce misleading P-values because the hypothesis-selection process is not accounted for.</a:t>
            </a:r>
          </a:p>
          <a:p>
            <a:pPr eaLnBrk="1" hangingPunct="1">
              <a:spcAft>
                <a:spcPts val="0"/>
              </a:spcAft>
              <a:buFont typeface="Wingdings" panose="05000000000000000000" pitchFamily="2" charset="2"/>
              <a:buChar char="ü"/>
              <a:defRPr/>
            </a:pPr>
            <a:r>
              <a:rPr lang="en-US" altLang="en-US" dirty="0">
                <a:solidFill>
                  <a:srgbClr val="FF0000"/>
                </a:solidFill>
                <a:ea typeface="ＭＳ Ｐゴシック" pitchFamily="-65" charset="-128"/>
              </a:rPr>
              <a:t>When testing a large number of null hypotheses simultaneously, it can be expected that several of the tests will show significance, even when all the null hypotheses are true</a:t>
            </a:r>
            <a:r>
              <a:rPr lang="en-US" altLang="en-US" dirty="0">
                <a:solidFill>
                  <a:schemeClr val="tx1"/>
                </a:solidFill>
                <a:ea typeface="ＭＳ Ｐゴシック" pitchFamily="-65" charset="-128"/>
              </a:rPr>
              <a:t>.</a:t>
            </a:r>
          </a:p>
          <a:p>
            <a:pPr eaLnBrk="1" hangingPunct="1">
              <a:spcAft>
                <a:spcPts val="0"/>
              </a:spcAft>
              <a:buFont typeface="Wingdings" panose="05000000000000000000" pitchFamily="2" charset="2"/>
              <a:buChar char="ü"/>
              <a:defRPr/>
            </a:pPr>
            <a:r>
              <a:rPr lang="en-US" altLang="en-US" dirty="0">
                <a:solidFill>
                  <a:schemeClr val="tx1"/>
                </a:solidFill>
                <a:ea typeface="ＭＳ Ｐゴシック" pitchFamily="-65" charset="-128"/>
              </a:rPr>
              <a:t>The previous two points do not imply that </a:t>
            </a:r>
            <a:r>
              <a:rPr lang="en-US" altLang="en-US" dirty="0">
                <a:solidFill>
                  <a:srgbClr val="FF0000"/>
                </a:solidFill>
                <a:ea typeface="ＭＳ Ｐゴシック" pitchFamily="-65" charset="-128"/>
              </a:rPr>
              <a:t>exploratory data analysis </a:t>
            </a:r>
            <a:r>
              <a:rPr lang="en-US" altLang="en-US" dirty="0">
                <a:solidFill>
                  <a:schemeClr val="tx1"/>
                </a:solidFill>
                <a:ea typeface="ＭＳ Ｐゴシック" pitchFamily="-65" charset="-128"/>
              </a:rPr>
              <a:t>is a bad thing. Exploratory analysis often leads to interesting discoveries. However, </a:t>
            </a:r>
            <a:r>
              <a:rPr lang="en-US" altLang="en-US" dirty="0">
                <a:solidFill>
                  <a:srgbClr val="FF0000"/>
                </a:solidFill>
                <a:ea typeface="ＭＳ Ｐゴシック" pitchFamily="-65" charset="-128"/>
              </a:rPr>
              <a:t>if the data at hand suggest an interesting theory, then test that theory on a </a:t>
            </a:r>
            <a:r>
              <a:rPr lang="en-US" altLang="en-US" i="1" dirty="0">
                <a:solidFill>
                  <a:srgbClr val="FF0000"/>
                </a:solidFill>
                <a:ea typeface="ＭＳ Ｐゴシック" pitchFamily="-65" charset="-128"/>
              </a:rPr>
              <a:t>new </a:t>
            </a:r>
            <a:r>
              <a:rPr lang="en-US" altLang="en-US" dirty="0">
                <a:solidFill>
                  <a:srgbClr val="FF0000"/>
                </a:solidFill>
                <a:ea typeface="ＭＳ Ｐゴシック" pitchFamily="-65" charset="-128"/>
              </a:rPr>
              <a:t>set of data</a:t>
            </a:r>
            <a:r>
              <a:rPr lang="en-US" altLang="en-US" dirty="0">
                <a:solidFill>
                  <a:schemeClr val="tx1"/>
                </a:solidFill>
                <a:ea typeface="ＭＳ Ｐゴシック" pitchFamily="-65" charset="-128"/>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09700">
                                            <p:txEl>
                                              <p:pRg st="1" end="1"/>
                                            </p:txEl>
                                          </p:spTgt>
                                        </p:tgtEl>
                                        <p:attrNameLst>
                                          <p:attrName>style.visibility</p:attrName>
                                        </p:attrNameLst>
                                      </p:cBhvr>
                                      <p:to>
                                        <p:strVal val="visible"/>
                                      </p:to>
                                    </p:set>
                                    <p:animEffect transition="in" filter="fade">
                                      <p:cBhvr>
                                        <p:cTn id="7" dur="500"/>
                                        <p:tgtEl>
                                          <p:spTgt spid="130970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09700">
                                            <p:txEl>
                                              <p:pRg st="2" end="2"/>
                                            </p:txEl>
                                          </p:spTgt>
                                        </p:tgtEl>
                                        <p:attrNameLst>
                                          <p:attrName>style.visibility</p:attrName>
                                        </p:attrNameLst>
                                      </p:cBhvr>
                                      <p:to>
                                        <p:strVal val="visible"/>
                                      </p:to>
                                    </p:set>
                                    <p:animEffect transition="in" filter="fade">
                                      <p:cBhvr>
                                        <p:cTn id="12" dur="500"/>
                                        <p:tgtEl>
                                          <p:spTgt spid="130970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309700">
                                            <p:txEl>
                                              <p:pRg st="3" end="3"/>
                                            </p:txEl>
                                          </p:spTgt>
                                        </p:tgtEl>
                                        <p:attrNameLst>
                                          <p:attrName>style.visibility</p:attrName>
                                        </p:attrNameLst>
                                      </p:cBhvr>
                                      <p:to>
                                        <p:strVal val="visible"/>
                                      </p:to>
                                    </p:set>
                                    <p:animEffect transition="in" filter="fade">
                                      <p:cBhvr>
                                        <p:cTn id="17" dur="500"/>
                                        <p:tgtEl>
                                          <p:spTgt spid="13097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2"/>
          <p:cNvSpPr>
            <a:spLocks noGrp="1"/>
          </p:cNvSpPr>
          <p:nvPr>
            <p:ph type="title"/>
          </p:nvPr>
        </p:nvSpPr>
        <p:spPr/>
        <p:txBody>
          <a:bodyPr anchor="t"/>
          <a:lstStyle/>
          <a:p>
            <a:pPr eaLnBrk="1" hangingPunct="1"/>
            <a:r>
              <a:rPr lang="en-US" altLang="en-US" b="1" dirty="0">
                <a:ea typeface="ＭＳ Ｐゴシック" pitchFamily="34" charset="-128"/>
              </a:rPr>
              <a:t>6.4 Power and Inference as a Decision</a:t>
            </a:r>
          </a:p>
        </p:txBody>
      </p:sp>
      <p:sp>
        <p:nvSpPr>
          <p:cNvPr id="88067" name="Text Placeholder 3"/>
          <p:cNvSpPr>
            <a:spLocks noGrp="1"/>
          </p:cNvSpPr>
          <p:nvPr>
            <p:ph idx="1"/>
          </p:nvPr>
        </p:nvSpPr>
        <p:spPr>
          <a:xfrm>
            <a:off x="457200" y="2209800"/>
            <a:ext cx="6508750" cy="1143001"/>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Power</a:t>
            </a:r>
          </a:p>
          <a:p>
            <a:pPr eaLnBrk="1" hangingPunct="1">
              <a:buSzPct val="110000"/>
              <a:buFont typeface="Wingdings" pitchFamily="2" charset="2"/>
              <a:buChar char="§"/>
            </a:pPr>
            <a:r>
              <a:rPr lang="en-US" altLang="en-US" sz="2400" dirty="0">
                <a:solidFill>
                  <a:schemeClr val="accent1"/>
                </a:solidFill>
                <a:ea typeface="ＭＳ Ｐゴシック" pitchFamily="34" charset="-128"/>
              </a:rPr>
              <a:t>Increasing the power</a:t>
            </a:r>
          </a:p>
        </p:txBody>
      </p:sp>
      <p:sp>
        <p:nvSpPr>
          <p:cNvPr id="8806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B7BF23A-5F48-4F3F-91C7-2078A3DA9F98}" type="slidenum">
              <a:rPr lang="en-US" altLang="en-US" sz="1400">
                <a:solidFill>
                  <a:schemeClr val="accent1"/>
                </a:solidFill>
              </a:rPr>
              <a:pPr/>
              <a:t>32</a:t>
            </a:fld>
            <a:endParaRPr lang="en-US" altLang="en-US" sz="1400">
              <a:solidFill>
                <a:schemeClr val="accen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Power</a:t>
            </a:r>
            <a:endParaRPr lang="en-US" altLang="en-US" sz="2400" dirty="0">
              <a:solidFill>
                <a:srgbClr val="33CCFF"/>
              </a:solidFill>
              <a:ea typeface="ＭＳ Ｐゴシック" pitchFamily="34" charset="-128"/>
            </a:endParaRPr>
          </a:p>
        </p:txBody>
      </p:sp>
      <p:sp>
        <p:nvSpPr>
          <p:cNvPr id="890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1AF1456-D91B-4888-B299-5BCFD076D714}" type="slidenum">
              <a:rPr lang="en-US" altLang="en-US" sz="1200">
                <a:solidFill>
                  <a:schemeClr val="accent1"/>
                </a:solidFill>
              </a:rPr>
              <a:pPr>
                <a:lnSpc>
                  <a:spcPct val="80000"/>
                </a:lnSpc>
              </a:pPr>
              <a:t>33</a:t>
            </a:fld>
            <a:endParaRPr lang="en-US" altLang="en-US" sz="1200">
              <a:solidFill>
                <a:schemeClr val="accent1"/>
              </a:solidFill>
            </a:endParaRPr>
          </a:p>
        </p:txBody>
      </p:sp>
      <p:sp>
        <p:nvSpPr>
          <p:cNvPr id="89092" name="TextBox 1"/>
          <p:cNvSpPr txBox="1">
            <a:spLocks noChangeArrowheads="1"/>
          </p:cNvSpPr>
          <p:nvPr/>
        </p:nvSpPr>
        <p:spPr bwMode="auto">
          <a:xfrm>
            <a:off x="401638" y="1165225"/>
            <a:ext cx="8477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When we draw a conclusion from a significance test, we hope our conclusion will be correct. But sometimes it will be wrong. There are two types of mistakes we can make. </a:t>
            </a:r>
          </a:p>
        </p:txBody>
      </p:sp>
      <p:sp>
        <p:nvSpPr>
          <p:cNvPr id="17" name="TextBox 16"/>
          <p:cNvSpPr txBox="1">
            <a:spLocks noChangeArrowheads="1"/>
          </p:cNvSpPr>
          <p:nvPr/>
        </p:nvSpPr>
        <p:spPr bwMode="auto">
          <a:xfrm>
            <a:off x="643732" y="2253752"/>
            <a:ext cx="7866062" cy="120015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spcAft>
                <a:spcPts val="600"/>
              </a:spcAft>
              <a:buClrTx/>
              <a:buSzTx/>
              <a:buFontTx/>
              <a:buNone/>
              <a:defRPr/>
            </a:pPr>
            <a:r>
              <a:rPr lang="en-US" altLang="en-US" dirty="0">
                <a:solidFill>
                  <a:srgbClr val="000000"/>
                </a:solidFill>
              </a:rPr>
              <a:t>If we reject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when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is true, we have committed a </a:t>
            </a:r>
            <a:r>
              <a:rPr lang="en-US" altLang="en-US" b="1" dirty="0">
                <a:solidFill>
                  <a:srgbClr val="800000"/>
                </a:solidFill>
              </a:rPr>
              <a:t>Type I error</a:t>
            </a:r>
            <a:r>
              <a:rPr lang="en-US" altLang="en-US" dirty="0">
                <a:solidFill>
                  <a:srgbClr val="000000"/>
                </a:solidFill>
              </a:rPr>
              <a:t>. </a:t>
            </a:r>
          </a:p>
          <a:p>
            <a:pPr eaLnBrk="1" hangingPunct="1">
              <a:spcBef>
                <a:spcPct val="0"/>
              </a:spcBef>
              <a:spcAft>
                <a:spcPts val="600"/>
              </a:spcAft>
              <a:buClrTx/>
              <a:buSzTx/>
              <a:buFontTx/>
              <a:buNone/>
              <a:defRPr/>
            </a:pPr>
            <a:r>
              <a:rPr lang="en-US" altLang="en-US" dirty="0">
                <a:solidFill>
                  <a:srgbClr val="000000"/>
                </a:solidFill>
              </a:rPr>
              <a:t>If we fail to reject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when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is false, we have committed a </a:t>
            </a:r>
            <a:r>
              <a:rPr lang="en-US" altLang="en-US" b="1" dirty="0">
                <a:solidFill>
                  <a:srgbClr val="800000"/>
                </a:solidFill>
              </a:rPr>
              <a:t>Type II error</a:t>
            </a:r>
            <a:r>
              <a:rPr lang="en-US" altLang="en-US" dirty="0">
                <a:solidFill>
                  <a:srgbClr val="000000"/>
                </a:solidFill>
              </a:rPr>
              <a:t>.</a:t>
            </a:r>
            <a:endParaRPr lang="en-US" altLang="en-US" sz="2400" i="1" dirty="0">
              <a:solidFill>
                <a:srgbClr val="000000"/>
              </a:solidFill>
              <a:latin typeface="Palatino" charset="0"/>
            </a:endParaRPr>
          </a:p>
        </p:txBody>
      </p:sp>
      <p:graphicFrame>
        <p:nvGraphicFramePr>
          <p:cNvPr id="7" name="Table 6" descr="The image describes in a tabular form the type of errors that can be made by accepting or rejecting the hypothesis against the truth of the population. The Column header depicts &quot;truth of the population&quot; in two columns. Colum 1 depicts where null hypothesis is true and column 2 depicts where null hypothesis is false or alternative hypothesis is true. The Row header depicts conclusion based on samples in two rows. Row 1 depicts null hypothesis is rejected and Row 2 depicts null hypothesis is failed to be rejected. &#10;The table explains, there are two types of mistakes we can make. We can reject the null hypothesis when it’s actually true, known as a Type I error, or we can fail to reject a false null hypothesis, which is a Type II error."/>
          <p:cNvGraphicFramePr>
            <a:graphicFrameLocks noGrp="1"/>
          </p:cNvGraphicFramePr>
          <p:nvPr>
            <p:extLst>
              <p:ext uri="{D42A27DB-BD31-4B8C-83A1-F6EECF244321}">
                <p14:modId xmlns:p14="http://schemas.microsoft.com/office/powerpoint/2010/main" val="957345243"/>
              </p:ext>
            </p:extLst>
          </p:nvPr>
        </p:nvGraphicFramePr>
        <p:xfrm>
          <a:off x="643732" y="3602582"/>
          <a:ext cx="7649527" cy="3122846"/>
        </p:xfrm>
        <a:graphic>
          <a:graphicData uri="http://schemas.openxmlformats.org/drawingml/2006/table">
            <a:tbl>
              <a:tblPr firstRow="1"/>
              <a:tblGrid>
                <a:gridCol w="1646237">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2217103">
                  <a:extLst>
                    <a:ext uri="{9D8B030D-6E8A-4147-A177-3AD203B41FA5}">
                      <a16:colId xmlns:a16="http://schemas.microsoft.com/office/drawing/2014/main" val="20002"/>
                    </a:ext>
                  </a:extLst>
                </a:gridCol>
                <a:gridCol w="2084387">
                  <a:extLst>
                    <a:ext uri="{9D8B030D-6E8A-4147-A177-3AD203B41FA5}">
                      <a16:colId xmlns:a16="http://schemas.microsoft.com/office/drawing/2014/main" val="20003"/>
                    </a:ext>
                  </a:extLst>
                </a:gridCol>
              </a:tblGrid>
              <a:tr h="414338">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marT="45699" marB="45699" anchor="ct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marT="45699" marB="45699"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charset="0"/>
                          <a:ea typeface="ＭＳ Ｐゴシック" charset="-128"/>
                        </a:rPr>
                        <a:t>Truth about the population</a:t>
                      </a:r>
                    </a:p>
                  </a:txBody>
                  <a:tcPr marT="45699" marB="45699" anchor="ctr" horzOverflow="overflow">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en-US" dirty="0"/>
                    </a:p>
                  </a:txBody>
                  <a:tcPr marT="45699" marB="45699" anchor="ctr" horzOverflow="overflow">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6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charset="0"/>
                        <a:ea typeface="ＭＳ Ｐゴシック" charset="-128"/>
                      </a:endParaRPr>
                    </a:p>
                  </a:txBody>
                  <a:tcPr marT="45699" marB="45699"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marT="45699" marB="45699"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charset="0"/>
                          <a:ea typeface="ＭＳ Ｐゴシック" charset="-128"/>
                        </a:rPr>
                        <a:t>H</a:t>
                      </a:r>
                      <a:r>
                        <a:rPr kumimoji="0" lang="en-US" altLang="en-US" sz="2000" b="0" i="0" u="none" strike="noStrike" cap="none" normalizeH="0" baseline="-25000" dirty="0">
                          <a:ln>
                            <a:noFill/>
                          </a:ln>
                          <a:solidFill>
                            <a:schemeClr val="tx1"/>
                          </a:solidFill>
                          <a:effectLst/>
                          <a:latin typeface="Arial" charset="0"/>
                          <a:ea typeface="ＭＳ Ｐゴシック" charset="-128"/>
                        </a:rPr>
                        <a:t>0</a:t>
                      </a:r>
                      <a:r>
                        <a:rPr kumimoji="0" lang="en-US" altLang="en-US" sz="2000" b="0" i="0" u="none" strike="noStrike" cap="none" normalizeH="0" baseline="0" dirty="0">
                          <a:ln>
                            <a:noFill/>
                          </a:ln>
                          <a:solidFill>
                            <a:schemeClr val="tx1"/>
                          </a:solidFill>
                          <a:effectLst/>
                          <a:latin typeface="Arial" charset="0"/>
                          <a:ea typeface="ＭＳ Ｐゴシック" charset="-128"/>
                        </a:rPr>
                        <a:t> is true</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charset="0"/>
                          <a:ea typeface="ＭＳ Ｐゴシック" charset="-128"/>
                        </a:rPr>
                        <a:t>H</a:t>
                      </a:r>
                      <a:r>
                        <a:rPr kumimoji="0" lang="en-US" altLang="en-US" sz="2000" b="0" i="0" u="none" strike="noStrike" cap="none" normalizeH="0" baseline="-25000" dirty="0">
                          <a:ln>
                            <a:noFill/>
                          </a:ln>
                          <a:solidFill>
                            <a:schemeClr val="tx1"/>
                          </a:solidFill>
                          <a:effectLst/>
                          <a:latin typeface="Arial" charset="0"/>
                          <a:ea typeface="ＭＳ Ｐゴシック" charset="-128"/>
                        </a:rPr>
                        <a:t>0</a:t>
                      </a:r>
                      <a:r>
                        <a:rPr kumimoji="0" lang="en-US" altLang="en-US" sz="2000" b="0" i="0" u="none" strike="noStrike" cap="none" normalizeH="0" baseline="0" dirty="0">
                          <a:ln>
                            <a:noFill/>
                          </a:ln>
                          <a:solidFill>
                            <a:schemeClr val="tx1"/>
                          </a:solidFill>
                          <a:effectLst/>
                          <a:latin typeface="Arial" charset="0"/>
                          <a:ea typeface="ＭＳ Ｐゴシック" charset="-128"/>
                        </a:rPr>
                        <a:t> is false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ea typeface="ＭＳ Ｐゴシック" charset="-128"/>
                        </a:rPr>
                        <a:t>(</a:t>
                      </a:r>
                      <a:r>
                        <a:rPr kumimoji="0" lang="en-US" altLang="en-US" sz="2000" b="0" i="1" u="none" strike="noStrike" cap="none" normalizeH="0" baseline="0" dirty="0">
                          <a:ln>
                            <a:noFill/>
                          </a:ln>
                          <a:solidFill>
                            <a:schemeClr val="tx1"/>
                          </a:solidFill>
                          <a:effectLst/>
                          <a:latin typeface="Arial" charset="0"/>
                          <a:ea typeface="ＭＳ Ｐゴシック" charset="-128"/>
                        </a:rPr>
                        <a:t>H</a:t>
                      </a:r>
                      <a:r>
                        <a:rPr kumimoji="0" lang="en-US" altLang="en-US" sz="2000" b="0" i="0" u="none" strike="noStrike" cap="none" normalizeH="0" baseline="-25000" dirty="0">
                          <a:ln>
                            <a:noFill/>
                          </a:ln>
                          <a:solidFill>
                            <a:schemeClr val="tx1"/>
                          </a:solidFill>
                          <a:effectLst/>
                          <a:latin typeface="Arial" charset="0"/>
                          <a:ea typeface="ＭＳ Ｐゴシック" charset="-128"/>
                        </a:rPr>
                        <a:t>a</a:t>
                      </a:r>
                      <a:r>
                        <a:rPr kumimoji="0" lang="en-US" altLang="en-US" sz="2000" b="0" i="1" u="none" strike="noStrike" cap="none" normalizeH="0" baseline="0" dirty="0">
                          <a:ln>
                            <a:noFill/>
                          </a:ln>
                          <a:solidFill>
                            <a:schemeClr val="tx1"/>
                          </a:solidFill>
                          <a:effectLst/>
                          <a:latin typeface="Arial" charset="0"/>
                          <a:ea typeface="ＭＳ Ｐゴシック" charset="-128"/>
                        </a:rPr>
                        <a:t> </a:t>
                      </a:r>
                      <a:r>
                        <a:rPr kumimoji="0" lang="en-US" altLang="en-US" sz="2000" b="0" i="0" u="none" strike="noStrike" cap="none" normalizeH="0" baseline="0" dirty="0">
                          <a:ln>
                            <a:noFill/>
                          </a:ln>
                          <a:solidFill>
                            <a:schemeClr val="tx1"/>
                          </a:solidFill>
                          <a:effectLst/>
                          <a:latin typeface="Arial" charset="0"/>
                          <a:ea typeface="ＭＳ Ｐゴシック" charset="-128"/>
                        </a:rPr>
                        <a:t>is</a:t>
                      </a:r>
                      <a:r>
                        <a:rPr kumimoji="0" lang="en-US" altLang="en-US" sz="2000" b="0" i="1" u="none" strike="noStrike" cap="none" normalizeH="0" baseline="0" dirty="0">
                          <a:ln>
                            <a:noFill/>
                          </a:ln>
                          <a:solidFill>
                            <a:schemeClr val="tx1"/>
                          </a:solidFill>
                          <a:effectLst/>
                          <a:latin typeface="Arial" charset="0"/>
                          <a:ea typeface="ＭＳ Ｐゴシック" charset="-128"/>
                        </a:rPr>
                        <a:t> </a:t>
                      </a:r>
                      <a:r>
                        <a:rPr kumimoji="0" lang="en-US" altLang="en-US" sz="2000" b="0" i="0" u="none" strike="noStrike" cap="none" normalizeH="0" baseline="0" dirty="0">
                          <a:ln>
                            <a:noFill/>
                          </a:ln>
                          <a:solidFill>
                            <a:schemeClr val="tx1"/>
                          </a:solidFill>
                          <a:effectLst/>
                          <a:latin typeface="Arial" charset="0"/>
                          <a:ea typeface="ＭＳ Ｐゴシック" charset="-128"/>
                        </a:rPr>
                        <a:t>true)</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43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charset="0"/>
                          <a:ea typeface="ＭＳ Ｐゴシック" charset="-128"/>
                        </a:rPr>
                        <a:t>Conclusion based on sample</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ea typeface="ＭＳ Ｐゴシック" charset="-128"/>
                        </a:rPr>
                        <a:t>Reject </a:t>
                      </a:r>
                      <a:r>
                        <a:rPr kumimoji="0" lang="en-US" altLang="en-US" sz="2000" b="0" i="1" u="none" strike="noStrike" cap="none" normalizeH="0" baseline="0">
                          <a:ln>
                            <a:noFill/>
                          </a:ln>
                          <a:solidFill>
                            <a:schemeClr val="tx1"/>
                          </a:solidFill>
                          <a:effectLst/>
                          <a:latin typeface="Arial" charset="0"/>
                          <a:ea typeface="ＭＳ Ｐゴシック" charset="-128"/>
                        </a:rPr>
                        <a:t>H</a:t>
                      </a:r>
                      <a:r>
                        <a:rPr kumimoji="0" lang="en-US" altLang="en-US" sz="2000" b="0" i="0" u="none" strike="noStrike" cap="none" normalizeH="0" baseline="-25000">
                          <a:ln>
                            <a:noFill/>
                          </a:ln>
                          <a:solidFill>
                            <a:schemeClr val="tx1"/>
                          </a:solidFill>
                          <a:effectLst/>
                          <a:latin typeface="Arial" charset="0"/>
                          <a:ea typeface="ＭＳ Ｐゴシック" charset="-128"/>
                        </a:rPr>
                        <a:t>0</a:t>
                      </a:r>
                      <a:r>
                        <a:rPr kumimoji="0" lang="en-US" altLang="en-US" sz="2000" b="0" i="1" u="none" strike="noStrike" cap="none" normalizeH="0" baseline="-25000">
                          <a:ln>
                            <a:noFill/>
                          </a:ln>
                          <a:solidFill>
                            <a:schemeClr val="tx1"/>
                          </a:solidFill>
                          <a:effectLst/>
                          <a:latin typeface="Arial" charset="0"/>
                          <a:ea typeface="ＭＳ Ｐゴシック" charset="-128"/>
                        </a:rPr>
                        <a:t>    </a:t>
                      </a:r>
                    </a:p>
                  </a:txBody>
                  <a:tcPr marT="45699" marB="4569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charset="0"/>
                          <a:ea typeface="ＭＳ Ｐゴシック" charset="-128"/>
                        </a:rPr>
                        <a:t>Type I error</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AD2D6"/>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1" u="none" strike="noStrike" cap="none" normalizeH="0" baseline="0">
                          <a:ln>
                            <a:noFill/>
                          </a:ln>
                          <a:solidFill>
                            <a:schemeClr val="tx1"/>
                          </a:solidFill>
                          <a:effectLst/>
                          <a:latin typeface="Arial" charset="0"/>
                          <a:ea typeface="ＭＳ Ｐゴシック" charset="-128"/>
                        </a:rPr>
                        <a:t>Correct conclusion</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7E9C9"/>
                    </a:solidFill>
                  </a:tcPr>
                </a:tc>
                <a:extLst>
                  <a:ext uri="{0D108BD9-81ED-4DB2-BD59-A6C34878D82A}">
                    <a16:rowId xmlns:a16="http://schemas.microsoft.com/office/drawing/2014/main" val="10002"/>
                  </a:ext>
                </a:extLst>
              </a:tr>
              <a:tr h="714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charset="0"/>
                        <a:ea typeface="ＭＳ Ｐゴシック" charset="-128"/>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ea typeface="ＭＳ Ｐゴシック" charset="-128"/>
                        </a:rPr>
                        <a:t>Fail to reject </a:t>
                      </a:r>
                      <a:r>
                        <a:rPr kumimoji="0" lang="en-US" altLang="en-US" sz="2000" b="0" i="1" u="none" strike="noStrike" cap="none" normalizeH="0" baseline="0" dirty="0">
                          <a:ln>
                            <a:noFill/>
                          </a:ln>
                          <a:solidFill>
                            <a:schemeClr val="tx1"/>
                          </a:solidFill>
                          <a:effectLst/>
                          <a:latin typeface="Arial" charset="0"/>
                          <a:ea typeface="ＭＳ Ｐゴシック" charset="-128"/>
                        </a:rPr>
                        <a:t>H</a:t>
                      </a:r>
                      <a:r>
                        <a:rPr kumimoji="0" lang="en-US" altLang="en-US" sz="2000" b="0" i="0" u="none" strike="noStrike" cap="none" normalizeH="0" baseline="-25000" dirty="0">
                          <a:ln>
                            <a:noFill/>
                          </a:ln>
                          <a:solidFill>
                            <a:schemeClr val="tx1"/>
                          </a:solidFill>
                          <a:effectLst/>
                          <a:latin typeface="Arial" charset="0"/>
                          <a:ea typeface="ＭＳ Ｐゴシック" charset="-128"/>
                        </a:rPr>
                        <a:t>0</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1" u="none" strike="noStrike" cap="none" normalizeH="0" baseline="0">
                          <a:ln>
                            <a:noFill/>
                          </a:ln>
                          <a:solidFill>
                            <a:schemeClr val="tx1"/>
                          </a:solidFill>
                          <a:effectLst/>
                          <a:latin typeface="Arial" charset="0"/>
                          <a:ea typeface="ＭＳ Ｐゴシック" charset="-128"/>
                        </a:rPr>
                        <a:t>Correct conclusion</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7E9C9"/>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charset="0"/>
                          <a:ea typeface="ＭＳ Ｐゴシック" charset="-128"/>
                        </a:rPr>
                        <a:t>Type II error</a:t>
                      </a: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AD2D6"/>
                    </a:solidFill>
                  </a:tcPr>
                </a:tc>
                <a:extLst>
                  <a:ext uri="{0D108BD9-81ED-4DB2-BD59-A6C34878D82A}">
                    <a16:rowId xmlns:a16="http://schemas.microsoft.com/office/drawing/2014/main" val="10003"/>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Power</a:t>
            </a:r>
            <a:endParaRPr lang="en-US" dirty="0"/>
          </a:p>
        </p:txBody>
      </p:sp>
      <p:sp>
        <p:nvSpPr>
          <p:cNvPr id="901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D6C0F3D5-B596-4607-AE51-3232A7680696}" type="slidenum">
              <a:rPr lang="en-US" altLang="en-US" sz="1200">
                <a:solidFill>
                  <a:schemeClr val="accent1"/>
                </a:solidFill>
              </a:rPr>
              <a:pPr>
                <a:lnSpc>
                  <a:spcPct val="80000"/>
                </a:lnSpc>
              </a:pPr>
              <a:t>34</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457200" y="1525131"/>
                <a:ext cx="8229599" cy="101566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defRPr/>
                </a:pPr>
                <a:r>
                  <a:rPr lang="en-US" altLang="en-US" sz="2000" dirty="0">
                    <a:solidFill>
                      <a:srgbClr val="000000"/>
                    </a:solidFill>
                  </a:rPr>
                  <a:t>The probability of a Type I error is the probability of rejecting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when it is true. This probability is </a:t>
                </a:r>
                <a:r>
                  <a:rPr lang="en-US" altLang="en-US" sz="2000" dirty="0">
                    <a:solidFill>
                      <a:srgbClr val="FF0000"/>
                    </a:solidFill>
                  </a:rPr>
                  <a:t>at most </a:t>
                </a:r>
                <a14:m>
                  <m:oMath xmlns:m="http://schemas.openxmlformats.org/officeDocument/2006/math">
                    <m:r>
                      <a:rPr lang="en-US" altLang="en-US" sz="2000" i="1" dirty="0">
                        <a:solidFill>
                          <a:srgbClr val="FF0000"/>
                        </a:solidFill>
                        <a:latin typeface="Cambria Math" panose="02040503050406030204" pitchFamily="18" charset="0"/>
                      </a:rPr>
                      <m:t>𝛼</m:t>
                    </m:r>
                  </m:oMath>
                </a14:m>
                <a:r>
                  <a:rPr lang="en-US" altLang="en-US" sz="2000" dirty="0">
                    <a:solidFill>
                      <a:srgbClr val="000000"/>
                    </a:solidFill>
                  </a:rPr>
                  <a:t>. Consider the consequences of a Type I error before choosing a significance level.</a:t>
                </a: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457200" y="1525131"/>
                <a:ext cx="8229599" cy="1015663"/>
              </a:xfrm>
              <a:prstGeom prst="rect">
                <a:avLst/>
              </a:prstGeom>
              <a:blipFill>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637" name="Rectangle 1"/>
              <p:cNvSpPr>
                <a:spLocks noChangeArrowheads="1"/>
              </p:cNvSpPr>
              <p:nvPr/>
            </p:nvSpPr>
            <p:spPr bwMode="auto">
              <a:xfrm>
                <a:off x="457200" y="3124667"/>
                <a:ext cx="8305800"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eaLnBrk="1" hangingPunct="1"/>
                <a:r>
                  <a:rPr lang="en-US" altLang="en-US" sz="2000" dirty="0"/>
                  <a:t>A </a:t>
                </a:r>
                <a:r>
                  <a:rPr lang="en-US" altLang="en-US" sz="2000" dirty="0">
                    <a:solidFill>
                      <a:srgbClr val="FF0000"/>
                    </a:solidFill>
                  </a:rPr>
                  <a:t>Type II error occurs when a hypothesis test fails to reject a null hypothesis that is false</a:t>
                </a:r>
                <a:r>
                  <a:rPr lang="en-US" altLang="en-US" sz="2000" dirty="0"/>
                  <a:t>. </a:t>
                </a:r>
                <a:r>
                  <a:rPr lang="en-US" sz="2000" dirty="0"/>
                  <a:t>For a specific parameter value satisfying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𝐻</m:t>
                        </m:r>
                      </m:e>
                      <m:sub>
                        <m:r>
                          <a:rPr lang="en-US" sz="2000" i="1" dirty="0" smtClean="0">
                            <a:latin typeface="Cambria Math" panose="02040503050406030204" pitchFamily="18" charset="0"/>
                          </a:rPr>
                          <m:t>𝑎</m:t>
                        </m:r>
                      </m:sub>
                    </m:sSub>
                  </m:oMath>
                </a14:m>
                <a:r>
                  <a:rPr lang="en-US" altLang="en-US" sz="2000" dirty="0"/>
                  <a:t>:</a:t>
                </a:r>
              </a:p>
              <a:p>
                <a:pPr marL="342900" indent="-342900" eaLnBrk="1" hangingPunct="1">
                  <a:buFont typeface="Arial" panose="020B0604020202020204" pitchFamily="34" charset="0"/>
                  <a:buChar char="•"/>
                </a:pPr>
                <a:r>
                  <a:rPr lang="en-US" altLang="en-US" sz="2000" dirty="0"/>
                  <a:t>The Type II error probability, </a:t>
                </a:r>
                <a14:m>
                  <m:oMath xmlns:m="http://schemas.openxmlformats.org/officeDocument/2006/math">
                    <m:r>
                      <a:rPr lang="en-US" altLang="en-US" sz="2000" i="1" dirty="0" smtClean="0">
                        <a:solidFill>
                          <a:srgbClr val="FF0000"/>
                        </a:solidFill>
                        <a:latin typeface="Cambria Math" panose="02040503050406030204" pitchFamily="18" charset="0"/>
                      </a:rPr>
                      <m:t>𝛽</m:t>
                    </m:r>
                  </m:oMath>
                </a14:m>
                <a:r>
                  <a:rPr lang="en-US" altLang="en-US" sz="2000" dirty="0"/>
                  <a:t>, </a:t>
                </a:r>
                <a:r>
                  <a:rPr lang="en-US" sz="2000" dirty="0"/>
                  <a:t>is the probability of failing to reject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𝐻</m:t>
                        </m:r>
                      </m:e>
                      <m:sub>
                        <m:r>
                          <a:rPr lang="en-US" sz="2000" b="0" i="1" dirty="0" smtClean="0">
                            <a:latin typeface="Cambria Math" panose="02040503050406030204" pitchFamily="18" charset="0"/>
                          </a:rPr>
                          <m:t>0</m:t>
                        </m:r>
                      </m:sub>
                    </m:sSub>
                  </m:oMath>
                </a14:m>
                <a:r>
                  <a:rPr lang="en-US" sz="2000" dirty="0"/>
                  <a:t>. </a:t>
                </a:r>
              </a:p>
              <a:p>
                <a:pPr marL="342900" indent="-342900" eaLnBrk="1" hangingPunct="1">
                  <a:buFont typeface="Arial" panose="020B0604020202020204" pitchFamily="34" charset="0"/>
                  <a:buChar char="•"/>
                </a:pPr>
                <a:r>
                  <a:rPr lang="en-US" altLang="en-US" sz="2000" dirty="0"/>
                  <a:t>The </a:t>
                </a:r>
                <a:r>
                  <a:rPr lang="en-US" altLang="en-US" sz="2000" dirty="0">
                    <a:solidFill>
                      <a:srgbClr val="FF0000"/>
                    </a:solidFill>
                  </a:rPr>
                  <a:t>power</a:t>
                </a:r>
                <a:r>
                  <a:rPr lang="en-US" altLang="en-US" sz="2000" dirty="0"/>
                  <a:t>, </a:t>
                </a:r>
                <a14:m>
                  <m:oMath xmlns:m="http://schemas.openxmlformats.org/officeDocument/2006/math">
                    <m:r>
                      <a:rPr lang="en-US" altLang="en-US" sz="2000" i="1" dirty="0" smtClean="0">
                        <a:solidFill>
                          <a:srgbClr val="FF0000"/>
                        </a:solidFill>
                        <a:latin typeface="Cambria Math" panose="02040503050406030204" pitchFamily="18" charset="0"/>
                      </a:rPr>
                      <m:t>1</m:t>
                    </m:r>
                    <m:r>
                      <a:rPr lang="en-US" altLang="en-US" sz="2000" b="0" i="1" dirty="0" smtClean="0">
                        <a:solidFill>
                          <a:srgbClr val="FF0000"/>
                        </a:solidFill>
                        <a:latin typeface="Cambria Math" panose="02040503050406030204" pitchFamily="18" charset="0"/>
                      </a:rPr>
                      <m:t>−</m:t>
                    </m:r>
                    <m:r>
                      <a:rPr lang="en-US" altLang="en-US" sz="2000" b="0" i="1" dirty="0" smtClean="0">
                        <a:solidFill>
                          <a:srgbClr val="FF0000"/>
                        </a:solidFill>
                        <a:latin typeface="Cambria Math" panose="02040503050406030204" pitchFamily="18" charset="0"/>
                      </a:rPr>
                      <m:t>𝛽</m:t>
                    </m:r>
                  </m:oMath>
                </a14:m>
                <a:r>
                  <a:rPr lang="en-US" altLang="en-US" sz="2000" dirty="0"/>
                  <a:t>,</a:t>
                </a:r>
                <a:r>
                  <a:rPr lang="en-US" altLang="en-US" sz="2000" dirty="0">
                    <a:solidFill>
                      <a:srgbClr val="FF0000"/>
                    </a:solidFill>
                  </a:rPr>
                  <a:t> </a:t>
                </a:r>
                <a:r>
                  <a:rPr lang="en-US" sz="2000" dirty="0"/>
                  <a:t>is the probability of correctly rejecting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𝐻</m:t>
                        </m:r>
                      </m:e>
                      <m:sub>
                        <m:r>
                          <a:rPr lang="en-US" sz="2000" i="1" dirty="0">
                            <a:latin typeface="Cambria Math" panose="02040503050406030204" pitchFamily="18" charset="0"/>
                          </a:rPr>
                          <m:t>0</m:t>
                        </m:r>
                      </m:sub>
                    </m:sSub>
                  </m:oMath>
                </a14:m>
                <a:r>
                  <a:rPr lang="en-US" altLang="en-US" sz="2000" dirty="0"/>
                  <a:t>.</a:t>
                </a:r>
              </a:p>
              <a:p>
                <a:pPr marL="800100" lvl="1" indent="-342900" eaLnBrk="1" hangingPunct="1">
                  <a:buFont typeface="Courier New" panose="02070309020205020404" pitchFamily="49" charset="0"/>
                  <a:buChar char="o"/>
                </a:pPr>
                <a:r>
                  <a:rPr lang="en-US" altLang="en-US" sz="2000" dirty="0"/>
                  <a:t>Power can only be given when the parameter value under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𝐻</m:t>
                        </m:r>
                      </m:e>
                      <m:sub>
                        <m:r>
                          <a:rPr lang="en-US" sz="2000" i="1" dirty="0">
                            <a:latin typeface="Cambria Math" panose="02040503050406030204" pitchFamily="18" charset="0"/>
                          </a:rPr>
                          <m:t>𝑎</m:t>
                        </m:r>
                      </m:sub>
                    </m:sSub>
                  </m:oMath>
                </a14:m>
                <a:r>
                  <a:rPr lang="en-US" altLang="en-US" sz="2000" dirty="0"/>
                  <a:t> is specified.</a:t>
                </a:r>
              </a:p>
            </p:txBody>
          </p:sp>
        </mc:Choice>
        <mc:Fallback xmlns="">
          <p:sp>
            <p:nvSpPr>
              <p:cNvPr id="69637" name="Rectangle 1"/>
              <p:cNvSpPr>
                <a:spLocks noRot="1" noChangeAspect="1" noMove="1" noResize="1" noEditPoints="1" noAdjustHandles="1" noChangeArrowheads="1" noChangeShapeType="1" noTextEdit="1"/>
              </p:cNvSpPr>
              <p:nvPr/>
            </p:nvSpPr>
            <p:spPr bwMode="auto">
              <a:xfrm>
                <a:off x="457200" y="3124667"/>
                <a:ext cx="8305800" cy="1938992"/>
              </a:xfrm>
              <a:prstGeom prst="rect">
                <a:avLst/>
              </a:prstGeom>
              <a:blipFill>
                <a:blip r:embed="rId3"/>
                <a:stretch>
                  <a:fillRect l="-734" t="-1572" r="-1394" b="-50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9637"/>
                                        </p:tgtEl>
                                        <p:attrNameLst>
                                          <p:attrName>style.visibility</p:attrName>
                                        </p:attrNameLst>
                                      </p:cBhvr>
                                      <p:to>
                                        <p:strVal val="visible"/>
                                      </p:to>
                                    </p:set>
                                    <p:animEffect transition="in" filter="fade">
                                      <p:cBhvr>
                                        <p:cTn id="12" dur="50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9637"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Power Calculation: An Example</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84A96E5-0F88-4286-80DF-C25067D8964D}" type="slidenum">
              <a:rPr lang="en-US" altLang="en-US" sz="1200">
                <a:solidFill>
                  <a:schemeClr val="accent1"/>
                </a:solidFill>
              </a:rPr>
              <a:pPr>
                <a:lnSpc>
                  <a:spcPct val="80000"/>
                </a:lnSpc>
              </a:pPr>
              <a:t>35</a:t>
            </a:fld>
            <a:endParaRPr lang="en-US" altLang="en-US" sz="1200">
              <a:solidFill>
                <a:schemeClr val="accent1"/>
              </a:solidFill>
            </a:endParaRPr>
          </a:p>
        </p:txBody>
      </p:sp>
      <p:pic>
        <p:nvPicPr>
          <p:cNvPr id="4" name="Picture 3" descr="The animations describe the power of a test against the alternative hypothesis that p is greater than 0.08, based on a random sample of 500 potatoes, to detect a shipment with 11 percent blemished potatoes. The sampling distribution of population graphs are explained in the slide, which depicts the values of 'p hat' on the horizontal axis from 0.0680 to 0.1520 in increments of 0.0140. The animations depict that one would reject null hypothesis: p equals 0.08 at alpha equals 0.05, if the sample yielded a sample proportion to the area right of alpha equals 0.05, that is the data is a Type I error.&#10;The animations also depict that the sample yielding a proportion greater than 0.0999 would correctly lead to reject the shipment about 75 percent of the time. If power of the test to detect that p equals 0.11 is 0.7517. Power is calculated as 1 minus beta, wherein beta is the probability of the alternative hypothesis of a Type 2 error.&#10;"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4052" y="518370"/>
            <a:ext cx="638175" cy="276225"/>
          </a:xfrm>
          <a:prstGeom prst="rect">
            <a:avLst/>
          </a:prstGeom>
        </p:spPr>
      </p:pic>
      <p:pic>
        <p:nvPicPr>
          <p:cNvPr id="5" name="Picture 4"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4723" y="490537"/>
            <a:ext cx="638175" cy="276225"/>
          </a:xfrm>
          <a:prstGeom prst="rect">
            <a:avLst/>
          </a:prstGeom>
        </p:spPr>
      </p:pic>
      <p:sp>
        <p:nvSpPr>
          <p:cNvPr id="91139" name="Rectangle 2"/>
          <p:cNvSpPr>
            <a:spLocks noChangeArrowheads="1"/>
          </p:cNvSpPr>
          <p:nvPr/>
        </p:nvSpPr>
        <p:spPr bwMode="auto">
          <a:xfrm>
            <a:off x="369888" y="1104900"/>
            <a:ext cx="83931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altLang="en-US" sz="2000">
                <a:solidFill>
                  <a:srgbClr val="000000"/>
                </a:solidFill>
              </a:rPr>
              <a:t>A potato chip producer wonders whether the significance test of </a:t>
            </a:r>
            <a:r>
              <a:rPr lang="en-US" altLang="en-US" sz="2000" i="1">
                <a:solidFill>
                  <a:srgbClr val="000000"/>
                </a:solidFill>
              </a:rPr>
              <a:t>H</a:t>
            </a:r>
            <a:r>
              <a:rPr lang="en-US" altLang="en-US" sz="2000" baseline="-25000">
                <a:solidFill>
                  <a:srgbClr val="000000"/>
                </a:solidFill>
              </a:rPr>
              <a:t>0</a:t>
            </a:r>
            <a:r>
              <a:rPr lang="en-US" altLang="en-US" sz="2000">
                <a:solidFill>
                  <a:srgbClr val="000000"/>
                </a:solidFill>
              </a:rPr>
              <a:t>: </a:t>
            </a:r>
            <a:r>
              <a:rPr lang="en-US" altLang="en-US" sz="2000" i="1">
                <a:solidFill>
                  <a:srgbClr val="000000"/>
                </a:solidFill>
              </a:rPr>
              <a:t>p </a:t>
            </a:r>
            <a:r>
              <a:rPr lang="en-US" altLang="en-US" sz="2000">
                <a:solidFill>
                  <a:srgbClr val="000000"/>
                </a:solidFill>
              </a:rPr>
              <a:t>= 0.08 versus </a:t>
            </a:r>
            <a:r>
              <a:rPr lang="en-US" altLang="en-US" sz="2000" i="1">
                <a:solidFill>
                  <a:srgbClr val="000000"/>
                </a:solidFill>
              </a:rPr>
              <a:t>H</a:t>
            </a:r>
            <a:r>
              <a:rPr lang="en-US" altLang="en-US" sz="2000" baseline="-25000">
                <a:solidFill>
                  <a:srgbClr val="000000"/>
                </a:solidFill>
              </a:rPr>
              <a:t>a</a:t>
            </a:r>
            <a:r>
              <a:rPr lang="en-US" altLang="en-US" sz="2000">
                <a:solidFill>
                  <a:srgbClr val="000000"/>
                </a:solidFill>
              </a:rPr>
              <a:t>: </a:t>
            </a:r>
            <a:r>
              <a:rPr lang="en-US" altLang="en-US" sz="2000" i="1">
                <a:solidFill>
                  <a:srgbClr val="000000"/>
                </a:solidFill>
              </a:rPr>
              <a:t>p </a:t>
            </a:r>
            <a:r>
              <a:rPr lang="en-US" altLang="en-US" sz="2000">
                <a:solidFill>
                  <a:srgbClr val="000000"/>
                </a:solidFill>
              </a:rPr>
              <a:t>&gt; 0.08 based on a random sample of 500 potatoes has enough power to detect a shipment with, say, 11% blemished potatoes. </a:t>
            </a:r>
          </a:p>
        </p:txBody>
      </p:sp>
      <p:pic>
        <p:nvPicPr>
          <p:cNvPr id="91140" name="Picture 13" descr="already described"/>
          <p:cNvPicPr>
            <a:picLocks noChangeAspect="1"/>
          </p:cNvPicPr>
          <p:nvPr/>
        </p:nvPicPr>
        <p:blipFill>
          <a:blip r:embed="rId4">
            <a:extLst>
              <a:ext uri="{28A0092B-C50C-407E-A947-70E740481C1C}">
                <a14:useLocalDpi xmlns:a14="http://schemas.microsoft.com/office/drawing/2010/main" val="0"/>
              </a:ext>
            </a:extLst>
          </a:blip>
          <a:srcRect b="50696"/>
          <a:stretch>
            <a:fillRect/>
          </a:stretch>
        </p:blipFill>
        <p:spPr bwMode="auto">
          <a:xfrm>
            <a:off x="811333" y="2159749"/>
            <a:ext cx="7510222" cy="372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already described"/>
          <p:cNvPicPr>
            <a:picLocks noChangeAspect="1"/>
          </p:cNvPicPr>
          <p:nvPr/>
        </p:nvPicPr>
        <p:blipFill>
          <a:blip r:embed="rId5">
            <a:extLst>
              <a:ext uri="{28A0092B-C50C-407E-A947-70E740481C1C}">
                <a14:useLocalDpi xmlns:a14="http://schemas.microsoft.com/office/drawing/2010/main" val="0"/>
              </a:ext>
            </a:extLst>
          </a:blip>
          <a:srcRect t="49339"/>
          <a:stretch>
            <a:fillRect/>
          </a:stretch>
        </p:blipFill>
        <p:spPr bwMode="auto">
          <a:xfrm>
            <a:off x="794936" y="2159749"/>
            <a:ext cx="7512873" cy="38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2"/>
          <p:cNvSpPr/>
          <p:nvPr/>
        </p:nvSpPr>
        <p:spPr>
          <a:xfrm>
            <a:off x="187325" y="2159749"/>
            <a:ext cx="4299834" cy="40011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eaLnBrk="1" hangingPunct="1">
              <a:defRPr/>
            </a:pPr>
            <a:r>
              <a:rPr lang="en-US" sz="2000" b="1" dirty="0">
                <a:solidFill>
                  <a:schemeClr val="bg1"/>
                </a:solidFill>
              </a:rPr>
              <a:t>What if the parameter is </a:t>
            </a:r>
            <a:r>
              <a:rPr lang="en-US" sz="2000" b="1" i="1" dirty="0">
                <a:solidFill>
                  <a:schemeClr val="bg1"/>
                </a:solidFill>
              </a:rPr>
              <a:t>p</a:t>
            </a:r>
            <a:r>
              <a:rPr lang="en-US" sz="2000" b="1" dirty="0">
                <a:solidFill>
                  <a:schemeClr val="bg1"/>
                </a:solidFill>
              </a:rPr>
              <a:t> = 0.11?</a:t>
            </a:r>
          </a:p>
        </p:txBody>
      </p:sp>
      <p:sp>
        <p:nvSpPr>
          <p:cNvPr id="24" name="Rectangle 23"/>
          <p:cNvSpPr/>
          <p:nvPr/>
        </p:nvSpPr>
        <p:spPr>
          <a:xfrm>
            <a:off x="6007894" y="5855025"/>
            <a:ext cx="2938462" cy="95408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400" dirty="0">
                <a:solidFill>
                  <a:srgbClr val="000000"/>
                </a:solidFill>
              </a:rPr>
              <a:t>Because we reject </a:t>
            </a:r>
            <a:r>
              <a:rPr lang="en-US" altLang="en-US" sz="1400" i="1" dirty="0">
                <a:solidFill>
                  <a:srgbClr val="000000"/>
                </a:solidFill>
              </a:rPr>
              <a:t>H</a:t>
            </a:r>
            <a:r>
              <a:rPr lang="en-US" altLang="en-US" sz="1400" baseline="-25000" dirty="0">
                <a:solidFill>
                  <a:srgbClr val="000000"/>
                </a:solidFill>
              </a:rPr>
              <a:t>0</a:t>
            </a:r>
            <a:r>
              <a:rPr lang="en-US" altLang="en-US" sz="1400" i="1" dirty="0">
                <a:solidFill>
                  <a:srgbClr val="000000"/>
                </a:solidFill>
              </a:rPr>
              <a:t> </a:t>
            </a:r>
            <a:r>
              <a:rPr lang="en-US" altLang="en-US" sz="1400" dirty="0">
                <a:solidFill>
                  <a:srgbClr val="000000"/>
                </a:solidFill>
              </a:rPr>
              <a:t>at </a:t>
            </a:r>
            <a:r>
              <a:rPr lang="en-US" altLang="ja-JP" sz="1400" i="1" dirty="0">
                <a:solidFill>
                  <a:srgbClr val="000000"/>
                </a:solidFill>
                <a:latin typeface="Symbol" charset="2"/>
                <a:sym typeface="Symbol" charset="2"/>
              </a:rPr>
              <a:t></a:t>
            </a:r>
            <a:r>
              <a:rPr lang="en-US" altLang="en-US" sz="1400" i="1" dirty="0">
                <a:solidFill>
                  <a:srgbClr val="000000"/>
                </a:solidFill>
              </a:rPr>
              <a:t> </a:t>
            </a:r>
            <a:r>
              <a:rPr lang="en-US" altLang="en-US" sz="1400" dirty="0">
                <a:solidFill>
                  <a:srgbClr val="000000"/>
                </a:solidFill>
              </a:rPr>
              <a:t>= 0.05 if our sample yields a proportion &gt; 0.0999, we</a:t>
            </a:r>
            <a:r>
              <a:rPr lang="en-US" altLang="ja-JP" sz="1400" dirty="0">
                <a:solidFill>
                  <a:srgbClr val="000000"/>
                </a:solidFill>
              </a:rPr>
              <a:t>’d correctly reject the shipment about 75% of the time.</a:t>
            </a:r>
            <a:endParaRPr lang="en-US" altLang="en-US" sz="1400" dirty="0">
              <a:solidFill>
                <a:srgbClr val="000000"/>
              </a:solidFill>
            </a:endParaRPr>
          </a:p>
        </p:txBody>
      </p:sp>
      <p:grpSp>
        <p:nvGrpSpPr>
          <p:cNvPr id="2" name="Group 9" descr="already described"/>
          <p:cNvGrpSpPr>
            <a:grpSpLocks/>
          </p:cNvGrpSpPr>
          <p:nvPr/>
        </p:nvGrpSpPr>
        <p:grpSpPr bwMode="auto">
          <a:xfrm>
            <a:off x="187325" y="5701206"/>
            <a:ext cx="3562350" cy="1055688"/>
            <a:chOff x="422536" y="2946400"/>
            <a:chExt cx="7093949" cy="1056679"/>
          </a:xfrm>
        </p:grpSpPr>
        <p:sp>
          <p:nvSpPr>
            <p:cNvPr id="26" name="TextBox 25"/>
            <p:cNvSpPr txBox="1">
              <a:spLocks noChangeArrowheads="1"/>
            </p:cNvSpPr>
            <p:nvPr/>
          </p:nvSpPr>
          <p:spPr bwMode="auto">
            <a:xfrm>
              <a:off x="422536" y="3264198"/>
              <a:ext cx="7093949" cy="738881"/>
            </a:xfrm>
            <a:prstGeom prst="rect">
              <a:avLst/>
            </a:prstGeom>
            <a:solidFill>
              <a:srgbClr val="FAEDB8"/>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The power of a test against any alternative is 1 minus the probability of a Type II error for that alternative; that is, power = 1 – </a:t>
              </a:r>
              <a:r>
                <a:rPr lang="en-US" altLang="en-US" sz="1400" i="1" dirty="0">
                  <a:solidFill>
                    <a:srgbClr val="000000"/>
                  </a:solidFill>
                </a:rPr>
                <a:t>β</a:t>
              </a:r>
              <a:r>
                <a:rPr lang="en-US" altLang="en-US" sz="1400" dirty="0">
                  <a:solidFill>
                    <a:srgbClr val="000000"/>
                  </a:solidFill>
                </a:rPr>
                <a:t>.</a:t>
              </a:r>
            </a:p>
          </p:txBody>
        </p:sp>
        <p:sp>
          <p:nvSpPr>
            <p:cNvPr id="27" name="TextBox 26"/>
            <p:cNvSpPr txBox="1"/>
            <p:nvPr/>
          </p:nvSpPr>
          <p:spPr bwMode="auto">
            <a:xfrm>
              <a:off x="1887912" y="2946400"/>
              <a:ext cx="4659704" cy="307927"/>
            </a:xfrm>
            <a:prstGeom prst="rect">
              <a:avLst/>
            </a:prstGeom>
            <a:solidFill>
              <a:schemeClr val="tx2"/>
            </a:solidFill>
          </p:spPr>
          <p:style>
            <a:lnRef idx="0">
              <a:schemeClr val="accent6"/>
            </a:lnRef>
            <a:fillRef idx="3">
              <a:schemeClr val="accent6"/>
            </a:fillRef>
            <a:effectRef idx="3">
              <a:schemeClr val="accent6"/>
            </a:effectRef>
            <a:fontRef idx="minor">
              <a:schemeClr val="lt1"/>
            </a:fontRef>
          </p:style>
          <p:txBody>
            <a:bodyPr>
              <a:spAutoFit/>
            </a:bodyPr>
            <a:lstStyle/>
            <a:p>
              <a:pPr algn="ctr" eaLnBrk="1" hangingPunct="1">
                <a:defRPr/>
              </a:pPr>
              <a:r>
                <a:rPr lang="en-US" sz="1400" b="1" dirty="0">
                  <a:solidFill>
                    <a:srgbClr val="FFFFFF"/>
                  </a:solidFill>
                  <a:ea typeface="ＭＳ Ｐゴシック" charset="-128"/>
                  <a:cs typeface="ＭＳ Ｐゴシック" charset="-128"/>
                </a:rPr>
                <a:t>Power and Type II Error</a:t>
              </a:r>
            </a:p>
          </p:txBody>
        </p:sp>
      </p:grpSp>
      <p:sp>
        <p:nvSpPr>
          <p:cNvPr id="18" name="Rectangle 17"/>
          <p:cNvSpPr/>
          <p:nvPr/>
        </p:nvSpPr>
        <p:spPr>
          <a:xfrm>
            <a:off x="7370373" y="4101006"/>
            <a:ext cx="1539875" cy="1600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400" dirty="0">
                <a:solidFill>
                  <a:schemeClr val="bg1"/>
                </a:solidFill>
              </a:rPr>
              <a:t>We would reject </a:t>
            </a:r>
            <a:r>
              <a:rPr lang="en-US" altLang="en-US" sz="1400" i="1" dirty="0">
                <a:solidFill>
                  <a:schemeClr val="bg1"/>
                </a:solidFill>
              </a:rPr>
              <a:t>H</a:t>
            </a:r>
            <a:r>
              <a:rPr lang="en-US" altLang="en-US" sz="1400" i="1" baseline="-25000" dirty="0">
                <a:solidFill>
                  <a:schemeClr val="bg1"/>
                </a:solidFill>
              </a:rPr>
              <a:t>0</a:t>
            </a:r>
            <a:r>
              <a:rPr lang="en-US" altLang="en-US" sz="1400" i="1" dirty="0">
                <a:solidFill>
                  <a:schemeClr val="bg1"/>
                </a:solidFill>
              </a:rPr>
              <a:t> </a:t>
            </a:r>
            <a:r>
              <a:rPr lang="en-US" altLang="en-US" sz="1400" dirty="0">
                <a:solidFill>
                  <a:schemeClr val="bg1"/>
                </a:solidFill>
              </a:rPr>
              <a:t>at </a:t>
            </a:r>
            <a:r>
              <a:rPr lang="en-US" altLang="en-US" sz="1400" i="1" dirty="0">
                <a:solidFill>
                  <a:schemeClr val="bg1"/>
                </a:solidFill>
              </a:rPr>
              <a:t>α </a:t>
            </a:r>
            <a:r>
              <a:rPr lang="en-US" altLang="en-US" sz="1400" dirty="0">
                <a:solidFill>
                  <a:schemeClr val="bg1"/>
                </a:solidFill>
              </a:rPr>
              <a:t>= 0.05 if our sample yielded a sample proportion to the right of the green line. </a:t>
            </a:r>
          </a:p>
        </p:txBody>
      </p:sp>
    </p:spTree>
    <p:extLst>
      <p:ext uri="{BB962C8B-B14F-4D97-AF65-F5344CB8AC3E}">
        <p14:creationId xmlns:p14="http://schemas.microsoft.com/office/powerpoint/2010/main" val="28889922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from="(-#ppt_w/2)" to="(#ppt_x)" calcmode="lin" valueType="num">
                                      <p:cBhvr>
                                        <p:cTn id="7" dur="600" fill="hold">
                                          <p:stCondLst>
                                            <p:cond delay="0"/>
                                          </p:stCondLst>
                                        </p:cTn>
                                        <p:tgtEl>
                                          <p:spTgt spid="18"/>
                                        </p:tgtEl>
                                        <p:attrNameLst>
                                          <p:attrName>ppt_x</p:attrName>
                                        </p:attrNameLst>
                                      </p:cBhvr>
                                    </p:anim>
                                    <p:anim from="0" to="-1.0" calcmode="lin" valueType="num">
                                      <p:cBhvr>
                                        <p:cTn id="8" dur="200" decel="50000" autoRev="1" fill="hold">
                                          <p:stCondLst>
                                            <p:cond delay="600"/>
                                          </p:stCondLst>
                                        </p:cTn>
                                        <p:tgtEl>
                                          <p:spTgt spid="18"/>
                                        </p:tgtEl>
                                        <p:attrNameLst>
                                          <p:attrName>xshear</p:attrName>
                                        </p:attrNameLst>
                                      </p:cBhvr>
                                    </p:anim>
                                    <p:animScale>
                                      <p:cBhvr>
                                        <p:cTn id="9" dur="200" decel="100000" autoRev="1" fill="hold">
                                          <p:stCondLst>
                                            <p:cond delay="600"/>
                                          </p:stCondLst>
                                        </p:cTn>
                                        <p:tgtEl>
                                          <p:spTgt spid="18"/>
                                        </p:tgtEl>
                                      </p:cBhvr>
                                      <p:from x="100000" y="100000"/>
                                      <p:to x="80000" y="100000"/>
                                    </p:animScale>
                                    <p:anim by="(#ppt_h/3+#ppt_w*0.1)" calcmode="lin" valueType="num">
                                      <p:cBhvr additive="sum">
                                        <p:cTn id="10" dur="200" decel="100000" autoRev="1" fill="hold">
                                          <p:stCondLst>
                                            <p:cond delay="600"/>
                                          </p:stCondLst>
                                        </p:cTn>
                                        <p:tgtEl>
                                          <p:spTgt spid="18"/>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1000"/>
                                        <p:tgtEl>
                                          <p:spTgt spid="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slide(fromBottom)">
                                      <p:cBhvr>
                                        <p:cTn id="20" dur="1000"/>
                                        <p:tgtEl>
                                          <p:spTgt spid="22"/>
                                        </p:tgtEl>
                                      </p:cBhvr>
                                    </p:animEffect>
                                  </p:childTnLst>
                                </p:cTn>
                              </p:par>
                              <p:par>
                                <p:cTn id="21" presetID="10" presetClass="exit" presetSubtype="0" fill="hold" grpId="1" nodeType="withEffect">
                                  <p:stCondLst>
                                    <p:cond delay="0"/>
                                  </p:stCondLst>
                                  <p:childTnLst>
                                    <p:animEffect transition="out" filter="fade">
                                      <p:cBhvr>
                                        <p:cTn id="22" dur="1000"/>
                                        <p:tgtEl>
                                          <p:spTgt spid="18"/>
                                        </p:tgtEl>
                                      </p:cBhvr>
                                    </p:animEffect>
                                    <p:set>
                                      <p:cBhvr>
                                        <p:cTn id="23" dur="1" fill="hold">
                                          <p:stCondLst>
                                            <p:cond delay="999"/>
                                          </p:stCondLst>
                                        </p:cTn>
                                        <p:tgtEl>
                                          <p:spTgt spid="18"/>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34"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from="(-#ppt_w/2)" to="(#ppt_x)" calcmode="lin" valueType="num">
                                      <p:cBhvr>
                                        <p:cTn id="28" dur="600" fill="hold">
                                          <p:stCondLst>
                                            <p:cond delay="0"/>
                                          </p:stCondLst>
                                        </p:cTn>
                                        <p:tgtEl>
                                          <p:spTgt spid="24"/>
                                        </p:tgtEl>
                                        <p:attrNameLst>
                                          <p:attrName>ppt_x</p:attrName>
                                        </p:attrNameLst>
                                      </p:cBhvr>
                                    </p:anim>
                                    <p:anim from="0" to="-1.0" calcmode="lin" valueType="num">
                                      <p:cBhvr>
                                        <p:cTn id="29" dur="200" decel="50000" autoRev="1" fill="hold">
                                          <p:stCondLst>
                                            <p:cond delay="600"/>
                                          </p:stCondLst>
                                        </p:cTn>
                                        <p:tgtEl>
                                          <p:spTgt spid="24"/>
                                        </p:tgtEl>
                                        <p:attrNameLst>
                                          <p:attrName>xshear</p:attrName>
                                        </p:attrNameLst>
                                      </p:cBhvr>
                                    </p:anim>
                                    <p:animScale>
                                      <p:cBhvr>
                                        <p:cTn id="30" dur="200" decel="100000" autoRev="1" fill="hold">
                                          <p:stCondLst>
                                            <p:cond delay="600"/>
                                          </p:stCondLst>
                                        </p:cTn>
                                        <p:tgtEl>
                                          <p:spTgt spid="24"/>
                                        </p:tgtEl>
                                      </p:cBhvr>
                                      <p:from x="100000" y="100000"/>
                                      <p:to x="80000" y="100000"/>
                                    </p:animScale>
                                    <p:anim by="(#ppt_h/3+#ppt_w*0.1)" calcmode="lin" valueType="num">
                                      <p:cBhvr additive="sum">
                                        <p:cTn id="31" dur="200" decel="100000" autoRev="1" fill="hold">
                                          <p:stCondLst>
                                            <p:cond delay="600"/>
                                          </p:stCondLst>
                                        </p:cTn>
                                        <p:tgtEl>
                                          <p:spTgt spid="24"/>
                                        </p:tgtEl>
                                        <p:attrNameLst>
                                          <p:attrName>ppt_x</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18" grpId="0" animBg="1"/>
      <p:bldP spid="18" grpId="1"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Increasing the Power</a:t>
            </a:r>
            <a:endParaRPr lang="en-US" dirty="0"/>
          </a:p>
        </p:txBody>
      </p:sp>
      <p:sp>
        <p:nvSpPr>
          <p:cNvPr id="921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D645465C-0266-462E-ACCE-D5DC112AF377}" type="slidenum">
              <a:rPr lang="en-US" altLang="en-US" sz="1200">
                <a:solidFill>
                  <a:schemeClr val="accent1"/>
                </a:solidFill>
              </a:rPr>
              <a:pPr>
                <a:lnSpc>
                  <a:spcPct val="80000"/>
                </a:lnSpc>
              </a:pPr>
              <a:t>36</a:t>
            </a:fld>
            <a:endParaRPr lang="en-US" altLang="en-US" sz="1200">
              <a:solidFill>
                <a:schemeClr val="accent1"/>
              </a:solidFill>
            </a:endParaRPr>
          </a:p>
        </p:txBody>
      </p:sp>
      <p:sp>
        <p:nvSpPr>
          <p:cNvPr id="92163" name="Rectangle 1"/>
          <p:cNvSpPr>
            <a:spLocks noChangeArrowheads="1"/>
          </p:cNvSpPr>
          <p:nvPr/>
        </p:nvSpPr>
        <p:spPr bwMode="auto">
          <a:xfrm>
            <a:off x="444500" y="1136650"/>
            <a:ext cx="831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Suppose we have performed a power calculation and found that the power is too small. Several ways to increase power are</a:t>
            </a:r>
          </a:p>
        </p:txBody>
      </p:sp>
      <mc:AlternateContent xmlns:mc="http://schemas.openxmlformats.org/markup-compatibility/2006" xmlns:a14="http://schemas.microsoft.com/office/drawing/2010/main">
        <mc:Choice Requires="a14">
          <p:sp>
            <p:nvSpPr>
              <p:cNvPr id="17" name="Rectangle 16"/>
              <p:cNvSpPr>
                <a:spLocks noChangeArrowheads="1"/>
              </p:cNvSpPr>
              <p:nvPr/>
            </p:nvSpPr>
            <p:spPr bwMode="auto">
              <a:xfrm>
                <a:off x="769938" y="2032000"/>
                <a:ext cx="7356475" cy="340093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457200" indent="-4572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SzTx/>
                  <a:buFont typeface="Arial" panose="020B0604020202020204" pitchFamily="34" charset="0"/>
                  <a:buAutoNum type="arabicPeriod"/>
                  <a:defRPr/>
                </a:pPr>
                <a:r>
                  <a:rPr lang="en-US" altLang="en-US" b="1" dirty="0">
                    <a:solidFill>
                      <a:srgbClr val="B14C0F"/>
                    </a:solidFill>
                  </a:rPr>
                  <a:t>Increase the significance level </a:t>
                </a:r>
                <a:r>
                  <a:rPr lang="en-US" altLang="en-US" b="1" i="1" dirty="0">
                    <a:solidFill>
                      <a:srgbClr val="B14C0F"/>
                    </a:solidFill>
                  </a:rPr>
                  <a:t>α</a:t>
                </a:r>
                <a:r>
                  <a:rPr lang="en-US" altLang="en-US" b="1" dirty="0">
                    <a:solidFill>
                      <a:srgbClr val="B14C0F"/>
                    </a:solidFill>
                  </a:rPr>
                  <a:t>. </a:t>
                </a:r>
                <a:r>
                  <a:rPr lang="en-US" altLang="en-US" dirty="0">
                    <a:solidFill>
                      <a:srgbClr val="000000"/>
                    </a:solidFill>
                  </a:rPr>
                  <a:t>A larger </a:t>
                </a:r>
                <a14:m>
                  <m:oMath xmlns:m="http://schemas.openxmlformats.org/officeDocument/2006/math">
                    <m:r>
                      <a:rPr lang="en-US" altLang="en-US" i="1" dirty="0" smtClean="0">
                        <a:solidFill>
                          <a:srgbClr val="000000"/>
                        </a:solidFill>
                        <a:latin typeface="Cambria Math" panose="02040503050406030204" pitchFamily="18" charset="0"/>
                      </a:rPr>
                      <m:t>𝛼</m:t>
                    </m:r>
                  </m:oMath>
                </a14:m>
                <a:r>
                  <a:rPr lang="en-US" altLang="en-US" dirty="0">
                    <a:solidFill>
                      <a:srgbClr val="000000"/>
                    </a:solidFill>
                  </a:rPr>
                  <a:t> makes rejecting </a:t>
                </a:r>
                <a14:m>
                  <m:oMath xmlns:m="http://schemas.openxmlformats.org/officeDocument/2006/math">
                    <m:sSub>
                      <m:sSubPr>
                        <m:ctrlPr>
                          <a:rPr lang="en-US" altLang="en-US" i="1" dirty="0" smtClean="0">
                            <a:solidFill>
                              <a:srgbClr val="000000"/>
                            </a:solidFill>
                            <a:latin typeface="Cambria Math" panose="02040503050406030204" pitchFamily="18" charset="0"/>
                          </a:rPr>
                        </m:ctrlPr>
                      </m:sSubPr>
                      <m:e>
                        <m:r>
                          <a:rPr lang="en-US" altLang="en-US" i="1" dirty="0" smtClean="0">
                            <a:solidFill>
                              <a:srgbClr val="000000"/>
                            </a:solidFill>
                            <a:latin typeface="Cambria Math" panose="02040503050406030204" pitchFamily="18" charset="0"/>
                          </a:rPr>
                          <m:t>𝐻</m:t>
                        </m:r>
                      </m:e>
                      <m:sub>
                        <m:r>
                          <a:rPr lang="en-US" altLang="en-US" i="1" dirty="0" smtClean="0">
                            <a:solidFill>
                              <a:srgbClr val="000000"/>
                            </a:solidFill>
                            <a:latin typeface="Cambria Math" panose="02040503050406030204" pitchFamily="18" charset="0"/>
                          </a:rPr>
                          <m:t>0</m:t>
                        </m:r>
                      </m:sub>
                    </m:sSub>
                  </m:oMath>
                </a14:m>
                <a:r>
                  <a:rPr lang="en-US" altLang="en-US" dirty="0">
                    <a:solidFill>
                      <a:srgbClr val="000000"/>
                    </a:solidFill>
                  </a:rPr>
                  <a:t> easier but also permits a higher probability of a Type I error.</a:t>
                </a:r>
                <a:endParaRPr lang="en-US" altLang="ja-JP" dirty="0">
                  <a:solidFill>
                    <a:srgbClr val="000000"/>
                  </a:solidFill>
                </a:endParaRPr>
              </a:p>
              <a:p>
                <a:pPr eaLnBrk="1" hangingPunct="1">
                  <a:spcBef>
                    <a:spcPct val="0"/>
                  </a:spcBef>
                  <a:spcAft>
                    <a:spcPts val="600"/>
                  </a:spcAft>
                  <a:buSzTx/>
                  <a:buFont typeface="Arial" panose="020B0604020202020204" pitchFamily="34" charset="0"/>
                  <a:buAutoNum type="arabicPeriod"/>
                  <a:defRPr/>
                </a:pPr>
                <a:r>
                  <a:rPr lang="en-US" altLang="en-US" b="1" dirty="0">
                    <a:solidFill>
                      <a:srgbClr val="B14C0F"/>
                    </a:solidFill>
                  </a:rPr>
                  <a:t>Increase the sample size. </a:t>
                </a:r>
                <a:r>
                  <a:rPr lang="en-US" altLang="en-US" dirty="0">
                    <a:solidFill>
                      <a:srgbClr val="000000"/>
                    </a:solidFill>
                  </a:rPr>
                  <a:t>A larger sample size reduces the standard error, making a given effect easier to detect.</a:t>
                </a:r>
                <a:endParaRPr lang="en-US" altLang="en-US" b="1" dirty="0">
                  <a:solidFill>
                    <a:srgbClr val="B14C0F"/>
                  </a:solidFill>
                </a:endParaRPr>
              </a:p>
              <a:p>
                <a:pPr eaLnBrk="1" hangingPunct="1">
                  <a:spcBef>
                    <a:spcPct val="0"/>
                  </a:spcBef>
                  <a:spcAft>
                    <a:spcPts val="600"/>
                  </a:spcAft>
                  <a:buSzTx/>
                  <a:buFont typeface="Arial" panose="020B0604020202020204" pitchFamily="34" charset="0"/>
                  <a:buAutoNum type="arabicPeriod"/>
                  <a:defRPr/>
                </a:pPr>
                <a:r>
                  <a:rPr lang="en-US" altLang="en-US" b="1" dirty="0">
                    <a:solidFill>
                      <a:srgbClr val="B14C0F"/>
                    </a:solidFill>
                  </a:rPr>
                  <a:t>Decrease </a:t>
                </a:r>
                <a:r>
                  <a:rPr lang="en-US" altLang="en-US" b="1" i="1" dirty="0">
                    <a:solidFill>
                      <a:srgbClr val="B14C0F"/>
                    </a:solidFill>
                  </a:rPr>
                  <a:t>σ</a:t>
                </a:r>
                <a:r>
                  <a:rPr lang="en-US" altLang="en-US" b="1" dirty="0">
                    <a:solidFill>
                      <a:srgbClr val="B14C0F"/>
                    </a:solidFill>
                  </a:rPr>
                  <a:t>. </a:t>
                </a:r>
                <a:r>
                  <a:rPr lang="en-US" altLang="en-US" dirty="0">
                    <a:solidFill>
                      <a:srgbClr val="000000"/>
                    </a:solidFill>
                  </a:rPr>
                  <a:t>Less variability makes it easier to distinguish the true mean from the null value. More precise measurements may help reduce variability.</a:t>
                </a:r>
              </a:p>
              <a:p>
                <a:pPr eaLnBrk="1" hangingPunct="1">
                  <a:spcBef>
                    <a:spcPct val="0"/>
                  </a:spcBef>
                  <a:spcAft>
                    <a:spcPts val="600"/>
                  </a:spcAft>
                  <a:buSzTx/>
                  <a:buFont typeface="Arial" panose="020B0604020202020204" pitchFamily="34" charset="0"/>
                  <a:buAutoNum type="arabicPeriod"/>
                  <a:defRPr/>
                </a:pPr>
                <a:r>
                  <a:rPr lang="en-US" altLang="en-US" b="1" dirty="0">
                    <a:solidFill>
                      <a:srgbClr val="B14C0F"/>
                    </a:solidFill>
                  </a:rPr>
                  <a:t>The true mean </a:t>
                </a:r>
                <a14:m>
                  <m:oMath xmlns:m="http://schemas.openxmlformats.org/officeDocument/2006/math">
                    <m:r>
                      <a:rPr lang="en-US" altLang="en-US" b="1" i="1" dirty="0" smtClean="0">
                        <a:solidFill>
                          <a:srgbClr val="B14C0F"/>
                        </a:solidFill>
                        <a:latin typeface="Cambria Math" panose="02040503050406030204" pitchFamily="18" charset="0"/>
                      </a:rPr>
                      <m:t>𝝁</m:t>
                    </m:r>
                  </m:oMath>
                </a14:m>
                <a:r>
                  <a:rPr lang="en-US" altLang="en-US" b="1" dirty="0">
                    <a:solidFill>
                      <a:srgbClr val="B14C0F"/>
                    </a:solidFill>
                  </a:rPr>
                  <a:t> is farther from the null value </a:t>
                </a:r>
                <a14:m>
                  <m:oMath xmlns:m="http://schemas.openxmlformats.org/officeDocument/2006/math">
                    <m:sSub>
                      <m:sSubPr>
                        <m:ctrlPr>
                          <a:rPr lang="en-US" altLang="en-US" b="1" i="1" dirty="0" smtClean="0">
                            <a:solidFill>
                              <a:srgbClr val="B14C0F"/>
                            </a:solidFill>
                            <a:latin typeface="Cambria Math" panose="02040503050406030204" pitchFamily="18" charset="0"/>
                          </a:rPr>
                        </m:ctrlPr>
                      </m:sSubPr>
                      <m:e>
                        <m:r>
                          <a:rPr lang="en-US" altLang="en-US" b="1" i="1" dirty="0" smtClean="0">
                            <a:solidFill>
                              <a:srgbClr val="B14C0F"/>
                            </a:solidFill>
                            <a:latin typeface="Cambria Math" panose="02040503050406030204" pitchFamily="18" charset="0"/>
                          </a:rPr>
                          <m:t>𝝁</m:t>
                        </m:r>
                      </m:e>
                      <m:sub>
                        <m:r>
                          <a:rPr lang="en-US" altLang="en-US" b="1" i="1" dirty="0" smtClean="0">
                            <a:solidFill>
                              <a:srgbClr val="B14C0F"/>
                            </a:solidFill>
                            <a:latin typeface="Cambria Math" panose="02040503050406030204" pitchFamily="18" charset="0"/>
                          </a:rPr>
                          <m:t>𝟎</m:t>
                        </m:r>
                      </m:sub>
                    </m:sSub>
                  </m:oMath>
                </a14:m>
                <a:r>
                  <a:rPr lang="en-US" altLang="en-US" b="1" dirty="0">
                    <a:solidFill>
                      <a:srgbClr val="B14C0F"/>
                    </a:solidFill>
                  </a:rPr>
                  <a:t>. </a:t>
                </a:r>
                <a:r>
                  <a:rPr lang="en-US" altLang="en-US" dirty="0">
                    <a:solidFill>
                      <a:schemeClr val="tx1"/>
                    </a:solidFill>
                  </a:rPr>
                  <a:t>Larger differences are easier to detect.</a:t>
                </a:r>
              </a:p>
            </p:txBody>
          </p:sp>
        </mc:Choice>
        <mc:Fallback xmlns="">
          <p:sp>
            <p:nvSpPr>
              <p:cNvPr id="17" name="Rectangle 16"/>
              <p:cNvSpPr>
                <a:spLocks noRot="1" noChangeAspect="1" noMove="1" noResize="1" noEditPoints="1" noAdjustHandles="1" noChangeArrowheads="1" noChangeShapeType="1" noTextEdit="1"/>
              </p:cNvSpPr>
              <p:nvPr/>
            </p:nvSpPr>
            <p:spPr bwMode="auto">
              <a:xfrm>
                <a:off x="769938" y="2032000"/>
                <a:ext cx="7356475" cy="3400931"/>
              </a:xfrm>
              <a:prstGeom prst="rect">
                <a:avLst/>
              </a:prstGeom>
              <a:blipFill>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bg/>
                                          </p:spTgt>
                                        </p:tgtEl>
                                        <p:attrNameLst>
                                          <p:attrName>style.visibility</p:attrName>
                                        </p:attrNameLst>
                                      </p:cBhvr>
                                      <p:to>
                                        <p:strVal val="visible"/>
                                      </p:to>
                                    </p:set>
                                    <p:animEffect transition="in" filter="fade">
                                      <p:cBhvr>
                                        <p:cTn id="7" dur="1000"/>
                                        <p:tgtEl>
                                          <p:spTgt spid="1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1000"/>
                                        <p:tgtEl>
                                          <p:spTgt spid="1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Effect transition="in" filter="fade">
                                      <p:cBhvr>
                                        <p:cTn id="13" dur="1000"/>
                                        <p:tgtEl>
                                          <p:spTgt spid="17">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xEl>
                                              <p:pRg st="2" end="2"/>
                                            </p:txEl>
                                          </p:spTgt>
                                        </p:tgtEl>
                                        <p:attrNameLst>
                                          <p:attrName>style.visibility</p:attrName>
                                        </p:attrNameLst>
                                      </p:cBhvr>
                                      <p:to>
                                        <p:strVal val="visible"/>
                                      </p:to>
                                    </p:set>
                                    <p:animEffect transition="in" filter="fade">
                                      <p:cBhvr>
                                        <p:cTn id="16" dur="1000"/>
                                        <p:tgtEl>
                                          <p:spTgt spid="17">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animEffect transition="in" filter="fade">
                                      <p:cBhvr>
                                        <p:cTn id="19" dur="10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5"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6508750" cy="1691640"/>
          </a:xfrm>
        </p:spPr>
        <p:txBody>
          <a:bodyPr/>
          <a:lstStyle/>
          <a:p>
            <a:r>
              <a:rPr lang="en-US" altLang="en-US" b="1" dirty="0"/>
              <a:t>Chapter 6</a:t>
            </a:r>
            <a:br>
              <a:rPr lang="en-US" altLang="en-US" b="1" dirty="0"/>
            </a:br>
            <a:r>
              <a:rPr lang="en-US" altLang="en-US" b="1" dirty="0"/>
              <a:t>Introduction to Inference (Review)</a:t>
            </a:r>
            <a:endParaRPr lang="en-US" b="1" dirty="0"/>
          </a:p>
        </p:txBody>
      </p:sp>
      <p:sp>
        <p:nvSpPr>
          <p:cNvPr id="3" name="Content Placeholder 2"/>
          <p:cNvSpPr>
            <a:spLocks noGrp="1"/>
          </p:cNvSpPr>
          <p:nvPr>
            <p:ph idx="1"/>
          </p:nvPr>
        </p:nvSpPr>
        <p:spPr>
          <a:xfrm>
            <a:off x="457200" y="2209800"/>
            <a:ext cx="7112524" cy="3916363"/>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6.1 Confidence Intervals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6.2 Hypothesis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6.3 Use and Abuse of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6.4 Power</a:t>
            </a:r>
            <a:endParaRPr lang="en-US" dirty="0"/>
          </a:p>
        </p:txBody>
      </p:sp>
      <p:sp>
        <p:nvSpPr>
          <p:cNvPr id="9523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29C33CC-9CE3-4E2F-8B4E-174958367632}" type="slidenum">
              <a:rPr lang="en-US" altLang="en-US" sz="1400">
                <a:solidFill>
                  <a:schemeClr val="accent1"/>
                </a:solidFill>
              </a:rPr>
              <a:pPr/>
              <a:t>37</a:t>
            </a:fld>
            <a:endParaRPr lang="en-US" altLang="en-US" sz="1400">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20478</TotalTime>
  <Words>4035</Words>
  <Application>Microsoft Office PowerPoint</Application>
  <PresentationFormat>On-screen Show (4:3)</PresentationFormat>
  <Paragraphs>280</Paragraphs>
  <Slides>37</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9" baseType="lpstr">
      <vt:lpstr>Monotype Sorts</vt:lpstr>
      <vt:lpstr>ＭＳ Ｐゴシック</vt:lpstr>
      <vt:lpstr>Palatino</vt:lpstr>
      <vt:lpstr>Arial</vt:lpstr>
      <vt:lpstr>Calibri</vt:lpstr>
      <vt:lpstr>Cambria Math</vt:lpstr>
      <vt:lpstr>Courier New</vt:lpstr>
      <vt:lpstr>Symbol</vt:lpstr>
      <vt:lpstr>Wingdings</vt:lpstr>
      <vt:lpstr>Wingdings 2</vt:lpstr>
      <vt:lpstr>Plaza</vt:lpstr>
      <vt:lpstr>Equation</vt:lpstr>
      <vt:lpstr>Chapter 6: Introduction to Inference</vt:lpstr>
      <vt:lpstr>Chapter 6 Introduction to Inference</vt:lpstr>
      <vt:lpstr>6.1 Estimating with Confidence</vt:lpstr>
      <vt:lpstr>Statistical Inference</vt:lpstr>
      <vt:lpstr>Overview of Inference</vt:lpstr>
      <vt:lpstr>Estimation: a Normal Example</vt:lpstr>
      <vt:lpstr>Estimation: a Normal Example</vt:lpstr>
      <vt:lpstr>(Wald) Confidence Interval</vt:lpstr>
      <vt:lpstr>(Wald) Confidence Interval</vt:lpstr>
      <vt:lpstr>Confidence Interval for μ with Known σ</vt:lpstr>
      <vt:lpstr>How Confidence Intervals Behave</vt:lpstr>
      <vt:lpstr>Sample Size</vt:lpstr>
      <vt:lpstr>Sample Size: an Example</vt:lpstr>
      <vt:lpstr>Some Cautions</vt:lpstr>
      <vt:lpstr>6.2 Hypothesis Test</vt:lpstr>
      <vt:lpstr>Hypothesis Tests</vt:lpstr>
      <vt:lpstr>Free-throw Shooter Example</vt:lpstr>
      <vt:lpstr>Hypotheses</vt:lpstr>
      <vt:lpstr>Hypotheses: Job Satisfaction Example</vt:lpstr>
      <vt:lpstr>Test Statistics and P-Values</vt:lpstr>
      <vt:lpstr>Significance Levels</vt:lpstr>
      <vt:lpstr>Hypothesis Tests</vt:lpstr>
      <vt:lpstr>Tests for a Population Mean</vt:lpstr>
      <vt:lpstr>Hypothesis Test: Job Satisfaction Example</vt:lpstr>
      <vt:lpstr>Hypothesis Test: Job Satisfaction Example</vt:lpstr>
      <vt:lpstr>Hypothesis Test: Job Satisfaction Example</vt:lpstr>
      <vt:lpstr>More About P-Values</vt:lpstr>
      <vt:lpstr>6.3 Use and Abuse of Tests</vt:lpstr>
      <vt:lpstr>Cautions About Hypothesis Tests</vt:lpstr>
      <vt:lpstr>Cautions About Hypothesis Tests</vt:lpstr>
      <vt:lpstr>Cautions About Hypothesis Tests</vt:lpstr>
      <vt:lpstr>6.4 Power and Inference as a Decision</vt:lpstr>
      <vt:lpstr>Power</vt:lpstr>
      <vt:lpstr>Power</vt:lpstr>
      <vt:lpstr>Power Calculation: An Example</vt:lpstr>
      <vt:lpstr>Increasing the Power</vt:lpstr>
      <vt:lpstr>Chapter 6 Introduction to Inference (Review)</vt:lpstr>
    </vt:vector>
  </TitlesOfParts>
  <Company>ISD 194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Introduction to Inference</dc:title>
  <dc:creator>Jason Molesky</dc:creator>
  <cp:lastModifiedBy>Zhiyang Zhou</cp:lastModifiedBy>
  <cp:revision>412</cp:revision>
  <dcterms:created xsi:type="dcterms:W3CDTF">2012-03-04T21:21:46Z</dcterms:created>
  <dcterms:modified xsi:type="dcterms:W3CDTF">2026-10-20T03:38:12Z</dcterms:modified>
</cp:coreProperties>
</file>